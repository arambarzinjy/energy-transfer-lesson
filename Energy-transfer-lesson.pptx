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art" id="{e9aa472f-9851-6d84-7be0-1efe3f0196bc}">
          <p14:sldIdLst>
            <p14:sldId id="256"/>
            <p14:sldId id="257"/>
          </p14:sldIdLst>
        </p14:section>
        <p14:section name="A · Sunlight to plants" id="{62f5b647-0175-802b-7411-d8e97d6405c6}">
          <p14:sldIdLst>
            <p14:sldId id="258"/>
            <p14:sldId id="259"/>
            <p14:sldId id="260"/>
            <p14:sldId id="261"/>
          </p14:sldIdLst>
        </p14:section>
        <p14:section name="B · Plants to animals" id="{bb497e4d-6297-ca00-8ab7-0c40d5828184}">
          <p14:sldIdLst>
            <p14:sldId id="262"/>
            <p14:sldId id="263"/>
            <p14:sldId id="264"/>
            <p14:sldId id="265"/>
            <p14:sldId id="266"/>
          </p14:sldIdLst>
        </p14:section>
        <p14:section name="C · Calculating efficiency" id="{c2636181-1aff-534b-aab4-4b40cd2304f9}">
          <p14:sldIdLst>
            <p14:sldId id="267"/>
            <p14:sldId id="268"/>
            <p14:sldId id="269"/>
            <p14:sldId id="270"/>
            <p14:sldId id="271"/>
          </p14:sldIdLst>
        </p14:section>
        <p14:section name="D · Exam practice" id="{29dacb30-3d07-11d3-0535-c96429bed023}">
          <p14:sldIdLst>
            <p14:sldId id="272"/>
            <p14:sldId id="273"/>
            <p14:sldId id="274"/>
            <p14:sldId id="275"/>
            <p14:sldId id="276"/>
          </p14:sldIdLst>
        </p14:section>
        <p14:section name="Summary &amp; quiz" id="{c3e06c2d-1876-385a-f4c9-dd654e10206c}">
          <p14:sldIdLst>
            <p14:sldId id="277"/>
            <p14:sldId id="278"/>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8961120" cy="320040"/>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566928"/>
            <a:ext cx="9509760" cy="731520"/>
          </a:xfrm>
          <a:prstGeom prst="rect">
            <a:avLst/>
          </a:prstGeom>
          <a:noFill/>
          <a:ln/>
        </p:spPr>
        <p:txBody>
          <a:bodyPr wrap="square" rtlCol="0"/>
          <a:lstStyle>
            <a:lvl1pPr algn="l" indent="0" marL="0">
              <a:buNone/>
              <a:defRPr lang="en-US" sz="32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HECK">
    <p:bg>
      <p:bgPr>
        <a:solidFill>
          <a:schemeClr val="accent5"/>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8961120" cy="320040"/>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566928"/>
            <a:ext cx="9509760" cy="731520"/>
          </a:xfrm>
          <a:prstGeom prst="rect">
            <a:avLst/>
          </a:prstGeom>
          <a:noFill/>
          <a:ln/>
        </p:spPr>
        <p:txBody>
          <a:bodyPr wrap="square" rtlCol="0"/>
          <a:lstStyle>
            <a:lvl1pPr algn="l" indent="0" marL="0">
              <a:buNone/>
              <a:defRPr lang="en-US" sz="32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NSWER">
    <p:bg>
      <p:bgPr>
        <a:solidFill>
          <a:schemeClr val="accent4"/>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8961120" cy="320040"/>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566928"/>
            <a:ext cx="9509760" cy="731520"/>
          </a:xfrm>
          <a:prstGeom prst="rect">
            <a:avLst/>
          </a:prstGeom>
          <a:noFill/>
          <a:ln/>
        </p:spPr>
        <p:txBody>
          <a:bodyPr wrap="square" rtlCol="0"/>
          <a:lstStyle>
            <a:lvl1pPr algn="l" indent="0" marL="0">
              <a:buNone/>
              <a:defRPr lang="en-US" sz="32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VER">
    <p:bg>
      <p:bgPr>
        <a:solidFill>
          <a:schemeClr val="accent1"/>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3.xml"/><Relationship Id="rId3" Type="http://schemas.openxmlformats.org/officeDocument/2006/relationships/slide" Target="slide7.xml"/><Relationship Id="rId4" Type="http://schemas.openxmlformats.org/officeDocument/2006/relationships/slide" Target="slide12.xml"/><Relationship Id="rId5" Type="http://schemas.openxmlformats.org/officeDocument/2006/relationships/slide" Target="slide17.xml"/><Relationship Id="rId6" Type="http://schemas.openxmlformats.org/officeDocument/2006/relationships/slide" Target="slide22.xml"/><Relationship Id="rId7" Type="http://schemas.openxmlformats.org/officeDocument/2006/relationships/slideLayout" Target="../slideLayouts/slideLayout2.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7.xml"/><Relationship Id="rId3" Type="http://schemas.openxmlformats.org/officeDocument/2006/relationships/slideLayout" Target="../slideLayouts/slideLayout4.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12.xml"/><Relationship Id="rId3" Type="http://schemas.openxmlformats.org/officeDocument/2006/relationships/slideLayout" Target="../slideLayouts/slideLayout4.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17.xml"/><Relationship Id="rId3" Type="http://schemas.openxmlformats.org/officeDocument/2006/relationships/slideLayout" Target="../slideLayouts/slideLayout4.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4.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22.xml"/><Relationship Id="rId3" Type="http://schemas.openxmlformats.org/officeDocument/2006/relationships/slideLayout" Target="../slideLayouts/slideLayout4.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3.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2.xml"/><Relationship Id="rId3" Type="http://schemas.openxmlformats.org/officeDocument/2006/relationships/slideLayout" Target="../slideLayouts/slideLayout4.xml"/><Relationship Id="rId4"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822960"/>
            <a:ext cx="10058400" cy="365760"/>
          </a:xfrm>
          <a:prstGeom prst="rect">
            <a:avLst/>
          </a:prstGeom>
          <a:noFill/>
          <a:ln/>
        </p:spPr>
        <p:txBody>
          <a:bodyPr wrap="square" lIns="1016" tIns="1016" rIns="1016" bIns="1016" rtlCol="0" anchor="t"/>
          <a:lstStyle/>
          <a:p>
            <a:pPr indent="0" marL="0">
              <a:spcAft>
                <a:spcPts val="400"/>
              </a:spcAft>
              <a:buNone/>
            </a:pPr>
            <a:r>
              <a:rPr lang="en-US" sz="1300" b="1" spc="200" kern="0" dirty="0">
                <a:solidFill>
                  <a:schemeClr val="bg1"/>
                </a:solidFill>
              </a:rPr>
              <a:t>AQA A-LEVEL BIOLOGY · ENERGY AND ECOSYSTEMS</a:t>
            </a:r>
            <a:endParaRPr lang="en-US" sz="1300" dirty="0"/>
          </a:p>
        </p:txBody>
      </p:sp>
      <p:sp>
        <p:nvSpPr>
          <p:cNvPr id="3" name="Text 1"/>
          <p:cNvSpPr txBox="1"/>
          <p:nvPr/>
        </p:nvSpPr>
        <p:spPr>
          <a:xfrm>
            <a:off x="731520" y="1234440"/>
            <a:ext cx="7498080" cy="1463040"/>
          </a:xfrm>
          <a:prstGeom prst="rect">
            <a:avLst/>
          </a:prstGeom>
          <a:noFill/>
          <a:ln/>
        </p:spPr>
        <p:txBody>
          <a:bodyPr wrap="square" lIns="1016" tIns="1016" rIns="1016" bIns="1016" rtlCol="0" anchor="t"/>
          <a:lstStyle/>
          <a:p>
            <a:pPr indent="0" marL="0">
              <a:spcAft>
                <a:spcPts val="400"/>
              </a:spcAft>
              <a:buNone/>
            </a:pPr>
            <a:r>
              <a:rPr lang="en-US" sz="4200" b="1" dirty="0">
                <a:solidFill>
                  <a:schemeClr val="bg1"/>
                </a:solidFill>
                <a:latin typeface="Cambria" pitchFamily="34" charset="0"/>
                <a:ea typeface="Cambria" pitchFamily="34" charset="-122"/>
                <a:cs typeface="Cambria" pitchFamily="34" charset="-120"/>
              </a:rPr>
              <a:t>Energy transfer between trophic levels</a:t>
            </a:r>
            <a:endParaRPr lang="en-US" sz="4200" dirty="0"/>
          </a:p>
        </p:txBody>
      </p:sp>
      <p:sp>
        <p:nvSpPr>
          <p:cNvPr id="4" name="Text 2"/>
          <p:cNvSpPr txBox="1"/>
          <p:nvPr/>
        </p:nvSpPr>
        <p:spPr>
          <a:xfrm>
            <a:off x="731520" y="2834640"/>
            <a:ext cx="6766560" cy="914400"/>
          </a:xfrm>
          <a:prstGeom prst="rect">
            <a:avLst/>
          </a:prstGeom>
          <a:noFill/>
          <a:ln/>
        </p:spPr>
        <p:txBody>
          <a:bodyPr wrap="square" lIns="1016" tIns="1016" rIns="1016" bIns="1016" rtlCol="0" anchor="t"/>
          <a:lstStyle/>
          <a:p>
            <a:pPr indent="0" marL="0">
              <a:spcAft>
                <a:spcPts val="400"/>
              </a:spcAft>
              <a:buNone/>
            </a:pPr>
            <a:r>
              <a:rPr lang="en-US" sz="1800" dirty="0">
                <a:solidFill>
                  <a:schemeClr val="bg1"/>
                </a:solidFill>
              </a:rPr>
              <a:t>A short, self-paced lesson in 4 sections of about 5 minutes each. Learn one idea, try the check, then take a break whenever you need to.</a:t>
            </a:r>
            <a:endParaRPr lang="en-US" sz="1800" dirty="0"/>
          </a:p>
        </p:txBody>
      </p:sp>
      <p:sp>
        <p:nvSpPr>
          <p:cNvPr id="5" name="Shape 3"/>
          <p:cNvSpPr/>
          <p:nvPr/>
        </p:nvSpPr>
        <p:spPr>
          <a:xfrm>
            <a:off x="731520" y="4069080"/>
            <a:ext cx="6766560" cy="2103120"/>
          </a:xfrm>
          <a:prstGeom prst="roundRect">
            <a:avLst>
              <a:gd name="adj" fmla="val 5217"/>
            </a:avLst>
          </a:prstGeom>
          <a:solidFill>
            <a:schemeClr val="bg1"/>
          </a:solidFill>
          <a:ln w="12700">
            <a:solidFill>
              <a:schemeClr val="bg1"/>
            </a:solidFill>
            <a:prstDash val="solid"/>
          </a:ln>
        </p:spPr>
      </p:sp>
      <p:sp>
        <p:nvSpPr>
          <p:cNvPr id="6" name="Text 4"/>
          <p:cNvSpPr txBox="1"/>
          <p:nvPr/>
        </p:nvSpPr>
        <p:spPr>
          <a:xfrm>
            <a:off x="914400" y="4160520"/>
            <a:ext cx="6400800" cy="365760"/>
          </a:xfrm>
          <a:prstGeom prst="rect">
            <a:avLst/>
          </a:prstGeom>
          <a:noFill/>
          <a:ln/>
        </p:spPr>
        <p:txBody>
          <a:bodyPr wrap="square" lIns="1016" tIns="1016" rIns="1016" bIns="1016" rtlCol="0" anchor="t"/>
          <a:lstStyle/>
          <a:p>
            <a:pPr indent="0" marL="0">
              <a:spcAft>
                <a:spcPts val="400"/>
              </a:spcAft>
              <a:buNone/>
            </a:pPr>
            <a:r>
              <a:rPr lang="en-US" sz="1600" b="1" dirty="0">
                <a:solidFill>
                  <a:schemeClr val="tx1"/>
                </a:solidFill>
              </a:rPr>
              <a:t>How to use this deck</a:t>
            </a:r>
            <a:endParaRPr lang="en-US" sz="1600" dirty="0"/>
          </a:p>
        </p:txBody>
      </p:sp>
      <p:sp>
        <p:nvSpPr>
          <p:cNvPr id="7" name="Text 5"/>
          <p:cNvSpPr txBox="1"/>
          <p:nvPr/>
        </p:nvSpPr>
        <p:spPr>
          <a:xfrm>
            <a:off x="914400" y="4526280"/>
            <a:ext cx="6400800" cy="1600200"/>
          </a:xfrm>
          <a:prstGeom prst="rect">
            <a:avLst/>
          </a:prstGeom>
          <a:noFill/>
          <a:ln/>
        </p:spPr>
        <p:txBody>
          <a:bodyPr wrap="square" lIns="1016" tIns="1016" rIns="1016" bIns="1016" rtlCol="0" anchor="t"/>
          <a:lstStyle/>
          <a:p>
            <a:pPr marL="342900" indent="-342900">
              <a:spcAft>
                <a:spcPts val="400"/>
              </a:spcAft>
              <a:buSzPct val="100000"/>
              <a:buChar char="•"/>
            </a:pPr>
            <a:r>
              <a:rPr lang="en-US" sz="1400" dirty="0">
                <a:solidFill>
                  <a:schemeClr val="tx1"/>
                </a:solidFill>
              </a:rPr>
              <a:t>Yellow slides are questions. Try them before moving on.</a:t>
            </a:r>
            <a:endParaRPr lang="en-US" sz="1400" dirty="0"/>
          </a:p>
          <a:p>
            <a:pPr marL="342900" indent="-342900">
              <a:spcAft>
                <a:spcPts val="400"/>
              </a:spcAft>
              <a:buSzPct val="100000"/>
              <a:buChar char="•"/>
            </a:pPr>
            <a:r>
              <a:rPr lang="en-US" sz="1400" dirty="0">
                <a:solidFill>
                  <a:schemeClr val="tx1"/>
                </a:solidFill>
              </a:rPr>
              <a:t>Green slides are the answers, with each step explained.</a:t>
            </a:r>
            <a:endParaRPr lang="en-US" sz="1400" dirty="0"/>
          </a:p>
          <a:p>
            <a:pPr marL="342900" indent="-342900">
              <a:spcAft>
                <a:spcPts val="400"/>
              </a:spcAft>
              <a:buSzPct val="100000"/>
              <a:buChar char="•"/>
            </a:pPr>
            <a:r>
              <a:rPr lang="en-US" sz="1400" dirty="0">
                <a:solidFill>
                  <a:schemeClr val="tx1"/>
                </a:solidFill>
              </a:rPr>
              <a:t>"Lesson map" (top right) jumps to any section.</a:t>
            </a:r>
            <a:endParaRPr lang="en-US" sz="1400" dirty="0"/>
          </a:p>
          <a:p>
            <a:pPr marL="342900" indent="-342900">
              <a:spcAft>
                <a:spcPts val="400"/>
              </a:spcAft>
              <a:buSzPct val="100000"/>
              <a:buChar char="•"/>
            </a:pPr>
            <a:r>
              <a:rPr lang="en-US" sz="1400" dirty="0">
                <a:solidFill>
                  <a:schemeClr val="tx1"/>
                </a:solidFill>
              </a:rPr>
              <a:t>Labels show where content came from: class notes, original question, new question or extra help.</a:t>
            </a:r>
            <a:endParaRPr lang="en-US" sz="1400" dirty="0"/>
          </a:p>
        </p:txBody>
      </p:sp>
      <p:sp>
        <p:nvSpPr>
          <p:cNvPr id="8" name="Shape 6"/>
          <p:cNvSpPr/>
          <p:nvPr/>
        </p:nvSpPr>
        <p:spPr>
          <a:xfrm>
            <a:off x="8503920" y="1097280"/>
            <a:ext cx="1463040" cy="1463040"/>
          </a:xfrm>
          <a:prstGeom prst="ellipse">
            <a:avLst/>
          </a:prstGeom>
          <a:solidFill>
            <a:schemeClr val="accent2"/>
          </a:solidFill>
          <a:ln w="12700">
            <a:solidFill>
              <a:schemeClr val="accent2"/>
            </a:solidFill>
            <a:prstDash val="solid"/>
          </a:ln>
        </p:spPr>
      </p:sp>
      <p:sp>
        <p:nvSpPr>
          <p:cNvPr id="9" name="Shape 7"/>
          <p:cNvSpPr/>
          <p:nvPr/>
        </p:nvSpPr>
        <p:spPr>
          <a:xfrm>
            <a:off x="9601200" y="2560320"/>
            <a:ext cx="822960" cy="1645920"/>
          </a:xfrm>
          <a:prstGeom prst="line">
            <a:avLst/>
          </a:prstGeom>
          <a:noFill/>
          <a:ln w="63500">
            <a:solidFill>
              <a:schemeClr val="accent2"/>
            </a:solidFill>
            <a:prstDash val="solid"/>
            <a:tailEnd type="triangle"/>
          </a:ln>
        </p:spPr>
      </p:sp>
      <p:sp>
        <p:nvSpPr>
          <p:cNvPr id="10" name="Shape 8"/>
          <p:cNvSpPr/>
          <p:nvPr/>
        </p:nvSpPr>
        <p:spPr>
          <a:xfrm>
            <a:off x="9509760" y="4297680"/>
            <a:ext cx="2103120" cy="1005840"/>
          </a:xfrm>
          <a:prstGeom prst="ellipse">
            <a:avLst/>
          </a:prstGeom>
          <a:solidFill>
            <a:schemeClr val="accent4"/>
          </a:solidFill>
          <a:ln w="12700">
            <a:solidFill>
              <a:schemeClr val="bg1"/>
            </a:solidFill>
            <a:prstDash val="solid"/>
          </a:ln>
        </p:spPr>
      </p:sp>
      <p:sp>
        <p:nvSpPr>
          <p:cNvPr id="11" name="Text 9"/>
          <p:cNvSpPr txBox="1"/>
          <p:nvPr/>
        </p:nvSpPr>
        <p:spPr>
          <a:xfrm>
            <a:off x="9509760" y="4297680"/>
            <a:ext cx="2103120" cy="1005840"/>
          </a:xfrm>
          <a:prstGeom prst="rect">
            <a:avLst/>
          </a:prstGeom>
          <a:noFill/>
          <a:ln/>
        </p:spPr>
        <p:txBody>
          <a:bodyPr wrap="square" lIns="1016" tIns="1016" rIns="1016" bIns="1016" rtlCol="0" anchor="ctr"/>
          <a:lstStyle/>
          <a:p>
            <a:pPr algn="ctr" indent="0" marL="0">
              <a:spcAft>
                <a:spcPts val="400"/>
              </a:spcAft>
              <a:buNone/>
            </a:pPr>
            <a:r>
              <a:rPr lang="en-US" sz="1600" b="1" dirty="0">
                <a:solidFill>
                  <a:schemeClr val="accent1"/>
                </a:solidFill>
              </a:rPr>
              <a:t>Producer</a:t>
            </a:r>
            <a:endParaRPr lang="en-US" sz="1600" dirty="0"/>
          </a:p>
        </p:txBody>
      </p:sp>
      <p:sp>
        <p:nvSpPr>
          <p:cNvPr id="12" name="Text 10"/>
          <p:cNvSpPr txBox="1"/>
          <p:nvPr/>
        </p:nvSpPr>
        <p:spPr>
          <a:xfrm>
            <a:off x="9326880" y="5394960"/>
            <a:ext cx="2468880" cy="365760"/>
          </a:xfrm>
          <a:prstGeom prst="rect">
            <a:avLst/>
          </a:prstGeom>
          <a:noFill/>
          <a:ln/>
        </p:spPr>
        <p:txBody>
          <a:bodyPr wrap="square" lIns="1016" tIns="1016" rIns="1016" bIns="1016" rtlCol="0" anchor="t"/>
          <a:lstStyle/>
          <a:p>
            <a:pPr algn="ctr" indent="0" marL="0">
              <a:spcAft>
                <a:spcPts val="400"/>
              </a:spcAft>
              <a:buNone/>
            </a:pPr>
            <a:r>
              <a:rPr lang="en-US" sz="1400" b="1" dirty="0">
                <a:solidFill>
                  <a:schemeClr val="bg1"/>
                </a:solidFill>
              </a:rPr>
              <a:t>1–3% captured</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896112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LESSON MAP</a:t>
            </a:r>
            <a:endParaRPr lang="en-US" sz="1200" dirty="0"/>
          </a:p>
        </p:txBody>
      </p:sp>
      <p:sp>
        <p:nvSpPr>
          <p:cNvPr id="3" name="Text 0"/>
          <p:cNvSpPr/>
          <p:nvPr>
            <p:ph idx="101" type="title" hasCustomPrompt="1"/>
          </p:nvPr>
        </p:nvSpPr>
        <p:spPr>
          <a:xfrm>
            <a:off x="548640" y="566928"/>
            <a:ext cx="9509760" cy="73152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Four short sections, then a summary</a:t>
            </a:r>
            <a:endParaRPr lang="en-US" sz="3200" dirty="0"/>
          </a:p>
        </p:txBody>
      </p:sp>
      <p:sp>
        <p:nvSpPr>
          <p:cNvPr id="4" name="nav-map"/>
          <p:cNvSpPr txBox="1"/>
          <p:nvPr/>
        </p:nvSpPr>
        <p:spPr>
          <a:xfrm>
            <a:off x="10469880" y="274320"/>
            <a:ext cx="1188720" cy="320040"/>
          </a:xfrm>
          <a:prstGeom prst="rect">
            <a:avLst/>
          </a:prstGeom>
          <a:noFill/>
          <a:ln/>
        </p:spPr>
        <p:txBody>
          <a:bodyPr wrap="square" lIns="0" tIns="0" rIns="0" bIns="0" rtlCol="0" anchor="ctr"/>
          <a:lstStyle/>
          <a:p>
            <a:pPr algn="r" indent="0" marL="0">
              <a:buNone/>
            </a:pPr>
            <a:r>
              <a:rPr lang="en-US" sz="1200" u="sng" dirty="0">
                <a:solidFill>
                  <a:schemeClr val="accent1"/>
                </a:solidFill>
                <a:hlinkClick r:id="rId1" action="ppaction://hlinksldjump" tooltip="Back to lesson map">
                  <a:extLst>
                    <a:ext uri="{A12FA001-AC4F-418D-AE19-62706E023703}">
                      <ahyp:hlinkClr xmlns:ahyp="http://schemas.microsoft.com/office/drawing/2018/hyperlinkcolor" val="tx"/>
                    </a:ext>
                  </a:extLst>
                </a:hlinkClick>
              </a:rPr>
              <a:t>Lesson map</a:t>
            </a:r>
            <a:endParaRPr lang="en-US" sz="1200" dirty="0"/>
          </a:p>
        </p:txBody>
      </p:sp>
      <p:sp>
        <p:nvSpPr>
          <p:cNvPr id="5" name="Shape 3"/>
          <p:cNvSpPr/>
          <p:nvPr/>
        </p:nvSpPr>
        <p:spPr>
          <a:xfrm>
            <a:off x="548640" y="1600200"/>
            <a:ext cx="2606040" cy="3017520"/>
          </a:xfrm>
          <a:prstGeom prst="roundRect">
            <a:avLst>
              <a:gd name="adj" fmla="val 4211"/>
            </a:avLst>
          </a:prstGeom>
          <a:solidFill>
            <a:schemeClr val="bg1"/>
          </a:solidFill>
          <a:ln w="15875">
            <a:solidFill>
              <a:schemeClr val="accent1"/>
            </a:solidFill>
            <a:prstDash val="solid"/>
          </a:ln>
        </p:spPr>
      </p:sp>
      <p:sp>
        <p:nvSpPr>
          <p:cNvPr id="6" name="Text 4"/>
          <p:cNvSpPr txBox="1"/>
          <p:nvPr/>
        </p:nvSpPr>
        <p:spPr>
          <a:xfrm>
            <a:off x="731520" y="1737360"/>
            <a:ext cx="914400" cy="731520"/>
          </a:xfrm>
          <a:prstGeom prst="rect">
            <a:avLst/>
          </a:prstGeom>
          <a:noFill/>
          <a:ln/>
        </p:spPr>
        <p:txBody>
          <a:bodyPr wrap="square" lIns="1016" tIns="1016" rIns="1016" bIns="1016" rtlCol="0" anchor="t"/>
          <a:lstStyle/>
          <a:p>
            <a:pPr indent="0" marL="0">
              <a:spcAft>
                <a:spcPts val="400"/>
              </a:spcAft>
              <a:buNone/>
            </a:pPr>
            <a:r>
              <a:rPr lang="en-US" sz="4000" b="1" dirty="0">
                <a:solidFill>
                  <a:schemeClr val="accent1"/>
                </a:solidFill>
                <a:latin typeface="Cambria" pitchFamily="34" charset="0"/>
                <a:ea typeface="Cambria" pitchFamily="34" charset="-122"/>
                <a:cs typeface="Cambria" pitchFamily="34" charset="-120"/>
              </a:rPr>
              <a:t>A</a:t>
            </a:r>
            <a:endParaRPr lang="en-US" sz="4000" dirty="0"/>
          </a:p>
        </p:txBody>
      </p:sp>
      <p:sp>
        <p:nvSpPr>
          <p:cNvPr id="7" name="Text 5"/>
          <p:cNvSpPr txBox="1"/>
          <p:nvPr/>
        </p:nvSpPr>
        <p:spPr>
          <a:xfrm>
            <a:off x="731520" y="2514600"/>
            <a:ext cx="2286000" cy="457200"/>
          </a:xfrm>
          <a:prstGeom prst="rect">
            <a:avLst/>
          </a:prstGeom>
          <a:noFill/>
          <a:ln/>
        </p:spPr>
        <p:txBody>
          <a:bodyPr wrap="square" lIns="1016" tIns="1016" rIns="1016" bIns="1016" rtlCol="0" anchor="t"/>
          <a:lstStyle/>
          <a:p>
            <a:pPr indent="0" marL="0">
              <a:spcAft>
                <a:spcPts val="400"/>
              </a:spcAft>
              <a:buNone/>
            </a:pPr>
            <a:r>
              <a:rPr lang="en-US" sz="1800" b="1" dirty="0">
                <a:solidFill>
                  <a:schemeClr val="tx1"/>
                </a:solidFill>
              </a:rPr>
              <a:t>Sunlight to plants</a:t>
            </a:r>
            <a:endParaRPr lang="en-US" sz="1800" dirty="0"/>
          </a:p>
        </p:txBody>
      </p:sp>
      <p:sp>
        <p:nvSpPr>
          <p:cNvPr id="8" name="Text 6"/>
          <p:cNvSpPr txBox="1"/>
          <p:nvPr/>
        </p:nvSpPr>
        <p:spPr>
          <a:xfrm>
            <a:off x="731520" y="2971800"/>
            <a:ext cx="2286000" cy="914400"/>
          </a:xfrm>
          <a:prstGeom prst="rect">
            <a:avLst/>
          </a:prstGeom>
          <a:noFill/>
          <a:ln/>
        </p:spPr>
        <p:txBody>
          <a:bodyPr wrap="square" lIns="1016" tIns="1016" rIns="1016" bIns="1016" rtlCol="0" anchor="t"/>
          <a:lstStyle/>
          <a:p>
            <a:pPr indent="0" marL="0">
              <a:spcAft>
                <a:spcPts val="400"/>
              </a:spcAft>
              <a:buNone/>
            </a:pPr>
            <a:r>
              <a:rPr lang="en-US" sz="1400" dirty="0">
                <a:solidFill>
                  <a:schemeClr val="tx2"/>
                </a:solidFill>
              </a:rPr>
              <a:t>1–3% of light captured. GPP and NPP.</a:t>
            </a:r>
            <a:endParaRPr lang="en-US" sz="1400" dirty="0"/>
          </a:p>
        </p:txBody>
      </p:sp>
      <p:sp>
        <p:nvSpPr>
          <p:cNvPr id="9" name="Text 7"/>
          <p:cNvSpPr txBox="1"/>
          <p:nvPr/>
        </p:nvSpPr>
        <p:spPr>
          <a:xfrm>
            <a:off x="731520" y="4023360"/>
            <a:ext cx="2286000" cy="365760"/>
          </a:xfrm>
          <a:prstGeom prst="rect">
            <a:avLst/>
          </a:prstGeom>
          <a:noFill/>
          <a:ln/>
        </p:spPr>
        <p:txBody>
          <a:bodyPr wrap="square" lIns="1016" tIns="1016" rIns="1016" bIns="1016" rtlCol="0" anchor="t"/>
          <a:lstStyle/>
          <a:p>
            <a:pPr indent="0" marL="0">
              <a:spcAft>
                <a:spcPts val="400"/>
              </a:spcAft>
              <a:buNone/>
            </a:pPr>
            <a:r>
              <a:rPr lang="en-US" sz="1400" b="1" u="sng" dirty="0">
                <a:solidFill>
                  <a:schemeClr val="accent1"/>
                </a:solidFill>
                <a:hlinkClick r:id="rId2" action="ppaction://hlinksldjump" tooltip="">
                  <a:extLst>
                    <a:ext uri="{A12FA001-AC4F-418D-AE19-62706E023703}">
                      <ahyp:hlinkClr xmlns:ahyp="http://schemas.microsoft.com/office/drawing/2018/hyperlinkcolor" val="tx"/>
                    </a:ext>
                  </a:extLst>
                </a:hlinkClick>
              </a:rPr>
              <a:t>Go to section A →</a:t>
            </a:r>
            <a:endParaRPr lang="en-US" sz="1400" dirty="0"/>
          </a:p>
        </p:txBody>
      </p:sp>
      <p:sp>
        <p:nvSpPr>
          <p:cNvPr id="10" name="Text 8"/>
          <p:cNvSpPr txBox="1"/>
          <p:nvPr/>
        </p:nvSpPr>
        <p:spPr>
          <a:xfrm>
            <a:off x="2194560" y="1920240"/>
            <a:ext cx="868680" cy="320040"/>
          </a:xfrm>
          <a:prstGeom prst="rect">
            <a:avLst/>
          </a:prstGeom>
          <a:noFill/>
          <a:ln/>
        </p:spPr>
        <p:txBody>
          <a:bodyPr wrap="square" lIns="1016" tIns="1016" rIns="1016" bIns="1016" rtlCol="0" anchor="t"/>
          <a:lstStyle/>
          <a:p>
            <a:pPr algn="r" indent="0" marL="0">
              <a:spcAft>
                <a:spcPts val="400"/>
              </a:spcAft>
              <a:buNone/>
            </a:pPr>
            <a:r>
              <a:rPr lang="en-US" sz="1100" dirty="0">
                <a:solidFill>
                  <a:schemeClr val="tx2"/>
                </a:solidFill>
              </a:rPr>
              <a:t>about 5 min</a:t>
            </a:r>
            <a:endParaRPr lang="en-US" sz="1100" dirty="0"/>
          </a:p>
        </p:txBody>
      </p:sp>
      <p:sp>
        <p:nvSpPr>
          <p:cNvPr id="11" name="Shape 9"/>
          <p:cNvSpPr/>
          <p:nvPr/>
        </p:nvSpPr>
        <p:spPr>
          <a:xfrm>
            <a:off x="3364992" y="1600200"/>
            <a:ext cx="2606040" cy="3017520"/>
          </a:xfrm>
          <a:prstGeom prst="roundRect">
            <a:avLst>
              <a:gd name="adj" fmla="val 4211"/>
            </a:avLst>
          </a:prstGeom>
          <a:solidFill>
            <a:schemeClr val="bg1"/>
          </a:solidFill>
          <a:ln w="15875">
            <a:solidFill>
              <a:schemeClr val="accent1"/>
            </a:solidFill>
            <a:prstDash val="solid"/>
          </a:ln>
        </p:spPr>
      </p:sp>
      <p:sp>
        <p:nvSpPr>
          <p:cNvPr id="12" name="Text 10"/>
          <p:cNvSpPr txBox="1"/>
          <p:nvPr/>
        </p:nvSpPr>
        <p:spPr>
          <a:xfrm>
            <a:off x="3547872" y="1737360"/>
            <a:ext cx="914400" cy="731520"/>
          </a:xfrm>
          <a:prstGeom prst="rect">
            <a:avLst/>
          </a:prstGeom>
          <a:noFill/>
          <a:ln/>
        </p:spPr>
        <p:txBody>
          <a:bodyPr wrap="square" lIns="1016" tIns="1016" rIns="1016" bIns="1016" rtlCol="0" anchor="t"/>
          <a:lstStyle/>
          <a:p>
            <a:pPr indent="0" marL="0">
              <a:spcAft>
                <a:spcPts val="400"/>
              </a:spcAft>
              <a:buNone/>
            </a:pPr>
            <a:r>
              <a:rPr lang="en-US" sz="4000" b="1" dirty="0">
                <a:solidFill>
                  <a:schemeClr val="accent1"/>
                </a:solidFill>
                <a:latin typeface="Cambria" pitchFamily="34" charset="0"/>
                <a:ea typeface="Cambria" pitchFamily="34" charset="-122"/>
                <a:cs typeface="Cambria" pitchFamily="34" charset="-120"/>
              </a:rPr>
              <a:t>B</a:t>
            </a:r>
            <a:endParaRPr lang="en-US" sz="4000" dirty="0"/>
          </a:p>
        </p:txBody>
      </p:sp>
      <p:sp>
        <p:nvSpPr>
          <p:cNvPr id="13" name="Text 11"/>
          <p:cNvSpPr txBox="1"/>
          <p:nvPr/>
        </p:nvSpPr>
        <p:spPr>
          <a:xfrm>
            <a:off x="3547872" y="2514600"/>
            <a:ext cx="2286000" cy="457200"/>
          </a:xfrm>
          <a:prstGeom prst="rect">
            <a:avLst/>
          </a:prstGeom>
          <a:noFill/>
          <a:ln/>
        </p:spPr>
        <p:txBody>
          <a:bodyPr wrap="square" lIns="1016" tIns="1016" rIns="1016" bIns="1016" rtlCol="0" anchor="t"/>
          <a:lstStyle/>
          <a:p>
            <a:pPr indent="0" marL="0">
              <a:spcAft>
                <a:spcPts val="400"/>
              </a:spcAft>
              <a:buNone/>
            </a:pPr>
            <a:r>
              <a:rPr lang="en-US" sz="1800" b="1" dirty="0">
                <a:solidFill>
                  <a:schemeClr val="tx1"/>
                </a:solidFill>
              </a:rPr>
              <a:t>Plants to animals</a:t>
            </a:r>
            <a:endParaRPr lang="en-US" sz="1800" dirty="0"/>
          </a:p>
        </p:txBody>
      </p:sp>
      <p:sp>
        <p:nvSpPr>
          <p:cNvPr id="14" name="Text 12"/>
          <p:cNvSpPr txBox="1"/>
          <p:nvPr/>
        </p:nvSpPr>
        <p:spPr>
          <a:xfrm>
            <a:off x="3547872" y="2971800"/>
            <a:ext cx="2286000" cy="914400"/>
          </a:xfrm>
          <a:prstGeom prst="rect">
            <a:avLst/>
          </a:prstGeom>
          <a:noFill/>
          <a:ln/>
        </p:spPr>
        <p:txBody>
          <a:bodyPr wrap="square" lIns="1016" tIns="1016" rIns="1016" bIns="1016" rtlCol="0" anchor="t"/>
          <a:lstStyle/>
          <a:p>
            <a:pPr indent="0" marL="0">
              <a:spcAft>
                <a:spcPts val="400"/>
              </a:spcAft>
              <a:buNone/>
            </a:pPr>
            <a:r>
              <a:rPr lang="en-US" sz="1400" dirty="0">
                <a:solidFill>
                  <a:schemeClr val="tx2"/>
                </a:solidFill>
              </a:rPr>
              <a:t>Why energy is lost. N = I − (F + R).</a:t>
            </a:r>
            <a:endParaRPr lang="en-US" sz="1400" dirty="0"/>
          </a:p>
        </p:txBody>
      </p:sp>
      <p:sp>
        <p:nvSpPr>
          <p:cNvPr id="15" name="Text 13"/>
          <p:cNvSpPr txBox="1"/>
          <p:nvPr/>
        </p:nvSpPr>
        <p:spPr>
          <a:xfrm>
            <a:off x="3547872" y="4023360"/>
            <a:ext cx="2286000" cy="365760"/>
          </a:xfrm>
          <a:prstGeom prst="rect">
            <a:avLst/>
          </a:prstGeom>
          <a:noFill/>
          <a:ln/>
        </p:spPr>
        <p:txBody>
          <a:bodyPr wrap="square" lIns="1016" tIns="1016" rIns="1016" bIns="1016" rtlCol="0" anchor="t"/>
          <a:lstStyle/>
          <a:p>
            <a:pPr indent="0" marL="0">
              <a:spcAft>
                <a:spcPts val="400"/>
              </a:spcAft>
              <a:buNone/>
            </a:pPr>
            <a:r>
              <a:rPr lang="en-US" sz="1400" b="1" u="sng" dirty="0">
                <a:solidFill>
                  <a:schemeClr val="accent1"/>
                </a:solidFill>
                <a:hlinkClick r:id="rId3" action="ppaction://hlinksldjump" tooltip="">
                  <a:extLst>
                    <a:ext uri="{A12FA001-AC4F-418D-AE19-62706E023703}">
                      <ahyp:hlinkClr xmlns:ahyp="http://schemas.microsoft.com/office/drawing/2018/hyperlinkcolor" val="tx"/>
                    </a:ext>
                  </a:extLst>
                </a:hlinkClick>
              </a:rPr>
              <a:t>Go to section B →</a:t>
            </a:r>
            <a:endParaRPr lang="en-US" sz="1400" dirty="0"/>
          </a:p>
        </p:txBody>
      </p:sp>
      <p:sp>
        <p:nvSpPr>
          <p:cNvPr id="16" name="Text 14"/>
          <p:cNvSpPr txBox="1"/>
          <p:nvPr/>
        </p:nvSpPr>
        <p:spPr>
          <a:xfrm>
            <a:off x="5010912" y="1920240"/>
            <a:ext cx="868680" cy="320040"/>
          </a:xfrm>
          <a:prstGeom prst="rect">
            <a:avLst/>
          </a:prstGeom>
          <a:noFill/>
          <a:ln/>
        </p:spPr>
        <p:txBody>
          <a:bodyPr wrap="square" lIns="1016" tIns="1016" rIns="1016" bIns="1016" rtlCol="0" anchor="t"/>
          <a:lstStyle/>
          <a:p>
            <a:pPr algn="r" indent="0" marL="0">
              <a:spcAft>
                <a:spcPts val="400"/>
              </a:spcAft>
              <a:buNone/>
            </a:pPr>
            <a:r>
              <a:rPr lang="en-US" sz="1100" dirty="0">
                <a:solidFill>
                  <a:schemeClr val="tx2"/>
                </a:solidFill>
              </a:rPr>
              <a:t>about 5 min</a:t>
            </a:r>
            <a:endParaRPr lang="en-US" sz="1100" dirty="0"/>
          </a:p>
        </p:txBody>
      </p:sp>
      <p:sp>
        <p:nvSpPr>
          <p:cNvPr id="17" name="Shape 15"/>
          <p:cNvSpPr/>
          <p:nvPr/>
        </p:nvSpPr>
        <p:spPr>
          <a:xfrm>
            <a:off x="6181344" y="1600200"/>
            <a:ext cx="2606040" cy="3017520"/>
          </a:xfrm>
          <a:prstGeom prst="roundRect">
            <a:avLst>
              <a:gd name="adj" fmla="val 4211"/>
            </a:avLst>
          </a:prstGeom>
          <a:solidFill>
            <a:schemeClr val="bg1"/>
          </a:solidFill>
          <a:ln w="15875">
            <a:solidFill>
              <a:schemeClr val="accent1"/>
            </a:solidFill>
            <a:prstDash val="solid"/>
          </a:ln>
        </p:spPr>
      </p:sp>
      <p:sp>
        <p:nvSpPr>
          <p:cNvPr id="18" name="Text 16"/>
          <p:cNvSpPr txBox="1"/>
          <p:nvPr/>
        </p:nvSpPr>
        <p:spPr>
          <a:xfrm>
            <a:off x="6364224" y="1737360"/>
            <a:ext cx="914400" cy="731520"/>
          </a:xfrm>
          <a:prstGeom prst="rect">
            <a:avLst/>
          </a:prstGeom>
          <a:noFill/>
          <a:ln/>
        </p:spPr>
        <p:txBody>
          <a:bodyPr wrap="square" lIns="1016" tIns="1016" rIns="1016" bIns="1016" rtlCol="0" anchor="t"/>
          <a:lstStyle/>
          <a:p>
            <a:pPr indent="0" marL="0">
              <a:spcAft>
                <a:spcPts val="400"/>
              </a:spcAft>
              <a:buNone/>
            </a:pPr>
            <a:r>
              <a:rPr lang="en-US" sz="4000" b="1" dirty="0">
                <a:solidFill>
                  <a:schemeClr val="accent1"/>
                </a:solidFill>
                <a:latin typeface="Cambria" pitchFamily="34" charset="0"/>
                <a:ea typeface="Cambria" pitchFamily="34" charset="-122"/>
                <a:cs typeface="Cambria" pitchFamily="34" charset="-120"/>
              </a:rPr>
              <a:t>C</a:t>
            </a:r>
            <a:endParaRPr lang="en-US" sz="4000" dirty="0"/>
          </a:p>
        </p:txBody>
      </p:sp>
      <p:sp>
        <p:nvSpPr>
          <p:cNvPr id="19" name="Text 17"/>
          <p:cNvSpPr txBox="1"/>
          <p:nvPr/>
        </p:nvSpPr>
        <p:spPr>
          <a:xfrm>
            <a:off x="6364224" y="2514600"/>
            <a:ext cx="2286000" cy="457200"/>
          </a:xfrm>
          <a:prstGeom prst="rect">
            <a:avLst/>
          </a:prstGeom>
          <a:noFill/>
          <a:ln/>
        </p:spPr>
        <p:txBody>
          <a:bodyPr wrap="square" lIns="1016" tIns="1016" rIns="1016" bIns="1016" rtlCol="0" anchor="t"/>
          <a:lstStyle/>
          <a:p>
            <a:pPr indent="0" marL="0">
              <a:spcAft>
                <a:spcPts val="400"/>
              </a:spcAft>
              <a:buNone/>
            </a:pPr>
            <a:r>
              <a:rPr lang="en-US" sz="1800" b="1" dirty="0">
                <a:solidFill>
                  <a:schemeClr val="tx1"/>
                </a:solidFill>
              </a:rPr>
              <a:t>Calculating efficiency</a:t>
            </a:r>
            <a:endParaRPr lang="en-US" sz="1800" dirty="0"/>
          </a:p>
        </p:txBody>
      </p:sp>
      <p:sp>
        <p:nvSpPr>
          <p:cNvPr id="20" name="Text 18"/>
          <p:cNvSpPr txBox="1"/>
          <p:nvPr/>
        </p:nvSpPr>
        <p:spPr>
          <a:xfrm>
            <a:off x="6364224" y="2971800"/>
            <a:ext cx="2286000" cy="914400"/>
          </a:xfrm>
          <a:prstGeom prst="rect">
            <a:avLst/>
          </a:prstGeom>
          <a:noFill/>
          <a:ln/>
        </p:spPr>
        <p:txBody>
          <a:bodyPr wrap="square" lIns="1016" tIns="1016" rIns="1016" bIns="1016" rtlCol="0" anchor="t"/>
          <a:lstStyle/>
          <a:p>
            <a:pPr indent="0" marL="0">
              <a:spcAft>
                <a:spcPts val="400"/>
              </a:spcAft>
              <a:buNone/>
            </a:pPr>
            <a:r>
              <a:rPr lang="en-US" sz="1400" dirty="0">
                <a:solidFill>
                  <a:schemeClr val="tx2"/>
                </a:solidFill>
              </a:rPr>
              <a:t>Units and % efficiency, with a worked example.</a:t>
            </a:r>
            <a:endParaRPr lang="en-US" sz="1400" dirty="0"/>
          </a:p>
        </p:txBody>
      </p:sp>
      <p:sp>
        <p:nvSpPr>
          <p:cNvPr id="21" name="Text 19"/>
          <p:cNvSpPr txBox="1"/>
          <p:nvPr/>
        </p:nvSpPr>
        <p:spPr>
          <a:xfrm>
            <a:off x="6364224" y="4023360"/>
            <a:ext cx="2286000" cy="365760"/>
          </a:xfrm>
          <a:prstGeom prst="rect">
            <a:avLst/>
          </a:prstGeom>
          <a:noFill/>
          <a:ln/>
        </p:spPr>
        <p:txBody>
          <a:bodyPr wrap="square" lIns="1016" tIns="1016" rIns="1016" bIns="1016" rtlCol="0" anchor="t"/>
          <a:lstStyle/>
          <a:p>
            <a:pPr indent="0" marL="0">
              <a:spcAft>
                <a:spcPts val="400"/>
              </a:spcAft>
              <a:buNone/>
            </a:pPr>
            <a:r>
              <a:rPr lang="en-US" sz="1400" b="1" u="sng" dirty="0">
                <a:solidFill>
                  <a:schemeClr val="accent1"/>
                </a:solidFill>
                <a:hlinkClick r:id="rId4" action="ppaction://hlinksldjump" tooltip="">
                  <a:extLst>
                    <a:ext uri="{A12FA001-AC4F-418D-AE19-62706E023703}">
                      <ahyp:hlinkClr xmlns:ahyp="http://schemas.microsoft.com/office/drawing/2018/hyperlinkcolor" val="tx"/>
                    </a:ext>
                  </a:extLst>
                </a:hlinkClick>
              </a:rPr>
              <a:t>Go to section C →</a:t>
            </a:r>
            <a:endParaRPr lang="en-US" sz="1400" dirty="0"/>
          </a:p>
        </p:txBody>
      </p:sp>
      <p:sp>
        <p:nvSpPr>
          <p:cNvPr id="22" name="Text 20"/>
          <p:cNvSpPr txBox="1"/>
          <p:nvPr/>
        </p:nvSpPr>
        <p:spPr>
          <a:xfrm>
            <a:off x="7827264" y="1920240"/>
            <a:ext cx="868680" cy="320040"/>
          </a:xfrm>
          <a:prstGeom prst="rect">
            <a:avLst/>
          </a:prstGeom>
          <a:noFill/>
          <a:ln/>
        </p:spPr>
        <p:txBody>
          <a:bodyPr wrap="square" lIns="1016" tIns="1016" rIns="1016" bIns="1016" rtlCol="0" anchor="t"/>
          <a:lstStyle/>
          <a:p>
            <a:pPr algn="r" indent="0" marL="0">
              <a:spcAft>
                <a:spcPts val="400"/>
              </a:spcAft>
              <a:buNone/>
            </a:pPr>
            <a:r>
              <a:rPr lang="en-US" sz="1100" dirty="0">
                <a:solidFill>
                  <a:schemeClr val="tx2"/>
                </a:solidFill>
              </a:rPr>
              <a:t>about 4 min</a:t>
            </a:r>
            <a:endParaRPr lang="en-US" sz="1100" dirty="0"/>
          </a:p>
        </p:txBody>
      </p:sp>
      <p:sp>
        <p:nvSpPr>
          <p:cNvPr id="23" name="Shape 21"/>
          <p:cNvSpPr/>
          <p:nvPr/>
        </p:nvSpPr>
        <p:spPr>
          <a:xfrm>
            <a:off x="8997696" y="1600200"/>
            <a:ext cx="2606040" cy="3017520"/>
          </a:xfrm>
          <a:prstGeom prst="roundRect">
            <a:avLst>
              <a:gd name="adj" fmla="val 4211"/>
            </a:avLst>
          </a:prstGeom>
          <a:solidFill>
            <a:schemeClr val="bg1"/>
          </a:solidFill>
          <a:ln w="15875">
            <a:solidFill>
              <a:schemeClr val="accent1"/>
            </a:solidFill>
            <a:prstDash val="solid"/>
          </a:ln>
        </p:spPr>
      </p:sp>
      <p:sp>
        <p:nvSpPr>
          <p:cNvPr id="24" name="Text 22"/>
          <p:cNvSpPr txBox="1"/>
          <p:nvPr/>
        </p:nvSpPr>
        <p:spPr>
          <a:xfrm>
            <a:off x="9180576" y="1737360"/>
            <a:ext cx="914400" cy="731520"/>
          </a:xfrm>
          <a:prstGeom prst="rect">
            <a:avLst/>
          </a:prstGeom>
          <a:noFill/>
          <a:ln/>
        </p:spPr>
        <p:txBody>
          <a:bodyPr wrap="square" lIns="1016" tIns="1016" rIns="1016" bIns="1016" rtlCol="0" anchor="t"/>
          <a:lstStyle/>
          <a:p>
            <a:pPr indent="0" marL="0">
              <a:spcAft>
                <a:spcPts val="400"/>
              </a:spcAft>
              <a:buNone/>
            </a:pPr>
            <a:r>
              <a:rPr lang="en-US" sz="4000" b="1" dirty="0">
                <a:solidFill>
                  <a:schemeClr val="accent1"/>
                </a:solidFill>
                <a:latin typeface="Cambria" pitchFamily="34" charset="0"/>
                <a:ea typeface="Cambria" pitchFamily="34" charset="-122"/>
                <a:cs typeface="Cambria" pitchFamily="34" charset="-120"/>
              </a:rPr>
              <a:t>D</a:t>
            </a:r>
            <a:endParaRPr lang="en-US" sz="4000" dirty="0"/>
          </a:p>
        </p:txBody>
      </p:sp>
      <p:sp>
        <p:nvSpPr>
          <p:cNvPr id="25" name="Text 23"/>
          <p:cNvSpPr txBox="1"/>
          <p:nvPr/>
        </p:nvSpPr>
        <p:spPr>
          <a:xfrm>
            <a:off x="9180576" y="2514600"/>
            <a:ext cx="2286000" cy="457200"/>
          </a:xfrm>
          <a:prstGeom prst="rect">
            <a:avLst/>
          </a:prstGeom>
          <a:noFill/>
          <a:ln/>
        </p:spPr>
        <p:txBody>
          <a:bodyPr wrap="square" lIns="1016" tIns="1016" rIns="1016" bIns="1016" rtlCol="0" anchor="t"/>
          <a:lstStyle/>
          <a:p>
            <a:pPr indent="0" marL="0">
              <a:spcAft>
                <a:spcPts val="400"/>
              </a:spcAft>
              <a:buNone/>
            </a:pPr>
            <a:r>
              <a:rPr lang="en-US" sz="1800" b="1" dirty="0">
                <a:solidFill>
                  <a:schemeClr val="tx1"/>
                </a:solidFill>
              </a:rPr>
              <a:t>Exam practice</a:t>
            </a:r>
            <a:endParaRPr lang="en-US" sz="1800" dirty="0"/>
          </a:p>
        </p:txBody>
      </p:sp>
      <p:sp>
        <p:nvSpPr>
          <p:cNvPr id="26" name="Text 24"/>
          <p:cNvSpPr txBox="1"/>
          <p:nvPr/>
        </p:nvSpPr>
        <p:spPr>
          <a:xfrm>
            <a:off x="9180576" y="2971800"/>
            <a:ext cx="2286000" cy="914400"/>
          </a:xfrm>
          <a:prstGeom prst="rect">
            <a:avLst/>
          </a:prstGeom>
          <a:noFill/>
          <a:ln/>
        </p:spPr>
        <p:txBody>
          <a:bodyPr wrap="square" lIns="1016" tIns="1016" rIns="1016" bIns="1016" rtlCol="0" anchor="t"/>
          <a:lstStyle/>
          <a:p>
            <a:pPr indent="0" marL="0">
              <a:spcAft>
                <a:spcPts val="400"/>
              </a:spcAft>
              <a:buNone/>
            </a:pPr>
            <a:r>
              <a:rPr lang="en-US" sz="1400" dirty="0">
                <a:solidFill>
                  <a:schemeClr val="tx2"/>
                </a:solidFill>
              </a:rPr>
              <a:t>The cow question and the shoot biomass question.</a:t>
            </a:r>
            <a:endParaRPr lang="en-US" sz="1400" dirty="0"/>
          </a:p>
        </p:txBody>
      </p:sp>
      <p:sp>
        <p:nvSpPr>
          <p:cNvPr id="27" name="Text 25"/>
          <p:cNvSpPr txBox="1"/>
          <p:nvPr/>
        </p:nvSpPr>
        <p:spPr>
          <a:xfrm>
            <a:off x="9180576" y="4023360"/>
            <a:ext cx="2286000" cy="365760"/>
          </a:xfrm>
          <a:prstGeom prst="rect">
            <a:avLst/>
          </a:prstGeom>
          <a:noFill/>
          <a:ln/>
        </p:spPr>
        <p:txBody>
          <a:bodyPr wrap="square" lIns="1016" tIns="1016" rIns="1016" bIns="1016" rtlCol="0" anchor="t"/>
          <a:lstStyle/>
          <a:p>
            <a:pPr indent="0" marL="0">
              <a:spcAft>
                <a:spcPts val="400"/>
              </a:spcAft>
              <a:buNone/>
            </a:pPr>
            <a:r>
              <a:rPr lang="en-US" sz="1400" b="1" u="sng" dirty="0">
                <a:solidFill>
                  <a:schemeClr val="accent1"/>
                </a:solidFill>
                <a:hlinkClick r:id="rId5" action="ppaction://hlinksldjump" tooltip="">
                  <a:extLst>
                    <a:ext uri="{A12FA001-AC4F-418D-AE19-62706E023703}">
                      <ahyp:hlinkClr xmlns:ahyp="http://schemas.microsoft.com/office/drawing/2018/hyperlinkcolor" val="tx"/>
                    </a:ext>
                  </a:extLst>
                </a:hlinkClick>
              </a:rPr>
              <a:t>Go to section D →</a:t>
            </a:r>
            <a:endParaRPr lang="en-US" sz="1400" dirty="0"/>
          </a:p>
        </p:txBody>
      </p:sp>
      <p:sp>
        <p:nvSpPr>
          <p:cNvPr id="28" name="Text 26"/>
          <p:cNvSpPr txBox="1"/>
          <p:nvPr/>
        </p:nvSpPr>
        <p:spPr>
          <a:xfrm>
            <a:off x="10643616" y="1920240"/>
            <a:ext cx="868680" cy="320040"/>
          </a:xfrm>
          <a:prstGeom prst="rect">
            <a:avLst/>
          </a:prstGeom>
          <a:noFill/>
          <a:ln/>
        </p:spPr>
        <p:txBody>
          <a:bodyPr wrap="square" lIns="1016" tIns="1016" rIns="1016" bIns="1016" rtlCol="0" anchor="t"/>
          <a:lstStyle/>
          <a:p>
            <a:pPr algn="r" indent="0" marL="0">
              <a:spcAft>
                <a:spcPts val="400"/>
              </a:spcAft>
              <a:buNone/>
            </a:pPr>
            <a:r>
              <a:rPr lang="en-US" sz="1100" dirty="0">
                <a:solidFill>
                  <a:schemeClr val="tx2"/>
                </a:solidFill>
              </a:rPr>
              <a:t>about 6 min</a:t>
            </a:r>
            <a:endParaRPr lang="en-US" sz="1100" dirty="0"/>
          </a:p>
        </p:txBody>
      </p:sp>
      <p:sp>
        <p:nvSpPr>
          <p:cNvPr id="29" name="Shape 27"/>
          <p:cNvSpPr/>
          <p:nvPr/>
        </p:nvSpPr>
        <p:spPr>
          <a:xfrm>
            <a:off x="548640" y="4892040"/>
            <a:ext cx="11064240" cy="1097280"/>
          </a:xfrm>
          <a:prstGeom prst="roundRect">
            <a:avLst>
              <a:gd name="adj" fmla="val 10000"/>
            </a:avLst>
          </a:prstGeom>
          <a:solidFill>
            <a:schemeClr val="accent4"/>
          </a:solidFill>
          <a:ln w="12700">
            <a:solidFill>
              <a:schemeClr val="accent4"/>
            </a:solidFill>
            <a:prstDash val="solid"/>
          </a:ln>
        </p:spPr>
      </p:sp>
      <p:sp>
        <p:nvSpPr>
          <p:cNvPr id="30" name="Text 28"/>
          <p:cNvSpPr txBox="1"/>
          <p:nvPr/>
        </p:nvSpPr>
        <p:spPr>
          <a:xfrm>
            <a:off x="777240" y="5029200"/>
            <a:ext cx="10607040" cy="411480"/>
          </a:xfrm>
          <a:prstGeom prst="rect">
            <a:avLst/>
          </a:prstGeom>
          <a:noFill/>
          <a:ln/>
        </p:spPr>
        <p:txBody>
          <a:bodyPr wrap="square" lIns="1016" tIns="1016" rIns="1016" bIns="1016" rtlCol="0" anchor="t"/>
          <a:lstStyle/>
          <a:p>
            <a:pPr indent="0" marL="0">
              <a:spcAft>
                <a:spcPts val="400"/>
              </a:spcAft>
              <a:buNone/>
            </a:pPr>
            <a:r>
              <a:rPr lang="en-US" sz="1600" b="1" dirty="0">
                <a:solidFill>
                  <a:schemeClr val="tx1"/>
                </a:solidFill>
              </a:rPr>
              <a:t>Then: </a:t>
            </a:r>
            <a:pPr indent="0" marL="0">
              <a:spcAft>
                <a:spcPts val="400"/>
              </a:spcAft>
              <a:buNone/>
            </a:pPr>
            <a:r>
              <a:rPr lang="en-US" sz="1600" u="sng" dirty="0">
                <a:solidFill>
                  <a:schemeClr val="tx1"/>
                </a:solidFill>
                <a:hlinkClick r:id="rId6" action="ppaction://hlinksldjump" tooltip="">
                  <a:extLst>
                    <a:ext uri="{A12FA001-AC4F-418D-AE19-62706E023703}">
                      <ahyp:hlinkClr xmlns:ahyp="http://schemas.microsoft.com/office/drawing/2018/hyperlinkcolor" val="tx"/>
                    </a:ext>
                  </a:extLst>
                </a:hlinkClick>
              </a:rPr>
              <a:t>Summary and final quiz</a:t>
            </a:r>
            <a:pPr indent="0" marL="0">
              <a:spcAft>
                <a:spcPts val="400"/>
              </a:spcAft>
              <a:buNone/>
            </a:pPr>
            <a:r>
              <a:rPr lang="en-US" sz="1600" dirty="0">
                <a:solidFill>
                  <a:schemeClr val="tx1"/>
                </a:solidFill>
              </a:rPr>
              <a:t>   ·   Whole lesson: about 20–25 minutes, with as many breaks as you like.</a:t>
            </a:r>
            <a:endParaRPr lang="en-US" sz="1600" dirty="0"/>
          </a:p>
        </p:txBody>
      </p:sp>
      <p:sp>
        <p:nvSpPr>
          <p:cNvPr id="31" name="Shape 29"/>
          <p:cNvSpPr/>
          <p:nvPr/>
        </p:nvSpPr>
        <p:spPr>
          <a:xfrm>
            <a:off x="777240" y="5486400"/>
            <a:ext cx="1019556" cy="274320"/>
          </a:xfrm>
          <a:prstGeom prst="roundRect">
            <a:avLst>
              <a:gd name="adj" fmla="val 40000"/>
            </a:avLst>
          </a:prstGeom>
          <a:solidFill>
            <a:schemeClr val="accent4"/>
          </a:solidFill>
          <a:ln w="12700">
            <a:solidFill>
              <a:schemeClr val="accent4"/>
            </a:solidFill>
            <a:prstDash val="solid"/>
          </a:ln>
        </p:spPr>
      </p:sp>
      <p:sp>
        <p:nvSpPr>
          <p:cNvPr id="32" name="Text 30"/>
          <p:cNvSpPr txBox="1"/>
          <p:nvPr/>
        </p:nvSpPr>
        <p:spPr>
          <a:xfrm>
            <a:off x="777240" y="5486400"/>
            <a:ext cx="1019556" cy="274320"/>
          </a:xfrm>
          <a:prstGeom prst="rect">
            <a:avLst/>
          </a:prstGeom>
          <a:noFill/>
          <a:ln/>
        </p:spPr>
        <p:txBody>
          <a:bodyPr wrap="square" lIns="0" tIns="0" rIns="0" bIns="0" rtlCol="0" anchor="ctr"/>
          <a:lstStyle/>
          <a:p>
            <a:pPr algn="ctr" indent="0" marL="0">
              <a:spcAft>
                <a:spcPts val="400"/>
              </a:spcAft>
              <a:buNone/>
            </a:pPr>
            <a:r>
              <a:rPr lang="en-US" sz="1000" b="1" spc="100" kern="0" dirty="0">
                <a:solidFill>
                  <a:schemeClr val="tx1"/>
                </a:solidFill>
              </a:rPr>
              <a:t>CLASS NOTES</a:t>
            </a:r>
            <a:endParaRPr lang="en-US" sz="1000" dirty="0"/>
          </a:p>
        </p:txBody>
      </p:sp>
      <p:sp>
        <p:nvSpPr>
          <p:cNvPr id="33" name="Shape 31"/>
          <p:cNvSpPr/>
          <p:nvPr/>
        </p:nvSpPr>
        <p:spPr>
          <a:xfrm>
            <a:off x="2025396" y="5486400"/>
            <a:ext cx="1485900" cy="274320"/>
          </a:xfrm>
          <a:prstGeom prst="roundRect">
            <a:avLst>
              <a:gd name="adj" fmla="val 40000"/>
            </a:avLst>
          </a:prstGeom>
          <a:solidFill>
            <a:schemeClr val="accent2"/>
          </a:solidFill>
          <a:ln w="12700">
            <a:solidFill>
              <a:schemeClr val="accent2"/>
            </a:solidFill>
            <a:prstDash val="solid"/>
          </a:ln>
        </p:spPr>
      </p:sp>
      <p:sp>
        <p:nvSpPr>
          <p:cNvPr id="34" name="Text 32"/>
          <p:cNvSpPr txBox="1"/>
          <p:nvPr/>
        </p:nvSpPr>
        <p:spPr>
          <a:xfrm>
            <a:off x="2025396" y="5486400"/>
            <a:ext cx="1485900" cy="274320"/>
          </a:xfrm>
          <a:prstGeom prst="rect">
            <a:avLst/>
          </a:prstGeom>
          <a:noFill/>
          <a:ln/>
        </p:spPr>
        <p:txBody>
          <a:bodyPr wrap="square" lIns="0" tIns="0" rIns="0" bIns="0" rtlCol="0" anchor="ctr"/>
          <a:lstStyle/>
          <a:p>
            <a:pPr algn="ctr" indent="0" marL="0">
              <a:spcAft>
                <a:spcPts val="400"/>
              </a:spcAft>
              <a:buNone/>
            </a:pPr>
            <a:r>
              <a:rPr lang="en-US" sz="1000" b="1" spc="100" kern="0" dirty="0">
                <a:solidFill>
                  <a:schemeClr val="tx1"/>
                </a:solidFill>
              </a:rPr>
              <a:t>ORIGINAL QUESTION</a:t>
            </a:r>
            <a:endParaRPr lang="en-US" sz="1000" dirty="0"/>
          </a:p>
        </p:txBody>
      </p:sp>
      <p:sp>
        <p:nvSpPr>
          <p:cNvPr id="35" name="Shape 33"/>
          <p:cNvSpPr/>
          <p:nvPr/>
        </p:nvSpPr>
        <p:spPr>
          <a:xfrm>
            <a:off x="3739896" y="5486400"/>
            <a:ext cx="1097280" cy="274320"/>
          </a:xfrm>
          <a:prstGeom prst="roundRect">
            <a:avLst>
              <a:gd name="adj" fmla="val 40000"/>
            </a:avLst>
          </a:prstGeom>
          <a:solidFill>
            <a:schemeClr val="accent4"/>
          </a:solidFill>
          <a:ln w="12700">
            <a:solidFill>
              <a:schemeClr val="accent4"/>
            </a:solidFill>
            <a:prstDash val="solid"/>
          </a:ln>
        </p:spPr>
      </p:sp>
      <p:sp>
        <p:nvSpPr>
          <p:cNvPr id="36" name="Text 34"/>
          <p:cNvSpPr txBox="1"/>
          <p:nvPr/>
        </p:nvSpPr>
        <p:spPr>
          <a:xfrm>
            <a:off x="3739896" y="5486400"/>
            <a:ext cx="1097280" cy="274320"/>
          </a:xfrm>
          <a:prstGeom prst="rect">
            <a:avLst/>
          </a:prstGeom>
          <a:noFill/>
          <a:ln/>
        </p:spPr>
        <p:txBody>
          <a:bodyPr wrap="square" lIns="0" tIns="0" rIns="0" bIns="0" rtlCol="0" anchor="ctr"/>
          <a:lstStyle/>
          <a:p>
            <a:pPr algn="ctr" indent="0" marL="0">
              <a:spcAft>
                <a:spcPts val="400"/>
              </a:spcAft>
              <a:buNone/>
            </a:pPr>
            <a:r>
              <a:rPr lang="en-US" sz="1000" b="1" spc="100" kern="0" dirty="0">
                <a:solidFill>
                  <a:schemeClr val="tx1"/>
                </a:solidFill>
              </a:rPr>
              <a:t>NEW QUESTION</a:t>
            </a:r>
            <a:endParaRPr lang="en-US" sz="1000" dirty="0"/>
          </a:p>
        </p:txBody>
      </p:sp>
      <p:sp>
        <p:nvSpPr>
          <p:cNvPr id="37" name="Shape 35"/>
          <p:cNvSpPr/>
          <p:nvPr/>
        </p:nvSpPr>
        <p:spPr>
          <a:xfrm>
            <a:off x="5065776" y="5486400"/>
            <a:ext cx="941832" cy="274320"/>
          </a:xfrm>
          <a:prstGeom prst="roundRect">
            <a:avLst>
              <a:gd name="adj" fmla="val 40000"/>
            </a:avLst>
          </a:prstGeom>
          <a:solidFill>
            <a:schemeClr val="bg1"/>
          </a:solidFill>
          <a:ln w="15875">
            <a:solidFill>
              <a:schemeClr val="tx2"/>
            </a:solidFill>
            <a:prstDash val="solid"/>
          </a:ln>
        </p:spPr>
      </p:sp>
      <p:sp>
        <p:nvSpPr>
          <p:cNvPr id="38" name="Text 36"/>
          <p:cNvSpPr txBox="1"/>
          <p:nvPr/>
        </p:nvSpPr>
        <p:spPr>
          <a:xfrm>
            <a:off x="5065776" y="5486400"/>
            <a:ext cx="941832" cy="274320"/>
          </a:xfrm>
          <a:prstGeom prst="rect">
            <a:avLst/>
          </a:prstGeom>
          <a:noFill/>
          <a:ln/>
        </p:spPr>
        <p:txBody>
          <a:bodyPr wrap="square" lIns="0" tIns="0" rIns="0" bIns="0" rtlCol="0" anchor="ctr"/>
          <a:lstStyle/>
          <a:p>
            <a:pPr algn="ctr" indent="0" marL="0">
              <a:spcAft>
                <a:spcPts val="400"/>
              </a:spcAft>
              <a:buNone/>
            </a:pPr>
            <a:r>
              <a:rPr lang="en-US" sz="1000" b="1" spc="100" kern="0" dirty="0">
                <a:solidFill>
                  <a:schemeClr val="tx1"/>
                </a:solidFill>
              </a:rPr>
              <a:t>EXTRA HELP</a:t>
            </a:r>
            <a:endParaRPr lang="en-US" sz="1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896112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SECTION A · FROM THE CLASS NOTES</a:t>
            </a:r>
            <a:endParaRPr lang="en-US" sz="1200" dirty="0"/>
          </a:p>
        </p:txBody>
      </p:sp>
      <p:sp>
        <p:nvSpPr>
          <p:cNvPr id="3" name="Text 0"/>
          <p:cNvSpPr/>
          <p:nvPr>
            <p:ph idx="101" type="title" hasCustomPrompt="1"/>
          </p:nvPr>
        </p:nvSpPr>
        <p:spPr>
          <a:xfrm>
            <a:off x="548640" y="566928"/>
            <a:ext cx="9509760" cy="73152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Only about 1–3% of sunlight is captured</a:t>
            </a:r>
            <a:endParaRPr lang="en-US" sz="3200" dirty="0"/>
          </a:p>
        </p:txBody>
      </p:sp>
      <p:sp>
        <p:nvSpPr>
          <p:cNvPr id="4" name="nav-map"/>
          <p:cNvSpPr txBox="1"/>
          <p:nvPr/>
        </p:nvSpPr>
        <p:spPr>
          <a:xfrm>
            <a:off x="10469880" y="274320"/>
            <a:ext cx="1188720" cy="320040"/>
          </a:xfrm>
          <a:prstGeom prst="rect">
            <a:avLst/>
          </a:prstGeom>
          <a:noFill/>
          <a:ln/>
        </p:spPr>
        <p:txBody>
          <a:bodyPr wrap="square" lIns="0" tIns="0" rIns="0" bIns="0" rtlCol="0" anchor="ctr"/>
          <a:lstStyle/>
          <a:p>
            <a:pPr algn="r" indent="0" marL="0">
              <a:buNone/>
            </a:pPr>
            <a:r>
              <a:rPr lang="en-US" sz="1200" u="sng" dirty="0">
                <a:solidFill>
                  <a:schemeClr val="accent1"/>
                </a:solidFill>
                <a:hlinkClick r:id="rId1" action="ppaction://hlinksldjump" tooltip="Back to lesson map">
                  <a:extLst>
                    <a:ext uri="{A12FA001-AC4F-418D-AE19-62706E023703}">
                      <ahyp:hlinkClr xmlns:ahyp="http://schemas.microsoft.com/office/drawing/2018/hyperlinkcolor" val="tx"/>
                    </a:ext>
                  </a:extLst>
                </a:hlinkClick>
              </a:rPr>
              <a:t>Lesson map</a:t>
            </a:r>
            <a:endParaRPr lang="en-US" sz="1200" dirty="0"/>
          </a:p>
        </p:txBody>
      </p:sp>
      <p:sp>
        <p:nvSpPr>
          <p:cNvPr id="5" name="Text 3"/>
          <p:cNvSpPr txBox="1"/>
          <p:nvPr/>
        </p:nvSpPr>
        <p:spPr>
          <a:xfrm>
            <a:off x="548640" y="1417320"/>
            <a:ext cx="11064240" cy="640080"/>
          </a:xfrm>
          <a:prstGeom prst="rect">
            <a:avLst/>
          </a:prstGeom>
          <a:noFill/>
          <a:ln/>
        </p:spPr>
        <p:txBody>
          <a:bodyPr wrap="square" lIns="1016" tIns="1016" rIns="1016" bIns="1016" rtlCol="0" anchor="t"/>
          <a:lstStyle/>
          <a:p>
            <a:pPr indent="0" marL="0">
              <a:spcAft>
                <a:spcPts val="400"/>
              </a:spcAft>
              <a:buNone/>
            </a:pPr>
            <a:r>
              <a:rPr lang="en-US" sz="1700" dirty="0">
                <a:solidFill>
                  <a:schemeClr val="tx1"/>
                </a:solidFill>
              </a:rPr>
              <a:t>A </a:t>
            </a:r>
            <a:pPr indent="0" marL="0">
              <a:spcAft>
                <a:spcPts val="400"/>
              </a:spcAft>
              <a:buNone/>
            </a:pPr>
            <a:r>
              <a:rPr lang="en-US" sz="1700" b="1" dirty="0">
                <a:solidFill>
                  <a:schemeClr val="tx1"/>
                </a:solidFill>
              </a:rPr>
              <a:t>trophic level</a:t>
            </a:r>
            <a:pPr indent="0" marL="0">
              <a:spcAft>
                <a:spcPts val="400"/>
              </a:spcAft>
              <a:buNone/>
            </a:pPr>
            <a:r>
              <a:rPr lang="en-US" sz="1700" dirty="0">
                <a:solidFill>
                  <a:schemeClr val="tx1"/>
                </a:solidFill>
              </a:rPr>
              <a:t> is an organism's </a:t>
            </a:r>
            <a:pPr indent="0" marL="0">
              <a:spcAft>
                <a:spcPts val="400"/>
              </a:spcAft>
              <a:buNone/>
            </a:pPr>
            <a:r>
              <a:rPr lang="en-US" sz="1700" b="1" dirty="0">
                <a:solidFill>
                  <a:schemeClr val="tx1"/>
                </a:solidFill>
              </a:rPr>
              <a:t>position in the food chain</a:t>
            </a:r>
            <a:pPr indent="0" marL="0">
              <a:spcAft>
                <a:spcPts val="400"/>
              </a:spcAft>
              <a:buNone/>
            </a:pPr>
            <a:r>
              <a:rPr lang="en-US" sz="1700" dirty="0">
                <a:solidFill>
                  <a:schemeClr val="tx1"/>
                </a:solidFill>
              </a:rPr>
              <a:t> (or web). Energy is </a:t>
            </a:r>
            <a:pPr indent="0" marL="0">
              <a:spcAft>
                <a:spcPts val="400"/>
              </a:spcAft>
              <a:buNone/>
            </a:pPr>
            <a:r>
              <a:rPr lang="en-US" sz="1700" b="1" dirty="0">
                <a:solidFill>
                  <a:schemeClr val="tx1"/>
                </a:solidFill>
              </a:rPr>
              <a:t>lost at each trophic level</a:t>
            </a:r>
            <a:pPr indent="0" marL="0">
              <a:spcAft>
                <a:spcPts val="400"/>
              </a:spcAft>
              <a:buNone/>
            </a:pPr>
            <a:r>
              <a:rPr lang="en-US" sz="1700" dirty="0">
                <a:solidFill>
                  <a:schemeClr val="tx1"/>
                </a:solidFill>
              </a:rPr>
              <a:t>. It is never destroyed. It leaves the chain, mostly as heat.</a:t>
            </a:r>
            <a:endParaRPr lang="en-US" sz="1700" dirty="0"/>
          </a:p>
        </p:txBody>
      </p:sp>
      <p:sp>
        <p:nvSpPr>
          <p:cNvPr id="6" name="Shape 4"/>
          <p:cNvSpPr/>
          <p:nvPr/>
        </p:nvSpPr>
        <p:spPr>
          <a:xfrm>
            <a:off x="731520" y="2377440"/>
            <a:ext cx="1371600" cy="1371600"/>
          </a:xfrm>
          <a:prstGeom prst="ellipse">
            <a:avLst/>
          </a:prstGeom>
          <a:solidFill>
            <a:schemeClr val="accent2"/>
          </a:solidFill>
          <a:ln w="12700">
            <a:solidFill>
              <a:schemeClr val="accent2"/>
            </a:solidFill>
            <a:prstDash val="solid"/>
          </a:ln>
        </p:spPr>
      </p:sp>
      <p:sp>
        <p:nvSpPr>
          <p:cNvPr id="7" name="Text 5"/>
          <p:cNvSpPr txBox="1"/>
          <p:nvPr/>
        </p:nvSpPr>
        <p:spPr>
          <a:xfrm>
            <a:off x="731520" y="2377440"/>
            <a:ext cx="1371600" cy="1371600"/>
          </a:xfrm>
          <a:prstGeom prst="rect">
            <a:avLst/>
          </a:prstGeom>
          <a:noFill/>
          <a:ln/>
        </p:spPr>
        <p:txBody>
          <a:bodyPr wrap="square" lIns="0" tIns="0" rIns="0" bIns="0" rtlCol="0" anchor="ctr"/>
          <a:lstStyle/>
          <a:p>
            <a:pPr algn="ctr" indent="0" marL="0">
              <a:spcAft>
                <a:spcPts val="400"/>
              </a:spcAft>
              <a:buNone/>
            </a:pPr>
            <a:r>
              <a:rPr lang="en-US" sz="1800" b="1" dirty="0">
                <a:solidFill>
                  <a:schemeClr val="tx1"/>
                </a:solidFill>
              </a:rPr>
              <a:t>Sun</a:t>
            </a:r>
            <a:endParaRPr lang="en-US" sz="1800" dirty="0"/>
          </a:p>
        </p:txBody>
      </p:sp>
      <p:sp>
        <p:nvSpPr>
          <p:cNvPr id="8" name="Shape 6"/>
          <p:cNvSpPr/>
          <p:nvPr/>
        </p:nvSpPr>
        <p:spPr>
          <a:xfrm>
            <a:off x="2148840" y="3063240"/>
            <a:ext cx="1645920" cy="914"/>
          </a:xfrm>
          <a:prstGeom prst="line">
            <a:avLst/>
          </a:prstGeom>
          <a:noFill/>
          <a:ln w="76200">
            <a:solidFill>
              <a:schemeClr val="accent2"/>
            </a:solidFill>
            <a:prstDash val="solid"/>
            <a:tailEnd type="triangle"/>
          </a:ln>
        </p:spPr>
      </p:sp>
      <p:sp>
        <p:nvSpPr>
          <p:cNvPr id="9" name="Text 7"/>
          <p:cNvSpPr txBox="1"/>
          <p:nvPr/>
        </p:nvSpPr>
        <p:spPr>
          <a:xfrm>
            <a:off x="2103120" y="2606040"/>
            <a:ext cx="1737360" cy="365760"/>
          </a:xfrm>
          <a:prstGeom prst="rect">
            <a:avLst/>
          </a:prstGeom>
          <a:noFill/>
          <a:ln/>
        </p:spPr>
        <p:txBody>
          <a:bodyPr wrap="square" lIns="1016" tIns="1016" rIns="1016" bIns="1016" rtlCol="0" anchor="t"/>
          <a:lstStyle/>
          <a:p>
            <a:pPr algn="ctr" indent="0" marL="0">
              <a:spcAft>
                <a:spcPts val="400"/>
              </a:spcAft>
              <a:buNone/>
            </a:pPr>
            <a:r>
              <a:rPr lang="en-US" sz="1300" dirty="0">
                <a:solidFill>
                  <a:schemeClr val="tx2"/>
                </a:solidFill>
              </a:rPr>
              <a:t>100% of light</a:t>
            </a:r>
            <a:endParaRPr lang="en-US" sz="1300" dirty="0"/>
          </a:p>
        </p:txBody>
      </p:sp>
      <p:sp>
        <p:nvSpPr>
          <p:cNvPr id="10" name="Shape 8"/>
          <p:cNvSpPr/>
          <p:nvPr/>
        </p:nvSpPr>
        <p:spPr>
          <a:xfrm>
            <a:off x="3886200" y="2606040"/>
            <a:ext cx="1828800" cy="914400"/>
          </a:xfrm>
          <a:prstGeom prst="ellipse">
            <a:avLst/>
          </a:prstGeom>
          <a:solidFill>
            <a:schemeClr val="accent1"/>
          </a:solidFill>
          <a:ln w="12700">
            <a:solidFill>
              <a:schemeClr val="accent1"/>
            </a:solidFill>
            <a:prstDash val="solid"/>
          </a:ln>
        </p:spPr>
      </p:sp>
      <p:sp>
        <p:nvSpPr>
          <p:cNvPr id="11" name="Text 9"/>
          <p:cNvSpPr txBox="1"/>
          <p:nvPr/>
        </p:nvSpPr>
        <p:spPr>
          <a:xfrm>
            <a:off x="3886200" y="2606040"/>
            <a:ext cx="1828800" cy="914400"/>
          </a:xfrm>
          <a:prstGeom prst="rect">
            <a:avLst/>
          </a:prstGeom>
          <a:noFill/>
          <a:ln/>
        </p:spPr>
        <p:txBody>
          <a:bodyPr wrap="square" lIns="0" tIns="0" rIns="0" bIns="0" rtlCol="0" anchor="ctr"/>
          <a:lstStyle/>
          <a:p>
            <a:pPr algn="ctr" indent="0" marL="0">
              <a:spcAft>
                <a:spcPts val="400"/>
              </a:spcAft>
              <a:buNone/>
            </a:pPr>
            <a:r>
              <a:rPr lang="en-US" sz="1600" b="1" dirty="0">
                <a:solidFill>
                  <a:schemeClr val="bg1"/>
                </a:solidFill>
              </a:rPr>
              <a:t>Producer</a:t>
            </a:r>
            <a:endParaRPr lang="en-US" sz="1600" dirty="0"/>
          </a:p>
        </p:txBody>
      </p:sp>
      <p:sp>
        <p:nvSpPr>
          <p:cNvPr id="12" name="Text 10"/>
          <p:cNvSpPr txBox="1"/>
          <p:nvPr/>
        </p:nvSpPr>
        <p:spPr>
          <a:xfrm>
            <a:off x="3383280" y="3611880"/>
            <a:ext cx="2834640" cy="731520"/>
          </a:xfrm>
          <a:prstGeom prst="rect">
            <a:avLst/>
          </a:prstGeom>
          <a:noFill/>
          <a:ln/>
        </p:spPr>
        <p:txBody>
          <a:bodyPr wrap="square" lIns="1016" tIns="1016" rIns="1016" bIns="1016" rtlCol="0" anchor="t"/>
          <a:lstStyle/>
          <a:p>
            <a:pPr algn="ctr" indent="0" marL="0">
              <a:spcAft>
                <a:spcPts val="400"/>
              </a:spcAft>
              <a:buNone/>
            </a:pPr>
            <a:r>
              <a:rPr lang="en-US" sz="1400" b="1" dirty="0">
                <a:solidFill>
                  <a:schemeClr val="accent1"/>
                </a:solidFill>
              </a:rPr>
              <a:t>Only 1–3% becomes chemical energy in organic molecules</a:t>
            </a:r>
            <a:endParaRPr lang="en-US" sz="1400" dirty="0"/>
          </a:p>
        </p:txBody>
      </p:sp>
      <p:sp>
        <p:nvSpPr>
          <p:cNvPr id="13" name="Text 11"/>
          <p:cNvSpPr txBox="1"/>
          <p:nvPr/>
        </p:nvSpPr>
        <p:spPr>
          <a:xfrm>
            <a:off x="6675120" y="2148840"/>
            <a:ext cx="4572000" cy="365760"/>
          </a:xfrm>
          <a:prstGeom prst="rect">
            <a:avLst/>
          </a:prstGeom>
          <a:noFill/>
          <a:ln/>
        </p:spPr>
        <p:txBody>
          <a:bodyPr wrap="square" lIns="1016" tIns="1016" rIns="1016" bIns="1016" rtlCol="0" anchor="t"/>
          <a:lstStyle/>
          <a:p>
            <a:pPr indent="0" marL="0">
              <a:spcAft>
                <a:spcPts val="400"/>
              </a:spcAft>
              <a:buNone/>
            </a:pPr>
            <a:r>
              <a:rPr lang="en-US" sz="1800" b="1" dirty="0">
                <a:solidFill>
                  <a:schemeClr val="tx1"/>
                </a:solidFill>
                <a:latin typeface="Cambria" pitchFamily="34" charset="0"/>
                <a:ea typeface="Cambria" pitchFamily="34" charset="-122"/>
                <a:cs typeface="Cambria" pitchFamily="34" charset="-120"/>
              </a:rPr>
              <a:t>Where the rest goes</a:t>
            </a:r>
            <a:endParaRPr lang="en-US" sz="1800" dirty="0"/>
          </a:p>
        </p:txBody>
      </p:sp>
      <p:sp>
        <p:nvSpPr>
          <p:cNvPr id="14" name="Shape 12"/>
          <p:cNvSpPr/>
          <p:nvPr/>
        </p:nvSpPr>
        <p:spPr>
          <a:xfrm>
            <a:off x="6675120" y="2606040"/>
            <a:ext cx="384048" cy="384048"/>
          </a:xfrm>
          <a:prstGeom prst="ellipse">
            <a:avLst/>
          </a:prstGeom>
          <a:solidFill>
            <a:schemeClr val="accent3"/>
          </a:solidFill>
          <a:ln w="12700">
            <a:solidFill>
              <a:schemeClr val="accent3"/>
            </a:solidFill>
            <a:prstDash val="solid"/>
          </a:ln>
        </p:spPr>
      </p:sp>
      <p:sp>
        <p:nvSpPr>
          <p:cNvPr id="15" name="Text 13"/>
          <p:cNvSpPr txBox="1"/>
          <p:nvPr/>
        </p:nvSpPr>
        <p:spPr>
          <a:xfrm>
            <a:off x="6675120" y="2606040"/>
            <a:ext cx="384048" cy="384048"/>
          </a:xfrm>
          <a:prstGeom prst="rect">
            <a:avLst/>
          </a:prstGeom>
          <a:noFill/>
          <a:ln/>
        </p:spPr>
        <p:txBody>
          <a:bodyPr wrap="square" lIns="0" tIns="0" rIns="0" bIns="0" rtlCol="0" anchor="ctr"/>
          <a:lstStyle/>
          <a:p>
            <a:pPr algn="ctr" indent="0" marL="0">
              <a:spcAft>
                <a:spcPts val="400"/>
              </a:spcAft>
              <a:buNone/>
            </a:pPr>
            <a:r>
              <a:rPr lang="en-US" sz="1500" b="1" dirty="0">
                <a:solidFill>
                  <a:schemeClr val="bg1"/>
                </a:solidFill>
              </a:rPr>
              <a:t>1</a:t>
            </a:r>
            <a:endParaRPr lang="en-US" sz="1500" dirty="0"/>
          </a:p>
        </p:txBody>
      </p:sp>
      <p:sp>
        <p:nvSpPr>
          <p:cNvPr id="16" name="Text 14"/>
          <p:cNvSpPr txBox="1"/>
          <p:nvPr/>
        </p:nvSpPr>
        <p:spPr>
          <a:xfrm>
            <a:off x="7178040" y="2578608"/>
            <a:ext cx="4480560" cy="457200"/>
          </a:xfrm>
          <a:prstGeom prst="rect">
            <a:avLst/>
          </a:prstGeom>
          <a:noFill/>
          <a:ln/>
        </p:spPr>
        <p:txBody>
          <a:bodyPr wrap="square" lIns="1016" tIns="1016" rIns="1016" bIns="1016" rtlCol="0" anchor="ctr"/>
          <a:lstStyle/>
          <a:p>
            <a:pPr indent="0" marL="0">
              <a:spcAft>
                <a:spcPts val="400"/>
              </a:spcAft>
              <a:buNone/>
            </a:pPr>
            <a:r>
              <a:rPr lang="en-US" sz="1600" dirty="0">
                <a:solidFill>
                  <a:schemeClr val="tx1"/>
                </a:solidFill>
              </a:rPr>
              <a:t>Some of the light energy is </a:t>
            </a:r>
            <a:pPr indent="0" marL="0">
              <a:spcAft>
                <a:spcPts val="400"/>
              </a:spcAft>
              <a:buNone/>
            </a:pPr>
            <a:r>
              <a:rPr lang="en-US" sz="1600" b="1" dirty="0">
                <a:solidFill>
                  <a:schemeClr val="tx1"/>
                </a:solidFill>
              </a:rPr>
              <a:t>reflected</a:t>
            </a:r>
            <a:endParaRPr lang="en-US" sz="1600" dirty="0"/>
          </a:p>
        </p:txBody>
      </p:sp>
      <p:sp>
        <p:nvSpPr>
          <p:cNvPr id="17" name="Shape 15"/>
          <p:cNvSpPr/>
          <p:nvPr/>
        </p:nvSpPr>
        <p:spPr>
          <a:xfrm>
            <a:off x="6675120" y="3154680"/>
            <a:ext cx="384048" cy="384048"/>
          </a:xfrm>
          <a:prstGeom prst="ellipse">
            <a:avLst/>
          </a:prstGeom>
          <a:solidFill>
            <a:schemeClr val="accent3"/>
          </a:solidFill>
          <a:ln w="12700">
            <a:solidFill>
              <a:schemeClr val="accent3"/>
            </a:solidFill>
            <a:prstDash val="solid"/>
          </a:ln>
        </p:spPr>
      </p:sp>
      <p:sp>
        <p:nvSpPr>
          <p:cNvPr id="18" name="Text 16"/>
          <p:cNvSpPr txBox="1"/>
          <p:nvPr/>
        </p:nvSpPr>
        <p:spPr>
          <a:xfrm>
            <a:off x="6675120" y="3154680"/>
            <a:ext cx="384048" cy="384048"/>
          </a:xfrm>
          <a:prstGeom prst="rect">
            <a:avLst/>
          </a:prstGeom>
          <a:noFill/>
          <a:ln/>
        </p:spPr>
        <p:txBody>
          <a:bodyPr wrap="square" lIns="0" tIns="0" rIns="0" bIns="0" rtlCol="0" anchor="ctr"/>
          <a:lstStyle/>
          <a:p>
            <a:pPr algn="ctr" indent="0" marL="0">
              <a:spcAft>
                <a:spcPts val="400"/>
              </a:spcAft>
              <a:buNone/>
            </a:pPr>
            <a:r>
              <a:rPr lang="en-US" sz="1500" b="1" dirty="0">
                <a:solidFill>
                  <a:schemeClr val="bg1"/>
                </a:solidFill>
              </a:rPr>
              <a:t>2</a:t>
            </a:r>
            <a:endParaRPr lang="en-US" sz="1500" dirty="0"/>
          </a:p>
        </p:txBody>
      </p:sp>
      <p:sp>
        <p:nvSpPr>
          <p:cNvPr id="19" name="Text 17"/>
          <p:cNvSpPr txBox="1"/>
          <p:nvPr/>
        </p:nvSpPr>
        <p:spPr>
          <a:xfrm>
            <a:off x="7178040" y="3127248"/>
            <a:ext cx="4480560" cy="457200"/>
          </a:xfrm>
          <a:prstGeom prst="rect">
            <a:avLst/>
          </a:prstGeom>
          <a:noFill/>
          <a:ln/>
        </p:spPr>
        <p:txBody>
          <a:bodyPr wrap="square" lIns="1016" tIns="1016" rIns="1016" bIns="1016" rtlCol="0" anchor="ctr"/>
          <a:lstStyle/>
          <a:p>
            <a:pPr indent="0" marL="0">
              <a:spcAft>
                <a:spcPts val="400"/>
              </a:spcAft>
              <a:buNone/>
            </a:pPr>
            <a:r>
              <a:rPr lang="en-US" sz="1600" dirty="0">
                <a:solidFill>
                  <a:schemeClr val="tx1"/>
                </a:solidFill>
              </a:rPr>
              <a:t>Some may be </a:t>
            </a:r>
            <a:pPr indent="0" marL="0">
              <a:spcAft>
                <a:spcPts val="400"/>
              </a:spcAft>
              <a:buNone/>
            </a:pPr>
            <a:r>
              <a:rPr lang="en-US" sz="1600" b="1" dirty="0">
                <a:solidFill>
                  <a:schemeClr val="tx1"/>
                </a:solidFill>
              </a:rPr>
              <a:t>absorbed by gases/water vapour in the atmosphere</a:t>
            </a:r>
            <a:endParaRPr lang="en-US" sz="1600" dirty="0"/>
          </a:p>
        </p:txBody>
      </p:sp>
      <p:sp>
        <p:nvSpPr>
          <p:cNvPr id="20" name="Shape 18"/>
          <p:cNvSpPr/>
          <p:nvPr/>
        </p:nvSpPr>
        <p:spPr>
          <a:xfrm>
            <a:off x="6675120" y="3703320"/>
            <a:ext cx="384048" cy="384048"/>
          </a:xfrm>
          <a:prstGeom prst="ellipse">
            <a:avLst/>
          </a:prstGeom>
          <a:solidFill>
            <a:schemeClr val="accent3"/>
          </a:solidFill>
          <a:ln w="12700">
            <a:solidFill>
              <a:schemeClr val="accent3"/>
            </a:solidFill>
            <a:prstDash val="solid"/>
          </a:ln>
        </p:spPr>
      </p:sp>
      <p:sp>
        <p:nvSpPr>
          <p:cNvPr id="21" name="Text 19"/>
          <p:cNvSpPr txBox="1"/>
          <p:nvPr/>
        </p:nvSpPr>
        <p:spPr>
          <a:xfrm>
            <a:off x="6675120" y="3703320"/>
            <a:ext cx="384048" cy="384048"/>
          </a:xfrm>
          <a:prstGeom prst="rect">
            <a:avLst/>
          </a:prstGeom>
          <a:noFill/>
          <a:ln/>
        </p:spPr>
        <p:txBody>
          <a:bodyPr wrap="square" lIns="0" tIns="0" rIns="0" bIns="0" rtlCol="0" anchor="ctr"/>
          <a:lstStyle/>
          <a:p>
            <a:pPr algn="ctr" indent="0" marL="0">
              <a:spcAft>
                <a:spcPts val="400"/>
              </a:spcAft>
              <a:buNone/>
            </a:pPr>
            <a:r>
              <a:rPr lang="en-US" sz="1500" b="1" dirty="0">
                <a:solidFill>
                  <a:schemeClr val="bg1"/>
                </a:solidFill>
              </a:rPr>
              <a:t>3</a:t>
            </a:r>
            <a:endParaRPr lang="en-US" sz="1500" dirty="0"/>
          </a:p>
        </p:txBody>
      </p:sp>
      <p:sp>
        <p:nvSpPr>
          <p:cNvPr id="22" name="Text 20"/>
          <p:cNvSpPr txBox="1"/>
          <p:nvPr/>
        </p:nvSpPr>
        <p:spPr>
          <a:xfrm>
            <a:off x="7178040" y="3675888"/>
            <a:ext cx="4480560" cy="457200"/>
          </a:xfrm>
          <a:prstGeom prst="rect">
            <a:avLst/>
          </a:prstGeom>
          <a:noFill/>
          <a:ln/>
        </p:spPr>
        <p:txBody>
          <a:bodyPr wrap="square" lIns="1016" tIns="1016" rIns="1016" bIns="1016" rtlCol="0" anchor="ctr"/>
          <a:lstStyle/>
          <a:p>
            <a:pPr indent="0" marL="0">
              <a:spcAft>
                <a:spcPts val="400"/>
              </a:spcAft>
              <a:buNone/>
            </a:pPr>
            <a:r>
              <a:rPr lang="en-US" sz="1600" dirty="0">
                <a:solidFill>
                  <a:schemeClr val="tx1"/>
                </a:solidFill>
              </a:rPr>
              <a:t>Some of the light energy is the </a:t>
            </a:r>
            <a:pPr indent="0" marL="0">
              <a:spcAft>
                <a:spcPts val="400"/>
              </a:spcAft>
              <a:buNone/>
            </a:pPr>
            <a:r>
              <a:rPr lang="en-US" sz="1600" b="1" dirty="0">
                <a:solidFill>
                  <a:schemeClr val="tx1"/>
                </a:solidFill>
              </a:rPr>
              <a:t>wrong wavelength</a:t>
            </a:r>
            <a:endParaRPr lang="en-US" sz="1600" dirty="0"/>
          </a:p>
        </p:txBody>
      </p:sp>
      <p:sp>
        <p:nvSpPr>
          <p:cNvPr id="23" name="Shape 21"/>
          <p:cNvSpPr/>
          <p:nvPr/>
        </p:nvSpPr>
        <p:spPr>
          <a:xfrm>
            <a:off x="6675120" y="4251960"/>
            <a:ext cx="384048" cy="384048"/>
          </a:xfrm>
          <a:prstGeom prst="ellipse">
            <a:avLst/>
          </a:prstGeom>
          <a:solidFill>
            <a:schemeClr val="accent3"/>
          </a:solidFill>
          <a:ln w="12700">
            <a:solidFill>
              <a:schemeClr val="accent3"/>
            </a:solidFill>
            <a:prstDash val="solid"/>
          </a:ln>
        </p:spPr>
      </p:sp>
      <p:sp>
        <p:nvSpPr>
          <p:cNvPr id="24" name="Text 22"/>
          <p:cNvSpPr txBox="1"/>
          <p:nvPr/>
        </p:nvSpPr>
        <p:spPr>
          <a:xfrm>
            <a:off x="6675120" y="4251960"/>
            <a:ext cx="384048" cy="384048"/>
          </a:xfrm>
          <a:prstGeom prst="rect">
            <a:avLst/>
          </a:prstGeom>
          <a:noFill/>
          <a:ln/>
        </p:spPr>
        <p:txBody>
          <a:bodyPr wrap="square" lIns="0" tIns="0" rIns="0" bIns="0" rtlCol="0" anchor="ctr"/>
          <a:lstStyle/>
          <a:p>
            <a:pPr algn="ctr" indent="0" marL="0">
              <a:spcAft>
                <a:spcPts val="400"/>
              </a:spcAft>
              <a:buNone/>
            </a:pPr>
            <a:r>
              <a:rPr lang="en-US" sz="1500" b="1" dirty="0">
                <a:solidFill>
                  <a:schemeClr val="bg1"/>
                </a:solidFill>
              </a:rPr>
              <a:t>4</a:t>
            </a:r>
            <a:endParaRPr lang="en-US" sz="1500" dirty="0"/>
          </a:p>
        </p:txBody>
      </p:sp>
      <p:sp>
        <p:nvSpPr>
          <p:cNvPr id="25" name="Text 23"/>
          <p:cNvSpPr txBox="1"/>
          <p:nvPr/>
        </p:nvSpPr>
        <p:spPr>
          <a:xfrm>
            <a:off x="7178040" y="4224528"/>
            <a:ext cx="4480560" cy="457200"/>
          </a:xfrm>
          <a:prstGeom prst="rect">
            <a:avLst/>
          </a:prstGeom>
          <a:noFill/>
          <a:ln/>
        </p:spPr>
        <p:txBody>
          <a:bodyPr wrap="square" lIns="1016" tIns="1016" rIns="1016" bIns="1016" rtlCol="0" anchor="ctr"/>
          <a:lstStyle/>
          <a:p>
            <a:pPr indent="0" marL="0">
              <a:spcAft>
                <a:spcPts val="400"/>
              </a:spcAft>
              <a:buNone/>
            </a:pPr>
            <a:r>
              <a:rPr lang="en-US" sz="1600" dirty="0">
                <a:solidFill>
                  <a:schemeClr val="tx1"/>
                </a:solidFill>
              </a:rPr>
              <a:t>Some light energy </a:t>
            </a:r>
            <a:pPr indent="0" marL="0">
              <a:spcAft>
                <a:spcPts val="400"/>
              </a:spcAft>
              <a:buNone/>
            </a:pPr>
            <a:r>
              <a:rPr lang="en-US" sz="1600" b="1" dirty="0">
                <a:solidFill>
                  <a:schemeClr val="tx1"/>
                </a:solidFill>
              </a:rPr>
              <a:t>does not strike chlorophyll</a:t>
            </a:r>
            <a:endParaRPr lang="en-US" sz="1600" dirty="0"/>
          </a:p>
        </p:txBody>
      </p:sp>
      <p:sp>
        <p:nvSpPr>
          <p:cNvPr id="26" name="Shape 24"/>
          <p:cNvSpPr/>
          <p:nvPr/>
        </p:nvSpPr>
        <p:spPr>
          <a:xfrm>
            <a:off x="548640" y="4983480"/>
            <a:ext cx="11064240" cy="1051560"/>
          </a:xfrm>
          <a:prstGeom prst="roundRect">
            <a:avLst>
              <a:gd name="adj" fmla="val 10435"/>
            </a:avLst>
          </a:prstGeom>
          <a:solidFill>
            <a:schemeClr val="accent5"/>
          </a:solidFill>
          <a:ln w="12700">
            <a:solidFill>
              <a:schemeClr val="accent5"/>
            </a:solidFill>
            <a:prstDash val="solid"/>
          </a:ln>
        </p:spPr>
      </p:sp>
      <p:sp>
        <p:nvSpPr>
          <p:cNvPr id="27" name="Text 25"/>
          <p:cNvSpPr txBox="1"/>
          <p:nvPr/>
        </p:nvSpPr>
        <p:spPr>
          <a:xfrm>
            <a:off x="685800" y="5074920"/>
            <a:ext cx="10789920" cy="868680"/>
          </a:xfrm>
          <a:prstGeom prst="rect">
            <a:avLst/>
          </a:prstGeom>
          <a:noFill/>
          <a:ln/>
        </p:spPr>
        <p:txBody>
          <a:bodyPr wrap="square" lIns="1016" tIns="1016" rIns="1016" bIns="1016" rtlCol="0" anchor="t"/>
          <a:lstStyle/>
          <a:p>
            <a:pPr indent="0" marL="0">
              <a:spcAft>
                <a:spcPts val="400"/>
              </a:spcAft>
              <a:buNone/>
            </a:pPr>
            <a:r>
              <a:rPr lang="en-US" sz="1100" b="1" spc="100" kern="0" dirty="0">
                <a:solidFill>
                  <a:schemeClr val="tx1"/>
                </a:solidFill>
              </a:rPr>
              <a:t>EXTRA HELP · LINK TO WHAT YOU KNOW</a:t>
            </a:r>
            <a:endParaRPr lang="en-US" sz="1500" dirty="0"/>
          </a:p>
          <a:p>
            <a:pPr indent="0" marL="0">
              <a:spcAft>
                <a:spcPts val="400"/>
              </a:spcAft>
              <a:buNone/>
            </a:pPr>
            <a:r>
              <a:rPr lang="en-US" sz="1500" dirty="0">
                <a:solidFill>
                  <a:schemeClr val="tx1"/>
                </a:solidFill>
              </a:rPr>
              <a:t>Photosynthesis turns light energy into chemical energy stored in organic molecules: glucose, cellulose, starch, amino acids, DNA and so on. That stored energy is what gets passed along the food chain.</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896112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SECTION A · FROM THE CLASS NOTES</a:t>
            </a:r>
            <a:endParaRPr lang="en-US" sz="1200" dirty="0"/>
          </a:p>
        </p:txBody>
      </p:sp>
      <p:sp>
        <p:nvSpPr>
          <p:cNvPr id="3" name="Text 0"/>
          <p:cNvSpPr/>
          <p:nvPr>
            <p:ph idx="101" type="title" hasCustomPrompt="1"/>
          </p:nvPr>
        </p:nvSpPr>
        <p:spPr>
          <a:xfrm>
            <a:off x="548640" y="566928"/>
            <a:ext cx="9509760" cy="73152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GPP and NPP</a:t>
            </a:r>
            <a:endParaRPr lang="en-US" sz="3200" dirty="0"/>
          </a:p>
        </p:txBody>
      </p:sp>
      <p:sp>
        <p:nvSpPr>
          <p:cNvPr id="4" name="nav-map"/>
          <p:cNvSpPr txBox="1"/>
          <p:nvPr/>
        </p:nvSpPr>
        <p:spPr>
          <a:xfrm>
            <a:off x="10469880" y="274320"/>
            <a:ext cx="1188720" cy="320040"/>
          </a:xfrm>
          <a:prstGeom prst="rect">
            <a:avLst/>
          </a:prstGeom>
          <a:noFill/>
          <a:ln/>
        </p:spPr>
        <p:txBody>
          <a:bodyPr wrap="square" lIns="0" tIns="0" rIns="0" bIns="0" rtlCol="0" anchor="ctr"/>
          <a:lstStyle/>
          <a:p>
            <a:pPr algn="r" indent="0" marL="0">
              <a:buNone/>
            </a:pPr>
            <a:r>
              <a:rPr lang="en-US" sz="1200" u="sng" dirty="0">
                <a:solidFill>
                  <a:schemeClr val="accent1"/>
                </a:solidFill>
                <a:hlinkClick r:id="rId1" action="ppaction://hlinksldjump" tooltip="Back to lesson map">
                  <a:extLst>
                    <a:ext uri="{A12FA001-AC4F-418D-AE19-62706E023703}">
                      <ahyp:hlinkClr xmlns:ahyp="http://schemas.microsoft.com/office/drawing/2018/hyperlinkcolor" val="tx"/>
                    </a:ext>
                  </a:extLst>
                </a:hlinkClick>
              </a:rPr>
              <a:t>Lesson map</a:t>
            </a:r>
            <a:endParaRPr lang="en-US" sz="1200" dirty="0"/>
          </a:p>
        </p:txBody>
      </p:sp>
      <p:sp>
        <p:nvSpPr>
          <p:cNvPr id="5" name="Shape 3"/>
          <p:cNvSpPr/>
          <p:nvPr/>
        </p:nvSpPr>
        <p:spPr>
          <a:xfrm>
            <a:off x="548640" y="1417320"/>
            <a:ext cx="5486400" cy="1234440"/>
          </a:xfrm>
          <a:prstGeom prst="roundRect">
            <a:avLst>
              <a:gd name="adj" fmla="val 8889"/>
            </a:avLst>
          </a:prstGeom>
          <a:solidFill>
            <a:schemeClr val="bg1"/>
          </a:solidFill>
          <a:ln w="15875">
            <a:solidFill>
              <a:schemeClr val="accent1"/>
            </a:solidFill>
            <a:prstDash val="solid"/>
          </a:ln>
        </p:spPr>
      </p:sp>
      <p:sp>
        <p:nvSpPr>
          <p:cNvPr id="6" name="Text 4"/>
          <p:cNvSpPr txBox="1"/>
          <p:nvPr/>
        </p:nvSpPr>
        <p:spPr>
          <a:xfrm>
            <a:off x="685800" y="1481328"/>
            <a:ext cx="5212080" cy="1097280"/>
          </a:xfrm>
          <a:prstGeom prst="rect">
            <a:avLst/>
          </a:prstGeom>
          <a:noFill/>
          <a:ln/>
        </p:spPr>
        <p:txBody>
          <a:bodyPr wrap="square" lIns="1016" tIns="1016" rIns="1016" bIns="1016" rtlCol="0" anchor="t"/>
          <a:lstStyle/>
          <a:p>
            <a:pPr indent="0" marL="0">
              <a:spcAft>
                <a:spcPts val="400"/>
              </a:spcAft>
              <a:buNone/>
            </a:pPr>
            <a:r>
              <a:rPr lang="en-US" sz="1500" b="1" dirty="0">
                <a:solidFill>
                  <a:schemeClr val="accent1"/>
                </a:solidFill>
              </a:rPr>
              <a:t>Gross primary production (GPP)</a:t>
            </a:r>
            <a:endParaRPr lang="en-US" sz="1500" dirty="0"/>
          </a:p>
          <a:p>
            <a:pPr indent="0" marL="0">
              <a:spcAft>
                <a:spcPts val="400"/>
              </a:spcAft>
              <a:buNone/>
            </a:pPr>
            <a:r>
              <a:rPr lang="en-US" sz="1500" dirty="0">
                <a:solidFill>
                  <a:schemeClr val="tx1"/>
                </a:solidFill>
              </a:rPr>
              <a:t>Chemical energy store in plant biomass in a given area or volume (energy captured by photosynthesis).</a:t>
            </a:r>
            <a:endParaRPr lang="en-US" sz="1500" dirty="0"/>
          </a:p>
        </p:txBody>
      </p:sp>
      <p:sp>
        <p:nvSpPr>
          <p:cNvPr id="7" name="Shape 5"/>
          <p:cNvSpPr/>
          <p:nvPr/>
        </p:nvSpPr>
        <p:spPr>
          <a:xfrm>
            <a:off x="548640" y="2788920"/>
            <a:ext cx="5486400" cy="1234440"/>
          </a:xfrm>
          <a:prstGeom prst="roundRect">
            <a:avLst>
              <a:gd name="adj" fmla="val 8889"/>
            </a:avLst>
          </a:prstGeom>
          <a:solidFill>
            <a:schemeClr val="bg1"/>
          </a:solidFill>
          <a:ln w="15875">
            <a:solidFill>
              <a:schemeClr val="accent1"/>
            </a:solidFill>
            <a:prstDash val="solid"/>
          </a:ln>
        </p:spPr>
      </p:sp>
      <p:sp>
        <p:nvSpPr>
          <p:cNvPr id="8" name="Text 6"/>
          <p:cNvSpPr txBox="1"/>
          <p:nvPr/>
        </p:nvSpPr>
        <p:spPr>
          <a:xfrm>
            <a:off x="685800" y="2852928"/>
            <a:ext cx="5212080" cy="1097280"/>
          </a:xfrm>
          <a:prstGeom prst="rect">
            <a:avLst/>
          </a:prstGeom>
          <a:noFill/>
          <a:ln/>
        </p:spPr>
        <p:txBody>
          <a:bodyPr wrap="square" lIns="1016" tIns="1016" rIns="1016" bIns="1016" rtlCol="0" anchor="t"/>
          <a:lstStyle/>
          <a:p>
            <a:pPr indent="0" marL="0">
              <a:spcAft>
                <a:spcPts val="400"/>
              </a:spcAft>
              <a:buNone/>
            </a:pPr>
            <a:r>
              <a:rPr lang="en-US" sz="1500" b="1" dirty="0">
                <a:solidFill>
                  <a:schemeClr val="accent1"/>
                </a:solidFill>
              </a:rPr>
              <a:t>Net primary production (NPP)</a:t>
            </a:r>
            <a:endParaRPr lang="en-US" sz="1500" dirty="0"/>
          </a:p>
          <a:p>
            <a:pPr indent="0" marL="0">
              <a:spcAft>
                <a:spcPts val="400"/>
              </a:spcAft>
              <a:buNone/>
            </a:pPr>
            <a:r>
              <a:rPr lang="en-US" sz="1500" dirty="0">
                <a:solidFill>
                  <a:schemeClr val="tx1"/>
                </a:solidFill>
              </a:rPr>
              <a:t>The chemical energy store in plant biomass after respiratory losses to the environment.</a:t>
            </a:r>
            <a:endParaRPr lang="en-US" sz="1500" dirty="0"/>
          </a:p>
        </p:txBody>
      </p:sp>
      <p:sp>
        <p:nvSpPr>
          <p:cNvPr id="9" name="Shape 7"/>
          <p:cNvSpPr/>
          <p:nvPr/>
        </p:nvSpPr>
        <p:spPr>
          <a:xfrm>
            <a:off x="6400800" y="1417320"/>
            <a:ext cx="1600200" cy="1005840"/>
          </a:xfrm>
          <a:prstGeom prst="roundRect">
            <a:avLst>
              <a:gd name="adj" fmla="val 10909"/>
            </a:avLst>
          </a:prstGeom>
          <a:solidFill>
            <a:schemeClr val="accent4"/>
          </a:solidFill>
          <a:ln w="12700">
            <a:solidFill>
              <a:schemeClr val="accent4"/>
            </a:solidFill>
            <a:prstDash val="solid"/>
          </a:ln>
        </p:spPr>
      </p:sp>
      <p:sp>
        <p:nvSpPr>
          <p:cNvPr id="10" name="Text 8"/>
          <p:cNvSpPr txBox="1"/>
          <p:nvPr/>
        </p:nvSpPr>
        <p:spPr>
          <a:xfrm>
            <a:off x="6400800" y="1463040"/>
            <a:ext cx="1600200" cy="914400"/>
          </a:xfrm>
          <a:prstGeom prst="rect">
            <a:avLst/>
          </a:prstGeom>
          <a:noFill/>
          <a:ln/>
        </p:spPr>
        <p:txBody>
          <a:bodyPr wrap="square" lIns="1016" tIns="1016" rIns="1016" bIns="1016" rtlCol="0" anchor="ctr"/>
          <a:lstStyle/>
          <a:p>
            <a:pPr algn="ctr" indent="0" marL="0">
              <a:spcAft>
                <a:spcPts val="400"/>
              </a:spcAft>
              <a:buNone/>
            </a:pPr>
            <a:r>
              <a:rPr lang="en-US" sz="2000" b="1" dirty="0">
                <a:solidFill>
                  <a:schemeClr val="tx1"/>
                </a:solidFill>
              </a:rPr>
              <a:t>GPP</a:t>
            </a:r>
            <a:endParaRPr lang="en-US" sz="1600" dirty="0"/>
          </a:p>
          <a:p>
            <a:pPr algn="ctr" indent="0" marL="0">
              <a:spcAft>
                <a:spcPts val="400"/>
              </a:spcAft>
              <a:buNone/>
            </a:pPr>
            <a:r>
              <a:rPr lang="en-US" sz="1200" dirty="0">
                <a:solidFill>
                  <a:schemeClr val="tx1"/>
                </a:solidFill>
              </a:rPr>
              <a:t>all energy captured</a:t>
            </a:r>
            <a:endParaRPr lang="en-US" sz="1600" dirty="0"/>
          </a:p>
        </p:txBody>
      </p:sp>
      <p:sp>
        <p:nvSpPr>
          <p:cNvPr id="11" name="Text 9"/>
          <p:cNvSpPr txBox="1"/>
          <p:nvPr/>
        </p:nvSpPr>
        <p:spPr>
          <a:xfrm>
            <a:off x="8001000" y="1463040"/>
            <a:ext cx="411480" cy="914400"/>
          </a:xfrm>
          <a:prstGeom prst="rect">
            <a:avLst/>
          </a:prstGeom>
          <a:noFill/>
          <a:ln/>
        </p:spPr>
        <p:txBody>
          <a:bodyPr wrap="square" lIns="1016" tIns="1016" rIns="1016" bIns="1016" rtlCol="0" anchor="ctr"/>
          <a:lstStyle/>
          <a:p>
            <a:pPr algn="ctr" indent="0" marL="0">
              <a:spcAft>
                <a:spcPts val="400"/>
              </a:spcAft>
              <a:buNone/>
            </a:pPr>
            <a:r>
              <a:rPr lang="en-US" sz="2800" b="1" dirty="0">
                <a:solidFill>
                  <a:schemeClr val="tx1"/>
                </a:solidFill>
              </a:rPr>
              <a:t>−</a:t>
            </a:r>
            <a:endParaRPr lang="en-US" sz="2800" dirty="0"/>
          </a:p>
        </p:txBody>
      </p:sp>
      <p:sp>
        <p:nvSpPr>
          <p:cNvPr id="12" name="Shape 10"/>
          <p:cNvSpPr/>
          <p:nvPr/>
        </p:nvSpPr>
        <p:spPr>
          <a:xfrm>
            <a:off x="8412480" y="1417320"/>
            <a:ext cx="1600200" cy="1005840"/>
          </a:xfrm>
          <a:prstGeom prst="roundRect">
            <a:avLst>
              <a:gd name="adj" fmla="val 10909"/>
            </a:avLst>
          </a:prstGeom>
          <a:solidFill>
            <a:schemeClr val="accent6"/>
          </a:solidFill>
          <a:ln w="12700">
            <a:solidFill>
              <a:schemeClr val="accent6"/>
            </a:solidFill>
            <a:prstDash val="solid"/>
          </a:ln>
        </p:spPr>
      </p:sp>
      <p:sp>
        <p:nvSpPr>
          <p:cNvPr id="13" name="Text 11"/>
          <p:cNvSpPr txBox="1"/>
          <p:nvPr/>
        </p:nvSpPr>
        <p:spPr>
          <a:xfrm>
            <a:off x="8412480" y="1463040"/>
            <a:ext cx="1600200" cy="914400"/>
          </a:xfrm>
          <a:prstGeom prst="rect">
            <a:avLst/>
          </a:prstGeom>
          <a:noFill/>
          <a:ln/>
        </p:spPr>
        <p:txBody>
          <a:bodyPr wrap="square" lIns="1016" tIns="1016" rIns="1016" bIns="1016" rtlCol="0" anchor="ctr"/>
          <a:lstStyle/>
          <a:p>
            <a:pPr algn="ctr" indent="0" marL="0">
              <a:spcAft>
                <a:spcPts val="400"/>
              </a:spcAft>
              <a:buNone/>
            </a:pPr>
            <a:r>
              <a:rPr lang="en-US" sz="2000" b="1" dirty="0">
                <a:solidFill>
                  <a:schemeClr val="tx1"/>
                </a:solidFill>
              </a:rPr>
              <a:t>R</a:t>
            </a:r>
            <a:endParaRPr lang="en-US" sz="1600" dirty="0"/>
          </a:p>
          <a:p>
            <a:pPr algn="ctr" indent="0" marL="0">
              <a:spcAft>
                <a:spcPts val="400"/>
              </a:spcAft>
              <a:buNone/>
            </a:pPr>
            <a:r>
              <a:rPr lang="en-US" sz="1200" dirty="0">
                <a:solidFill>
                  <a:schemeClr val="tx1"/>
                </a:solidFill>
              </a:rPr>
              <a:t>respiration → heat</a:t>
            </a:r>
            <a:endParaRPr lang="en-US" sz="1600" dirty="0"/>
          </a:p>
        </p:txBody>
      </p:sp>
      <p:sp>
        <p:nvSpPr>
          <p:cNvPr id="14" name="Text 12"/>
          <p:cNvSpPr txBox="1"/>
          <p:nvPr/>
        </p:nvSpPr>
        <p:spPr>
          <a:xfrm>
            <a:off x="10012680" y="1463040"/>
            <a:ext cx="365760" cy="914400"/>
          </a:xfrm>
          <a:prstGeom prst="rect">
            <a:avLst/>
          </a:prstGeom>
          <a:noFill/>
          <a:ln/>
        </p:spPr>
        <p:txBody>
          <a:bodyPr wrap="square" lIns="1016" tIns="1016" rIns="1016" bIns="1016" rtlCol="0" anchor="ctr"/>
          <a:lstStyle/>
          <a:p>
            <a:pPr algn="ctr" indent="0" marL="0">
              <a:spcAft>
                <a:spcPts val="400"/>
              </a:spcAft>
              <a:buNone/>
            </a:pPr>
            <a:r>
              <a:rPr lang="en-US" sz="2800" b="1" dirty="0">
                <a:solidFill>
                  <a:schemeClr val="tx1"/>
                </a:solidFill>
              </a:rPr>
              <a:t>=</a:t>
            </a:r>
            <a:endParaRPr lang="en-US" sz="2800" dirty="0"/>
          </a:p>
        </p:txBody>
      </p:sp>
      <p:sp>
        <p:nvSpPr>
          <p:cNvPr id="15" name="Shape 13"/>
          <p:cNvSpPr/>
          <p:nvPr/>
        </p:nvSpPr>
        <p:spPr>
          <a:xfrm>
            <a:off x="10378440" y="1417320"/>
            <a:ext cx="1280160" cy="1005840"/>
          </a:xfrm>
          <a:prstGeom prst="roundRect">
            <a:avLst>
              <a:gd name="adj" fmla="val 10909"/>
            </a:avLst>
          </a:prstGeom>
          <a:solidFill>
            <a:schemeClr val="accent1"/>
          </a:solidFill>
          <a:ln w="12700">
            <a:solidFill>
              <a:schemeClr val="accent1"/>
            </a:solidFill>
            <a:prstDash val="solid"/>
          </a:ln>
        </p:spPr>
      </p:sp>
      <p:sp>
        <p:nvSpPr>
          <p:cNvPr id="16" name="Text 14"/>
          <p:cNvSpPr txBox="1"/>
          <p:nvPr/>
        </p:nvSpPr>
        <p:spPr>
          <a:xfrm>
            <a:off x="10378440" y="1463040"/>
            <a:ext cx="1280160" cy="914400"/>
          </a:xfrm>
          <a:prstGeom prst="rect">
            <a:avLst/>
          </a:prstGeom>
          <a:noFill/>
          <a:ln/>
        </p:spPr>
        <p:txBody>
          <a:bodyPr wrap="square" lIns="1016" tIns="1016" rIns="1016" bIns="1016" rtlCol="0" anchor="ctr"/>
          <a:lstStyle/>
          <a:p>
            <a:pPr algn="ctr" indent="0" marL="0">
              <a:spcAft>
                <a:spcPts val="400"/>
              </a:spcAft>
              <a:buNone/>
            </a:pPr>
            <a:r>
              <a:rPr lang="en-US" sz="2000" b="1" dirty="0">
                <a:solidFill>
                  <a:schemeClr val="bg1"/>
                </a:solidFill>
              </a:rPr>
              <a:t>NPP</a:t>
            </a:r>
            <a:endParaRPr lang="en-US" sz="1600" dirty="0"/>
          </a:p>
          <a:p>
            <a:pPr algn="ctr" indent="0" marL="0">
              <a:spcAft>
                <a:spcPts val="400"/>
              </a:spcAft>
              <a:buNone/>
            </a:pPr>
            <a:r>
              <a:rPr lang="en-US" sz="1200" dirty="0">
                <a:solidFill>
                  <a:schemeClr val="bg1"/>
                </a:solidFill>
              </a:rPr>
              <a:t>left in biomass</a:t>
            </a:r>
            <a:endParaRPr lang="en-US" sz="1600" dirty="0"/>
          </a:p>
        </p:txBody>
      </p:sp>
      <p:sp>
        <p:nvSpPr>
          <p:cNvPr id="17" name="Text 15"/>
          <p:cNvSpPr txBox="1"/>
          <p:nvPr/>
        </p:nvSpPr>
        <p:spPr>
          <a:xfrm>
            <a:off x="6400800" y="2514600"/>
            <a:ext cx="5257800" cy="411480"/>
          </a:xfrm>
          <a:prstGeom prst="rect">
            <a:avLst/>
          </a:prstGeom>
          <a:noFill/>
          <a:ln/>
        </p:spPr>
        <p:txBody>
          <a:bodyPr wrap="square" lIns="1016" tIns="1016" rIns="1016" bIns="1016" rtlCol="0" anchor="t"/>
          <a:lstStyle/>
          <a:p>
            <a:pPr algn="ctr" indent="0" marL="0">
              <a:spcAft>
                <a:spcPts val="400"/>
              </a:spcAft>
              <a:buNone/>
            </a:pPr>
            <a:r>
              <a:rPr lang="en-US" sz="1700" b="1" dirty="0">
                <a:solidFill>
                  <a:schemeClr val="tx1"/>
                </a:solidFill>
                <a:latin typeface="Cambria" pitchFamily="34" charset="0"/>
                <a:ea typeface="Cambria" pitchFamily="34" charset="-122"/>
                <a:cs typeface="Cambria" pitchFamily="34" charset="-120"/>
              </a:rPr>
              <a:t>NPP = GPP − R      (R is respiratory losses)</a:t>
            </a:r>
            <a:endParaRPr lang="en-US" sz="1700" dirty="0"/>
          </a:p>
        </p:txBody>
      </p:sp>
      <p:sp>
        <p:nvSpPr>
          <p:cNvPr id="18" name="Text 16"/>
          <p:cNvSpPr txBox="1"/>
          <p:nvPr/>
        </p:nvSpPr>
        <p:spPr>
          <a:xfrm>
            <a:off x="6400800" y="3017520"/>
            <a:ext cx="5212080" cy="365760"/>
          </a:xfrm>
          <a:prstGeom prst="rect">
            <a:avLst/>
          </a:prstGeom>
          <a:noFill/>
          <a:ln/>
        </p:spPr>
        <p:txBody>
          <a:bodyPr wrap="square" lIns="1016" tIns="1016" rIns="1016" bIns="1016" rtlCol="0" anchor="t"/>
          <a:lstStyle/>
          <a:p>
            <a:pPr indent="0" marL="0">
              <a:spcAft>
                <a:spcPts val="400"/>
              </a:spcAft>
              <a:buNone/>
            </a:pPr>
            <a:r>
              <a:rPr lang="en-US" sz="1600" b="1" dirty="0">
                <a:solidFill>
                  <a:schemeClr val="tx1"/>
                </a:solidFill>
              </a:rPr>
              <a:t>This NPP is available for:</a:t>
            </a:r>
            <a:endParaRPr lang="en-US" sz="1600" dirty="0"/>
          </a:p>
        </p:txBody>
      </p:sp>
      <p:sp>
        <p:nvSpPr>
          <p:cNvPr id="19" name="Text 17"/>
          <p:cNvSpPr txBox="1"/>
          <p:nvPr/>
        </p:nvSpPr>
        <p:spPr>
          <a:xfrm>
            <a:off x="6400800" y="3383280"/>
            <a:ext cx="5212080" cy="1005840"/>
          </a:xfrm>
          <a:prstGeom prst="rect">
            <a:avLst/>
          </a:prstGeom>
          <a:noFill/>
          <a:ln/>
        </p:spPr>
        <p:txBody>
          <a:bodyPr wrap="square" lIns="1016" tIns="1016" rIns="1016" bIns="1016" rtlCol="0" anchor="t"/>
          <a:lstStyle/>
          <a:p>
            <a:pPr indent="0" marL="0">
              <a:spcAft>
                <a:spcPts val="300"/>
              </a:spcAft>
              <a:buNone/>
            </a:pPr>
            <a:r>
              <a:rPr lang="en-US" sz="1500" dirty="0">
                <a:solidFill>
                  <a:schemeClr val="tx1"/>
                </a:solidFill>
              </a:rPr>
              <a:t>a)  Plant growth</a:t>
            </a:r>
            <a:endParaRPr lang="en-US" sz="1500" dirty="0"/>
          </a:p>
          <a:p>
            <a:pPr indent="0" marL="0">
              <a:spcAft>
                <a:spcPts val="300"/>
              </a:spcAft>
              <a:buNone/>
            </a:pPr>
            <a:r>
              <a:rPr lang="en-US" sz="1500" dirty="0">
                <a:solidFill>
                  <a:schemeClr val="tx1"/>
                </a:solidFill>
              </a:rPr>
              <a:t>b)  Plant reproduction</a:t>
            </a:r>
            <a:endParaRPr lang="en-US" sz="1500" dirty="0"/>
          </a:p>
          <a:p>
            <a:pPr indent="0" marL="0">
              <a:spcAft>
                <a:spcPts val="300"/>
              </a:spcAft>
              <a:buNone/>
            </a:pPr>
            <a:r>
              <a:rPr lang="en-US" sz="1500" dirty="0">
                <a:solidFill>
                  <a:schemeClr val="tx1"/>
                </a:solidFill>
              </a:rPr>
              <a:t>c)  Other trophic levels, e.g. herbivores or decomposers</a:t>
            </a:r>
            <a:endParaRPr lang="en-US" sz="1500" dirty="0"/>
          </a:p>
        </p:txBody>
      </p:sp>
      <p:sp>
        <p:nvSpPr>
          <p:cNvPr id="20" name="Shape 18"/>
          <p:cNvSpPr/>
          <p:nvPr/>
        </p:nvSpPr>
        <p:spPr>
          <a:xfrm>
            <a:off x="548640" y="4251960"/>
            <a:ext cx="5486400" cy="1691640"/>
          </a:xfrm>
          <a:prstGeom prst="roundRect">
            <a:avLst>
              <a:gd name="adj" fmla="val 6486"/>
            </a:avLst>
          </a:prstGeom>
          <a:solidFill>
            <a:schemeClr val="accent5"/>
          </a:solidFill>
          <a:ln w="12700">
            <a:solidFill>
              <a:schemeClr val="accent5"/>
            </a:solidFill>
            <a:prstDash val="solid"/>
          </a:ln>
        </p:spPr>
      </p:sp>
      <p:sp>
        <p:nvSpPr>
          <p:cNvPr id="21" name="Text 19"/>
          <p:cNvSpPr txBox="1"/>
          <p:nvPr/>
        </p:nvSpPr>
        <p:spPr>
          <a:xfrm>
            <a:off x="685800" y="4343400"/>
            <a:ext cx="5212080" cy="1508760"/>
          </a:xfrm>
          <a:prstGeom prst="rect">
            <a:avLst/>
          </a:prstGeom>
          <a:noFill/>
          <a:ln/>
        </p:spPr>
        <p:txBody>
          <a:bodyPr wrap="square" lIns="1016" tIns="1016" rIns="1016" bIns="1016" rtlCol="0" anchor="t"/>
          <a:lstStyle/>
          <a:p>
            <a:pPr indent="0" marL="0">
              <a:spcAft>
                <a:spcPts val="400"/>
              </a:spcAft>
              <a:buNone/>
            </a:pPr>
            <a:r>
              <a:rPr lang="en-US" sz="1100" b="1" spc="100" kern="0" dirty="0">
                <a:solidFill>
                  <a:schemeClr val="tx1"/>
                </a:solidFill>
              </a:rPr>
              <a:t>EXTRA HELP · WHY SUBTRACT R?</a:t>
            </a:r>
            <a:endParaRPr lang="en-US" sz="1500" dirty="0"/>
          </a:p>
          <a:p>
            <a:pPr indent="0" marL="0">
              <a:spcAft>
                <a:spcPts val="400"/>
              </a:spcAft>
              <a:buNone/>
            </a:pPr>
            <a:r>
              <a:rPr lang="en-US" sz="1500" dirty="0">
                <a:solidFill>
                  <a:schemeClr val="tx1"/>
                </a:solidFill>
              </a:rPr>
              <a:t>Picture a bucket filled by a tap (photosynthesis = GPP) with a leak in the side (the plant's own respiration = R). What stays in the bucket is NPP.</a:t>
            </a:r>
            <a:endParaRPr lang="en-US" sz="1500" dirty="0"/>
          </a:p>
        </p:txBody>
      </p:sp>
      <p:sp>
        <p:nvSpPr>
          <p:cNvPr id="22" name="Shape 20"/>
          <p:cNvSpPr/>
          <p:nvPr/>
        </p:nvSpPr>
        <p:spPr>
          <a:xfrm>
            <a:off x="6400800" y="4572000"/>
            <a:ext cx="5257800" cy="1371600"/>
          </a:xfrm>
          <a:prstGeom prst="roundRect">
            <a:avLst>
              <a:gd name="adj" fmla="val 8000"/>
            </a:avLst>
          </a:prstGeom>
          <a:solidFill>
            <a:schemeClr val="accent4"/>
          </a:solidFill>
          <a:ln w="12700">
            <a:solidFill>
              <a:schemeClr val="accent4"/>
            </a:solidFill>
            <a:prstDash val="solid"/>
          </a:ln>
        </p:spPr>
      </p:sp>
      <p:sp>
        <p:nvSpPr>
          <p:cNvPr id="23" name="Text 21"/>
          <p:cNvSpPr txBox="1"/>
          <p:nvPr/>
        </p:nvSpPr>
        <p:spPr>
          <a:xfrm>
            <a:off x="6537960" y="4663440"/>
            <a:ext cx="4983480" cy="1188720"/>
          </a:xfrm>
          <a:prstGeom prst="rect">
            <a:avLst/>
          </a:prstGeom>
          <a:noFill/>
          <a:ln/>
        </p:spPr>
        <p:txBody>
          <a:bodyPr wrap="square" lIns="1016" tIns="1016" rIns="1016" bIns="1016" rtlCol="0" anchor="t"/>
          <a:lstStyle/>
          <a:p>
            <a:pPr indent="0" marL="0">
              <a:spcAft>
                <a:spcPts val="400"/>
              </a:spcAft>
              <a:buNone/>
            </a:pPr>
            <a:r>
              <a:rPr lang="en-US" sz="1100" b="1" spc="100" kern="0" dirty="0">
                <a:solidFill>
                  <a:schemeClr val="tx1"/>
                </a:solidFill>
              </a:rPr>
              <a:t>HANDWRITTEN NOTE</a:t>
            </a:r>
            <a:endParaRPr lang="en-US" sz="1500" dirty="0"/>
          </a:p>
          <a:p>
            <a:pPr indent="0" marL="0">
              <a:spcAft>
                <a:spcPts val="400"/>
              </a:spcAft>
              <a:buNone/>
            </a:pPr>
            <a:r>
              <a:rPr lang="en-US" sz="1500" dirty="0">
                <a:solidFill>
                  <a:schemeClr val="tx1"/>
                </a:solidFill>
              </a:rPr>
              <a:t>NPP (biomass) may be passed on to the next (trophic) level, i.e. the primary consumer. There are large energy losses in this transfer.</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896112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CHECK A · TRY FIRST, ANSWERS ON THE NEXT SLIDE</a:t>
            </a:r>
            <a:endParaRPr lang="en-US" sz="1200" dirty="0"/>
          </a:p>
        </p:txBody>
      </p:sp>
      <p:sp>
        <p:nvSpPr>
          <p:cNvPr id="3" name="Text 0"/>
          <p:cNvSpPr/>
          <p:nvPr>
            <p:ph idx="101" type="title" hasCustomPrompt="1"/>
          </p:nvPr>
        </p:nvSpPr>
        <p:spPr>
          <a:xfrm>
            <a:off x="548640" y="566928"/>
            <a:ext cx="9509760" cy="73152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Check your understanding</a:t>
            </a:r>
            <a:endParaRPr lang="en-US" sz="3200" dirty="0"/>
          </a:p>
        </p:txBody>
      </p:sp>
      <p:sp>
        <p:nvSpPr>
          <p:cNvPr id="4" name="nav-map"/>
          <p:cNvSpPr txBox="1"/>
          <p:nvPr/>
        </p:nvSpPr>
        <p:spPr>
          <a:xfrm>
            <a:off x="10469880" y="274320"/>
            <a:ext cx="1188720" cy="320040"/>
          </a:xfrm>
          <a:prstGeom prst="rect">
            <a:avLst/>
          </a:prstGeom>
          <a:noFill/>
          <a:ln/>
        </p:spPr>
        <p:txBody>
          <a:bodyPr wrap="square" lIns="0" tIns="0" rIns="0" bIns="0" rtlCol="0" anchor="ctr"/>
          <a:lstStyle/>
          <a:p>
            <a:pPr algn="r" indent="0" marL="0">
              <a:buNone/>
            </a:pPr>
            <a:r>
              <a:rPr lang="en-US" sz="1200" u="sng" dirty="0">
                <a:solidFill>
                  <a:schemeClr val="accent1"/>
                </a:solidFill>
                <a:hlinkClick r:id="rId1" action="ppaction://hlinksldjump" tooltip="Back to lesson map">
                  <a:extLst>
                    <a:ext uri="{A12FA001-AC4F-418D-AE19-62706E023703}">
                      <ahyp:hlinkClr xmlns:ahyp="http://schemas.microsoft.com/office/drawing/2018/hyperlinkcolor" val="tx"/>
                    </a:ext>
                  </a:extLst>
                </a:hlinkClick>
              </a:rPr>
              <a:t>Lesson map</a:t>
            </a:r>
            <a:endParaRPr lang="en-US" sz="1200" dirty="0"/>
          </a:p>
        </p:txBody>
      </p:sp>
      <p:sp>
        <p:nvSpPr>
          <p:cNvPr id="5" name="Shape 3"/>
          <p:cNvSpPr/>
          <p:nvPr/>
        </p:nvSpPr>
        <p:spPr>
          <a:xfrm>
            <a:off x="548640" y="1417320"/>
            <a:ext cx="5486400" cy="2148840"/>
          </a:xfrm>
          <a:prstGeom prst="roundRect">
            <a:avLst>
              <a:gd name="adj" fmla="val 5106"/>
            </a:avLst>
          </a:prstGeom>
          <a:solidFill>
            <a:schemeClr val="bg1"/>
          </a:solidFill>
          <a:ln w="12700">
            <a:solidFill>
              <a:schemeClr val="bg1"/>
            </a:solidFill>
            <a:prstDash val="solid"/>
          </a:ln>
        </p:spPr>
      </p:sp>
      <p:sp>
        <p:nvSpPr>
          <p:cNvPr id="6" name="Shape 4"/>
          <p:cNvSpPr/>
          <p:nvPr/>
        </p:nvSpPr>
        <p:spPr>
          <a:xfrm>
            <a:off x="685800" y="1554480"/>
            <a:ext cx="1485900" cy="274320"/>
          </a:xfrm>
          <a:prstGeom prst="roundRect">
            <a:avLst>
              <a:gd name="adj" fmla="val 40000"/>
            </a:avLst>
          </a:prstGeom>
          <a:solidFill>
            <a:schemeClr val="accent2"/>
          </a:solidFill>
          <a:ln w="12700">
            <a:solidFill>
              <a:schemeClr val="accent2"/>
            </a:solidFill>
            <a:prstDash val="solid"/>
          </a:ln>
        </p:spPr>
      </p:sp>
      <p:sp>
        <p:nvSpPr>
          <p:cNvPr id="7" name="Text 5"/>
          <p:cNvSpPr txBox="1"/>
          <p:nvPr/>
        </p:nvSpPr>
        <p:spPr>
          <a:xfrm>
            <a:off x="685800" y="1554480"/>
            <a:ext cx="1485900" cy="274320"/>
          </a:xfrm>
          <a:prstGeom prst="rect">
            <a:avLst/>
          </a:prstGeom>
          <a:noFill/>
          <a:ln/>
        </p:spPr>
        <p:txBody>
          <a:bodyPr wrap="square" lIns="0" tIns="0" rIns="0" bIns="0" rtlCol="0" anchor="ctr"/>
          <a:lstStyle/>
          <a:p>
            <a:pPr algn="ctr" indent="0" marL="0">
              <a:spcAft>
                <a:spcPts val="400"/>
              </a:spcAft>
              <a:buNone/>
            </a:pPr>
            <a:r>
              <a:rPr lang="en-US" sz="1000" b="1" spc="100" kern="0" dirty="0">
                <a:solidFill>
                  <a:schemeClr val="tx1"/>
                </a:solidFill>
              </a:rPr>
              <a:t>ORIGINAL QUESTION</a:t>
            </a:r>
            <a:endParaRPr lang="en-US" sz="1000" dirty="0"/>
          </a:p>
        </p:txBody>
      </p:sp>
      <p:sp>
        <p:nvSpPr>
          <p:cNvPr id="8" name="Text 6"/>
          <p:cNvSpPr txBox="1"/>
          <p:nvPr/>
        </p:nvSpPr>
        <p:spPr>
          <a:xfrm>
            <a:off x="685800" y="1892808"/>
            <a:ext cx="5212080" cy="1600200"/>
          </a:xfrm>
          <a:prstGeom prst="rect">
            <a:avLst/>
          </a:prstGeom>
          <a:noFill/>
          <a:ln/>
        </p:spPr>
        <p:txBody>
          <a:bodyPr wrap="square" lIns="1016" tIns="1016" rIns="1016" bIns="1016" rtlCol="0" anchor="t"/>
          <a:lstStyle/>
          <a:p>
            <a:pPr indent="0" marL="0">
              <a:spcAft>
                <a:spcPts val="400"/>
              </a:spcAft>
              <a:buNone/>
            </a:pPr>
            <a:r>
              <a:rPr lang="en-US" sz="1500" dirty="0">
                <a:solidFill>
                  <a:schemeClr val="tx1"/>
                </a:solidFill>
              </a:rPr>
              <a:t>1. The light energy which is converted into chemical energy in the form of organic molecules (glucose / cellulose / starch / amino acids / DNA etc.) is called:</a:t>
            </a:r>
            <a:endParaRPr lang="en-US" sz="1500" dirty="0"/>
          </a:p>
          <a:p>
            <a:pPr indent="0" marL="0">
              <a:spcAft>
                <a:spcPts val="400"/>
              </a:spcAft>
              <a:buNone/>
            </a:pPr>
            <a:endParaRPr lang="en-US" sz="1500" dirty="0"/>
          </a:p>
          <a:p>
            <a:pPr indent="0" marL="0">
              <a:spcAft>
                <a:spcPts val="400"/>
              </a:spcAft>
              <a:buNone/>
            </a:pPr>
            <a:r>
              <a:rPr lang="en-US" sz="1500" dirty="0">
                <a:solidFill>
                  <a:schemeClr val="tx1"/>
                </a:solidFill>
              </a:rPr>
              <a:t>______________________</a:t>
            </a:r>
            <a:endParaRPr lang="en-US" sz="1500" dirty="0"/>
          </a:p>
        </p:txBody>
      </p:sp>
      <p:sp>
        <p:nvSpPr>
          <p:cNvPr id="9" name="Shape 7"/>
          <p:cNvSpPr/>
          <p:nvPr/>
        </p:nvSpPr>
        <p:spPr>
          <a:xfrm>
            <a:off x="6172200" y="1417320"/>
            <a:ext cx="5486400" cy="2148840"/>
          </a:xfrm>
          <a:prstGeom prst="roundRect">
            <a:avLst>
              <a:gd name="adj" fmla="val 5106"/>
            </a:avLst>
          </a:prstGeom>
          <a:solidFill>
            <a:schemeClr val="bg1"/>
          </a:solidFill>
          <a:ln w="12700">
            <a:solidFill>
              <a:schemeClr val="bg1"/>
            </a:solidFill>
            <a:prstDash val="solid"/>
          </a:ln>
        </p:spPr>
      </p:sp>
      <p:sp>
        <p:nvSpPr>
          <p:cNvPr id="10" name="Shape 8"/>
          <p:cNvSpPr/>
          <p:nvPr/>
        </p:nvSpPr>
        <p:spPr>
          <a:xfrm>
            <a:off x="6309360" y="1554480"/>
            <a:ext cx="1485900" cy="274320"/>
          </a:xfrm>
          <a:prstGeom prst="roundRect">
            <a:avLst>
              <a:gd name="adj" fmla="val 40000"/>
            </a:avLst>
          </a:prstGeom>
          <a:solidFill>
            <a:schemeClr val="accent2"/>
          </a:solidFill>
          <a:ln w="12700">
            <a:solidFill>
              <a:schemeClr val="accent2"/>
            </a:solidFill>
            <a:prstDash val="solid"/>
          </a:ln>
        </p:spPr>
      </p:sp>
      <p:sp>
        <p:nvSpPr>
          <p:cNvPr id="11" name="Text 9"/>
          <p:cNvSpPr txBox="1"/>
          <p:nvPr/>
        </p:nvSpPr>
        <p:spPr>
          <a:xfrm>
            <a:off x="6309360" y="1554480"/>
            <a:ext cx="1485900" cy="274320"/>
          </a:xfrm>
          <a:prstGeom prst="rect">
            <a:avLst/>
          </a:prstGeom>
          <a:noFill/>
          <a:ln/>
        </p:spPr>
        <p:txBody>
          <a:bodyPr wrap="square" lIns="0" tIns="0" rIns="0" bIns="0" rtlCol="0" anchor="ctr"/>
          <a:lstStyle/>
          <a:p>
            <a:pPr algn="ctr" indent="0" marL="0">
              <a:spcAft>
                <a:spcPts val="400"/>
              </a:spcAft>
              <a:buNone/>
            </a:pPr>
            <a:r>
              <a:rPr lang="en-US" sz="1000" b="1" spc="100" kern="0" dirty="0">
                <a:solidFill>
                  <a:schemeClr val="tx1"/>
                </a:solidFill>
              </a:rPr>
              <a:t>ORIGINAL QUESTION</a:t>
            </a:r>
            <a:endParaRPr lang="en-US" sz="1000" dirty="0"/>
          </a:p>
        </p:txBody>
      </p:sp>
      <p:sp>
        <p:nvSpPr>
          <p:cNvPr id="12" name="Text 10"/>
          <p:cNvSpPr txBox="1"/>
          <p:nvPr/>
        </p:nvSpPr>
        <p:spPr>
          <a:xfrm>
            <a:off x="6309360" y="1892808"/>
            <a:ext cx="5212080" cy="1600200"/>
          </a:xfrm>
          <a:prstGeom prst="rect">
            <a:avLst/>
          </a:prstGeom>
          <a:noFill/>
          <a:ln/>
        </p:spPr>
        <p:txBody>
          <a:bodyPr wrap="square" lIns="1016" tIns="1016" rIns="1016" bIns="1016" rtlCol="0" anchor="t"/>
          <a:lstStyle/>
          <a:p>
            <a:pPr indent="0" marL="0">
              <a:spcAft>
                <a:spcPts val="400"/>
              </a:spcAft>
              <a:buNone/>
            </a:pPr>
            <a:r>
              <a:rPr lang="en-US" sz="1500" dirty="0">
                <a:solidFill>
                  <a:schemeClr val="tx1"/>
                </a:solidFill>
              </a:rPr>
              <a:t>2. This NPP is available for:</a:t>
            </a:r>
            <a:endParaRPr lang="en-US" sz="1500" dirty="0"/>
          </a:p>
          <a:p>
            <a:pPr indent="0" marL="0">
              <a:spcAft>
                <a:spcPts val="400"/>
              </a:spcAft>
              <a:buNone/>
            </a:pPr>
            <a:r>
              <a:rPr lang="en-US" sz="1500" dirty="0">
                <a:solidFill>
                  <a:schemeClr val="tx1"/>
                </a:solidFill>
              </a:rPr>
              <a:t>a) ____________</a:t>
            </a:r>
            <a:endParaRPr lang="en-US" sz="1500" dirty="0"/>
          </a:p>
          <a:p>
            <a:pPr indent="0" marL="0">
              <a:spcAft>
                <a:spcPts val="400"/>
              </a:spcAft>
              <a:buNone/>
            </a:pPr>
            <a:r>
              <a:rPr lang="en-US" sz="1500" dirty="0">
                <a:solidFill>
                  <a:schemeClr val="tx1"/>
                </a:solidFill>
              </a:rPr>
              <a:t>b) ____________</a:t>
            </a:r>
            <a:endParaRPr lang="en-US" sz="1500" dirty="0"/>
          </a:p>
          <a:p>
            <a:pPr indent="0" marL="0">
              <a:spcAft>
                <a:spcPts val="400"/>
              </a:spcAft>
              <a:buNone/>
            </a:pPr>
            <a:r>
              <a:rPr lang="en-US" sz="1500" dirty="0">
                <a:solidFill>
                  <a:schemeClr val="tx1"/>
                </a:solidFill>
              </a:rPr>
              <a:t>c) ____________</a:t>
            </a:r>
            <a:endParaRPr lang="en-US" sz="1500" dirty="0"/>
          </a:p>
        </p:txBody>
      </p:sp>
      <p:sp>
        <p:nvSpPr>
          <p:cNvPr id="13" name="Shape 11"/>
          <p:cNvSpPr/>
          <p:nvPr/>
        </p:nvSpPr>
        <p:spPr>
          <a:xfrm>
            <a:off x="548640" y="3703320"/>
            <a:ext cx="5486400" cy="2377440"/>
          </a:xfrm>
          <a:prstGeom prst="roundRect">
            <a:avLst>
              <a:gd name="adj" fmla="val 4615"/>
            </a:avLst>
          </a:prstGeom>
          <a:solidFill>
            <a:schemeClr val="bg1"/>
          </a:solidFill>
          <a:ln w="12700">
            <a:solidFill>
              <a:schemeClr val="bg1"/>
            </a:solidFill>
            <a:prstDash val="solid"/>
          </a:ln>
        </p:spPr>
      </p:sp>
      <p:sp>
        <p:nvSpPr>
          <p:cNvPr id="14" name="Shape 12"/>
          <p:cNvSpPr/>
          <p:nvPr/>
        </p:nvSpPr>
        <p:spPr>
          <a:xfrm>
            <a:off x="685800" y="3840480"/>
            <a:ext cx="1097280" cy="274320"/>
          </a:xfrm>
          <a:prstGeom prst="roundRect">
            <a:avLst>
              <a:gd name="adj" fmla="val 40000"/>
            </a:avLst>
          </a:prstGeom>
          <a:solidFill>
            <a:schemeClr val="accent4"/>
          </a:solidFill>
          <a:ln w="12700">
            <a:solidFill>
              <a:schemeClr val="accent4"/>
            </a:solidFill>
            <a:prstDash val="solid"/>
          </a:ln>
        </p:spPr>
      </p:sp>
      <p:sp>
        <p:nvSpPr>
          <p:cNvPr id="15" name="Text 13"/>
          <p:cNvSpPr txBox="1"/>
          <p:nvPr/>
        </p:nvSpPr>
        <p:spPr>
          <a:xfrm>
            <a:off x="685800" y="3840480"/>
            <a:ext cx="1097280" cy="274320"/>
          </a:xfrm>
          <a:prstGeom prst="rect">
            <a:avLst/>
          </a:prstGeom>
          <a:noFill/>
          <a:ln/>
        </p:spPr>
        <p:txBody>
          <a:bodyPr wrap="square" lIns="0" tIns="0" rIns="0" bIns="0" rtlCol="0" anchor="ctr"/>
          <a:lstStyle/>
          <a:p>
            <a:pPr algn="ctr" indent="0" marL="0">
              <a:spcAft>
                <a:spcPts val="400"/>
              </a:spcAft>
              <a:buNone/>
            </a:pPr>
            <a:r>
              <a:rPr lang="en-US" sz="1000" b="1" spc="100" kern="0" dirty="0">
                <a:solidFill>
                  <a:schemeClr val="tx1"/>
                </a:solidFill>
              </a:rPr>
              <a:t>NEW QUESTION</a:t>
            </a:r>
            <a:endParaRPr lang="en-US" sz="1000" dirty="0"/>
          </a:p>
        </p:txBody>
      </p:sp>
      <p:sp>
        <p:nvSpPr>
          <p:cNvPr id="16" name="Text 14"/>
          <p:cNvSpPr txBox="1"/>
          <p:nvPr/>
        </p:nvSpPr>
        <p:spPr>
          <a:xfrm>
            <a:off x="685800" y="4178808"/>
            <a:ext cx="5212080" cy="1828800"/>
          </a:xfrm>
          <a:prstGeom prst="rect">
            <a:avLst/>
          </a:prstGeom>
          <a:noFill/>
          <a:ln/>
        </p:spPr>
        <p:txBody>
          <a:bodyPr wrap="square" lIns="1016" tIns="1016" rIns="1016" bIns="1016" rtlCol="0" anchor="t"/>
          <a:lstStyle/>
          <a:p>
            <a:pPr indent="0" marL="0">
              <a:spcAft>
                <a:spcPts val="400"/>
              </a:spcAft>
              <a:buNone/>
            </a:pPr>
            <a:r>
              <a:rPr lang="en-US" sz="1500" dirty="0">
                <a:solidFill>
                  <a:schemeClr val="tx1"/>
                </a:solidFill>
              </a:rPr>
              <a:t>3. Which of these is NOT a reason most sunlight is not used in photosynthesis?</a:t>
            </a:r>
            <a:endParaRPr lang="en-US" sz="1500" dirty="0"/>
          </a:p>
          <a:p>
            <a:pPr indent="0" marL="0">
              <a:spcAft>
                <a:spcPts val="400"/>
              </a:spcAft>
              <a:buNone/>
            </a:pPr>
            <a:r>
              <a:rPr lang="en-US" sz="1500" dirty="0">
                <a:solidFill>
                  <a:schemeClr val="tx1"/>
                </a:solidFill>
              </a:rPr>
              <a:t>A  Some light is reflected</a:t>
            </a:r>
            <a:endParaRPr lang="en-US" sz="1500" dirty="0"/>
          </a:p>
          <a:p>
            <a:pPr indent="0" marL="0">
              <a:spcAft>
                <a:spcPts val="400"/>
              </a:spcAft>
              <a:buNone/>
            </a:pPr>
            <a:r>
              <a:rPr lang="en-US" sz="1500" dirty="0">
                <a:solidFill>
                  <a:schemeClr val="tx1"/>
                </a:solidFill>
              </a:rPr>
              <a:t>B  Some light is absorbed by the atmosphere</a:t>
            </a:r>
            <a:endParaRPr lang="en-US" sz="1500" dirty="0"/>
          </a:p>
          <a:p>
            <a:pPr indent="0" marL="0">
              <a:spcAft>
                <a:spcPts val="400"/>
              </a:spcAft>
              <a:buNone/>
            </a:pPr>
            <a:r>
              <a:rPr lang="en-US" sz="1500" dirty="0">
                <a:solidFill>
                  <a:schemeClr val="tx1"/>
                </a:solidFill>
              </a:rPr>
              <a:t>C  Some light is the wrong wavelength</a:t>
            </a:r>
            <a:endParaRPr lang="en-US" sz="1500" dirty="0"/>
          </a:p>
          <a:p>
            <a:pPr indent="0" marL="0">
              <a:spcAft>
                <a:spcPts val="400"/>
              </a:spcAft>
              <a:buNone/>
            </a:pPr>
            <a:r>
              <a:rPr lang="en-US" sz="1500" dirty="0">
                <a:solidFill>
                  <a:schemeClr val="tx1"/>
                </a:solidFill>
              </a:rPr>
              <a:t>D  Some light energy is destroyed</a:t>
            </a:r>
            <a:endParaRPr lang="en-US" sz="1500" dirty="0"/>
          </a:p>
        </p:txBody>
      </p:sp>
      <p:sp>
        <p:nvSpPr>
          <p:cNvPr id="17" name="Shape 15"/>
          <p:cNvSpPr/>
          <p:nvPr/>
        </p:nvSpPr>
        <p:spPr>
          <a:xfrm>
            <a:off x="6172200" y="3703320"/>
            <a:ext cx="5486400" cy="2377440"/>
          </a:xfrm>
          <a:prstGeom prst="roundRect">
            <a:avLst>
              <a:gd name="adj" fmla="val 4615"/>
            </a:avLst>
          </a:prstGeom>
          <a:solidFill>
            <a:schemeClr val="bg1"/>
          </a:solidFill>
          <a:ln w="12700">
            <a:solidFill>
              <a:schemeClr val="bg1"/>
            </a:solidFill>
            <a:prstDash val="solid"/>
          </a:ln>
        </p:spPr>
      </p:sp>
      <p:sp>
        <p:nvSpPr>
          <p:cNvPr id="18" name="Shape 16"/>
          <p:cNvSpPr/>
          <p:nvPr/>
        </p:nvSpPr>
        <p:spPr>
          <a:xfrm>
            <a:off x="6309360" y="3840480"/>
            <a:ext cx="1097280" cy="274320"/>
          </a:xfrm>
          <a:prstGeom prst="roundRect">
            <a:avLst>
              <a:gd name="adj" fmla="val 40000"/>
            </a:avLst>
          </a:prstGeom>
          <a:solidFill>
            <a:schemeClr val="accent4"/>
          </a:solidFill>
          <a:ln w="12700">
            <a:solidFill>
              <a:schemeClr val="accent4"/>
            </a:solidFill>
            <a:prstDash val="solid"/>
          </a:ln>
        </p:spPr>
      </p:sp>
      <p:sp>
        <p:nvSpPr>
          <p:cNvPr id="19" name="Text 17"/>
          <p:cNvSpPr txBox="1"/>
          <p:nvPr/>
        </p:nvSpPr>
        <p:spPr>
          <a:xfrm>
            <a:off x="6309360" y="3840480"/>
            <a:ext cx="1097280" cy="274320"/>
          </a:xfrm>
          <a:prstGeom prst="rect">
            <a:avLst/>
          </a:prstGeom>
          <a:noFill/>
          <a:ln/>
        </p:spPr>
        <p:txBody>
          <a:bodyPr wrap="square" lIns="0" tIns="0" rIns="0" bIns="0" rtlCol="0" anchor="ctr"/>
          <a:lstStyle/>
          <a:p>
            <a:pPr algn="ctr" indent="0" marL="0">
              <a:spcAft>
                <a:spcPts val="400"/>
              </a:spcAft>
              <a:buNone/>
            </a:pPr>
            <a:r>
              <a:rPr lang="en-US" sz="1000" b="1" spc="100" kern="0" dirty="0">
                <a:solidFill>
                  <a:schemeClr val="tx1"/>
                </a:solidFill>
              </a:rPr>
              <a:t>NEW QUESTION</a:t>
            </a:r>
            <a:endParaRPr lang="en-US" sz="1000" dirty="0"/>
          </a:p>
        </p:txBody>
      </p:sp>
      <p:sp>
        <p:nvSpPr>
          <p:cNvPr id="20" name="Text 18"/>
          <p:cNvSpPr txBox="1"/>
          <p:nvPr/>
        </p:nvSpPr>
        <p:spPr>
          <a:xfrm>
            <a:off x="6309360" y="4178808"/>
            <a:ext cx="5212080" cy="1828800"/>
          </a:xfrm>
          <a:prstGeom prst="rect">
            <a:avLst/>
          </a:prstGeom>
          <a:noFill/>
          <a:ln/>
        </p:spPr>
        <p:txBody>
          <a:bodyPr wrap="square" lIns="1016" tIns="1016" rIns="1016" bIns="1016" rtlCol="0" anchor="t"/>
          <a:lstStyle/>
          <a:p>
            <a:pPr indent="0" marL="0">
              <a:spcAft>
                <a:spcPts val="400"/>
              </a:spcAft>
              <a:buNone/>
            </a:pPr>
            <a:r>
              <a:rPr lang="en-US" sz="1500" dirty="0">
                <a:solidFill>
                  <a:schemeClr val="tx1"/>
                </a:solidFill>
              </a:rPr>
              <a:t>4. A grassland has a GPP of 20 000 kJ m⁻² year⁻¹. The plants lose 12 000 kJ m⁻² year⁻¹ in respiration. Calculate the NPP.
</a:t>
            </a:r>
            <a:pPr indent="0" marL="0">
              <a:spcAft>
                <a:spcPts val="400"/>
              </a:spcAft>
              <a:buNone/>
            </a:pPr>
            <a:r>
              <a:rPr lang="en-US" sz="1500" b="1" dirty="0">
                <a:solidFill>
                  <a:schemeClr val="tx1"/>
                </a:solidFill>
              </a:rPr>
              <a:t>Hint: </a:t>
            </a:r>
            <a:pPr indent="0" marL="0">
              <a:spcAft>
                <a:spcPts val="400"/>
              </a:spcAft>
              <a:buNone/>
            </a:pPr>
            <a:r>
              <a:rPr lang="en-US" sz="1500" dirty="0">
                <a:solidFill>
                  <a:schemeClr val="tx1"/>
                </a:solidFill>
              </a:rPr>
              <a:t>which formula links GPP, NPP and R?</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896112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CHECK A · ANSWERS</a:t>
            </a:r>
            <a:endParaRPr lang="en-US" sz="1200" dirty="0"/>
          </a:p>
        </p:txBody>
      </p:sp>
      <p:sp>
        <p:nvSpPr>
          <p:cNvPr id="3" name="Text 0"/>
          <p:cNvSpPr/>
          <p:nvPr>
            <p:ph idx="101" type="title" hasCustomPrompt="1"/>
          </p:nvPr>
        </p:nvSpPr>
        <p:spPr>
          <a:xfrm>
            <a:off x="548640" y="566928"/>
            <a:ext cx="9509760" cy="73152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Check A: answers and why</a:t>
            </a:r>
            <a:endParaRPr lang="en-US" sz="3200" dirty="0"/>
          </a:p>
        </p:txBody>
      </p:sp>
      <p:sp>
        <p:nvSpPr>
          <p:cNvPr id="4" name="nav-map"/>
          <p:cNvSpPr txBox="1"/>
          <p:nvPr/>
        </p:nvSpPr>
        <p:spPr>
          <a:xfrm>
            <a:off x="10469880" y="274320"/>
            <a:ext cx="1188720" cy="320040"/>
          </a:xfrm>
          <a:prstGeom prst="rect">
            <a:avLst/>
          </a:prstGeom>
          <a:noFill/>
          <a:ln/>
        </p:spPr>
        <p:txBody>
          <a:bodyPr wrap="square" lIns="0" tIns="0" rIns="0" bIns="0" rtlCol="0" anchor="ctr"/>
          <a:lstStyle/>
          <a:p>
            <a:pPr algn="r" indent="0" marL="0">
              <a:buNone/>
            </a:pPr>
            <a:r>
              <a:rPr lang="en-US" sz="1200" u="sng" dirty="0">
                <a:solidFill>
                  <a:schemeClr val="accent1"/>
                </a:solidFill>
                <a:hlinkClick r:id="rId1" action="ppaction://hlinksldjump" tooltip="Back to lesson map">
                  <a:extLst>
                    <a:ext uri="{A12FA001-AC4F-418D-AE19-62706E023703}">
                      <ahyp:hlinkClr xmlns:ahyp="http://schemas.microsoft.com/office/drawing/2018/hyperlinkcolor" val="tx"/>
                    </a:ext>
                  </a:extLst>
                </a:hlinkClick>
              </a:rPr>
              <a:t>Lesson map</a:t>
            </a:r>
            <a:endParaRPr lang="en-US" sz="1200" dirty="0"/>
          </a:p>
        </p:txBody>
      </p:sp>
      <p:sp>
        <p:nvSpPr>
          <p:cNvPr id="5" name="Shape 3"/>
          <p:cNvSpPr/>
          <p:nvPr/>
        </p:nvSpPr>
        <p:spPr>
          <a:xfrm>
            <a:off x="548640" y="1417320"/>
            <a:ext cx="5486400" cy="2240280"/>
          </a:xfrm>
          <a:prstGeom prst="roundRect">
            <a:avLst>
              <a:gd name="adj" fmla="val 4898"/>
            </a:avLst>
          </a:prstGeom>
          <a:solidFill>
            <a:schemeClr val="bg1"/>
          </a:solidFill>
          <a:ln w="12700">
            <a:solidFill>
              <a:schemeClr val="bg1"/>
            </a:solidFill>
            <a:prstDash val="solid"/>
          </a:ln>
        </p:spPr>
      </p:sp>
      <p:sp>
        <p:nvSpPr>
          <p:cNvPr id="6" name="Text 4"/>
          <p:cNvSpPr txBox="1"/>
          <p:nvPr/>
        </p:nvSpPr>
        <p:spPr>
          <a:xfrm>
            <a:off x="685800" y="1527048"/>
            <a:ext cx="5212080" cy="2057400"/>
          </a:xfrm>
          <a:prstGeom prst="rect">
            <a:avLst/>
          </a:prstGeom>
          <a:noFill/>
          <a:ln/>
        </p:spPr>
        <p:txBody>
          <a:bodyPr wrap="square" lIns="1016" tIns="1016" rIns="1016" bIns="1016" rtlCol="0" anchor="t"/>
          <a:lstStyle/>
          <a:p>
            <a:pPr indent="0" marL="0">
              <a:spcAft>
                <a:spcPts val="400"/>
              </a:spcAft>
              <a:buNone/>
            </a:pPr>
            <a:r>
              <a:rPr lang="en-US" sz="1500" b="1" dirty="0">
                <a:solidFill>
                  <a:schemeClr val="accent1"/>
                </a:solidFill>
              </a:rPr>
              <a:t>1.  Gross primary production (GPP)</a:t>
            </a:r>
            <a:endParaRPr lang="en-US" sz="1500" dirty="0"/>
          </a:p>
          <a:p>
            <a:pPr indent="0" marL="0">
              <a:spcAft>
                <a:spcPts val="400"/>
              </a:spcAft>
              <a:buNone/>
            </a:pPr>
            <a:r>
              <a:rPr lang="en-US" sz="1500" dirty="0">
                <a:solidFill>
                  <a:schemeClr val="tx1"/>
                </a:solidFill>
              </a:rPr>
              <a:t>Why: it is the </a:t>
            </a:r>
            <a:pPr indent="0" marL="0">
              <a:spcAft>
                <a:spcPts val="400"/>
              </a:spcAft>
              <a:buNone/>
            </a:pPr>
            <a:r>
              <a:rPr lang="en-US" sz="1500" b="1" dirty="0">
                <a:solidFill>
                  <a:schemeClr val="tx1"/>
                </a:solidFill>
              </a:rPr>
              <a:t>total</a:t>
            </a:r>
            <a:pPr indent="0" marL="0">
              <a:spcAft>
                <a:spcPts val="400"/>
              </a:spcAft>
              <a:buNone/>
            </a:pPr>
            <a:r>
              <a:rPr lang="en-US" sz="1500" dirty="0">
                <a:solidFill>
                  <a:schemeClr val="tx1"/>
                </a:solidFill>
              </a:rPr>
              <a:t> chemical energy stored by photosynthesis, before the plant has used any of it in respiration.</a:t>
            </a:r>
            <a:endParaRPr lang="en-US" sz="1500" dirty="0"/>
          </a:p>
          <a:p>
            <a:pPr indent="0" marL="0">
              <a:spcAft>
                <a:spcPts val="400"/>
              </a:spcAft>
              <a:buNone/>
            </a:pPr>
            <a:r>
              <a:rPr lang="en-US" sz="1500" dirty="0">
                <a:solidFill>
                  <a:schemeClr val="tx1"/>
                </a:solidFill>
              </a:rPr>
              <a:t>Your notes say "photosynthesis" here. That is the </a:t>
            </a:r>
            <a:endParaRPr lang="en-US" sz="1500" dirty="0"/>
          </a:p>
          <a:p>
            <a:pPr indent="0" marL="0">
              <a:spcAft>
                <a:spcPts val="400"/>
              </a:spcAft>
              <a:buNone/>
            </a:pPr>
            <a:r>
              <a:rPr lang="en-US" sz="1500" b="1" dirty="0">
                <a:solidFill>
                  <a:schemeClr val="tx1"/>
                </a:solidFill>
              </a:rPr>
              <a:t>process</a:t>
            </a:r>
            <a:pPr indent="0" marL="0">
              <a:spcAft>
                <a:spcPts val="400"/>
              </a:spcAft>
              <a:buNone/>
            </a:pPr>
            <a:r>
              <a:rPr lang="en-US" sz="1500" dirty="0">
                <a:solidFill>
                  <a:schemeClr val="tx1"/>
                </a:solidFill>
              </a:rPr>
              <a:t>. The question asks for the </a:t>
            </a:r>
            <a:pPr indent="0" marL="0">
              <a:spcAft>
                <a:spcPts val="400"/>
              </a:spcAft>
              <a:buNone/>
            </a:pPr>
            <a:r>
              <a:rPr lang="en-US" sz="1500" b="1" dirty="0">
                <a:solidFill>
                  <a:schemeClr val="tx1"/>
                </a:solidFill>
              </a:rPr>
              <a:t>name of the energy</a:t>
            </a:r>
            <a:pPr indent="0" marL="0">
              <a:spcAft>
                <a:spcPts val="400"/>
              </a:spcAft>
              <a:buNone/>
            </a:pPr>
            <a:r>
              <a:rPr lang="en-US" sz="1500" dirty="0">
                <a:solidFill>
                  <a:schemeClr val="tx1"/>
                </a:solidFill>
              </a:rPr>
              <a:t>.</a:t>
            </a:r>
            <a:endParaRPr lang="en-US" sz="1500" dirty="0"/>
          </a:p>
        </p:txBody>
      </p:sp>
      <p:sp>
        <p:nvSpPr>
          <p:cNvPr id="7" name="Shape 5"/>
          <p:cNvSpPr/>
          <p:nvPr/>
        </p:nvSpPr>
        <p:spPr>
          <a:xfrm>
            <a:off x="6172200" y="1417320"/>
            <a:ext cx="5486400" cy="2240280"/>
          </a:xfrm>
          <a:prstGeom prst="roundRect">
            <a:avLst>
              <a:gd name="adj" fmla="val 4898"/>
            </a:avLst>
          </a:prstGeom>
          <a:solidFill>
            <a:schemeClr val="bg1"/>
          </a:solidFill>
          <a:ln w="12700">
            <a:solidFill>
              <a:schemeClr val="bg1"/>
            </a:solidFill>
            <a:prstDash val="solid"/>
          </a:ln>
        </p:spPr>
      </p:sp>
      <p:sp>
        <p:nvSpPr>
          <p:cNvPr id="8" name="Text 6"/>
          <p:cNvSpPr txBox="1"/>
          <p:nvPr/>
        </p:nvSpPr>
        <p:spPr>
          <a:xfrm>
            <a:off x="6309360" y="1527048"/>
            <a:ext cx="5212080" cy="2057400"/>
          </a:xfrm>
          <a:prstGeom prst="rect">
            <a:avLst/>
          </a:prstGeom>
          <a:noFill/>
          <a:ln/>
        </p:spPr>
        <p:txBody>
          <a:bodyPr wrap="square" lIns="1016" tIns="1016" rIns="1016" bIns="1016" rtlCol="0" anchor="t"/>
          <a:lstStyle/>
          <a:p>
            <a:pPr indent="0" marL="0">
              <a:spcAft>
                <a:spcPts val="400"/>
              </a:spcAft>
              <a:buNone/>
            </a:pPr>
            <a:r>
              <a:rPr lang="en-US" sz="1500" b="1" dirty="0">
                <a:solidFill>
                  <a:schemeClr val="accent1"/>
                </a:solidFill>
              </a:rPr>
              <a:t>2.  Growth · reproduction · other trophic levels</a:t>
            </a:r>
            <a:endParaRPr lang="en-US" sz="1500" dirty="0"/>
          </a:p>
          <a:p>
            <a:pPr indent="0" marL="0">
              <a:spcAft>
                <a:spcPts val="400"/>
              </a:spcAft>
              <a:buNone/>
            </a:pPr>
            <a:r>
              <a:rPr lang="en-US" sz="1500" dirty="0">
                <a:solidFill>
                  <a:schemeClr val="tx1"/>
                </a:solidFill>
              </a:rPr>
              <a:t>a) Plant growth  b) Plant reproduction  c) Other trophic levels, e.g. herbivores or decomposers.</a:t>
            </a:r>
            <a:endParaRPr lang="en-US" sz="1500" dirty="0"/>
          </a:p>
          <a:p>
            <a:pPr indent="0" marL="0">
              <a:spcAft>
                <a:spcPts val="400"/>
              </a:spcAft>
              <a:buNone/>
            </a:pPr>
            <a:r>
              <a:rPr lang="en-US" sz="1500" dirty="0">
                <a:solidFill>
                  <a:schemeClr val="tx1"/>
                </a:solidFill>
              </a:rPr>
              <a:t>Why: NPP is the energy left after respiration, so it is the only energy that can build new biomass.</a:t>
            </a:r>
            <a:endParaRPr lang="en-US" sz="1500" dirty="0"/>
          </a:p>
        </p:txBody>
      </p:sp>
      <p:sp>
        <p:nvSpPr>
          <p:cNvPr id="9" name="Shape 7"/>
          <p:cNvSpPr/>
          <p:nvPr/>
        </p:nvSpPr>
        <p:spPr>
          <a:xfrm>
            <a:off x="548640" y="3794760"/>
            <a:ext cx="5486400" cy="2286000"/>
          </a:xfrm>
          <a:prstGeom prst="roundRect">
            <a:avLst>
              <a:gd name="adj" fmla="val 4800"/>
            </a:avLst>
          </a:prstGeom>
          <a:solidFill>
            <a:schemeClr val="bg1"/>
          </a:solidFill>
          <a:ln w="12700">
            <a:solidFill>
              <a:schemeClr val="bg1"/>
            </a:solidFill>
            <a:prstDash val="solid"/>
          </a:ln>
        </p:spPr>
      </p:sp>
      <p:sp>
        <p:nvSpPr>
          <p:cNvPr id="10" name="Text 8"/>
          <p:cNvSpPr txBox="1"/>
          <p:nvPr/>
        </p:nvSpPr>
        <p:spPr>
          <a:xfrm>
            <a:off x="685800" y="3904488"/>
            <a:ext cx="5212080" cy="2103120"/>
          </a:xfrm>
          <a:prstGeom prst="rect">
            <a:avLst/>
          </a:prstGeom>
          <a:noFill/>
          <a:ln/>
        </p:spPr>
        <p:txBody>
          <a:bodyPr wrap="square" lIns="1016" tIns="1016" rIns="1016" bIns="1016" rtlCol="0" anchor="t"/>
          <a:lstStyle/>
          <a:p>
            <a:pPr indent="0" marL="0">
              <a:spcAft>
                <a:spcPts val="400"/>
              </a:spcAft>
              <a:buNone/>
            </a:pPr>
            <a:r>
              <a:rPr lang="en-US" sz="1500" b="1" dirty="0">
                <a:solidFill>
                  <a:schemeClr val="accent1"/>
                </a:solidFill>
              </a:rPr>
              <a:t>3.  D: "Some light energy is destroyed"</a:t>
            </a:r>
            <a:endParaRPr lang="en-US" sz="1500" dirty="0"/>
          </a:p>
          <a:p>
            <a:pPr indent="0" marL="0">
              <a:spcAft>
                <a:spcPts val="400"/>
              </a:spcAft>
              <a:buNone/>
            </a:pPr>
            <a:r>
              <a:rPr lang="en-US" sz="1500" dirty="0">
                <a:solidFill>
                  <a:schemeClr val="tx1"/>
                </a:solidFill>
              </a:rPr>
              <a:t>Energy can never be destroyed. Light that is not used is reflected, absorbed elsewhere or not captured, but it still exists. A, B and C are all real reasons from the notes.</a:t>
            </a:r>
            <a:endParaRPr lang="en-US" sz="1500" dirty="0"/>
          </a:p>
        </p:txBody>
      </p:sp>
      <p:sp>
        <p:nvSpPr>
          <p:cNvPr id="11" name="Shape 9"/>
          <p:cNvSpPr/>
          <p:nvPr/>
        </p:nvSpPr>
        <p:spPr>
          <a:xfrm>
            <a:off x="6172200" y="3794760"/>
            <a:ext cx="5486400" cy="2286000"/>
          </a:xfrm>
          <a:prstGeom prst="roundRect">
            <a:avLst>
              <a:gd name="adj" fmla="val 4800"/>
            </a:avLst>
          </a:prstGeom>
          <a:solidFill>
            <a:schemeClr val="bg1"/>
          </a:solidFill>
          <a:ln w="12700">
            <a:solidFill>
              <a:schemeClr val="bg1"/>
            </a:solidFill>
            <a:prstDash val="solid"/>
          </a:ln>
        </p:spPr>
      </p:sp>
      <p:sp>
        <p:nvSpPr>
          <p:cNvPr id="12" name="Text 10"/>
          <p:cNvSpPr txBox="1"/>
          <p:nvPr/>
        </p:nvSpPr>
        <p:spPr>
          <a:xfrm>
            <a:off x="6309360" y="3904488"/>
            <a:ext cx="5212080" cy="2103120"/>
          </a:xfrm>
          <a:prstGeom prst="rect">
            <a:avLst/>
          </a:prstGeom>
          <a:noFill/>
          <a:ln/>
        </p:spPr>
        <p:txBody>
          <a:bodyPr wrap="square" lIns="1016" tIns="1016" rIns="1016" bIns="1016" rtlCol="0" anchor="t"/>
          <a:lstStyle/>
          <a:p>
            <a:pPr indent="0" marL="0">
              <a:spcAft>
                <a:spcPts val="400"/>
              </a:spcAft>
              <a:buNone/>
            </a:pPr>
            <a:r>
              <a:rPr lang="en-US" sz="1500" b="1" dirty="0">
                <a:solidFill>
                  <a:schemeClr val="accent1"/>
                </a:solidFill>
              </a:rPr>
              <a:t>4.  NPP = 8 000 kJ m⁻² year⁻¹</a:t>
            </a:r>
            <a:endParaRPr lang="en-US" sz="1500" dirty="0"/>
          </a:p>
          <a:p>
            <a:pPr indent="0" marL="0">
              <a:spcAft>
                <a:spcPts val="400"/>
              </a:spcAft>
              <a:buNone/>
            </a:pPr>
            <a:r>
              <a:rPr lang="en-US" sz="1500" b="1" dirty="0">
                <a:solidFill>
                  <a:schemeClr val="tx1"/>
                </a:solidFill>
              </a:rPr>
              <a:t>Step 1: </a:t>
            </a:r>
            <a:pPr indent="0" marL="0">
              <a:spcAft>
                <a:spcPts val="400"/>
              </a:spcAft>
              <a:buNone/>
            </a:pPr>
            <a:r>
              <a:rPr lang="en-US" sz="1500" dirty="0">
                <a:solidFill>
                  <a:schemeClr val="tx1"/>
                </a:solidFill>
              </a:rPr>
              <a:t>choose the formula: NPP = GPP − R</a:t>
            </a:r>
            <a:endParaRPr lang="en-US" sz="1500" dirty="0"/>
          </a:p>
          <a:p>
            <a:pPr indent="0" marL="0">
              <a:spcAft>
                <a:spcPts val="400"/>
              </a:spcAft>
              <a:buNone/>
            </a:pPr>
            <a:r>
              <a:rPr lang="en-US" sz="1500" b="1" dirty="0">
                <a:solidFill>
                  <a:schemeClr val="tx1"/>
                </a:solidFill>
              </a:rPr>
              <a:t>Step 2: </a:t>
            </a:r>
            <a:pPr indent="0" marL="0">
              <a:spcAft>
                <a:spcPts val="400"/>
              </a:spcAft>
              <a:buNone/>
            </a:pPr>
            <a:r>
              <a:rPr lang="en-US" sz="1500" dirty="0">
                <a:solidFill>
                  <a:schemeClr val="tx1"/>
                </a:solidFill>
              </a:rPr>
              <a:t>substitute: 20 000 − 12 000</a:t>
            </a:r>
            <a:endParaRPr lang="en-US" sz="1500" dirty="0"/>
          </a:p>
          <a:p>
            <a:pPr indent="0" marL="0">
              <a:spcAft>
                <a:spcPts val="400"/>
              </a:spcAft>
              <a:buNone/>
            </a:pPr>
            <a:r>
              <a:rPr lang="en-US" sz="1500" b="1" dirty="0">
                <a:solidFill>
                  <a:schemeClr val="tx1"/>
                </a:solidFill>
              </a:rPr>
              <a:t>Step 3: </a:t>
            </a:r>
            <a:pPr indent="0" marL="0">
              <a:spcAft>
                <a:spcPts val="400"/>
              </a:spcAft>
              <a:buNone/>
            </a:pPr>
            <a:r>
              <a:rPr lang="en-US" sz="1500" dirty="0">
                <a:solidFill>
                  <a:schemeClr val="tx1"/>
                </a:solidFill>
              </a:rPr>
              <a:t>answer with units: 8 000 kJ m⁻² year⁻¹</a:t>
            </a:r>
            <a:endParaRPr lang="en-US" sz="1500" dirty="0"/>
          </a:p>
          <a:p>
            <a:pPr indent="0" marL="0">
              <a:spcAft>
                <a:spcPts val="400"/>
              </a:spcAft>
              <a:buNone/>
            </a:pPr>
            <a:r>
              <a:rPr lang="en-US" sz="1500" dirty="0">
                <a:solidFill>
                  <a:schemeClr val="tx1"/>
                </a:solidFill>
              </a:rPr>
              <a:t>Why: R is energy the plant used and lost as heat, so it is not stored.</a:t>
            </a:r>
            <a:endParaRPr lang="en-US" sz="1500" dirty="0"/>
          </a:p>
        </p:txBody>
      </p:sp>
      <p:sp>
        <p:nvSpPr>
          <p:cNvPr id="13" name="Text 11"/>
          <p:cNvSpPr txBox="1"/>
          <p:nvPr/>
        </p:nvSpPr>
        <p:spPr>
          <a:xfrm>
            <a:off x="8412480" y="6355080"/>
            <a:ext cx="2651760" cy="320040"/>
          </a:xfrm>
          <a:prstGeom prst="rect">
            <a:avLst/>
          </a:prstGeom>
          <a:noFill/>
          <a:ln/>
        </p:spPr>
        <p:txBody>
          <a:bodyPr wrap="square" lIns="0" tIns="0" rIns="0" bIns="0" rtlCol="0" anchor="ctr"/>
          <a:lstStyle/>
          <a:p>
            <a:pPr algn="r" indent="0" marL="0">
              <a:buNone/>
            </a:pPr>
            <a:r>
              <a:rPr lang="en-US" sz="1200" u="sng" dirty="0">
                <a:solidFill>
                  <a:schemeClr val="accent1"/>
                </a:solidFill>
                <a:hlinkClick r:id="rId2" action="ppaction://hlinksldjump" tooltip="">
                  <a:extLst>
                    <a:ext uri="{A12FA001-AC4F-418D-AE19-62706E023703}">
                      <ahyp:hlinkClr xmlns:ahyp="http://schemas.microsoft.com/office/drawing/2018/hyperlinkcolor" val="tx"/>
                    </a:ext>
                  </a:extLst>
                </a:hlinkClick>
              </a:rPr>
              <a:t>Next: Section B →</a:t>
            </a:r>
            <a:endParaRPr lang="en-US" sz="1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896112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SECTION B · FROM THE CLASS NOTES (FIGURE 1)</a:t>
            </a:r>
            <a:endParaRPr lang="en-US" sz="1200" dirty="0"/>
          </a:p>
        </p:txBody>
      </p:sp>
      <p:sp>
        <p:nvSpPr>
          <p:cNvPr id="3" name="Text 0"/>
          <p:cNvSpPr/>
          <p:nvPr>
            <p:ph idx="101" type="title" hasCustomPrompt="1"/>
          </p:nvPr>
        </p:nvSpPr>
        <p:spPr>
          <a:xfrm>
            <a:off x="548640" y="566928"/>
            <a:ext cx="9509760" cy="73152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Energy is lost at every step of a food chain</a:t>
            </a:r>
            <a:endParaRPr lang="en-US" sz="3200" dirty="0"/>
          </a:p>
        </p:txBody>
      </p:sp>
      <p:sp>
        <p:nvSpPr>
          <p:cNvPr id="4" name="nav-map"/>
          <p:cNvSpPr txBox="1"/>
          <p:nvPr/>
        </p:nvSpPr>
        <p:spPr>
          <a:xfrm>
            <a:off x="10469880" y="274320"/>
            <a:ext cx="1188720" cy="320040"/>
          </a:xfrm>
          <a:prstGeom prst="rect">
            <a:avLst/>
          </a:prstGeom>
          <a:noFill/>
          <a:ln/>
        </p:spPr>
        <p:txBody>
          <a:bodyPr wrap="square" lIns="0" tIns="0" rIns="0" bIns="0" rtlCol="0" anchor="ctr"/>
          <a:lstStyle/>
          <a:p>
            <a:pPr algn="r" indent="0" marL="0">
              <a:buNone/>
            </a:pPr>
            <a:r>
              <a:rPr lang="en-US" sz="1200" u="sng" dirty="0">
                <a:solidFill>
                  <a:schemeClr val="accent1"/>
                </a:solidFill>
                <a:hlinkClick r:id="rId1" action="ppaction://hlinksldjump" tooltip="Back to lesson map">
                  <a:extLst>
                    <a:ext uri="{A12FA001-AC4F-418D-AE19-62706E023703}">
                      <ahyp:hlinkClr xmlns:ahyp="http://schemas.microsoft.com/office/drawing/2018/hyperlinkcolor" val="tx"/>
                    </a:ext>
                  </a:extLst>
                </a:hlinkClick>
              </a:rPr>
              <a:t>Lesson map</a:t>
            </a:r>
            <a:endParaRPr lang="en-US" sz="1200" dirty="0"/>
          </a:p>
        </p:txBody>
      </p:sp>
      <p:sp>
        <p:nvSpPr>
          <p:cNvPr id="5" name="Shape 3"/>
          <p:cNvSpPr/>
          <p:nvPr/>
        </p:nvSpPr>
        <p:spPr>
          <a:xfrm>
            <a:off x="4572000" y="1463040"/>
            <a:ext cx="7040880" cy="548640"/>
          </a:xfrm>
          <a:prstGeom prst="roundRect">
            <a:avLst>
              <a:gd name="adj" fmla="val 20000"/>
            </a:avLst>
          </a:prstGeom>
          <a:solidFill>
            <a:schemeClr val="accent4"/>
          </a:solidFill>
          <a:ln w="12700">
            <a:solidFill>
              <a:schemeClr val="accent4"/>
            </a:solidFill>
            <a:prstDash val="solid"/>
          </a:ln>
        </p:spPr>
      </p:sp>
      <p:sp>
        <p:nvSpPr>
          <p:cNvPr id="6" name="Text 4"/>
          <p:cNvSpPr txBox="1"/>
          <p:nvPr/>
        </p:nvSpPr>
        <p:spPr>
          <a:xfrm>
            <a:off x="4572000" y="1463040"/>
            <a:ext cx="7040880" cy="548640"/>
          </a:xfrm>
          <a:prstGeom prst="rect">
            <a:avLst/>
          </a:prstGeom>
          <a:noFill/>
          <a:ln/>
        </p:spPr>
        <p:txBody>
          <a:bodyPr wrap="square" lIns="1016" tIns="1016" rIns="1016" bIns="1016" rtlCol="0" anchor="ctr"/>
          <a:lstStyle/>
          <a:p>
            <a:pPr algn="ctr" indent="0" marL="0">
              <a:spcAft>
                <a:spcPts val="400"/>
              </a:spcAft>
              <a:buNone/>
            </a:pPr>
            <a:r>
              <a:rPr lang="en-US" sz="1400" dirty="0">
                <a:solidFill>
                  <a:schemeClr val="tx1"/>
                </a:solidFill>
              </a:rPr>
              <a:t>Decomposers and detritivores (feeding on faeces, urine and dead organisms)</a:t>
            </a:r>
            <a:endParaRPr lang="en-US" sz="1400" dirty="0"/>
          </a:p>
        </p:txBody>
      </p:sp>
      <p:sp>
        <p:nvSpPr>
          <p:cNvPr id="7" name="Shape 5"/>
          <p:cNvSpPr/>
          <p:nvPr/>
        </p:nvSpPr>
        <p:spPr>
          <a:xfrm>
            <a:off x="548640" y="2651760"/>
            <a:ext cx="1188720" cy="1188720"/>
          </a:xfrm>
          <a:prstGeom prst="ellipse">
            <a:avLst/>
          </a:prstGeom>
          <a:solidFill>
            <a:schemeClr val="accent2"/>
          </a:solidFill>
          <a:ln w="12700">
            <a:solidFill>
              <a:schemeClr val="accent2"/>
            </a:solidFill>
            <a:prstDash val="solid"/>
          </a:ln>
        </p:spPr>
      </p:sp>
      <p:sp>
        <p:nvSpPr>
          <p:cNvPr id="8" name="Text 6"/>
          <p:cNvSpPr txBox="1"/>
          <p:nvPr/>
        </p:nvSpPr>
        <p:spPr>
          <a:xfrm>
            <a:off x="548640" y="2651760"/>
            <a:ext cx="1188720" cy="1188720"/>
          </a:xfrm>
          <a:prstGeom prst="rect">
            <a:avLst/>
          </a:prstGeom>
          <a:noFill/>
          <a:ln/>
        </p:spPr>
        <p:txBody>
          <a:bodyPr wrap="square" lIns="0" tIns="0" rIns="0" bIns="0" rtlCol="0" anchor="ctr"/>
          <a:lstStyle/>
          <a:p>
            <a:pPr algn="ctr" indent="0" marL="0">
              <a:spcAft>
                <a:spcPts val="400"/>
              </a:spcAft>
              <a:buNone/>
            </a:pPr>
            <a:r>
              <a:rPr lang="en-US" sz="1600" b="1" dirty="0">
                <a:solidFill>
                  <a:schemeClr val="tx1"/>
                </a:solidFill>
              </a:rPr>
              <a:t>Sun</a:t>
            </a:r>
            <a:endParaRPr lang="en-US" sz="1600" dirty="0"/>
          </a:p>
        </p:txBody>
      </p:sp>
      <p:sp>
        <p:nvSpPr>
          <p:cNvPr id="9" name="Shape 7"/>
          <p:cNvSpPr/>
          <p:nvPr/>
        </p:nvSpPr>
        <p:spPr>
          <a:xfrm>
            <a:off x="1737360" y="3246120"/>
            <a:ext cx="731520" cy="914"/>
          </a:xfrm>
          <a:prstGeom prst="line">
            <a:avLst/>
          </a:prstGeom>
          <a:noFill/>
          <a:ln w="31750">
            <a:solidFill>
              <a:schemeClr val="tx2"/>
            </a:solidFill>
            <a:prstDash val="solid"/>
            <a:tailEnd type="triangle"/>
          </a:ln>
        </p:spPr>
      </p:sp>
      <p:sp>
        <p:nvSpPr>
          <p:cNvPr id="10" name="Text 8"/>
          <p:cNvSpPr txBox="1"/>
          <p:nvPr/>
        </p:nvSpPr>
        <p:spPr>
          <a:xfrm>
            <a:off x="1691640" y="2788920"/>
            <a:ext cx="822960" cy="365760"/>
          </a:xfrm>
          <a:prstGeom prst="rect">
            <a:avLst/>
          </a:prstGeom>
          <a:noFill/>
          <a:ln/>
        </p:spPr>
        <p:txBody>
          <a:bodyPr wrap="square" lIns="1016" tIns="1016" rIns="1016" bIns="1016" rtlCol="0" anchor="t"/>
          <a:lstStyle/>
          <a:p>
            <a:pPr algn="ctr" indent="0" marL="0">
              <a:spcAft>
                <a:spcPts val="400"/>
              </a:spcAft>
              <a:buNone/>
            </a:pPr>
            <a:r>
              <a:rPr lang="en-US" sz="1300" b="1" dirty="0">
                <a:solidFill>
                  <a:schemeClr val="tx1"/>
                </a:solidFill>
              </a:rPr>
              <a:t>1–3%</a:t>
            </a:r>
            <a:endParaRPr lang="en-US" sz="1300" dirty="0"/>
          </a:p>
        </p:txBody>
      </p:sp>
      <p:sp>
        <p:nvSpPr>
          <p:cNvPr id="11" name="Shape 9"/>
          <p:cNvSpPr/>
          <p:nvPr/>
        </p:nvSpPr>
        <p:spPr>
          <a:xfrm>
            <a:off x="2514600" y="2743200"/>
            <a:ext cx="1554480" cy="1005840"/>
          </a:xfrm>
          <a:prstGeom prst="roundRect">
            <a:avLst>
              <a:gd name="adj" fmla="val 10909"/>
            </a:avLst>
          </a:prstGeom>
          <a:solidFill>
            <a:schemeClr val="accent4"/>
          </a:solidFill>
          <a:ln w="15875">
            <a:solidFill>
              <a:schemeClr val="accent1"/>
            </a:solidFill>
            <a:prstDash val="solid"/>
          </a:ln>
        </p:spPr>
      </p:sp>
      <p:sp>
        <p:nvSpPr>
          <p:cNvPr id="12" name="Text 10"/>
          <p:cNvSpPr txBox="1"/>
          <p:nvPr/>
        </p:nvSpPr>
        <p:spPr>
          <a:xfrm>
            <a:off x="2514600" y="2743200"/>
            <a:ext cx="1554480" cy="1005840"/>
          </a:xfrm>
          <a:prstGeom prst="rect">
            <a:avLst/>
          </a:prstGeom>
          <a:noFill/>
          <a:ln/>
        </p:spPr>
        <p:txBody>
          <a:bodyPr wrap="square" lIns="0" tIns="0" rIns="0" bIns="0" rtlCol="0" anchor="ctr"/>
          <a:lstStyle/>
          <a:p>
            <a:pPr algn="ctr" indent="0" marL="0">
              <a:spcAft>
                <a:spcPts val="400"/>
              </a:spcAft>
              <a:buNone/>
            </a:pPr>
            <a:r>
              <a:rPr lang="en-US" sz="1500" b="1" dirty="0">
                <a:solidFill>
                  <a:schemeClr val="tx1"/>
                </a:solidFill>
              </a:rPr>
              <a:t>Primary</a:t>
            </a:r>
            <a:endParaRPr lang="en-US" sz="1500" dirty="0"/>
          </a:p>
          <a:p>
            <a:pPr algn="ctr" indent="0" marL="0">
              <a:spcAft>
                <a:spcPts val="400"/>
              </a:spcAft>
              <a:buNone/>
            </a:pPr>
            <a:r>
              <a:rPr lang="en-US" sz="1500" b="1" dirty="0">
                <a:solidFill>
                  <a:schemeClr val="tx1"/>
                </a:solidFill>
              </a:rPr>
              <a:t>producers</a:t>
            </a:r>
            <a:endParaRPr lang="en-US" sz="1500" dirty="0"/>
          </a:p>
        </p:txBody>
      </p:sp>
      <p:sp>
        <p:nvSpPr>
          <p:cNvPr id="13" name="Shape 11"/>
          <p:cNvSpPr/>
          <p:nvPr/>
        </p:nvSpPr>
        <p:spPr>
          <a:xfrm>
            <a:off x="3291840" y="3794760"/>
            <a:ext cx="914" cy="594360"/>
          </a:xfrm>
          <a:prstGeom prst="line">
            <a:avLst/>
          </a:prstGeom>
          <a:noFill/>
          <a:ln w="31750">
            <a:solidFill>
              <a:schemeClr val="accent3"/>
            </a:solidFill>
            <a:prstDash val="solid"/>
            <a:tailEnd type="triangle"/>
          </a:ln>
        </p:spPr>
      </p:sp>
      <p:sp>
        <p:nvSpPr>
          <p:cNvPr id="14" name="Shape 12"/>
          <p:cNvSpPr/>
          <p:nvPr/>
        </p:nvSpPr>
        <p:spPr>
          <a:xfrm>
            <a:off x="4114800" y="3246120"/>
            <a:ext cx="731520" cy="914"/>
          </a:xfrm>
          <a:prstGeom prst="line">
            <a:avLst/>
          </a:prstGeom>
          <a:noFill/>
          <a:ln w="31750">
            <a:solidFill>
              <a:schemeClr val="tx2"/>
            </a:solidFill>
            <a:prstDash val="solid"/>
            <a:tailEnd type="triangle"/>
          </a:ln>
        </p:spPr>
      </p:sp>
      <p:sp>
        <p:nvSpPr>
          <p:cNvPr id="15" name="Text 13"/>
          <p:cNvSpPr txBox="1"/>
          <p:nvPr/>
        </p:nvSpPr>
        <p:spPr>
          <a:xfrm>
            <a:off x="4069080" y="2788920"/>
            <a:ext cx="822960" cy="365760"/>
          </a:xfrm>
          <a:prstGeom prst="rect">
            <a:avLst/>
          </a:prstGeom>
          <a:noFill/>
          <a:ln/>
        </p:spPr>
        <p:txBody>
          <a:bodyPr wrap="square" lIns="1016" tIns="1016" rIns="1016" bIns="1016" rtlCol="0" anchor="t"/>
          <a:lstStyle/>
          <a:p>
            <a:pPr algn="ctr" indent="0" marL="0">
              <a:spcAft>
                <a:spcPts val="400"/>
              </a:spcAft>
              <a:buNone/>
            </a:pPr>
            <a:r>
              <a:rPr lang="en-US" sz="1300" b="1" dirty="0">
                <a:solidFill>
                  <a:schemeClr val="tx1"/>
                </a:solidFill>
              </a:rPr>
              <a:t>5–10%</a:t>
            </a:r>
            <a:endParaRPr lang="en-US" sz="1300" dirty="0"/>
          </a:p>
        </p:txBody>
      </p:sp>
      <p:sp>
        <p:nvSpPr>
          <p:cNvPr id="16" name="Shape 14"/>
          <p:cNvSpPr/>
          <p:nvPr/>
        </p:nvSpPr>
        <p:spPr>
          <a:xfrm>
            <a:off x="4892040" y="2743200"/>
            <a:ext cx="1554480" cy="1005840"/>
          </a:xfrm>
          <a:prstGeom prst="roundRect">
            <a:avLst>
              <a:gd name="adj" fmla="val 10909"/>
            </a:avLst>
          </a:prstGeom>
          <a:solidFill>
            <a:schemeClr val="accent4"/>
          </a:solidFill>
          <a:ln w="15875">
            <a:solidFill>
              <a:schemeClr val="accent1"/>
            </a:solidFill>
            <a:prstDash val="solid"/>
          </a:ln>
        </p:spPr>
      </p:sp>
      <p:sp>
        <p:nvSpPr>
          <p:cNvPr id="17" name="Text 15"/>
          <p:cNvSpPr txBox="1"/>
          <p:nvPr/>
        </p:nvSpPr>
        <p:spPr>
          <a:xfrm>
            <a:off x="4892040" y="2743200"/>
            <a:ext cx="1554480" cy="1005840"/>
          </a:xfrm>
          <a:prstGeom prst="rect">
            <a:avLst/>
          </a:prstGeom>
          <a:noFill/>
          <a:ln/>
        </p:spPr>
        <p:txBody>
          <a:bodyPr wrap="square" lIns="0" tIns="0" rIns="0" bIns="0" rtlCol="0" anchor="ctr"/>
          <a:lstStyle/>
          <a:p>
            <a:pPr algn="ctr" indent="0" marL="0">
              <a:spcAft>
                <a:spcPts val="400"/>
              </a:spcAft>
              <a:buNone/>
            </a:pPr>
            <a:r>
              <a:rPr lang="en-US" sz="1500" b="1" dirty="0">
                <a:solidFill>
                  <a:schemeClr val="tx1"/>
                </a:solidFill>
              </a:rPr>
              <a:t>Primary</a:t>
            </a:r>
            <a:endParaRPr lang="en-US" sz="1500" dirty="0"/>
          </a:p>
          <a:p>
            <a:pPr algn="ctr" indent="0" marL="0">
              <a:spcAft>
                <a:spcPts val="400"/>
              </a:spcAft>
              <a:buNone/>
            </a:pPr>
            <a:r>
              <a:rPr lang="en-US" sz="1500" b="1" dirty="0">
                <a:solidFill>
                  <a:schemeClr val="tx1"/>
                </a:solidFill>
              </a:rPr>
              <a:t>consumers</a:t>
            </a:r>
            <a:endParaRPr lang="en-US" sz="1500" dirty="0"/>
          </a:p>
        </p:txBody>
      </p:sp>
      <p:sp>
        <p:nvSpPr>
          <p:cNvPr id="18" name="Shape 16"/>
          <p:cNvSpPr/>
          <p:nvPr/>
        </p:nvSpPr>
        <p:spPr>
          <a:xfrm>
            <a:off x="5669280" y="3794760"/>
            <a:ext cx="914" cy="594360"/>
          </a:xfrm>
          <a:prstGeom prst="line">
            <a:avLst/>
          </a:prstGeom>
          <a:noFill/>
          <a:ln w="31750">
            <a:solidFill>
              <a:schemeClr val="accent3"/>
            </a:solidFill>
            <a:prstDash val="solid"/>
            <a:tailEnd type="triangle"/>
          </a:ln>
        </p:spPr>
      </p:sp>
      <p:sp>
        <p:nvSpPr>
          <p:cNvPr id="19" name="Shape 17"/>
          <p:cNvSpPr/>
          <p:nvPr/>
        </p:nvSpPr>
        <p:spPr>
          <a:xfrm>
            <a:off x="6492240" y="3246120"/>
            <a:ext cx="731520" cy="914"/>
          </a:xfrm>
          <a:prstGeom prst="line">
            <a:avLst/>
          </a:prstGeom>
          <a:noFill/>
          <a:ln w="31750">
            <a:solidFill>
              <a:schemeClr val="tx2"/>
            </a:solidFill>
            <a:prstDash val="solid"/>
            <a:tailEnd type="triangle"/>
          </a:ln>
        </p:spPr>
      </p:sp>
      <p:sp>
        <p:nvSpPr>
          <p:cNvPr id="20" name="Text 18"/>
          <p:cNvSpPr txBox="1"/>
          <p:nvPr/>
        </p:nvSpPr>
        <p:spPr>
          <a:xfrm>
            <a:off x="6446520" y="2788920"/>
            <a:ext cx="822960" cy="365760"/>
          </a:xfrm>
          <a:prstGeom prst="rect">
            <a:avLst/>
          </a:prstGeom>
          <a:noFill/>
          <a:ln/>
        </p:spPr>
        <p:txBody>
          <a:bodyPr wrap="square" lIns="1016" tIns="1016" rIns="1016" bIns="1016" rtlCol="0" anchor="t"/>
          <a:lstStyle/>
          <a:p>
            <a:pPr algn="ctr" indent="0" marL="0">
              <a:spcAft>
                <a:spcPts val="400"/>
              </a:spcAft>
              <a:buNone/>
            </a:pPr>
            <a:r>
              <a:rPr lang="en-US" sz="1300" b="1" dirty="0">
                <a:solidFill>
                  <a:schemeClr val="tx1"/>
                </a:solidFill>
              </a:rPr>
              <a:t>15–20%</a:t>
            </a:r>
            <a:endParaRPr lang="en-US" sz="1300" dirty="0"/>
          </a:p>
        </p:txBody>
      </p:sp>
      <p:sp>
        <p:nvSpPr>
          <p:cNvPr id="21" name="Shape 19"/>
          <p:cNvSpPr/>
          <p:nvPr/>
        </p:nvSpPr>
        <p:spPr>
          <a:xfrm>
            <a:off x="7269480" y="2743200"/>
            <a:ext cx="1554480" cy="1005840"/>
          </a:xfrm>
          <a:prstGeom prst="roundRect">
            <a:avLst>
              <a:gd name="adj" fmla="val 10909"/>
            </a:avLst>
          </a:prstGeom>
          <a:solidFill>
            <a:schemeClr val="accent4"/>
          </a:solidFill>
          <a:ln w="15875">
            <a:solidFill>
              <a:schemeClr val="accent1"/>
            </a:solidFill>
            <a:prstDash val="solid"/>
          </a:ln>
        </p:spPr>
      </p:sp>
      <p:sp>
        <p:nvSpPr>
          <p:cNvPr id="22" name="Text 20"/>
          <p:cNvSpPr txBox="1"/>
          <p:nvPr/>
        </p:nvSpPr>
        <p:spPr>
          <a:xfrm>
            <a:off x="7269480" y="2743200"/>
            <a:ext cx="1554480" cy="1005840"/>
          </a:xfrm>
          <a:prstGeom prst="rect">
            <a:avLst/>
          </a:prstGeom>
          <a:noFill/>
          <a:ln/>
        </p:spPr>
        <p:txBody>
          <a:bodyPr wrap="square" lIns="0" tIns="0" rIns="0" bIns="0" rtlCol="0" anchor="ctr"/>
          <a:lstStyle/>
          <a:p>
            <a:pPr algn="ctr" indent="0" marL="0">
              <a:spcAft>
                <a:spcPts val="400"/>
              </a:spcAft>
              <a:buNone/>
            </a:pPr>
            <a:r>
              <a:rPr lang="en-US" sz="1500" b="1" dirty="0">
                <a:solidFill>
                  <a:schemeClr val="tx1"/>
                </a:solidFill>
              </a:rPr>
              <a:t>Secondary</a:t>
            </a:r>
            <a:endParaRPr lang="en-US" sz="1500" dirty="0"/>
          </a:p>
          <a:p>
            <a:pPr algn="ctr" indent="0" marL="0">
              <a:spcAft>
                <a:spcPts val="400"/>
              </a:spcAft>
              <a:buNone/>
            </a:pPr>
            <a:r>
              <a:rPr lang="en-US" sz="1500" b="1" dirty="0">
                <a:solidFill>
                  <a:schemeClr val="tx1"/>
                </a:solidFill>
              </a:rPr>
              <a:t>consumers</a:t>
            </a:r>
            <a:endParaRPr lang="en-US" sz="1500" dirty="0"/>
          </a:p>
        </p:txBody>
      </p:sp>
      <p:sp>
        <p:nvSpPr>
          <p:cNvPr id="23" name="Shape 21"/>
          <p:cNvSpPr/>
          <p:nvPr/>
        </p:nvSpPr>
        <p:spPr>
          <a:xfrm>
            <a:off x="8046720" y="3794760"/>
            <a:ext cx="914" cy="594360"/>
          </a:xfrm>
          <a:prstGeom prst="line">
            <a:avLst/>
          </a:prstGeom>
          <a:noFill/>
          <a:ln w="31750">
            <a:solidFill>
              <a:schemeClr val="accent3"/>
            </a:solidFill>
            <a:prstDash val="solid"/>
            <a:tailEnd type="triangle"/>
          </a:ln>
        </p:spPr>
      </p:sp>
      <p:sp>
        <p:nvSpPr>
          <p:cNvPr id="24" name="Shape 22"/>
          <p:cNvSpPr/>
          <p:nvPr/>
        </p:nvSpPr>
        <p:spPr>
          <a:xfrm>
            <a:off x="8869680" y="3246120"/>
            <a:ext cx="731520" cy="914"/>
          </a:xfrm>
          <a:prstGeom prst="line">
            <a:avLst/>
          </a:prstGeom>
          <a:noFill/>
          <a:ln w="31750">
            <a:solidFill>
              <a:schemeClr val="tx2"/>
            </a:solidFill>
            <a:prstDash val="solid"/>
            <a:tailEnd type="triangle"/>
          </a:ln>
        </p:spPr>
      </p:sp>
      <p:sp>
        <p:nvSpPr>
          <p:cNvPr id="25" name="Text 23"/>
          <p:cNvSpPr txBox="1"/>
          <p:nvPr/>
        </p:nvSpPr>
        <p:spPr>
          <a:xfrm>
            <a:off x="8823960" y="2788920"/>
            <a:ext cx="822960" cy="365760"/>
          </a:xfrm>
          <a:prstGeom prst="rect">
            <a:avLst/>
          </a:prstGeom>
          <a:noFill/>
          <a:ln/>
        </p:spPr>
        <p:txBody>
          <a:bodyPr wrap="square" lIns="1016" tIns="1016" rIns="1016" bIns="1016" rtlCol="0" anchor="t"/>
          <a:lstStyle/>
          <a:p>
            <a:pPr algn="ctr" indent="0" marL="0">
              <a:spcAft>
                <a:spcPts val="400"/>
              </a:spcAft>
              <a:buNone/>
            </a:pPr>
            <a:r>
              <a:rPr lang="en-US" sz="1300" b="1" dirty="0">
                <a:solidFill>
                  <a:schemeClr val="tx1"/>
                </a:solidFill>
              </a:rPr>
              <a:t>15–20%</a:t>
            </a:r>
            <a:endParaRPr lang="en-US" sz="1300" dirty="0"/>
          </a:p>
        </p:txBody>
      </p:sp>
      <p:sp>
        <p:nvSpPr>
          <p:cNvPr id="26" name="Shape 24"/>
          <p:cNvSpPr/>
          <p:nvPr/>
        </p:nvSpPr>
        <p:spPr>
          <a:xfrm>
            <a:off x="9646920" y="2743200"/>
            <a:ext cx="1554480" cy="1005840"/>
          </a:xfrm>
          <a:prstGeom prst="roundRect">
            <a:avLst>
              <a:gd name="adj" fmla="val 10909"/>
            </a:avLst>
          </a:prstGeom>
          <a:solidFill>
            <a:schemeClr val="accent4"/>
          </a:solidFill>
          <a:ln w="15875">
            <a:solidFill>
              <a:schemeClr val="accent1"/>
            </a:solidFill>
            <a:prstDash val="solid"/>
          </a:ln>
        </p:spPr>
      </p:sp>
      <p:sp>
        <p:nvSpPr>
          <p:cNvPr id="27" name="Text 25"/>
          <p:cNvSpPr txBox="1"/>
          <p:nvPr/>
        </p:nvSpPr>
        <p:spPr>
          <a:xfrm>
            <a:off x="9646920" y="2743200"/>
            <a:ext cx="1554480" cy="1005840"/>
          </a:xfrm>
          <a:prstGeom prst="rect">
            <a:avLst/>
          </a:prstGeom>
          <a:noFill/>
          <a:ln/>
        </p:spPr>
        <p:txBody>
          <a:bodyPr wrap="square" lIns="0" tIns="0" rIns="0" bIns="0" rtlCol="0" anchor="ctr"/>
          <a:lstStyle/>
          <a:p>
            <a:pPr algn="ctr" indent="0" marL="0">
              <a:spcAft>
                <a:spcPts val="400"/>
              </a:spcAft>
              <a:buNone/>
            </a:pPr>
            <a:r>
              <a:rPr lang="en-US" sz="1500" b="1" dirty="0">
                <a:solidFill>
                  <a:schemeClr val="tx1"/>
                </a:solidFill>
              </a:rPr>
              <a:t>Tertiary</a:t>
            </a:r>
            <a:endParaRPr lang="en-US" sz="1500" dirty="0"/>
          </a:p>
          <a:p>
            <a:pPr algn="ctr" indent="0" marL="0">
              <a:spcAft>
                <a:spcPts val="400"/>
              </a:spcAft>
              <a:buNone/>
            </a:pPr>
            <a:r>
              <a:rPr lang="en-US" sz="1500" b="1" dirty="0">
                <a:solidFill>
                  <a:schemeClr val="tx1"/>
                </a:solidFill>
              </a:rPr>
              <a:t>consumers</a:t>
            </a:r>
            <a:endParaRPr lang="en-US" sz="1500" dirty="0"/>
          </a:p>
        </p:txBody>
      </p:sp>
      <p:sp>
        <p:nvSpPr>
          <p:cNvPr id="28" name="Shape 26"/>
          <p:cNvSpPr/>
          <p:nvPr/>
        </p:nvSpPr>
        <p:spPr>
          <a:xfrm>
            <a:off x="10424160" y="3794760"/>
            <a:ext cx="914" cy="594360"/>
          </a:xfrm>
          <a:prstGeom prst="line">
            <a:avLst/>
          </a:prstGeom>
          <a:noFill/>
          <a:ln w="31750">
            <a:solidFill>
              <a:schemeClr val="accent3"/>
            </a:solidFill>
            <a:prstDash val="solid"/>
            <a:tailEnd type="triangle"/>
          </a:ln>
        </p:spPr>
      </p:sp>
      <p:sp>
        <p:nvSpPr>
          <p:cNvPr id="29" name="Text 27"/>
          <p:cNvSpPr txBox="1"/>
          <p:nvPr/>
        </p:nvSpPr>
        <p:spPr>
          <a:xfrm>
            <a:off x="2514600" y="4434840"/>
            <a:ext cx="9052560" cy="365760"/>
          </a:xfrm>
          <a:prstGeom prst="rect">
            <a:avLst/>
          </a:prstGeom>
          <a:noFill/>
          <a:ln/>
        </p:spPr>
        <p:txBody>
          <a:bodyPr wrap="square" lIns="1016" tIns="1016" rIns="1016" bIns="1016" rtlCol="0" anchor="t"/>
          <a:lstStyle/>
          <a:p>
            <a:pPr algn="ctr" indent="0" marL="0">
              <a:spcAft>
                <a:spcPts val="400"/>
              </a:spcAft>
              <a:buNone/>
            </a:pPr>
            <a:r>
              <a:rPr lang="en-US" sz="1500" b="1" dirty="0">
                <a:solidFill>
                  <a:schemeClr val="accent3"/>
                </a:solidFill>
              </a:rPr>
              <a:t>↓ energy lost as heat during respiration (at every level)</a:t>
            </a:r>
            <a:endParaRPr lang="en-US" sz="1500" dirty="0"/>
          </a:p>
        </p:txBody>
      </p:sp>
      <p:sp>
        <p:nvSpPr>
          <p:cNvPr id="30" name="Text 28"/>
          <p:cNvSpPr txBox="1"/>
          <p:nvPr/>
        </p:nvSpPr>
        <p:spPr>
          <a:xfrm>
            <a:off x="274320" y="3931920"/>
            <a:ext cx="1737360" cy="548640"/>
          </a:xfrm>
          <a:prstGeom prst="rect">
            <a:avLst/>
          </a:prstGeom>
          <a:noFill/>
          <a:ln/>
        </p:spPr>
        <p:txBody>
          <a:bodyPr wrap="square" lIns="1016" tIns="1016" rIns="1016" bIns="1016" rtlCol="0" anchor="t"/>
          <a:lstStyle/>
          <a:p>
            <a:pPr algn="ctr" indent="0" marL="0">
              <a:spcAft>
                <a:spcPts val="400"/>
              </a:spcAft>
              <a:buNone/>
            </a:pPr>
            <a:r>
              <a:rPr lang="en-US" sz="1200" dirty="0">
                <a:solidFill>
                  <a:schemeClr val="tx2"/>
                </a:solidFill>
              </a:rPr>
              <a:t>Energy lost as reflected light</a:t>
            </a:r>
            <a:endParaRPr lang="en-US" sz="1200" dirty="0"/>
          </a:p>
        </p:txBody>
      </p:sp>
      <p:sp>
        <p:nvSpPr>
          <p:cNvPr id="31" name="Shape 29"/>
          <p:cNvSpPr/>
          <p:nvPr/>
        </p:nvSpPr>
        <p:spPr>
          <a:xfrm>
            <a:off x="548640" y="4983480"/>
            <a:ext cx="6400800" cy="1097280"/>
          </a:xfrm>
          <a:prstGeom prst="roundRect">
            <a:avLst>
              <a:gd name="adj" fmla="val 10000"/>
            </a:avLst>
          </a:prstGeom>
          <a:solidFill>
            <a:schemeClr val="accent5"/>
          </a:solidFill>
          <a:ln w="12700">
            <a:solidFill>
              <a:schemeClr val="accent5"/>
            </a:solidFill>
            <a:prstDash val="solid"/>
          </a:ln>
        </p:spPr>
      </p:sp>
      <p:sp>
        <p:nvSpPr>
          <p:cNvPr id="32" name="Text 30"/>
          <p:cNvSpPr txBox="1"/>
          <p:nvPr/>
        </p:nvSpPr>
        <p:spPr>
          <a:xfrm>
            <a:off x="685800" y="5074920"/>
            <a:ext cx="6126480" cy="914400"/>
          </a:xfrm>
          <a:prstGeom prst="rect">
            <a:avLst/>
          </a:prstGeom>
          <a:noFill/>
          <a:ln/>
        </p:spPr>
        <p:txBody>
          <a:bodyPr wrap="square" lIns="1016" tIns="1016" rIns="1016" bIns="1016" rtlCol="0" anchor="t"/>
          <a:lstStyle/>
          <a:p>
            <a:pPr indent="0" marL="0">
              <a:spcAft>
                <a:spcPts val="400"/>
              </a:spcAft>
              <a:buNone/>
            </a:pPr>
            <a:r>
              <a:rPr lang="en-US" sz="1100" b="1" spc="100" kern="0" dirty="0">
                <a:solidFill>
                  <a:schemeClr val="tx1"/>
                </a:solidFill>
              </a:rPr>
              <a:t>HOW TO READ IT</a:t>
            </a:r>
            <a:endParaRPr lang="en-US" sz="1500" dirty="0"/>
          </a:p>
          <a:p>
            <a:pPr indent="0" marL="0">
              <a:spcAft>
                <a:spcPts val="400"/>
              </a:spcAft>
              <a:buNone/>
            </a:pPr>
            <a:r>
              <a:rPr lang="en-US" sz="1500" dirty="0">
                <a:solidFill>
                  <a:schemeClr val="tx1"/>
                </a:solidFill>
              </a:rPr>
              <a:t>The percentage on each arrow is roughly how much energy reaches the next level. The rest is lost: mostly as heat from respiration, plus faeces, urine and parts not eaten.</a:t>
            </a:r>
            <a:endParaRPr lang="en-US" sz="1500" dirty="0"/>
          </a:p>
        </p:txBody>
      </p:sp>
      <p:sp>
        <p:nvSpPr>
          <p:cNvPr id="33" name="Shape 31"/>
          <p:cNvSpPr/>
          <p:nvPr/>
        </p:nvSpPr>
        <p:spPr>
          <a:xfrm>
            <a:off x="7132320" y="4983480"/>
            <a:ext cx="4480560" cy="1097280"/>
          </a:xfrm>
          <a:prstGeom prst="roundRect">
            <a:avLst>
              <a:gd name="adj" fmla="val 10000"/>
            </a:avLst>
          </a:prstGeom>
          <a:solidFill>
            <a:schemeClr val="accent4"/>
          </a:solidFill>
          <a:ln w="12700">
            <a:solidFill>
              <a:schemeClr val="accent4"/>
            </a:solidFill>
            <a:prstDash val="solid"/>
          </a:ln>
        </p:spPr>
      </p:sp>
      <p:sp>
        <p:nvSpPr>
          <p:cNvPr id="34" name="Text 32"/>
          <p:cNvSpPr txBox="1"/>
          <p:nvPr/>
        </p:nvSpPr>
        <p:spPr>
          <a:xfrm>
            <a:off x="7269480" y="5074920"/>
            <a:ext cx="4206240" cy="914400"/>
          </a:xfrm>
          <a:prstGeom prst="rect">
            <a:avLst/>
          </a:prstGeom>
          <a:noFill/>
          <a:ln/>
        </p:spPr>
        <p:txBody>
          <a:bodyPr wrap="square" lIns="1016" tIns="1016" rIns="1016" bIns="1016" rtlCol="0" anchor="t"/>
          <a:lstStyle/>
          <a:p>
            <a:pPr indent="0" marL="0">
              <a:spcAft>
                <a:spcPts val="400"/>
              </a:spcAft>
              <a:buNone/>
            </a:pPr>
            <a:r>
              <a:rPr lang="en-US" sz="1100" b="1" spc="100" kern="0" dirty="0">
                <a:solidFill>
                  <a:schemeClr val="tx1"/>
                </a:solidFill>
              </a:rPr>
              <a:t>REMEMBER</a:t>
            </a:r>
            <a:endParaRPr lang="en-US" sz="1500" dirty="0"/>
          </a:p>
          <a:p>
            <a:pPr indent="0" marL="0">
              <a:spcAft>
                <a:spcPts val="400"/>
              </a:spcAft>
              <a:buNone/>
            </a:pPr>
            <a:r>
              <a:rPr lang="en-US" sz="1500" dirty="0">
                <a:solidFill>
                  <a:schemeClr val="tx1"/>
                </a:solidFill>
              </a:rPr>
              <a:t>These figures are only rough averages. They vary a lot between plants, animals and habitats.</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896112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SECTION B · FROM THE CLASS NOTES</a:t>
            </a:r>
            <a:endParaRPr lang="en-US" sz="1200" dirty="0"/>
          </a:p>
        </p:txBody>
      </p:sp>
      <p:sp>
        <p:nvSpPr>
          <p:cNvPr id="3" name="Text 0"/>
          <p:cNvSpPr/>
          <p:nvPr>
            <p:ph idx="101" type="title" hasCustomPrompt="1"/>
          </p:nvPr>
        </p:nvSpPr>
        <p:spPr>
          <a:xfrm>
            <a:off x="548640" y="566928"/>
            <a:ext cx="9509760" cy="73152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Where the energy goes at each step</a:t>
            </a:r>
            <a:endParaRPr lang="en-US" sz="3200" dirty="0"/>
          </a:p>
        </p:txBody>
      </p:sp>
      <p:sp>
        <p:nvSpPr>
          <p:cNvPr id="4" name="nav-map"/>
          <p:cNvSpPr txBox="1"/>
          <p:nvPr/>
        </p:nvSpPr>
        <p:spPr>
          <a:xfrm>
            <a:off x="10469880" y="274320"/>
            <a:ext cx="1188720" cy="320040"/>
          </a:xfrm>
          <a:prstGeom prst="rect">
            <a:avLst/>
          </a:prstGeom>
          <a:noFill/>
          <a:ln/>
        </p:spPr>
        <p:txBody>
          <a:bodyPr wrap="square" lIns="0" tIns="0" rIns="0" bIns="0" rtlCol="0" anchor="ctr"/>
          <a:lstStyle/>
          <a:p>
            <a:pPr algn="r" indent="0" marL="0">
              <a:buNone/>
            </a:pPr>
            <a:r>
              <a:rPr lang="en-US" sz="1200" u="sng" dirty="0">
                <a:solidFill>
                  <a:schemeClr val="accent1"/>
                </a:solidFill>
                <a:hlinkClick r:id="rId1" action="ppaction://hlinksldjump" tooltip="Back to lesson map">
                  <a:extLst>
                    <a:ext uri="{A12FA001-AC4F-418D-AE19-62706E023703}">
                      <ahyp:hlinkClr xmlns:ahyp="http://schemas.microsoft.com/office/drawing/2018/hyperlinkcolor" val="tx"/>
                    </a:ext>
                  </a:extLst>
                </a:hlinkClick>
              </a:rPr>
              <a:t>Lesson map</a:t>
            </a:r>
            <a:endParaRPr lang="en-US" sz="1200" dirty="0"/>
          </a:p>
        </p:txBody>
      </p:sp>
      <p:sp>
        <p:nvSpPr>
          <p:cNvPr id="5" name="Shape 3"/>
          <p:cNvSpPr/>
          <p:nvPr/>
        </p:nvSpPr>
        <p:spPr>
          <a:xfrm>
            <a:off x="548640" y="1417320"/>
            <a:ext cx="5440680" cy="3291840"/>
          </a:xfrm>
          <a:prstGeom prst="roundRect">
            <a:avLst>
              <a:gd name="adj" fmla="val 3333"/>
            </a:avLst>
          </a:prstGeom>
          <a:solidFill>
            <a:schemeClr val="bg1"/>
          </a:solidFill>
          <a:ln w="15875">
            <a:solidFill>
              <a:schemeClr val="accent1"/>
            </a:solidFill>
            <a:prstDash val="solid"/>
          </a:ln>
        </p:spPr>
      </p:sp>
      <p:sp>
        <p:nvSpPr>
          <p:cNvPr id="6" name="Text 4"/>
          <p:cNvSpPr txBox="1"/>
          <p:nvPr/>
        </p:nvSpPr>
        <p:spPr>
          <a:xfrm>
            <a:off x="685800" y="1508760"/>
            <a:ext cx="5120640" cy="411480"/>
          </a:xfrm>
          <a:prstGeom prst="rect">
            <a:avLst/>
          </a:prstGeom>
          <a:noFill/>
          <a:ln/>
        </p:spPr>
        <p:txBody>
          <a:bodyPr wrap="square" lIns="1016" tIns="1016" rIns="1016" bIns="1016" rtlCol="0" anchor="t"/>
          <a:lstStyle/>
          <a:p>
            <a:pPr indent="0" marL="0">
              <a:spcAft>
                <a:spcPts val="400"/>
              </a:spcAft>
              <a:buNone/>
            </a:pPr>
            <a:r>
              <a:rPr lang="en-US" sz="1700" b="1" dirty="0">
                <a:solidFill>
                  <a:schemeClr val="accent1"/>
                </a:solidFill>
                <a:latin typeface="Cambria" pitchFamily="34" charset="0"/>
                <a:ea typeface="Cambria" pitchFamily="34" charset="-122"/>
                <a:cs typeface="Cambria" pitchFamily="34" charset="-120"/>
              </a:rPr>
              <a:t>Producer → primary consumer</a:t>
            </a:r>
            <a:endParaRPr lang="en-US" sz="1700" dirty="0"/>
          </a:p>
        </p:txBody>
      </p:sp>
      <p:sp>
        <p:nvSpPr>
          <p:cNvPr id="7" name="Text 5"/>
          <p:cNvSpPr txBox="1"/>
          <p:nvPr/>
        </p:nvSpPr>
        <p:spPr>
          <a:xfrm>
            <a:off x="685800" y="1965960"/>
            <a:ext cx="5166360" cy="2697480"/>
          </a:xfrm>
          <a:prstGeom prst="rect">
            <a:avLst/>
          </a:prstGeom>
          <a:noFill/>
          <a:ln/>
        </p:spPr>
        <p:txBody>
          <a:bodyPr wrap="square" lIns="1016" tIns="1016" rIns="1016" bIns="1016" rtlCol="0" anchor="t"/>
          <a:lstStyle/>
          <a:p>
            <a:pPr marL="342900" indent="-342900">
              <a:spcAft>
                <a:spcPts val="600"/>
              </a:spcAft>
              <a:buSzPct val="100000"/>
              <a:buFont typeface="+mj-lt"/>
              <a:buAutoNum type="arabicPeriod" startAt="1"/>
            </a:pPr>
            <a:r>
              <a:rPr lang="en-US" sz="1500" dirty="0">
                <a:solidFill>
                  <a:schemeClr val="tx1"/>
                </a:solidFill>
              </a:rPr>
              <a:t>Large amounts of the plant may be indigestible and lost from the animal as faeces</a:t>
            </a:r>
            <a:endParaRPr lang="en-US" sz="1500" dirty="0"/>
          </a:p>
          <a:p>
            <a:pPr marL="342900" indent="-342900">
              <a:spcAft>
                <a:spcPts val="600"/>
              </a:spcAft>
              <a:buSzPct val="100000"/>
              <a:buFont typeface="+mj-lt"/>
              <a:buAutoNum type="arabicPeriod" startAt="1"/>
            </a:pPr>
            <a:r>
              <a:rPr lang="en-US" sz="1500" dirty="0">
                <a:solidFill>
                  <a:schemeClr val="tx1"/>
                </a:solidFill>
              </a:rPr>
              <a:t>Not all of the plant may be eaten (roots, bark etc.)</a:t>
            </a:r>
            <a:endParaRPr lang="en-US" sz="1500" dirty="0"/>
          </a:p>
          <a:p>
            <a:pPr marL="342900" indent="-342900">
              <a:spcAft>
                <a:spcPts val="600"/>
              </a:spcAft>
              <a:buSzPct val="100000"/>
              <a:buFont typeface="+mj-lt"/>
              <a:buAutoNum type="arabicPeriod" startAt="1"/>
            </a:pPr>
            <a:r>
              <a:rPr lang="en-US" sz="1500" dirty="0">
                <a:solidFill>
                  <a:schemeClr val="tx1"/>
                </a:solidFill>
              </a:rPr>
              <a:t>Some energy is lost in excretion such as energy lost in urine (consumer)</a:t>
            </a:r>
            <a:endParaRPr lang="en-US" sz="1500" dirty="0"/>
          </a:p>
          <a:p>
            <a:pPr marL="342900" indent="-342900">
              <a:spcAft>
                <a:spcPts val="600"/>
              </a:spcAft>
              <a:buSzPct val="100000"/>
              <a:buFont typeface="+mj-lt"/>
              <a:buAutoNum type="arabicPeriod" startAt="1"/>
            </a:pPr>
            <a:r>
              <a:rPr lang="en-US" sz="1500" dirty="0">
                <a:solidFill>
                  <a:schemeClr val="tx1"/>
                </a:solidFill>
              </a:rPr>
              <a:t>Energy lost in respiration and as heat to the environment</a:t>
            </a:r>
            <a:endParaRPr lang="en-US" sz="1500" dirty="0"/>
          </a:p>
        </p:txBody>
      </p:sp>
      <p:sp>
        <p:nvSpPr>
          <p:cNvPr id="8" name="Shape 6"/>
          <p:cNvSpPr/>
          <p:nvPr/>
        </p:nvSpPr>
        <p:spPr>
          <a:xfrm>
            <a:off x="6172200" y="1417320"/>
            <a:ext cx="5440680" cy="3291840"/>
          </a:xfrm>
          <a:prstGeom prst="roundRect">
            <a:avLst>
              <a:gd name="adj" fmla="val 3333"/>
            </a:avLst>
          </a:prstGeom>
          <a:solidFill>
            <a:schemeClr val="bg1"/>
          </a:solidFill>
          <a:ln w="15875">
            <a:solidFill>
              <a:schemeClr val="accent1"/>
            </a:solidFill>
            <a:prstDash val="solid"/>
          </a:ln>
        </p:spPr>
      </p:sp>
      <p:sp>
        <p:nvSpPr>
          <p:cNvPr id="9" name="Text 7"/>
          <p:cNvSpPr txBox="1"/>
          <p:nvPr/>
        </p:nvSpPr>
        <p:spPr>
          <a:xfrm>
            <a:off x="6309360" y="1508760"/>
            <a:ext cx="5120640" cy="411480"/>
          </a:xfrm>
          <a:prstGeom prst="rect">
            <a:avLst/>
          </a:prstGeom>
          <a:noFill/>
          <a:ln/>
        </p:spPr>
        <p:txBody>
          <a:bodyPr wrap="square" lIns="1016" tIns="1016" rIns="1016" bIns="1016" rtlCol="0" anchor="t"/>
          <a:lstStyle/>
          <a:p>
            <a:pPr indent="0" marL="0">
              <a:spcAft>
                <a:spcPts val="400"/>
              </a:spcAft>
              <a:buNone/>
            </a:pPr>
            <a:r>
              <a:rPr lang="en-US" sz="1700" b="1" dirty="0">
                <a:solidFill>
                  <a:schemeClr val="accent1"/>
                </a:solidFill>
                <a:latin typeface="Cambria" pitchFamily="34" charset="0"/>
                <a:ea typeface="Cambria" pitchFamily="34" charset="-122"/>
                <a:cs typeface="Cambria" pitchFamily="34" charset="-120"/>
              </a:rPr>
              <a:t>Primary → secondary consumer</a:t>
            </a:r>
            <a:endParaRPr lang="en-US" sz="1700" dirty="0"/>
          </a:p>
        </p:txBody>
      </p:sp>
      <p:sp>
        <p:nvSpPr>
          <p:cNvPr id="10" name="Text 8"/>
          <p:cNvSpPr txBox="1"/>
          <p:nvPr/>
        </p:nvSpPr>
        <p:spPr>
          <a:xfrm>
            <a:off x="6309360" y="1965960"/>
            <a:ext cx="5166360" cy="2697480"/>
          </a:xfrm>
          <a:prstGeom prst="rect">
            <a:avLst/>
          </a:prstGeom>
          <a:noFill/>
          <a:ln/>
        </p:spPr>
        <p:txBody>
          <a:bodyPr wrap="square" lIns="1016" tIns="1016" rIns="1016" bIns="1016" rtlCol="0" anchor="t"/>
          <a:lstStyle/>
          <a:p>
            <a:pPr marL="342900" indent="-342900">
              <a:spcAft>
                <a:spcPts val="600"/>
              </a:spcAft>
              <a:buSzPct val="100000"/>
              <a:buFont typeface="+mj-lt"/>
              <a:buAutoNum type="arabicPeriod" startAt="1"/>
            </a:pPr>
            <a:r>
              <a:rPr lang="en-US" sz="1500" dirty="0">
                <a:solidFill>
                  <a:schemeClr val="tx1"/>
                </a:solidFill>
              </a:rPr>
              <a:t>Large amounts of the animal may be indigestible (some of net production therefore passes out in faeces)</a:t>
            </a:r>
            <a:endParaRPr lang="en-US" sz="1500" dirty="0"/>
          </a:p>
          <a:p>
            <a:pPr marL="342900" indent="-342900">
              <a:spcAft>
                <a:spcPts val="600"/>
              </a:spcAft>
              <a:buSzPct val="100000"/>
              <a:buFont typeface="+mj-lt"/>
              <a:buAutoNum type="arabicPeriod" startAt="1"/>
            </a:pPr>
            <a:r>
              <a:rPr lang="en-US" sz="1500" dirty="0">
                <a:solidFill>
                  <a:schemeClr val="tx1"/>
                </a:solidFill>
              </a:rPr>
              <a:t>Not all of the animal may be eaten (bones &amp; organs)</a:t>
            </a:r>
            <a:endParaRPr lang="en-US" sz="1500" dirty="0"/>
          </a:p>
          <a:p>
            <a:pPr marL="342900" indent="-342900">
              <a:spcAft>
                <a:spcPts val="600"/>
              </a:spcAft>
              <a:buSzPct val="100000"/>
              <a:buFont typeface="+mj-lt"/>
              <a:buAutoNum type="arabicPeriod" startAt="1"/>
            </a:pPr>
            <a:r>
              <a:rPr lang="en-US" sz="1500" dirty="0">
                <a:solidFill>
                  <a:schemeClr val="tx1"/>
                </a:solidFill>
              </a:rPr>
              <a:t>Some energy is lost in excretion such as energy lost in urine (consumer)</a:t>
            </a:r>
            <a:endParaRPr lang="en-US" sz="1500" dirty="0"/>
          </a:p>
          <a:p>
            <a:pPr marL="342900" indent="-342900">
              <a:spcAft>
                <a:spcPts val="600"/>
              </a:spcAft>
              <a:buSzPct val="100000"/>
              <a:buFont typeface="+mj-lt"/>
              <a:buAutoNum type="arabicPeriod" startAt="1"/>
            </a:pPr>
            <a:r>
              <a:rPr lang="en-US" sz="1500" dirty="0">
                <a:solidFill>
                  <a:schemeClr val="tx1"/>
                </a:solidFill>
              </a:rPr>
              <a:t>Energy lost in respiration and as heat to the environment</a:t>
            </a:r>
            <a:endParaRPr lang="en-US" sz="1500" dirty="0"/>
          </a:p>
        </p:txBody>
      </p:sp>
      <p:sp>
        <p:nvSpPr>
          <p:cNvPr id="11" name="Shape 9"/>
          <p:cNvSpPr/>
          <p:nvPr/>
        </p:nvSpPr>
        <p:spPr>
          <a:xfrm>
            <a:off x="548640" y="4846320"/>
            <a:ext cx="5440680" cy="1188720"/>
          </a:xfrm>
          <a:prstGeom prst="roundRect">
            <a:avLst>
              <a:gd name="adj" fmla="val 9231"/>
            </a:avLst>
          </a:prstGeom>
          <a:solidFill>
            <a:schemeClr val="accent1"/>
          </a:solidFill>
          <a:ln w="12700">
            <a:solidFill>
              <a:schemeClr val="accent1"/>
            </a:solidFill>
            <a:prstDash val="solid"/>
          </a:ln>
        </p:spPr>
      </p:sp>
      <p:sp>
        <p:nvSpPr>
          <p:cNvPr id="12" name="Text 10"/>
          <p:cNvSpPr txBox="1"/>
          <p:nvPr/>
        </p:nvSpPr>
        <p:spPr>
          <a:xfrm>
            <a:off x="685800" y="4892040"/>
            <a:ext cx="5166360" cy="1097280"/>
          </a:xfrm>
          <a:prstGeom prst="rect">
            <a:avLst/>
          </a:prstGeom>
          <a:noFill/>
          <a:ln/>
        </p:spPr>
        <p:txBody>
          <a:bodyPr wrap="square" lIns="1016" tIns="1016" rIns="1016" bIns="1016" rtlCol="0" anchor="ctr"/>
          <a:lstStyle/>
          <a:p>
            <a:pPr indent="0" marL="0">
              <a:spcAft>
                <a:spcPts val="400"/>
              </a:spcAft>
              <a:buNone/>
            </a:pPr>
            <a:r>
              <a:rPr lang="en-US" sz="1700" b="1" dirty="0">
                <a:solidFill>
                  <a:schemeClr val="bg1"/>
                </a:solidFill>
              </a:rPr>
              <a:t>Energy that is stored as new biomass is available to the next trophic level.</a:t>
            </a:r>
            <a:endParaRPr lang="en-US" sz="1700" dirty="0"/>
          </a:p>
        </p:txBody>
      </p:sp>
      <p:sp>
        <p:nvSpPr>
          <p:cNvPr id="13" name="Shape 11"/>
          <p:cNvSpPr/>
          <p:nvPr/>
        </p:nvSpPr>
        <p:spPr>
          <a:xfrm>
            <a:off x="6172200" y="4846320"/>
            <a:ext cx="5440680" cy="1188720"/>
          </a:xfrm>
          <a:prstGeom prst="roundRect">
            <a:avLst>
              <a:gd name="adj" fmla="val 9231"/>
            </a:avLst>
          </a:prstGeom>
          <a:solidFill>
            <a:schemeClr val="accent5"/>
          </a:solidFill>
          <a:ln w="12700">
            <a:solidFill>
              <a:schemeClr val="accent5"/>
            </a:solidFill>
            <a:prstDash val="solid"/>
          </a:ln>
        </p:spPr>
      </p:sp>
      <p:sp>
        <p:nvSpPr>
          <p:cNvPr id="14" name="Text 12"/>
          <p:cNvSpPr txBox="1"/>
          <p:nvPr/>
        </p:nvSpPr>
        <p:spPr>
          <a:xfrm>
            <a:off x="6309360" y="4937760"/>
            <a:ext cx="5166360" cy="1005840"/>
          </a:xfrm>
          <a:prstGeom prst="rect">
            <a:avLst/>
          </a:prstGeom>
          <a:noFill/>
          <a:ln/>
        </p:spPr>
        <p:txBody>
          <a:bodyPr wrap="square" lIns="1016" tIns="1016" rIns="1016" bIns="1016" rtlCol="0" anchor="t"/>
          <a:lstStyle/>
          <a:p>
            <a:pPr indent="0" marL="0">
              <a:spcAft>
                <a:spcPts val="400"/>
              </a:spcAft>
              <a:buNone/>
            </a:pPr>
            <a:r>
              <a:rPr lang="en-US" sz="1100" b="1" spc="100" kern="0" dirty="0">
                <a:solidFill>
                  <a:schemeClr val="tx1"/>
                </a:solidFill>
              </a:rPr>
              <a:t>EXTRA HELP · SPOT THE PATTERN</a:t>
            </a:r>
            <a:endParaRPr lang="en-US" sz="1500" dirty="0"/>
          </a:p>
          <a:p>
            <a:pPr indent="0" marL="0">
              <a:spcAft>
                <a:spcPts val="400"/>
              </a:spcAft>
              <a:buNone/>
            </a:pPr>
            <a:r>
              <a:rPr lang="en-US" sz="1500" dirty="0">
                <a:solidFill>
                  <a:schemeClr val="tx1"/>
                </a:solidFill>
              </a:rPr>
              <a:t>The four reasons are the same at both steps. Plants contain a lot of indigestible material, part of why that first step (5–10%) is the least efficient.</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896112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SECTION B · FROM THE CLASS NOTES</a:t>
            </a:r>
            <a:endParaRPr lang="en-US" sz="1200" dirty="0"/>
          </a:p>
        </p:txBody>
      </p:sp>
      <p:sp>
        <p:nvSpPr>
          <p:cNvPr id="3" name="Text 0"/>
          <p:cNvSpPr/>
          <p:nvPr>
            <p:ph idx="101" type="title" hasCustomPrompt="1"/>
          </p:nvPr>
        </p:nvSpPr>
        <p:spPr>
          <a:xfrm>
            <a:off x="548640" y="566928"/>
            <a:ext cx="9509760" cy="73152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Net production of consumers</a:t>
            </a:r>
            <a:endParaRPr lang="en-US" sz="3200" dirty="0"/>
          </a:p>
        </p:txBody>
      </p:sp>
      <p:sp>
        <p:nvSpPr>
          <p:cNvPr id="4" name="nav-map"/>
          <p:cNvSpPr txBox="1"/>
          <p:nvPr/>
        </p:nvSpPr>
        <p:spPr>
          <a:xfrm>
            <a:off x="10469880" y="274320"/>
            <a:ext cx="1188720" cy="320040"/>
          </a:xfrm>
          <a:prstGeom prst="rect">
            <a:avLst/>
          </a:prstGeom>
          <a:noFill/>
          <a:ln/>
        </p:spPr>
        <p:txBody>
          <a:bodyPr wrap="square" lIns="0" tIns="0" rIns="0" bIns="0" rtlCol="0" anchor="ctr"/>
          <a:lstStyle/>
          <a:p>
            <a:pPr algn="r" indent="0" marL="0">
              <a:buNone/>
            </a:pPr>
            <a:r>
              <a:rPr lang="en-US" sz="1200" u="sng" dirty="0">
                <a:solidFill>
                  <a:schemeClr val="accent1"/>
                </a:solidFill>
                <a:hlinkClick r:id="rId1" action="ppaction://hlinksldjump" tooltip="Back to lesson map">
                  <a:extLst>
                    <a:ext uri="{A12FA001-AC4F-418D-AE19-62706E023703}">
                      <ahyp:hlinkClr xmlns:ahyp="http://schemas.microsoft.com/office/drawing/2018/hyperlinkcolor" val="tx"/>
                    </a:ext>
                  </a:extLst>
                </a:hlinkClick>
              </a:rPr>
              <a:t>Lesson map</a:t>
            </a:r>
            <a:endParaRPr lang="en-US" sz="1200" dirty="0"/>
          </a:p>
        </p:txBody>
      </p:sp>
      <p:sp>
        <p:nvSpPr>
          <p:cNvPr id="5" name="Shape 3"/>
          <p:cNvSpPr/>
          <p:nvPr/>
        </p:nvSpPr>
        <p:spPr>
          <a:xfrm>
            <a:off x="548640" y="1417320"/>
            <a:ext cx="5486400" cy="914400"/>
          </a:xfrm>
          <a:prstGeom prst="roundRect">
            <a:avLst>
              <a:gd name="adj" fmla="val 12000"/>
            </a:avLst>
          </a:prstGeom>
          <a:solidFill>
            <a:schemeClr val="accent4"/>
          </a:solidFill>
          <a:ln w="12700">
            <a:solidFill>
              <a:schemeClr val="accent4"/>
            </a:solidFill>
            <a:prstDash val="solid"/>
          </a:ln>
        </p:spPr>
      </p:sp>
      <p:sp>
        <p:nvSpPr>
          <p:cNvPr id="6" name="Text 4"/>
          <p:cNvSpPr txBox="1"/>
          <p:nvPr/>
        </p:nvSpPr>
        <p:spPr>
          <a:xfrm>
            <a:off x="548640" y="1417320"/>
            <a:ext cx="5486400" cy="914400"/>
          </a:xfrm>
          <a:prstGeom prst="rect">
            <a:avLst/>
          </a:prstGeom>
          <a:noFill/>
          <a:ln/>
        </p:spPr>
        <p:txBody>
          <a:bodyPr wrap="square" lIns="1016" tIns="1016" rIns="1016" bIns="1016" rtlCol="0" anchor="ctr"/>
          <a:lstStyle/>
          <a:p>
            <a:pPr algn="ctr" indent="0" marL="0">
              <a:spcAft>
                <a:spcPts val="400"/>
              </a:spcAft>
              <a:buNone/>
            </a:pPr>
            <a:r>
              <a:rPr lang="en-US" sz="3000" b="1" dirty="0">
                <a:solidFill>
                  <a:schemeClr val="tx1"/>
                </a:solidFill>
                <a:latin typeface="Cambria" pitchFamily="34" charset="0"/>
                <a:ea typeface="Cambria" pitchFamily="34" charset="-122"/>
                <a:cs typeface="Cambria" pitchFamily="34" charset="-120"/>
              </a:rPr>
              <a:t>N = I − (F + R)</a:t>
            </a:r>
            <a:endParaRPr lang="en-US" sz="3000" dirty="0"/>
          </a:p>
        </p:txBody>
      </p:sp>
      <p:sp>
        <p:nvSpPr>
          <p:cNvPr id="7" name="Text 5"/>
          <p:cNvSpPr txBox="1"/>
          <p:nvPr/>
        </p:nvSpPr>
        <p:spPr>
          <a:xfrm>
            <a:off x="548640" y="2468880"/>
            <a:ext cx="5486400" cy="1463040"/>
          </a:xfrm>
          <a:prstGeom prst="rect">
            <a:avLst/>
          </a:prstGeom>
          <a:noFill/>
          <a:ln/>
        </p:spPr>
        <p:txBody>
          <a:bodyPr wrap="square" lIns="1016" tIns="1016" rIns="1016" bIns="1016" rtlCol="0" anchor="t"/>
          <a:lstStyle/>
          <a:p>
            <a:pPr indent="0" marL="0">
              <a:spcAft>
                <a:spcPts val="400"/>
              </a:spcAft>
              <a:buNone/>
            </a:pPr>
            <a:r>
              <a:rPr lang="en-US" sz="1600" b="1" dirty="0">
                <a:solidFill>
                  <a:schemeClr val="tx1"/>
                </a:solidFill>
              </a:rPr>
              <a:t>N</a:t>
            </a:r>
            <a:pPr indent="0" marL="0">
              <a:spcAft>
                <a:spcPts val="400"/>
              </a:spcAft>
              <a:buNone/>
            </a:pPr>
            <a:r>
              <a:rPr lang="en-US" sz="1600" dirty="0">
                <a:solidFill>
                  <a:schemeClr val="tx1"/>
                </a:solidFill>
              </a:rPr>
              <a:t> is the net production</a:t>
            </a:r>
            <a:endParaRPr lang="en-US" sz="1600" dirty="0"/>
          </a:p>
          <a:p>
            <a:pPr indent="0" marL="0">
              <a:spcAft>
                <a:spcPts val="400"/>
              </a:spcAft>
              <a:buNone/>
            </a:pPr>
            <a:r>
              <a:rPr lang="en-US" sz="1600" b="1" dirty="0">
                <a:solidFill>
                  <a:schemeClr val="tx1"/>
                </a:solidFill>
              </a:rPr>
              <a:t>I</a:t>
            </a:r>
            <a:pPr indent="0" marL="0">
              <a:spcAft>
                <a:spcPts val="400"/>
              </a:spcAft>
              <a:buNone/>
            </a:pPr>
            <a:r>
              <a:rPr lang="en-US" sz="1600" dirty="0">
                <a:solidFill>
                  <a:schemeClr val="tx1"/>
                </a:solidFill>
              </a:rPr>
              <a:t> is the chemical energy store of ingested food</a:t>
            </a:r>
            <a:endParaRPr lang="en-US" sz="1600" dirty="0"/>
          </a:p>
          <a:p>
            <a:pPr indent="0" marL="0">
              <a:spcAft>
                <a:spcPts val="400"/>
              </a:spcAft>
              <a:buNone/>
            </a:pPr>
            <a:r>
              <a:rPr lang="en-US" sz="1600" b="1" dirty="0">
                <a:solidFill>
                  <a:schemeClr val="tx1"/>
                </a:solidFill>
              </a:rPr>
              <a:t>F</a:t>
            </a:r>
            <a:pPr indent="0" marL="0">
              <a:spcAft>
                <a:spcPts val="400"/>
              </a:spcAft>
              <a:buNone/>
            </a:pPr>
            <a:r>
              <a:rPr lang="en-US" sz="1600" dirty="0">
                <a:solidFill>
                  <a:schemeClr val="tx1"/>
                </a:solidFill>
              </a:rPr>
              <a:t> is the energy lost in faeces and urine</a:t>
            </a:r>
            <a:endParaRPr lang="en-US" sz="1600" dirty="0"/>
          </a:p>
          <a:p>
            <a:pPr indent="0" marL="0">
              <a:spcAft>
                <a:spcPts val="400"/>
              </a:spcAft>
              <a:buNone/>
            </a:pPr>
            <a:r>
              <a:rPr lang="en-US" sz="1600" b="1" dirty="0">
                <a:solidFill>
                  <a:schemeClr val="tx1"/>
                </a:solidFill>
              </a:rPr>
              <a:t>R</a:t>
            </a:r>
            <a:pPr indent="0" marL="0">
              <a:spcAft>
                <a:spcPts val="400"/>
              </a:spcAft>
              <a:buNone/>
            </a:pPr>
            <a:r>
              <a:rPr lang="en-US" sz="1600" dirty="0">
                <a:solidFill>
                  <a:schemeClr val="tx1"/>
                </a:solidFill>
              </a:rPr>
              <a:t> is the energy lost in respiration</a:t>
            </a:r>
            <a:endParaRPr lang="en-US" sz="1600" dirty="0"/>
          </a:p>
        </p:txBody>
      </p:sp>
      <p:sp>
        <p:nvSpPr>
          <p:cNvPr id="8" name="Shape 6"/>
          <p:cNvSpPr/>
          <p:nvPr/>
        </p:nvSpPr>
        <p:spPr>
          <a:xfrm>
            <a:off x="548640" y="4023360"/>
            <a:ext cx="5486400" cy="1051560"/>
          </a:xfrm>
          <a:prstGeom prst="roundRect">
            <a:avLst>
              <a:gd name="adj" fmla="val 10435"/>
            </a:avLst>
          </a:prstGeom>
          <a:solidFill>
            <a:schemeClr val="accent5"/>
          </a:solidFill>
          <a:ln w="12700">
            <a:solidFill>
              <a:schemeClr val="accent5"/>
            </a:solidFill>
            <a:prstDash val="solid"/>
          </a:ln>
        </p:spPr>
      </p:sp>
      <p:sp>
        <p:nvSpPr>
          <p:cNvPr id="9" name="Text 7"/>
          <p:cNvSpPr txBox="1"/>
          <p:nvPr/>
        </p:nvSpPr>
        <p:spPr>
          <a:xfrm>
            <a:off x="685800" y="4114800"/>
            <a:ext cx="5212080" cy="868680"/>
          </a:xfrm>
          <a:prstGeom prst="rect">
            <a:avLst/>
          </a:prstGeom>
          <a:noFill/>
          <a:ln/>
        </p:spPr>
        <p:txBody>
          <a:bodyPr wrap="square" lIns="1016" tIns="1016" rIns="1016" bIns="1016" rtlCol="0" anchor="t"/>
          <a:lstStyle/>
          <a:p>
            <a:pPr indent="0" marL="0">
              <a:spcAft>
                <a:spcPts val="400"/>
              </a:spcAft>
              <a:buNone/>
            </a:pPr>
            <a:r>
              <a:rPr lang="en-US" sz="1100" b="1" spc="100" kern="0" dirty="0">
                <a:solidFill>
                  <a:schemeClr val="tx1"/>
                </a:solidFill>
              </a:rPr>
              <a:t>EXTRA HELP · IN PLAIN WORDS</a:t>
            </a:r>
            <a:endParaRPr lang="en-US" sz="1500" dirty="0"/>
          </a:p>
          <a:p>
            <a:pPr indent="0" marL="0">
              <a:spcAft>
                <a:spcPts val="400"/>
              </a:spcAft>
              <a:buNone/>
            </a:pPr>
            <a:r>
              <a:rPr lang="en-US" sz="1500" dirty="0">
                <a:solidFill>
                  <a:schemeClr val="tx1"/>
                </a:solidFill>
              </a:rPr>
              <a:t>Take what the animal eats. Subtract what comes out the other end and what is burned in respiration. What is left is new tissue.</a:t>
            </a:r>
            <a:endParaRPr lang="en-US" sz="1500" dirty="0"/>
          </a:p>
        </p:txBody>
      </p:sp>
      <p:sp>
        <p:nvSpPr>
          <p:cNvPr id="10" name="Shape 8"/>
          <p:cNvSpPr/>
          <p:nvPr/>
        </p:nvSpPr>
        <p:spPr>
          <a:xfrm>
            <a:off x="548640" y="5166360"/>
            <a:ext cx="5486400" cy="960120"/>
          </a:xfrm>
          <a:prstGeom prst="roundRect">
            <a:avLst>
              <a:gd name="adj" fmla="val 11429"/>
            </a:avLst>
          </a:prstGeom>
          <a:solidFill>
            <a:schemeClr val="accent6"/>
          </a:solidFill>
          <a:ln w="12700">
            <a:solidFill>
              <a:schemeClr val="accent6"/>
            </a:solidFill>
            <a:prstDash val="solid"/>
          </a:ln>
        </p:spPr>
      </p:sp>
      <p:sp>
        <p:nvSpPr>
          <p:cNvPr id="11" name="Text 9"/>
          <p:cNvSpPr txBox="1"/>
          <p:nvPr/>
        </p:nvSpPr>
        <p:spPr>
          <a:xfrm>
            <a:off x="685800" y="5257800"/>
            <a:ext cx="5212080" cy="777240"/>
          </a:xfrm>
          <a:prstGeom prst="rect">
            <a:avLst/>
          </a:prstGeom>
          <a:noFill/>
          <a:ln/>
        </p:spPr>
        <p:txBody>
          <a:bodyPr wrap="square" lIns="1016" tIns="1016" rIns="1016" bIns="1016" rtlCol="0" anchor="t"/>
          <a:lstStyle/>
          <a:p>
            <a:pPr indent="0" marL="0">
              <a:spcAft>
                <a:spcPts val="400"/>
              </a:spcAft>
              <a:buNone/>
            </a:pPr>
            <a:r>
              <a:rPr lang="en-US" sz="1100" b="1" spc="100" kern="0" dirty="0">
                <a:solidFill>
                  <a:schemeClr val="tx1"/>
                </a:solidFill>
              </a:rPr>
              <a:t>COMMON MISTAKE</a:t>
            </a:r>
            <a:endParaRPr lang="en-US" sz="1500" dirty="0"/>
          </a:p>
          <a:p>
            <a:pPr indent="0" marL="0">
              <a:spcAft>
                <a:spcPts val="400"/>
              </a:spcAft>
              <a:buNone/>
            </a:pPr>
            <a:r>
              <a:rPr lang="en-US" sz="1500" dirty="0">
                <a:solidFill>
                  <a:schemeClr val="tx1"/>
                </a:solidFill>
              </a:rPr>
              <a:t>Here F means faeces AND urine. Some questions split urine out as U (the cow question does). Subtract every loss.</a:t>
            </a:r>
            <a:endParaRPr lang="en-US" sz="1500" dirty="0"/>
          </a:p>
        </p:txBody>
      </p:sp>
      <p:sp>
        <p:nvSpPr>
          <p:cNvPr id="12" name="Shape 10"/>
          <p:cNvSpPr/>
          <p:nvPr/>
        </p:nvSpPr>
        <p:spPr>
          <a:xfrm>
            <a:off x="6355080" y="1417320"/>
            <a:ext cx="5257800" cy="4709160"/>
          </a:xfrm>
          <a:prstGeom prst="roundRect">
            <a:avLst>
              <a:gd name="adj" fmla="val 2330"/>
            </a:avLst>
          </a:prstGeom>
          <a:solidFill>
            <a:schemeClr val="bg1"/>
          </a:solidFill>
          <a:ln w="15875">
            <a:solidFill>
              <a:schemeClr val="accent1"/>
            </a:solidFill>
            <a:prstDash val="solid"/>
          </a:ln>
        </p:spPr>
      </p:sp>
      <p:sp>
        <p:nvSpPr>
          <p:cNvPr id="13" name="Text 11"/>
          <p:cNvSpPr txBox="1"/>
          <p:nvPr/>
        </p:nvSpPr>
        <p:spPr>
          <a:xfrm>
            <a:off x="6537960" y="1554480"/>
            <a:ext cx="4937760" cy="457200"/>
          </a:xfrm>
          <a:prstGeom prst="rect">
            <a:avLst/>
          </a:prstGeom>
          <a:noFill/>
          <a:ln/>
        </p:spPr>
        <p:txBody>
          <a:bodyPr wrap="square" lIns="1016" tIns="1016" rIns="1016" bIns="1016" rtlCol="0" anchor="t"/>
          <a:lstStyle/>
          <a:p>
            <a:pPr indent="0" marL="0">
              <a:spcAft>
                <a:spcPts val="400"/>
              </a:spcAft>
              <a:buNone/>
            </a:pPr>
            <a:r>
              <a:rPr lang="en-US" sz="2000" b="1" dirty="0">
                <a:solidFill>
                  <a:schemeClr val="tx1"/>
                </a:solidFill>
                <a:latin typeface="Cambria" pitchFamily="34" charset="0"/>
                <a:ea typeface="Cambria" pitchFamily="34" charset="-122"/>
                <a:cs typeface="Cambria" pitchFamily="34" charset="-120"/>
              </a:rPr>
              <a:t>So why are food chains short?</a:t>
            </a:r>
            <a:endParaRPr lang="en-US" sz="2000" dirty="0"/>
          </a:p>
        </p:txBody>
      </p:sp>
      <p:sp>
        <p:nvSpPr>
          <p:cNvPr id="14" name="Text 12"/>
          <p:cNvSpPr txBox="1"/>
          <p:nvPr/>
        </p:nvSpPr>
        <p:spPr>
          <a:xfrm>
            <a:off x="6537960" y="2103120"/>
            <a:ext cx="4892040" cy="2194560"/>
          </a:xfrm>
          <a:prstGeom prst="rect">
            <a:avLst/>
          </a:prstGeom>
          <a:noFill/>
          <a:ln/>
        </p:spPr>
        <p:txBody>
          <a:bodyPr wrap="square" lIns="1016" tIns="1016" rIns="1016" bIns="1016" rtlCol="0" anchor="t"/>
          <a:lstStyle/>
          <a:p>
            <a:pPr marL="342900" indent="-342900">
              <a:spcAft>
                <a:spcPts val="1000"/>
              </a:spcAft>
              <a:buSzPct val="100000"/>
              <a:buChar char="•"/>
            </a:pPr>
            <a:r>
              <a:rPr lang="en-US" sz="1600" dirty="0">
                <a:solidFill>
                  <a:schemeClr val="tx1"/>
                </a:solidFill>
              </a:rPr>
              <a:t>Energy transfer is inefficient and results in large losses at each trophic level.</a:t>
            </a:r>
            <a:endParaRPr lang="en-US" sz="1600" dirty="0"/>
          </a:p>
          <a:p>
            <a:pPr marL="342900" indent="-342900">
              <a:spcAft>
                <a:spcPts val="1000"/>
              </a:spcAft>
              <a:buSzPct val="100000"/>
              <a:buChar char="•"/>
            </a:pPr>
            <a:r>
              <a:rPr lang="en-US" sz="1600" dirty="0">
                <a:solidFill>
                  <a:schemeClr val="tx1"/>
                </a:solidFill>
              </a:rPr>
              <a:t>Food chains are therefore usually no more than 4–5 trophic levels, as there is not enough energy to support a breeding population at a higher trophic level.</a:t>
            </a:r>
            <a:endParaRPr lang="en-US" sz="1600" dirty="0"/>
          </a:p>
        </p:txBody>
      </p:sp>
      <p:sp>
        <p:nvSpPr>
          <p:cNvPr id="15" name="Shape 13"/>
          <p:cNvSpPr/>
          <p:nvPr/>
        </p:nvSpPr>
        <p:spPr>
          <a:xfrm>
            <a:off x="6537960" y="4389120"/>
            <a:ext cx="3291840" cy="292608"/>
          </a:xfrm>
          <a:prstGeom prst="roundRect">
            <a:avLst>
              <a:gd name="adj" fmla="val 37500"/>
            </a:avLst>
          </a:prstGeom>
          <a:solidFill>
            <a:schemeClr val="accent1"/>
          </a:solidFill>
          <a:ln w="12700">
            <a:solidFill>
              <a:schemeClr val="accent1"/>
            </a:solidFill>
            <a:prstDash val="solid"/>
          </a:ln>
        </p:spPr>
      </p:sp>
      <p:sp>
        <p:nvSpPr>
          <p:cNvPr id="16" name="Shape 14"/>
          <p:cNvSpPr/>
          <p:nvPr/>
        </p:nvSpPr>
        <p:spPr>
          <a:xfrm>
            <a:off x="6537960" y="4773168"/>
            <a:ext cx="2194560" cy="292608"/>
          </a:xfrm>
          <a:prstGeom prst="roundRect">
            <a:avLst>
              <a:gd name="adj" fmla="val 37500"/>
            </a:avLst>
          </a:prstGeom>
          <a:solidFill>
            <a:schemeClr val="accent1"/>
          </a:solidFill>
          <a:ln w="12700">
            <a:solidFill>
              <a:schemeClr val="accent1"/>
            </a:solidFill>
            <a:prstDash val="solid"/>
          </a:ln>
        </p:spPr>
      </p:sp>
      <p:sp>
        <p:nvSpPr>
          <p:cNvPr id="17" name="Shape 15"/>
          <p:cNvSpPr/>
          <p:nvPr/>
        </p:nvSpPr>
        <p:spPr>
          <a:xfrm>
            <a:off x="6537960" y="5157216"/>
            <a:ext cx="1097280" cy="292608"/>
          </a:xfrm>
          <a:prstGeom prst="roundRect">
            <a:avLst>
              <a:gd name="adj" fmla="val 37500"/>
            </a:avLst>
          </a:prstGeom>
          <a:solidFill>
            <a:schemeClr val="accent1"/>
          </a:solidFill>
          <a:ln w="12700">
            <a:solidFill>
              <a:schemeClr val="accent1"/>
            </a:solidFill>
            <a:prstDash val="solid"/>
          </a:ln>
        </p:spPr>
      </p:sp>
      <p:sp>
        <p:nvSpPr>
          <p:cNvPr id="18" name="Shape 16"/>
          <p:cNvSpPr/>
          <p:nvPr/>
        </p:nvSpPr>
        <p:spPr>
          <a:xfrm>
            <a:off x="6537960" y="5541264"/>
            <a:ext cx="320040" cy="292608"/>
          </a:xfrm>
          <a:prstGeom prst="roundRect">
            <a:avLst>
              <a:gd name="adj" fmla="val 37500"/>
            </a:avLst>
          </a:prstGeom>
          <a:solidFill>
            <a:schemeClr val="accent3"/>
          </a:solidFill>
          <a:ln w="12700">
            <a:solidFill>
              <a:schemeClr val="accent3"/>
            </a:solidFill>
            <a:prstDash val="solid"/>
          </a:ln>
        </p:spPr>
      </p:sp>
      <p:sp>
        <p:nvSpPr>
          <p:cNvPr id="19" name="Text 17"/>
          <p:cNvSpPr txBox="1"/>
          <p:nvPr/>
        </p:nvSpPr>
        <p:spPr>
          <a:xfrm>
            <a:off x="6537960" y="5925312"/>
            <a:ext cx="4846320" cy="274320"/>
          </a:xfrm>
          <a:prstGeom prst="rect">
            <a:avLst/>
          </a:prstGeom>
          <a:noFill/>
          <a:ln/>
        </p:spPr>
        <p:txBody>
          <a:bodyPr wrap="square" lIns="1016" tIns="1016" rIns="1016" bIns="1016" rtlCol="0" anchor="t"/>
          <a:lstStyle/>
          <a:p>
            <a:pPr indent="0" marL="0">
              <a:spcAft>
                <a:spcPts val="400"/>
              </a:spcAft>
              <a:buNone/>
            </a:pPr>
            <a:r>
              <a:rPr lang="en-US" sz="1100" dirty="0">
                <a:solidFill>
                  <a:schemeClr val="tx2"/>
                </a:solidFill>
              </a:rPr>
              <a:t>Energy left at each level (not to scale)</a:t>
            </a:r>
            <a:endParaRPr lang="en-US" sz="11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896112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CHECK B · TRY FIRST, ANSWERS ON THE NEXT SLIDE</a:t>
            </a:r>
            <a:endParaRPr lang="en-US" sz="1200" dirty="0"/>
          </a:p>
        </p:txBody>
      </p:sp>
      <p:sp>
        <p:nvSpPr>
          <p:cNvPr id="3" name="Text 0"/>
          <p:cNvSpPr/>
          <p:nvPr>
            <p:ph idx="101" type="title" hasCustomPrompt="1"/>
          </p:nvPr>
        </p:nvSpPr>
        <p:spPr>
          <a:xfrm>
            <a:off x="548640" y="566928"/>
            <a:ext cx="9509760" cy="73152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Check your understanding</a:t>
            </a:r>
            <a:endParaRPr lang="en-US" sz="3200" dirty="0"/>
          </a:p>
        </p:txBody>
      </p:sp>
      <p:sp>
        <p:nvSpPr>
          <p:cNvPr id="4" name="nav-map"/>
          <p:cNvSpPr txBox="1"/>
          <p:nvPr/>
        </p:nvSpPr>
        <p:spPr>
          <a:xfrm>
            <a:off x="10469880" y="274320"/>
            <a:ext cx="1188720" cy="320040"/>
          </a:xfrm>
          <a:prstGeom prst="rect">
            <a:avLst/>
          </a:prstGeom>
          <a:noFill/>
          <a:ln/>
        </p:spPr>
        <p:txBody>
          <a:bodyPr wrap="square" lIns="0" tIns="0" rIns="0" bIns="0" rtlCol="0" anchor="ctr"/>
          <a:lstStyle/>
          <a:p>
            <a:pPr algn="r" indent="0" marL="0">
              <a:buNone/>
            </a:pPr>
            <a:r>
              <a:rPr lang="en-US" sz="1200" u="sng" dirty="0">
                <a:solidFill>
                  <a:schemeClr val="accent1"/>
                </a:solidFill>
                <a:hlinkClick r:id="rId1" action="ppaction://hlinksldjump" tooltip="Back to lesson map">
                  <a:extLst>
                    <a:ext uri="{A12FA001-AC4F-418D-AE19-62706E023703}">
                      <ahyp:hlinkClr xmlns:ahyp="http://schemas.microsoft.com/office/drawing/2018/hyperlinkcolor" val="tx"/>
                    </a:ext>
                  </a:extLst>
                </a:hlinkClick>
              </a:rPr>
              <a:t>Lesson map</a:t>
            </a:r>
            <a:endParaRPr lang="en-US" sz="1200" dirty="0"/>
          </a:p>
        </p:txBody>
      </p:sp>
      <p:sp>
        <p:nvSpPr>
          <p:cNvPr id="5" name="Shape 3"/>
          <p:cNvSpPr/>
          <p:nvPr/>
        </p:nvSpPr>
        <p:spPr>
          <a:xfrm>
            <a:off x="548640" y="1417320"/>
            <a:ext cx="5486400" cy="2103120"/>
          </a:xfrm>
          <a:prstGeom prst="roundRect">
            <a:avLst>
              <a:gd name="adj" fmla="val 5217"/>
            </a:avLst>
          </a:prstGeom>
          <a:solidFill>
            <a:schemeClr val="bg1"/>
          </a:solidFill>
          <a:ln w="12700">
            <a:solidFill>
              <a:schemeClr val="bg1"/>
            </a:solidFill>
            <a:prstDash val="solid"/>
          </a:ln>
        </p:spPr>
      </p:sp>
      <p:sp>
        <p:nvSpPr>
          <p:cNvPr id="6" name="Shape 4"/>
          <p:cNvSpPr/>
          <p:nvPr/>
        </p:nvSpPr>
        <p:spPr>
          <a:xfrm>
            <a:off x="685800" y="1554480"/>
            <a:ext cx="1097280" cy="274320"/>
          </a:xfrm>
          <a:prstGeom prst="roundRect">
            <a:avLst>
              <a:gd name="adj" fmla="val 40000"/>
            </a:avLst>
          </a:prstGeom>
          <a:solidFill>
            <a:schemeClr val="accent4"/>
          </a:solidFill>
          <a:ln w="12700">
            <a:solidFill>
              <a:schemeClr val="accent4"/>
            </a:solidFill>
            <a:prstDash val="solid"/>
          </a:ln>
        </p:spPr>
      </p:sp>
      <p:sp>
        <p:nvSpPr>
          <p:cNvPr id="7" name="Text 5"/>
          <p:cNvSpPr txBox="1"/>
          <p:nvPr/>
        </p:nvSpPr>
        <p:spPr>
          <a:xfrm>
            <a:off x="685800" y="1554480"/>
            <a:ext cx="1097280" cy="274320"/>
          </a:xfrm>
          <a:prstGeom prst="rect">
            <a:avLst/>
          </a:prstGeom>
          <a:noFill/>
          <a:ln/>
        </p:spPr>
        <p:txBody>
          <a:bodyPr wrap="square" lIns="0" tIns="0" rIns="0" bIns="0" rtlCol="0" anchor="ctr"/>
          <a:lstStyle/>
          <a:p>
            <a:pPr algn="ctr" indent="0" marL="0">
              <a:spcAft>
                <a:spcPts val="400"/>
              </a:spcAft>
              <a:buNone/>
            </a:pPr>
            <a:r>
              <a:rPr lang="en-US" sz="1000" b="1" spc="100" kern="0" dirty="0">
                <a:solidFill>
                  <a:schemeClr val="tx1"/>
                </a:solidFill>
              </a:rPr>
              <a:t>NEW QUESTION</a:t>
            </a:r>
            <a:endParaRPr lang="en-US" sz="1000" dirty="0"/>
          </a:p>
        </p:txBody>
      </p:sp>
      <p:sp>
        <p:nvSpPr>
          <p:cNvPr id="8" name="Text 6"/>
          <p:cNvSpPr txBox="1"/>
          <p:nvPr/>
        </p:nvSpPr>
        <p:spPr>
          <a:xfrm>
            <a:off x="685800" y="1892808"/>
            <a:ext cx="5212080" cy="1554480"/>
          </a:xfrm>
          <a:prstGeom prst="rect">
            <a:avLst/>
          </a:prstGeom>
          <a:noFill/>
          <a:ln/>
        </p:spPr>
        <p:txBody>
          <a:bodyPr wrap="square" lIns="1016" tIns="1016" rIns="1016" bIns="1016" rtlCol="0" anchor="t"/>
          <a:lstStyle/>
          <a:p>
            <a:pPr indent="0" marL="0">
              <a:spcAft>
                <a:spcPts val="400"/>
              </a:spcAft>
              <a:buNone/>
            </a:pPr>
            <a:r>
              <a:rPr lang="en-US" sz="1500" dirty="0">
                <a:solidFill>
                  <a:schemeClr val="tx1"/>
                </a:solidFill>
              </a:rPr>
              <a:t>1. A rabbit ingests 1 000 kJ of grass. It loses 550 kJ in faeces and urine and 300 kJ in respiration. Calculate its net production.</a:t>
            </a:r>
            <a:endParaRPr lang="en-US" sz="1500" dirty="0"/>
          </a:p>
        </p:txBody>
      </p:sp>
      <p:sp>
        <p:nvSpPr>
          <p:cNvPr id="9" name="Shape 7"/>
          <p:cNvSpPr/>
          <p:nvPr/>
        </p:nvSpPr>
        <p:spPr>
          <a:xfrm>
            <a:off x="6172200" y="1417320"/>
            <a:ext cx="5486400" cy="4663440"/>
          </a:xfrm>
          <a:prstGeom prst="roundRect">
            <a:avLst>
              <a:gd name="adj" fmla="val 2353"/>
            </a:avLst>
          </a:prstGeom>
          <a:solidFill>
            <a:schemeClr val="bg1"/>
          </a:solidFill>
          <a:ln w="12700">
            <a:solidFill>
              <a:schemeClr val="bg1"/>
            </a:solidFill>
            <a:prstDash val="solid"/>
          </a:ln>
        </p:spPr>
      </p:sp>
      <p:sp>
        <p:nvSpPr>
          <p:cNvPr id="10" name="Shape 8"/>
          <p:cNvSpPr/>
          <p:nvPr/>
        </p:nvSpPr>
        <p:spPr>
          <a:xfrm>
            <a:off x="6309360" y="1554480"/>
            <a:ext cx="1097280" cy="274320"/>
          </a:xfrm>
          <a:prstGeom prst="roundRect">
            <a:avLst>
              <a:gd name="adj" fmla="val 40000"/>
            </a:avLst>
          </a:prstGeom>
          <a:solidFill>
            <a:schemeClr val="accent4"/>
          </a:solidFill>
          <a:ln w="12700">
            <a:solidFill>
              <a:schemeClr val="accent4"/>
            </a:solidFill>
            <a:prstDash val="solid"/>
          </a:ln>
        </p:spPr>
      </p:sp>
      <p:sp>
        <p:nvSpPr>
          <p:cNvPr id="11" name="Text 9"/>
          <p:cNvSpPr txBox="1"/>
          <p:nvPr/>
        </p:nvSpPr>
        <p:spPr>
          <a:xfrm>
            <a:off x="6309360" y="1554480"/>
            <a:ext cx="1097280" cy="274320"/>
          </a:xfrm>
          <a:prstGeom prst="rect">
            <a:avLst/>
          </a:prstGeom>
          <a:noFill/>
          <a:ln/>
        </p:spPr>
        <p:txBody>
          <a:bodyPr wrap="square" lIns="0" tIns="0" rIns="0" bIns="0" rtlCol="0" anchor="ctr"/>
          <a:lstStyle/>
          <a:p>
            <a:pPr algn="ctr" indent="0" marL="0">
              <a:spcAft>
                <a:spcPts val="400"/>
              </a:spcAft>
              <a:buNone/>
            </a:pPr>
            <a:r>
              <a:rPr lang="en-US" sz="1000" b="1" spc="100" kern="0" dirty="0">
                <a:solidFill>
                  <a:schemeClr val="tx1"/>
                </a:solidFill>
              </a:rPr>
              <a:t>NEW QUESTION</a:t>
            </a:r>
            <a:endParaRPr lang="en-US" sz="1000" dirty="0"/>
          </a:p>
        </p:txBody>
      </p:sp>
      <p:sp>
        <p:nvSpPr>
          <p:cNvPr id="12" name="Text 10"/>
          <p:cNvSpPr txBox="1"/>
          <p:nvPr/>
        </p:nvSpPr>
        <p:spPr>
          <a:xfrm>
            <a:off x="6309360" y="1892808"/>
            <a:ext cx="5212080" cy="4114800"/>
          </a:xfrm>
          <a:prstGeom prst="rect">
            <a:avLst/>
          </a:prstGeom>
          <a:noFill/>
          <a:ln/>
        </p:spPr>
        <p:txBody>
          <a:bodyPr wrap="square" lIns="1016" tIns="1016" rIns="1016" bIns="1016" rtlCol="0" anchor="t"/>
          <a:lstStyle/>
          <a:p>
            <a:pPr indent="0" marL="0">
              <a:spcAft>
                <a:spcPts val="400"/>
              </a:spcAft>
              <a:buNone/>
            </a:pPr>
            <a:r>
              <a:rPr lang="en-US" sz="1500" dirty="0">
                <a:solidFill>
                  <a:schemeClr val="tx1"/>
                </a:solidFill>
              </a:rPr>
              <a:t>2. Why is the transfer from producers to primary consumers (5–10%) usually less efficient than from primary to secondary consumers (15–20%)?</a:t>
            </a:r>
            <a:endParaRPr lang="en-US" sz="1500" dirty="0"/>
          </a:p>
          <a:p>
            <a:pPr indent="0" marL="0">
              <a:spcAft>
                <a:spcPts val="400"/>
              </a:spcAft>
              <a:buNone/>
            </a:pPr>
            <a:endParaRPr lang="en-US" sz="1500" dirty="0"/>
          </a:p>
          <a:p>
            <a:pPr indent="0" marL="0">
              <a:spcAft>
                <a:spcPts val="400"/>
              </a:spcAft>
              <a:buNone/>
            </a:pPr>
            <a:r>
              <a:rPr lang="en-US" sz="1500" dirty="0">
                <a:solidFill>
                  <a:schemeClr val="tx1"/>
                </a:solidFill>
              </a:rPr>
              <a:t>A  Plants don't respire, so energy is wasted</a:t>
            </a:r>
            <a:endParaRPr lang="en-US" sz="1500" dirty="0"/>
          </a:p>
          <a:p>
            <a:pPr indent="0" marL="0">
              <a:spcAft>
                <a:spcPts val="400"/>
              </a:spcAft>
              <a:buNone/>
            </a:pPr>
            <a:r>
              <a:rPr lang="en-US" sz="1500" dirty="0">
                <a:solidFill>
                  <a:schemeClr val="tx1"/>
                </a:solidFill>
              </a:rPr>
              <a:t>B  More of a plant is indigestible, so more energy is lost in faeces</a:t>
            </a:r>
            <a:endParaRPr lang="en-US" sz="1500" dirty="0"/>
          </a:p>
          <a:p>
            <a:pPr indent="0" marL="0">
              <a:spcAft>
                <a:spcPts val="400"/>
              </a:spcAft>
              <a:buNone/>
            </a:pPr>
            <a:r>
              <a:rPr lang="en-US" sz="1500" dirty="0">
                <a:solidFill>
                  <a:schemeClr val="tx1"/>
                </a:solidFill>
              </a:rPr>
              <a:t>C  Energy is destroyed when plants are eaten</a:t>
            </a:r>
            <a:endParaRPr lang="en-US" sz="1500" dirty="0"/>
          </a:p>
          <a:p>
            <a:pPr indent="0" marL="0">
              <a:spcAft>
                <a:spcPts val="400"/>
              </a:spcAft>
              <a:buNone/>
            </a:pPr>
            <a:r>
              <a:rPr lang="en-US" sz="1500" dirty="0">
                <a:solidFill>
                  <a:schemeClr val="tx1"/>
                </a:solidFill>
              </a:rPr>
              <a:t>D  Only herbivores produce urine</a:t>
            </a:r>
            <a:endParaRPr lang="en-US" sz="1500" dirty="0"/>
          </a:p>
        </p:txBody>
      </p:sp>
      <p:sp>
        <p:nvSpPr>
          <p:cNvPr id="13" name="Shape 11"/>
          <p:cNvSpPr/>
          <p:nvPr/>
        </p:nvSpPr>
        <p:spPr>
          <a:xfrm>
            <a:off x="548640" y="3657600"/>
            <a:ext cx="5486400" cy="2423160"/>
          </a:xfrm>
          <a:prstGeom prst="roundRect">
            <a:avLst>
              <a:gd name="adj" fmla="val 4528"/>
            </a:avLst>
          </a:prstGeom>
          <a:solidFill>
            <a:schemeClr val="bg1"/>
          </a:solidFill>
          <a:ln w="12700">
            <a:solidFill>
              <a:schemeClr val="bg1"/>
            </a:solidFill>
            <a:prstDash val="solid"/>
          </a:ln>
        </p:spPr>
      </p:sp>
      <p:sp>
        <p:nvSpPr>
          <p:cNvPr id="14" name="Shape 12"/>
          <p:cNvSpPr/>
          <p:nvPr/>
        </p:nvSpPr>
        <p:spPr>
          <a:xfrm>
            <a:off x="685800" y="3794760"/>
            <a:ext cx="1097280" cy="274320"/>
          </a:xfrm>
          <a:prstGeom prst="roundRect">
            <a:avLst>
              <a:gd name="adj" fmla="val 40000"/>
            </a:avLst>
          </a:prstGeom>
          <a:solidFill>
            <a:schemeClr val="accent4"/>
          </a:solidFill>
          <a:ln w="12700">
            <a:solidFill>
              <a:schemeClr val="accent4"/>
            </a:solidFill>
            <a:prstDash val="solid"/>
          </a:ln>
        </p:spPr>
      </p:sp>
      <p:sp>
        <p:nvSpPr>
          <p:cNvPr id="15" name="Text 13"/>
          <p:cNvSpPr txBox="1"/>
          <p:nvPr/>
        </p:nvSpPr>
        <p:spPr>
          <a:xfrm>
            <a:off x="685800" y="3794760"/>
            <a:ext cx="1097280" cy="274320"/>
          </a:xfrm>
          <a:prstGeom prst="rect">
            <a:avLst/>
          </a:prstGeom>
          <a:noFill/>
          <a:ln/>
        </p:spPr>
        <p:txBody>
          <a:bodyPr wrap="square" lIns="0" tIns="0" rIns="0" bIns="0" rtlCol="0" anchor="ctr"/>
          <a:lstStyle/>
          <a:p>
            <a:pPr algn="ctr" indent="0" marL="0">
              <a:spcAft>
                <a:spcPts val="400"/>
              </a:spcAft>
              <a:buNone/>
            </a:pPr>
            <a:r>
              <a:rPr lang="en-US" sz="1000" b="1" spc="100" kern="0" dirty="0">
                <a:solidFill>
                  <a:schemeClr val="tx1"/>
                </a:solidFill>
              </a:rPr>
              <a:t>NEW QUESTION</a:t>
            </a:r>
            <a:endParaRPr lang="en-US" sz="1000" dirty="0"/>
          </a:p>
        </p:txBody>
      </p:sp>
      <p:sp>
        <p:nvSpPr>
          <p:cNvPr id="16" name="Text 14"/>
          <p:cNvSpPr txBox="1"/>
          <p:nvPr/>
        </p:nvSpPr>
        <p:spPr>
          <a:xfrm>
            <a:off x="4846320" y="3767328"/>
            <a:ext cx="1051560" cy="320040"/>
          </a:xfrm>
          <a:prstGeom prst="rect">
            <a:avLst/>
          </a:prstGeom>
          <a:noFill/>
          <a:ln/>
        </p:spPr>
        <p:txBody>
          <a:bodyPr wrap="square" lIns="1016" tIns="1016" rIns="1016" bIns="1016" rtlCol="0" anchor="t"/>
          <a:lstStyle/>
          <a:p>
            <a:pPr algn="r" indent="0" marL="0">
              <a:spcAft>
                <a:spcPts val="400"/>
              </a:spcAft>
              <a:buNone/>
            </a:pPr>
            <a:r>
              <a:rPr lang="en-US" sz="1200" b="1" dirty="0">
                <a:solidFill>
                  <a:schemeClr val="tx2"/>
                </a:solidFill>
              </a:rPr>
              <a:t>[2 marks]</a:t>
            </a:r>
            <a:endParaRPr lang="en-US" sz="1200" dirty="0"/>
          </a:p>
        </p:txBody>
      </p:sp>
      <p:sp>
        <p:nvSpPr>
          <p:cNvPr id="17" name="Text 15"/>
          <p:cNvSpPr txBox="1"/>
          <p:nvPr/>
        </p:nvSpPr>
        <p:spPr>
          <a:xfrm>
            <a:off x="685800" y="4133088"/>
            <a:ext cx="5212080" cy="1874520"/>
          </a:xfrm>
          <a:prstGeom prst="rect">
            <a:avLst/>
          </a:prstGeom>
          <a:noFill/>
          <a:ln/>
        </p:spPr>
        <p:txBody>
          <a:bodyPr wrap="square" lIns="1016" tIns="1016" rIns="1016" bIns="1016" rtlCol="0" anchor="t"/>
          <a:lstStyle/>
          <a:p>
            <a:pPr indent="0" marL="0">
              <a:spcAft>
                <a:spcPts val="400"/>
              </a:spcAft>
              <a:buNone/>
            </a:pPr>
            <a:r>
              <a:rPr lang="en-US" sz="1500" dirty="0">
                <a:solidFill>
                  <a:schemeClr val="tx1"/>
                </a:solidFill>
              </a:rPr>
              <a:t>3. Explain why food chains rarely have more than 4 or 5 trophic levels.</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896112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CHECK B · ANSWERS</a:t>
            </a:r>
            <a:endParaRPr lang="en-US" sz="1200" dirty="0"/>
          </a:p>
        </p:txBody>
      </p:sp>
      <p:sp>
        <p:nvSpPr>
          <p:cNvPr id="3" name="Text 0"/>
          <p:cNvSpPr/>
          <p:nvPr>
            <p:ph idx="101" type="title" hasCustomPrompt="1"/>
          </p:nvPr>
        </p:nvSpPr>
        <p:spPr>
          <a:xfrm>
            <a:off x="548640" y="566928"/>
            <a:ext cx="9509760" cy="73152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Check B: answers and why</a:t>
            </a:r>
            <a:endParaRPr lang="en-US" sz="3200" dirty="0"/>
          </a:p>
        </p:txBody>
      </p:sp>
      <p:sp>
        <p:nvSpPr>
          <p:cNvPr id="4" name="nav-map"/>
          <p:cNvSpPr txBox="1"/>
          <p:nvPr/>
        </p:nvSpPr>
        <p:spPr>
          <a:xfrm>
            <a:off x="10469880" y="274320"/>
            <a:ext cx="1188720" cy="320040"/>
          </a:xfrm>
          <a:prstGeom prst="rect">
            <a:avLst/>
          </a:prstGeom>
          <a:noFill/>
          <a:ln/>
        </p:spPr>
        <p:txBody>
          <a:bodyPr wrap="square" lIns="0" tIns="0" rIns="0" bIns="0" rtlCol="0" anchor="ctr"/>
          <a:lstStyle/>
          <a:p>
            <a:pPr algn="r" indent="0" marL="0">
              <a:buNone/>
            </a:pPr>
            <a:r>
              <a:rPr lang="en-US" sz="1200" u="sng" dirty="0">
                <a:solidFill>
                  <a:schemeClr val="accent1"/>
                </a:solidFill>
                <a:hlinkClick r:id="rId1" action="ppaction://hlinksldjump" tooltip="Back to lesson map">
                  <a:extLst>
                    <a:ext uri="{A12FA001-AC4F-418D-AE19-62706E023703}">
                      <ahyp:hlinkClr xmlns:ahyp="http://schemas.microsoft.com/office/drawing/2018/hyperlinkcolor" val="tx"/>
                    </a:ext>
                  </a:extLst>
                </a:hlinkClick>
              </a:rPr>
              <a:t>Lesson map</a:t>
            </a:r>
            <a:endParaRPr lang="en-US" sz="1200" dirty="0"/>
          </a:p>
        </p:txBody>
      </p:sp>
      <p:sp>
        <p:nvSpPr>
          <p:cNvPr id="5" name="Shape 3"/>
          <p:cNvSpPr/>
          <p:nvPr/>
        </p:nvSpPr>
        <p:spPr>
          <a:xfrm>
            <a:off x="548640" y="1417320"/>
            <a:ext cx="5486400" cy="2194560"/>
          </a:xfrm>
          <a:prstGeom prst="roundRect">
            <a:avLst>
              <a:gd name="adj" fmla="val 5000"/>
            </a:avLst>
          </a:prstGeom>
          <a:solidFill>
            <a:schemeClr val="bg1"/>
          </a:solidFill>
          <a:ln w="12700">
            <a:solidFill>
              <a:schemeClr val="bg1"/>
            </a:solidFill>
            <a:prstDash val="solid"/>
          </a:ln>
        </p:spPr>
      </p:sp>
      <p:sp>
        <p:nvSpPr>
          <p:cNvPr id="6" name="Text 4"/>
          <p:cNvSpPr txBox="1"/>
          <p:nvPr/>
        </p:nvSpPr>
        <p:spPr>
          <a:xfrm>
            <a:off x="685800" y="1527048"/>
            <a:ext cx="5212080" cy="2011680"/>
          </a:xfrm>
          <a:prstGeom prst="rect">
            <a:avLst/>
          </a:prstGeom>
          <a:noFill/>
          <a:ln/>
        </p:spPr>
        <p:txBody>
          <a:bodyPr wrap="square" lIns="1016" tIns="1016" rIns="1016" bIns="1016" rtlCol="0" anchor="t"/>
          <a:lstStyle/>
          <a:p>
            <a:pPr indent="0" marL="0">
              <a:spcAft>
                <a:spcPts val="400"/>
              </a:spcAft>
              <a:buNone/>
            </a:pPr>
            <a:r>
              <a:rPr lang="en-US" sz="1500" b="1" dirty="0">
                <a:solidFill>
                  <a:schemeClr val="accent1"/>
                </a:solidFill>
              </a:rPr>
              <a:t>1.  N = 150 kJ</a:t>
            </a:r>
            <a:endParaRPr lang="en-US" sz="1500" dirty="0"/>
          </a:p>
          <a:p>
            <a:pPr indent="0" marL="0">
              <a:spcAft>
                <a:spcPts val="400"/>
              </a:spcAft>
              <a:buNone/>
            </a:pPr>
            <a:r>
              <a:rPr lang="en-US" sz="1500" b="1" dirty="0">
                <a:solidFill>
                  <a:schemeClr val="tx1"/>
                </a:solidFill>
              </a:rPr>
              <a:t>Step 1: </a:t>
            </a:r>
            <a:pPr indent="0" marL="0">
              <a:spcAft>
                <a:spcPts val="400"/>
              </a:spcAft>
              <a:buNone/>
            </a:pPr>
            <a:r>
              <a:rPr lang="en-US" sz="1500" dirty="0">
                <a:solidFill>
                  <a:schemeClr val="tx1"/>
                </a:solidFill>
              </a:rPr>
              <a:t>write the formula: N = I − (F + R)</a:t>
            </a:r>
            <a:endParaRPr lang="en-US" sz="1500" dirty="0"/>
          </a:p>
          <a:p>
            <a:pPr indent="0" marL="0">
              <a:spcAft>
                <a:spcPts val="400"/>
              </a:spcAft>
              <a:buNone/>
            </a:pPr>
            <a:r>
              <a:rPr lang="en-US" sz="1500" b="1" dirty="0">
                <a:solidFill>
                  <a:schemeClr val="tx1"/>
                </a:solidFill>
              </a:rPr>
              <a:t>Step 2: </a:t>
            </a:r>
            <a:pPr indent="0" marL="0">
              <a:spcAft>
                <a:spcPts val="400"/>
              </a:spcAft>
              <a:buNone/>
            </a:pPr>
            <a:r>
              <a:rPr lang="en-US" sz="1500" dirty="0">
                <a:solidFill>
                  <a:schemeClr val="tx1"/>
                </a:solidFill>
              </a:rPr>
              <a:t>add the losses first: 550 + 300 = 850</a:t>
            </a:r>
            <a:endParaRPr lang="en-US" sz="1500" dirty="0"/>
          </a:p>
          <a:p>
            <a:pPr indent="0" marL="0">
              <a:spcAft>
                <a:spcPts val="400"/>
              </a:spcAft>
              <a:buNone/>
            </a:pPr>
            <a:r>
              <a:rPr lang="en-US" sz="1500" b="1" dirty="0">
                <a:solidFill>
                  <a:schemeClr val="tx1"/>
                </a:solidFill>
              </a:rPr>
              <a:t>Step 3: </a:t>
            </a:r>
            <a:pPr indent="0" marL="0">
              <a:spcAft>
                <a:spcPts val="400"/>
              </a:spcAft>
              <a:buNone/>
            </a:pPr>
            <a:r>
              <a:rPr lang="en-US" sz="1500" dirty="0">
                <a:solidFill>
                  <a:schemeClr val="tx1"/>
                </a:solidFill>
              </a:rPr>
              <a:t>1 000 − 850 = 150 kJ</a:t>
            </a:r>
            <a:endParaRPr lang="en-US" sz="1500" dirty="0"/>
          </a:p>
          <a:p>
            <a:pPr indent="0" marL="0">
              <a:spcAft>
                <a:spcPts val="400"/>
              </a:spcAft>
              <a:buNone/>
            </a:pPr>
            <a:r>
              <a:rPr lang="en-US" sz="1500" dirty="0">
                <a:solidFill>
                  <a:schemeClr val="tx1"/>
                </a:solidFill>
              </a:rPr>
              <a:t>Trap: 450 means you forgot R. 550 means you forgot F.</a:t>
            </a:r>
            <a:endParaRPr lang="en-US" sz="1500" dirty="0"/>
          </a:p>
        </p:txBody>
      </p:sp>
      <p:sp>
        <p:nvSpPr>
          <p:cNvPr id="7" name="Shape 5"/>
          <p:cNvSpPr/>
          <p:nvPr/>
        </p:nvSpPr>
        <p:spPr>
          <a:xfrm>
            <a:off x="6172200" y="1417320"/>
            <a:ext cx="5486400" cy="2194560"/>
          </a:xfrm>
          <a:prstGeom prst="roundRect">
            <a:avLst>
              <a:gd name="adj" fmla="val 5000"/>
            </a:avLst>
          </a:prstGeom>
          <a:solidFill>
            <a:schemeClr val="bg1"/>
          </a:solidFill>
          <a:ln w="12700">
            <a:solidFill>
              <a:schemeClr val="bg1"/>
            </a:solidFill>
            <a:prstDash val="solid"/>
          </a:ln>
        </p:spPr>
      </p:sp>
      <p:sp>
        <p:nvSpPr>
          <p:cNvPr id="8" name="Text 6"/>
          <p:cNvSpPr txBox="1"/>
          <p:nvPr/>
        </p:nvSpPr>
        <p:spPr>
          <a:xfrm>
            <a:off x="6309360" y="1527048"/>
            <a:ext cx="5212080" cy="2011680"/>
          </a:xfrm>
          <a:prstGeom prst="rect">
            <a:avLst/>
          </a:prstGeom>
          <a:noFill/>
          <a:ln/>
        </p:spPr>
        <p:txBody>
          <a:bodyPr wrap="square" lIns="1016" tIns="1016" rIns="1016" bIns="1016" rtlCol="0" anchor="t"/>
          <a:lstStyle/>
          <a:p>
            <a:pPr indent="0" marL="0">
              <a:spcAft>
                <a:spcPts val="400"/>
              </a:spcAft>
              <a:buNone/>
            </a:pPr>
            <a:r>
              <a:rPr lang="en-US" sz="1500" b="1" dirty="0">
                <a:solidFill>
                  <a:schemeClr val="accent1"/>
                </a:solidFill>
              </a:rPr>
              <a:t>2.  B</a:t>
            </a:r>
            <a:endParaRPr lang="en-US" sz="1500" dirty="0"/>
          </a:p>
          <a:p>
            <a:pPr indent="0" marL="0">
              <a:spcAft>
                <a:spcPts val="400"/>
              </a:spcAft>
              <a:buNone/>
            </a:pPr>
            <a:r>
              <a:rPr lang="en-US" sz="1500" dirty="0">
                <a:solidFill>
                  <a:schemeClr val="tx1"/>
                </a:solidFill>
              </a:rPr>
              <a:t>Large amounts of plant material are indigestible, so more energy is lost in faeces. Animal tissue is easier to digest. (A: plants do respire. C: energy is never destroyed. D: carnivores lose energy in urine too.)</a:t>
            </a:r>
            <a:endParaRPr lang="en-US" sz="1500" dirty="0"/>
          </a:p>
        </p:txBody>
      </p:sp>
      <p:sp>
        <p:nvSpPr>
          <p:cNvPr id="9" name="Shape 7"/>
          <p:cNvSpPr/>
          <p:nvPr/>
        </p:nvSpPr>
        <p:spPr>
          <a:xfrm>
            <a:off x="548640" y="3749040"/>
            <a:ext cx="11109960" cy="2331720"/>
          </a:xfrm>
          <a:prstGeom prst="roundRect">
            <a:avLst>
              <a:gd name="adj" fmla="val 4706"/>
            </a:avLst>
          </a:prstGeom>
          <a:solidFill>
            <a:schemeClr val="bg1"/>
          </a:solidFill>
          <a:ln w="12700">
            <a:solidFill>
              <a:schemeClr val="bg1"/>
            </a:solidFill>
            <a:prstDash val="solid"/>
          </a:ln>
        </p:spPr>
      </p:sp>
      <p:sp>
        <p:nvSpPr>
          <p:cNvPr id="10" name="Text 8"/>
          <p:cNvSpPr txBox="1"/>
          <p:nvPr/>
        </p:nvSpPr>
        <p:spPr>
          <a:xfrm>
            <a:off x="685800" y="3858768"/>
            <a:ext cx="10835640" cy="2148840"/>
          </a:xfrm>
          <a:prstGeom prst="rect">
            <a:avLst/>
          </a:prstGeom>
          <a:noFill/>
          <a:ln/>
        </p:spPr>
        <p:txBody>
          <a:bodyPr wrap="square" lIns="1016" tIns="1016" rIns="1016" bIns="1016" rtlCol="0" anchor="t"/>
          <a:lstStyle/>
          <a:p>
            <a:pPr indent="0" marL="0">
              <a:spcAft>
                <a:spcPts val="400"/>
              </a:spcAft>
              <a:buNone/>
            </a:pPr>
            <a:r>
              <a:rPr lang="en-US" sz="1500" b="1" dirty="0">
                <a:solidFill>
                  <a:schemeClr val="accent1"/>
                </a:solidFill>
              </a:rPr>
              <a:t>3.  Model answer (2 marks)</a:t>
            </a:r>
            <a:endParaRPr lang="en-US" sz="1500" dirty="0"/>
          </a:p>
          <a:p>
            <a:pPr indent="0" marL="0">
              <a:spcAft>
                <a:spcPts val="400"/>
              </a:spcAft>
              <a:buNone/>
            </a:pPr>
            <a:r>
              <a:rPr lang="en-US" sz="1500" b="1" dirty="0">
                <a:solidFill>
                  <a:schemeClr val="tx1"/>
                </a:solidFill>
              </a:rPr>
              <a:t>✓ </a:t>
            </a:r>
            <a:pPr indent="0" marL="0">
              <a:spcAft>
                <a:spcPts val="400"/>
              </a:spcAft>
              <a:buNone/>
            </a:pPr>
            <a:r>
              <a:rPr lang="en-US" sz="1500" dirty="0">
                <a:solidFill>
                  <a:schemeClr val="tx1"/>
                </a:solidFill>
              </a:rPr>
              <a:t>Energy is lost at each trophic level, e.g. as heat from respiration, in faeces and urine, and in parts not eaten.</a:t>
            </a:r>
            <a:endParaRPr lang="en-US" sz="1500" dirty="0"/>
          </a:p>
          <a:p>
            <a:pPr indent="0" marL="0">
              <a:spcAft>
                <a:spcPts val="400"/>
              </a:spcAft>
              <a:buNone/>
            </a:pPr>
            <a:r>
              <a:rPr lang="en-US" sz="1500" b="1" dirty="0">
                <a:solidFill>
                  <a:schemeClr val="tx1"/>
                </a:solidFill>
              </a:rPr>
              <a:t>✓ </a:t>
            </a:r>
            <a:pPr indent="0" marL="0">
              <a:spcAft>
                <a:spcPts val="400"/>
              </a:spcAft>
              <a:buNone/>
            </a:pPr>
            <a:r>
              <a:rPr lang="en-US" sz="1500" dirty="0">
                <a:solidFill>
                  <a:schemeClr val="tx1"/>
                </a:solidFill>
              </a:rPr>
              <a:t>So after 4–5 levels there is not enough energy left to support a breeding population at a higher level.</a:t>
            </a:r>
            <a:endParaRPr lang="en-US" sz="1500" dirty="0"/>
          </a:p>
          <a:p>
            <a:pPr indent="0" marL="0">
              <a:spcAft>
                <a:spcPts val="400"/>
              </a:spcAft>
              <a:buNone/>
            </a:pPr>
            <a:r>
              <a:rPr lang="en-US" sz="1500" dirty="0">
                <a:solidFill>
                  <a:schemeClr val="tx1"/>
                </a:solidFill>
              </a:rPr>
              <a:t>Check yours against both points. Wording can differ.</a:t>
            </a:r>
            <a:endParaRPr lang="en-US" sz="1500" dirty="0"/>
          </a:p>
        </p:txBody>
      </p:sp>
      <p:sp>
        <p:nvSpPr>
          <p:cNvPr id="11" name="Text 9"/>
          <p:cNvSpPr txBox="1"/>
          <p:nvPr/>
        </p:nvSpPr>
        <p:spPr>
          <a:xfrm>
            <a:off x="8412480" y="6355080"/>
            <a:ext cx="2651760" cy="320040"/>
          </a:xfrm>
          <a:prstGeom prst="rect">
            <a:avLst/>
          </a:prstGeom>
          <a:noFill/>
          <a:ln/>
        </p:spPr>
        <p:txBody>
          <a:bodyPr wrap="square" lIns="0" tIns="0" rIns="0" bIns="0" rtlCol="0" anchor="ctr"/>
          <a:lstStyle/>
          <a:p>
            <a:pPr algn="r" indent="0" marL="0">
              <a:buNone/>
            </a:pPr>
            <a:r>
              <a:rPr lang="en-US" sz="1200" u="sng" dirty="0">
                <a:solidFill>
                  <a:schemeClr val="accent1"/>
                </a:solidFill>
                <a:hlinkClick r:id="rId2" action="ppaction://hlinksldjump" tooltip="">
                  <a:extLst>
                    <a:ext uri="{A12FA001-AC4F-418D-AE19-62706E023703}">
                      <ahyp:hlinkClr xmlns:ahyp="http://schemas.microsoft.com/office/drawing/2018/hyperlinkcolor" val="tx"/>
                    </a:ext>
                  </a:extLst>
                </a:hlinkClick>
              </a:rPr>
              <a:t>Next: Section C →</a:t>
            </a:r>
            <a:endParaRPr lang="en-US" sz="1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896112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SECTION C · FROM THE CLASS NOTES</a:t>
            </a:r>
            <a:endParaRPr lang="en-US" sz="1200" dirty="0"/>
          </a:p>
        </p:txBody>
      </p:sp>
      <p:sp>
        <p:nvSpPr>
          <p:cNvPr id="3" name="Text 0"/>
          <p:cNvSpPr/>
          <p:nvPr>
            <p:ph idx="101" type="title" hasCustomPrompt="1"/>
          </p:nvPr>
        </p:nvSpPr>
        <p:spPr>
          <a:xfrm>
            <a:off x="548640" y="566928"/>
            <a:ext cx="9509760" cy="73152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Units and the efficiency formula</a:t>
            </a:r>
            <a:endParaRPr lang="en-US" sz="3200" dirty="0"/>
          </a:p>
        </p:txBody>
      </p:sp>
      <p:sp>
        <p:nvSpPr>
          <p:cNvPr id="4" name="nav-map"/>
          <p:cNvSpPr txBox="1"/>
          <p:nvPr/>
        </p:nvSpPr>
        <p:spPr>
          <a:xfrm>
            <a:off x="10469880" y="274320"/>
            <a:ext cx="1188720" cy="320040"/>
          </a:xfrm>
          <a:prstGeom prst="rect">
            <a:avLst/>
          </a:prstGeom>
          <a:noFill/>
          <a:ln/>
        </p:spPr>
        <p:txBody>
          <a:bodyPr wrap="square" lIns="0" tIns="0" rIns="0" bIns="0" rtlCol="0" anchor="ctr"/>
          <a:lstStyle/>
          <a:p>
            <a:pPr algn="r" indent="0" marL="0">
              <a:buNone/>
            </a:pPr>
            <a:r>
              <a:rPr lang="en-US" sz="1200" u="sng" dirty="0">
                <a:solidFill>
                  <a:schemeClr val="accent1"/>
                </a:solidFill>
                <a:hlinkClick r:id="rId1" action="ppaction://hlinksldjump" tooltip="Back to lesson map">
                  <a:extLst>
                    <a:ext uri="{A12FA001-AC4F-418D-AE19-62706E023703}">
                      <ahyp:hlinkClr xmlns:ahyp="http://schemas.microsoft.com/office/drawing/2018/hyperlinkcolor" val="tx"/>
                    </a:ext>
                  </a:extLst>
                </a:hlinkClick>
              </a:rPr>
              <a:t>Lesson map</a:t>
            </a:r>
            <a:endParaRPr lang="en-US" sz="1200" dirty="0"/>
          </a:p>
        </p:txBody>
      </p:sp>
      <p:sp>
        <p:nvSpPr>
          <p:cNvPr id="5" name="Shape 3"/>
          <p:cNvSpPr/>
          <p:nvPr/>
        </p:nvSpPr>
        <p:spPr>
          <a:xfrm>
            <a:off x="548640" y="1417320"/>
            <a:ext cx="3566160" cy="1554480"/>
          </a:xfrm>
          <a:prstGeom prst="roundRect">
            <a:avLst>
              <a:gd name="adj" fmla="val 7059"/>
            </a:avLst>
          </a:prstGeom>
          <a:solidFill>
            <a:schemeClr val="bg1"/>
          </a:solidFill>
          <a:ln w="15875">
            <a:solidFill>
              <a:schemeClr val="accent1"/>
            </a:solidFill>
            <a:prstDash val="solid"/>
          </a:ln>
        </p:spPr>
      </p:sp>
      <p:sp>
        <p:nvSpPr>
          <p:cNvPr id="6" name="Text 4"/>
          <p:cNvSpPr txBox="1"/>
          <p:nvPr/>
        </p:nvSpPr>
        <p:spPr>
          <a:xfrm>
            <a:off x="685800" y="1481328"/>
            <a:ext cx="3291840" cy="1417320"/>
          </a:xfrm>
          <a:prstGeom prst="rect">
            <a:avLst/>
          </a:prstGeom>
          <a:noFill/>
          <a:ln/>
        </p:spPr>
        <p:txBody>
          <a:bodyPr wrap="square" lIns="1016" tIns="1016" rIns="1016" bIns="1016" rtlCol="0" anchor="t"/>
          <a:lstStyle/>
          <a:p>
            <a:pPr indent="0" marL="0">
              <a:spcAft>
                <a:spcPts val="400"/>
              </a:spcAft>
              <a:buNone/>
            </a:pPr>
            <a:r>
              <a:rPr lang="en-US" sz="1600" b="1" dirty="0">
                <a:solidFill>
                  <a:schemeClr val="accent1"/>
                </a:solidFill>
              </a:rPr>
              <a:t>On land</a:t>
            </a:r>
            <a:endParaRPr lang="en-US" sz="1600" dirty="0"/>
          </a:p>
          <a:p>
            <a:pPr indent="0" marL="0">
              <a:spcAft>
                <a:spcPts val="400"/>
              </a:spcAft>
              <a:buNone/>
            </a:pPr>
            <a:r>
              <a:rPr lang="en-US" sz="2400" b="1" dirty="0">
                <a:solidFill>
                  <a:schemeClr val="tx1"/>
                </a:solidFill>
              </a:rPr>
              <a:t>kJ m⁻² year⁻¹</a:t>
            </a:r>
            <a:endParaRPr lang="en-US" sz="1600" dirty="0"/>
          </a:p>
          <a:p>
            <a:pPr indent="0" marL="0">
              <a:spcAft>
                <a:spcPts val="400"/>
              </a:spcAft>
              <a:buNone/>
            </a:pPr>
            <a:r>
              <a:rPr lang="en-US" sz="1300" dirty="0">
                <a:solidFill>
                  <a:schemeClr val="tx2"/>
                </a:solidFill>
              </a:rPr>
              <a:t>per square metre (area)</a:t>
            </a:r>
            <a:endParaRPr lang="en-US" sz="1600" dirty="0"/>
          </a:p>
        </p:txBody>
      </p:sp>
      <p:sp>
        <p:nvSpPr>
          <p:cNvPr id="7" name="Shape 5"/>
          <p:cNvSpPr/>
          <p:nvPr/>
        </p:nvSpPr>
        <p:spPr>
          <a:xfrm>
            <a:off x="4297680" y="1417320"/>
            <a:ext cx="3566160" cy="1554480"/>
          </a:xfrm>
          <a:prstGeom prst="roundRect">
            <a:avLst>
              <a:gd name="adj" fmla="val 7059"/>
            </a:avLst>
          </a:prstGeom>
          <a:solidFill>
            <a:schemeClr val="bg1"/>
          </a:solidFill>
          <a:ln w="15875">
            <a:solidFill>
              <a:schemeClr val="accent1"/>
            </a:solidFill>
            <a:prstDash val="solid"/>
          </a:ln>
        </p:spPr>
      </p:sp>
      <p:sp>
        <p:nvSpPr>
          <p:cNvPr id="8" name="Text 6"/>
          <p:cNvSpPr txBox="1"/>
          <p:nvPr/>
        </p:nvSpPr>
        <p:spPr>
          <a:xfrm>
            <a:off x="4434840" y="1481328"/>
            <a:ext cx="3291840" cy="1417320"/>
          </a:xfrm>
          <a:prstGeom prst="rect">
            <a:avLst/>
          </a:prstGeom>
          <a:noFill/>
          <a:ln/>
        </p:spPr>
        <p:txBody>
          <a:bodyPr wrap="square" lIns="1016" tIns="1016" rIns="1016" bIns="1016" rtlCol="0" anchor="t"/>
          <a:lstStyle/>
          <a:p>
            <a:pPr indent="0" marL="0">
              <a:spcAft>
                <a:spcPts val="400"/>
              </a:spcAft>
              <a:buNone/>
            </a:pPr>
            <a:r>
              <a:rPr lang="en-US" sz="1600" b="1" dirty="0">
                <a:solidFill>
                  <a:schemeClr val="accent1"/>
                </a:solidFill>
              </a:rPr>
              <a:t>Aquatic ecosystems</a:t>
            </a:r>
            <a:endParaRPr lang="en-US" sz="1600" dirty="0"/>
          </a:p>
          <a:p>
            <a:pPr indent="0" marL="0">
              <a:spcAft>
                <a:spcPts val="400"/>
              </a:spcAft>
              <a:buNone/>
            </a:pPr>
            <a:r>
              <a:rPr lang="en-US" sz="2400" b="1" dirty="0">
                <a:solidFill>
                  <a:schemeClr val="tx1"/>
                </a:solidFill>
              </a:rPr>
              <a:t>kJ m⁻³ year⁻¹</a:t>
            </a:r>
            <a:endParaRPr lang="en-US" sz="1600" dirty="0"/>
          </a:p>
          <a:p>
            <a:pPr indent="0" marL="0">
              <a:spcAft>
                <a:spcPts val="400"/>
              </a:spcAft>
              <a:buNone/>
            </a:pPr>
            <a:r>
              <a:rPr lang="en-US" sz="1300" dirty="0">
                <a:solidFill>
                  <a:schemeClr val="tx2"/>
                </a:solidFill>
              </a:rPr>
              <a:t>per cubic metre (volume)</a:t>
            </a:r>
            <a:endParaRPr lang="en-US" sz="1600" dirty="0"/>
          </a:p>
        </p:txBody>
      </p:sp>
      <p:sp>
        <p:nvSpPr>
          <p:cNvPr id="9" name="Shape 7"/>
          <p:cNvSpPr/>
          <p:nvPr/>
        </p:nvSpPr>
        <p:spPr>
          <a:xfrm>
            <a:off x="8138160" y="1417320"/>
            <a:ext cx="1078992" cy="1554480"/>
          </a:xfrm>
          <a:prstGeom prst="roundRect">
            <a:avLst>
              <a:gd name="adj" fmla="val 10169"/>
            </a:avLst>
          </a:prstGeom>
          <a:solidFill>
            <a:schemeClr val="accent4"/>
          </a:solidFill>
          <a:ln w="12700">
            <a:solidFill>
              <a:schemeClr val="accent4"/>
            </a:solidFill>
            <a:prstDash val="solid"/>
          </a:ln>
        </p:spPr>
      </p:sp>
      <p:sp>
        <p:nvSpPr>
          <p:cNvPr id="10" name="Text 8"/>
          <p:cNvSpPr txBox="1"/>
          <p:nvPr/>
        </p:nvSpPr>
        <p:spPr>
          <a:xfrm>
            <a:off x="8138160" y="1417320"/>
            <a:ext cx="1078992" cy="1554480"/>
          </a:xfrm>
          <a:prstGeom prst="rect">
            <a:avLst/>
          </a:prstGeom>
          <a:noFill/>
          <a:ln/>
        </p:spPr>
        <p:txBody>
          <a:bodyPr wrap="square" lIns="0" tIns="0" rIns="0" bIns="0" rtlCol="0" anchor="ctr"/>
          <a:lstStyle/>
          <a:p>
            <a:pPr algn="ctr" indent="0" marL="0">
              <a:spcAft>
                <a:spcPts val="400"/>
              </a:spcAft>
              <a:buNone/>
            </a:pPr>
            <a:r>
              <a:rPr lang="en-US" sz="1500" b="1" dirty="0">
                <a:solidFill>
                  <a:schemeClr val="tx1"/>
                </a:solidFill>
              </a:rPr>
              <a:t>Energy</a:t>
            </a:r>
            <a:endParaRPr lang="en-US" sz="1500" dirty="0"/>
          </a:p>
        </p:txBody>
      </p:sp>
      <p:sp>
        <p:nvSpPr>
          <p:cNvPr id="11" name="Shape 9"/>
          <p:cNvSpPr/>
          <p:nvPr/>
        </p:nvSpPr>
        <p:spPr>
          <a:xfrm>
            <a:off x="9326880" y="1417320"/>
            <a:ext cx="1078992" cy="1554480"/>
          </a:xfrm>
          <a:prstGeom prst="roundRect">
            <a:avLst>
              <a:gd name="adj" fmla="val 10169"/>
            </a:avLst>
          </a:prstGeom>
          <a:solidFill>
            <a:schemeClr val="accent4"/>
          </a:solidFill>
          <a:ln w="12700">
            <a:solidFill>
              <a:schemeClr val="accent4"/>
            </a:solidFill>
            <a:prstDash val="solid"/>
          </a:ln>
        </p:spPr>
      </p:sp>
      <p:sp>
        <p:nvSpPr>
          <p:cNvPr id="12" name="Text 10"/>
          <p:cNvSpPr txBox="1"/>
          <p:nvPr/>
        </p:nvSpPr>
        <p:spPr>
          <a:xfrm>
            <a:off x="9326880" y="1417320"/>
            <a:ext cx="1078992" cy="1554480"/>
          </a:xfrm>
          <a:prstGeom prst="rect">
            <a:avLst/>
          </a:prstGeom>
          <a:noFill/>
          <a:ln/>
        </p:spPr>
        <p:txBody>
          <a:bodyPr wrap="square" lIns="0" tIns="0" rIns="0" bIns="0" rtlCol="0" anchor="ctr"/>
          <a:lstStyle/>
          <a:p>
            <a:pPr algn="ctr" indent="0" marL="0">
              <a:spcAft>
                <a:spcPts val="400"/>
              </a:spcAft>
              <a:buNone/>
            </a:pPr>
            <a:r>
              <a:rPr lang="en-US" sz="1500" b="1" dirty="0">
                <a:solidFill>
                  <a:schemeClr val="tx1"/>
                </a:solidFill>
              </a:rPr>
              <a:t>Area</a:t>
            </a:r>
            <a:endParaRPr lang="en-US" sz="1500" dirty="0"/>
          </a:p>
        </p:txBody>
      </p:sp>
      <p:sp>
        <p:nvSpPr>
          <p:cNvPr id="13" name="Shape 11"/>
          <p:cNvSpPr/>
          <p:nvPr/>
        </p:nvSpPr>
        <p:spPr>
          <a:xfrm>
            <a:off x="10515600" y="1417320"/>
            <a:ext cx="1078992" cy="1554480"/>
          </a:xfrm>
          <a:prstGeom prst="roundRect">
            <a:avLst>
              <a:gd name="adj" fmla="val 10169"/>
            </a:avLst>
          </a:prstGeom>
          <a:solidFill>
            <a:schemeClr val="accent4"/>
          </a:solidFill>
          <a:ln w="12700">
            <a:solidFill>
              <a:schemeClr val="accent4"/>
            </a:solidFill>
            <a:prstDash val="solid"/>
          </a:ln>
        </p:spPr>
      </p:sp>
      <p:sp>
        <p:nvSpPr>
          <p:cNvPr id="14" name="Text 12"/>
          <p:cNvSpPr txBox="1"/>
          <p:nvPr/>
        </p:nvSpPr>
        <p:spPr>
          <a:xfrm>
            <a:off x="10515600" y="1417320"/>
            <a:ext cx="1078992" cy="1554480"/>
          </a:xfrm>
          <a:prstGeom prst="rect">
            <a:avLst/>
          </a:prstGeom>
          <a:noFill/>
          <a:ln/>
        </p:spPr>
        <p:txBody>
          <a:bodyPr wrap="square" lIns="0" tIns="0" rIns="0" bIns="0" rtlCol="0" anchor="ctr"/>
          <a:lstStyle/>
          <a:p>
            <a:pPr algn="ctr" indent="0" marL="0">
              <a:spcAft>
                <a:spcPts val="400"/>
              </a:spcAft>
              <a:buNone/>
            </a:pPr>
            <a:r>
              <a:rPr lang="en-US" sz="1500" b="1" dirty="0">
                <a:solidFill>
                  <a:schemeClr val="tx1"/>
                </a:solidFill>
              </a:rPr>
              <a:t>Time</a:t>
            </a:r>
            <a:endParaRPr lang="en-US" sz="1500" dirty="0"/>
          </a:p>
        </p:txBody>
      </p:sp>
      <p:sp>
        <p:nvSpPr>
          <p:cNvPr id="15" name="Text 13"/>
          <p:cNvSpPr txBox="1"/>
          <p:nvPr/>
        </p:nvSpPr>
        <p:spPr>
          <a:xfrm>
            <a:off x="8138160" y="3017520"/>
            <a:ext cx="3474720" cy="320040"/>
          </a:xfrm>
          <a:prstGeom prst="rect">
            <a:avLst/>
          </a:prstGeom>
          <a:noFill/>
          <a:ln/>
        </p:spPr>
        <p:txBody>
          <a:bodyPr wrap="square" lIns="1016" tIns="1016" rIns="1016" bIns="1016" rtlCol="0" anchor="t"/>
          <a:lstStyle/>
          <a:p>
            <a:pPr algn="ctr" indent="0" marL="0">
              <a:spcAft>
                <a:spcPts val="400"/>
              </a:spcAft>
              <a:buNone/>
            </a:pPr>
            <a:r>
              <a:rPr lang="en-US" sz="1200" dirty="0">
                <a:solidFill>
                  <a:schemeClr val="tx2"/>
                </a:solidFill>
              </a:rPr>
              <a:t>kJ · m⁻² or m⁻³ · year⁻¹</a:t>
            </a:r>
            <a:endParaRPr lang="en-US" sz="1200" dirty="0"/>
          </a:p>
        </p:txBody>
      </p:sp>
      <p:sp>
        <p:nvSpPr>
          <p:cNvPr id="16" name="Shape 14"/>
          <p:cNvSpPr/>
          <p:nvPr/>
        </p:nvSpPr>
        <p:spPr>
          <a:xfrm>
            <a:off x="548640" y="3520440"/>
            <a:ext cx="11064240" cy="1325880"/>
          </a:xfrm>
          <a:prstGeom prst="roundRect">
            <a:avLst>
              <a:gd name="adj" fmla="val 8276"/>
            </a:avLst>
          </a:prstGeom>
          <a:solidFill>
            <a:schemeClr val="accent4"/>
          </a:solidFill>
          <a:ln w="12700">
            <a:solidFill>
              <a:schemeClr val="accent4"/>
            </a:solidFill>
            <a:prstDash val="solid"/>
          </a:ln>
        </p:spPr>
      </p:sp>
      <p:sp>
        <p:nvSpPr>
          <p:cNvPr id="17" name="Text 15"/>
          <p:cNvSpPr txBox="1"/>
          <p:nvPr/>
        </p:nvSpPr>
        <p:spPr>
          <a:xfrm>
            <a:off x="731520" y="3566160"/>
            <a:ext cx="10698480" cy="1234440"/>
          </a:xfrm>
          <a:prstGeom prst="rect">
            <a:avLst/>
          </a:prstGeom>
          <a:noFill/>
          <a:ln/>
        </p:spPr>
        <p:txBody>
          <a:bodyPr wrap="square" lIns="1016" tIns="1016" rIns="1016" bIns="1016" rtlCol="0" anchor="ctr"/>
          <a:lstStyle/>
          <a:p>
            <a:pPr algn="ctr" indent="0" marL="0">
              <a:spcAft>
                <a:spcPts val="400"/>
              </a:spcAft>
              <a:buNone/>
            </a:pPr>
            <a:r>
              <a:rPr lang="en-US" sz="2000" b="1" dirty="0">
                <a:solidFill>
                  <a:schemeClr val="tx1"/>
                </a:solidFill>
                <a:latin typeface="Cambria" pitchFamily="34" charset="0"/>
                <a:ea typeface="Cambria" pitchFamily="34" charset="-122"/>
                <a:cs typeface="Cambria" pitchFamily="34" charset="-120"/>
              </a:rPr>
              <a:t>% efficiency  =  </a:t>
            </a:r>
            <a:pPr algn="ctr" indent="0" marL="0">
              <a:spcAft>
                <a:spcPts val="400"/>
              </a:spcAft>
              <a:buNone/>
            </a:pPr>
            <a:r>
              <a:rPr lang="en-US" sz="2000" b="1" u="sng" dirty="0">
                <a:solidFill>
                  <a:schemeClr val="tx1"/>
                </a:solidFill>
                <a:latin typeface="Cambria" pitchFamily="34" charset="0"/>
                <a:ea typeface="Cambria" pitchFamily="34" charset="-122"/>
                <a:cs typeface="Cambria" pitchFamily="34" charset="-120"/>
              </a:rPr>
              <a:t>energy available after transfer</a:t>
            </a:r>
            <a:pPr algn="ctr" indent="0" marL="0">
              <a:spcAft>
                <a:spcPts val="400"/>
              </a:spcAft>
              <a:buNone/>
            </a:pPr>
            <a:r>
              <a:rPr lang="en-US" sz="2000" b="1" dirty="0">
                <a:solidFill>
                  <a:schemeClr val="tx1"/>
                </a:solidFill>
                <a:latin typeface="Cambria" pitchFamily="34" charset="0"/>
                <a:ea typeface="Cambria" pitchFamily="34" charset="-122"/>
                <a:cs typeface="Cambria" pitchFamily="34" charset="-120"/>
              </a:rPr>
              <a:t>  ÷  energy available before transfer  × 100</a:t>
            </a:r>
            <a:endParaRPr lang="en-US" sz="2000" dirty="0"/>
          </a:p>
        </p:txBody>
      </p:sp>
      <p:sp>
        <p:nvSpPr>
          <p:cNvPr id="18" name="Shape 16"/>
          <p:cNvSpPr/>
          <p:nvPr/>
        </p:nvSpPr>
        <p:spPr>
          <a:xfrm>
            <a:off x="548640" y="5029200"/>
            <a:ext cx="5486400" cy="1051560"/>
          </a:xfrm>
          <a:prstGeom prst="roundRect">
            <a:avLst>
              <a:gd name="adj" fmla="val 10435"/>
            </a:avLst>
          </a:prstGeom>
          <a:solidFill>
            <a:schemeClr val="accent5"/>
          </a:solidFill>
          <a:ln w="12700">
            <a:solidFill>
              <a:schemeClr val="accent5"/>
            </a:solidFill>
            <a:prstDash val="solid"/>
          </a:ln>
        </p:spPr>
      </p:sp>
      <p:sp>
        <p:nvSpPr>
          <p:cNvPr id="19" name="Text 17"/>
          <p:cNvSpPr txBox="1"/>
          <p:nvPr/>
        </p:nvSpPr>
        <p:spPr>
          <a:xfrm>
            <a:off x="685800" y="5120640"/>
            <a:ext cx="5212080" cy="868680"/>
          </a:xfrm>
          <a:prstGeom prst="rect">
            <a:avLst/>
          </a:prstGeom>
          <a:noFill/>
          <a:ln/>
        </p:spPr>
        <p:txBody>
          <a:bodyPr wrap="square" lIns="1016" tIns="1016" rIns="1016" bIns="1016" rtlCol="0" anchor="t"/>
          <a:lstStyle/>
          <a:p>
            <a:pPr indent="0" marL="0">
              <a:spcAft>
                <a:spcPts val="400"/>
              </a:spcAft>
              <a:buNone/>
            </a:pPr>
            <a:r>
              <a:rPr lang="en-US" sz="1100" b="1" spc="100" kern="0" dirty="0">
                <a:solidFill>
                  <a:schemeClr val="tx1"/>
                </a:solidFill>
              </a:rPr>
              <a:t>EXTRA HELP · WHY M⁻³ IN WATER?</a:t>
            </a:r>
            <a:endParaRPr lang="en-US" sz="1500" dirty="0"/>
          </a:p>
          <a:p>
            <a:pPr indent="0" marL="0">
              <a:spcAft>
                <a:spcPts val="400"/>
              </a:spcAft>
              <a:buNone/>
            </a:pPr>
            <a:r>
              <a:rPr lang="en-US" sz="1500" dirty="0">
                <a:solidFill>
                  <a:schemeClr val="tx1"/>
                </a:solidFill>
              </a:rPr>
              <a:t>Organisms live throughout the depth of the water, not just on a surface, so we measure per cube of water.</a:t>
            </a:r>
            <a:endParaRPr lang="en-US" sz="1500" dirty="0"/>
          </a:p>
        </p:txBody>
      </p:sp>
      <p:sp>
        <p:nvSpPr>
          <p:cNvPr id="20" name="Shape 18"/>
          <p:cNvSpPr/>
          <p:nvPr/>
        </p:nvSpPr>
        <p:spPr>
          <a:xfrm>
            <a:off x="6172200" y="5029200"/>
            <a:ext cx="5440680" cy="1051560"/>
          </a:xfrm>
          <a:prstGeom prst="roundRect">
            <a:avLst>
              <a:gd name="adj" fmla="val 10435"/>
            </a:avLst>
          </a:prstGeom>
          <a:solidFill>
            <a:schemeClr val="accent6"/>
          </a:solidFill>
          <a:ln w="12700">
            <a:solidFill>
              <a:schemeClr val="accent6"/>
            </a:solidFill>
            <a:prstDash val="solid"/>
          </a:ln>
        </p:spPr>
      </p:sp>
      <p:sp>
        <p:nvSpPr>
          <p:cNvPr id="21" name="Text 19"/>
          <p:cNvSpPr txBox="1"/>
          <p:nvPr/>
        </p:nvSpPr>
        <p:spPr>
          <a:xfrm>
            <a:off x="6309360" y="5120640"/>
            <a:ext cx="5166360" cy="868680"/>
          </a:xfrm>
          <a:prstGeom prst="rect">
            <a:avLst/>
          </a:prstGeom>
          <a:noFill/>
          <a:ln/>
        </p:spPr>
        <p:txBody>
          <a:bodyPr wrap="square" lIns="1016" tIns="1016" rIns="1016" bIns="1016" rtlCol="0" anchor="t"/>
          <a:lstStyle/>
          <a:p>
            <a:pPr indent="0" marL="0">
              <a:spcAft>
                <a:spcPts val="400"/>
              </a:spcAft>
              <a:buNone/>
            </a:pPr>
            <a:r>
              <a:rPr lang="en-US" sz="1100" b="1" spc="100" kern="0" dirty="0">
                <a:solidFill>
                  <a:schemeClr val="tx1"/>
                </a:solidFill>
              </a:rPr>
              <a:t>COMMON MISTAKE</a:t>
            </a:r>
            <a:endParaRPr lang="en-US" sz="1500" dirty="0"/>
          </a:p>
          <a:p>
            <a:pPr indent="0" marL="0">
              <a:spcAft>
                <a:spcPts val="400"/>
              </a:spcAft>
              <a:buNone/>
            </a:pPr>
            <a:r>
              <a:rPr lang="en-US" sz="1500" dirty="0">
                <a:solidFill>
                  <a:schemeClr val="tx1"/>
                </a:solidFill>
              </a:rPr>
              <a:t>Upside-down fraction. An efficiency can never be over 100%. If you get one, flip it.</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896112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SECTION C · WORKED EXAMPLE FROM THE CLASS NOTES</a:t>
            </a:r>
            <a:endParaRPr lang="en-US" sz="1200" dirty="0"/>
          </a:p>
        </p:txBody>
      </p:sp>
      <p:sp>
        <p:nvSpPr>
          <p:cNvPr id="3" name="Text 0"/>
          <p:cNvSpPr/>
          <p:nvPr>
            <p:ph idx="101" type="title" hasCustomPrompt="1"/>
          </p:nvPr>
        </p:nvSpPr>
        <p:spPr>
          <a:xfrm>
            <a:off x="548640" y="566928"/>
            <a:ext cx="9509760" cy="73152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Worked example: try it before the next slide</a:t>
            </a:r>
            <a:endParaRPr lang="en-US" sz="3200" dirty="0"/>
          </a:p>
        </p:txBody>
      </p:sp>
      <p:sp>
        <p:nvSpPr>
          <p:cNvPr id="4" name="nav-map"/>
          <p:cNvSpPr txBox="1"/>
          <p:nvPr/>
        </p:nvSpPr>
        <p:spPr>
          <a:xfrm>
            <a:off x="10469880" y="274320"/>
            <a:ext cx="1188720" cy="320040"/>
          </a:xfrm>
          <a:prstGeom prst="rect">
            <a:avLst/>
          </a:prstGeom>
          <a:noFill/>
          <a:ln/>
        </p:spPr>
        <p:txBody>
          <a:bodyPr wrap="square" lIns="0" tIns="0" rIns="0" bIns="0" rtlCol="0" anchor="ctr"/>
          <a:lstStyle/>
          <a:p>
            <a:pPr algn="r" indent="0" marL="0">
              <a:buNone/>
            </a:pPr>
            <a:r>
              <a:rPr lang="en-US" sz="1200" u="sng" dirty="0">
                <a:solidFill>
                  <a:schemeClr val="accent1"/>
                </a:solidFill>
                <a:hlinkClick r:id="rId1" action="ppaction://hlinksldjump" tooltip="Back to lesson map">
                  <a:extLst>
                    <a:ext uri="{A12FA001-AC4F-418D-AE19-62706E023703}">
                      <ahyp:hlinkClr xmlns:ahyp="http://schemas.microsoft.com/office/drawing/2018/hyperlinkcolor" val="tx"/>
                    </a:ext>
                  </a:extLst>
                </a:hlinkClick>
              </a:rPr>
              <a:t>Lesson map</a:t>
            </a:r>
            <a:endParaRPr lang="en-US" sz="1200" dirty="0"/>
          </a:p>
        </p:txBody>
      </p:sp>
      <p:sp>
        <p:nvSpPr>
          <p:cNvPr id="5" name="Text 3"/>
          <p:cNvSpPr txBox="1"/>
          <p:nvPr/>
        </p:nvSpPr>
        <p:spPr>
          <a:xfrm>
            <a:off x="548640" y="1417320"/>
            <a:ext cx="5943600" cy="411480"/>
          </a:xfrm>
          <a:prstGeom prst="rect">
            <a:avLst/>
          </a:prstGeom>
          <a:noFill/>
          <a:ln/>
        </p:spPr>
        <p:txBody>
          <a:bodyPr wrap="square" lIns="1016" tIns="1016" rIns="1016" bIns="1016" rtlCol="0" anchor="t"/>
          <a:lstStyle/>
          <a:p>
            <a:pPr indent="0" marL="0">
              <a:spcAft>
                <a:spcPts val="400"/>
              </a:spcAft>
              <a:buNone/>
            </a:pPr>
            <a:r>
              <a:rPr lang="en-US" sz="1600" dirty="0">
                <a:solidFill>
                  <a:schemeClr val="tx1"/>
                </a:solidFill>
              </a:rPr>
              <a:t>The energy flow in kJ m⁻² year⁻¹ for a food chain on the land:</a:t>
            </a:r>
            <a:endParaRPr lang="en-US" sz="1600" dirty="0"/>
          </a:p>
        </p:txBody>
      </p:sp>
      <p:sp>
        <p:nvSpPr>
          <p:cNvPr id="6" name="Shape 4"/>
          <p:cNvSpPr/>
          <p:nvPr/>
        </p:nvSpPr>
        <p:spPr>
          <a:xfrm>
            <a:off x="548640" y="1920240"/>
            <a:ext cx="5303520" cy="731520"/>
          </a:xfrm>
          <a:prstGeom prst="roundRect">
            <a:avLst>
              <a:gd name="adj" fmla="val 15000"/>
            </a:avLst>
          </a:prstGeom>
          <a:solidFill>
            <a:schemeClr val="accent4"/>
          </a:solidFill>
          <a:ln w="12700">
            <a:solidFill>
              <a:schemeClr val="accent4"/>
            </a:solidFill>
            <a:prstDash val="solid"/>
          </a:ln>
        </p:spPr>
      </p:sp>
      <p:sp>
        <p:nvSpPr>
          <p:cNvPr id="7" name="Text 5"/>
          <p:cNvSpPr txBox="1"/>
          <p:nvPr/>
        </p:nvSpPr>
        <p:spPr>
          <a:xfrm>
            <a:off x="731520" y="1920240"/>
            <a:ext cx="1188720" cy="731520"/>
          </a:xfrm>
          <a:prstGeom prst="rect">
            <a:avLst/>
          </a:prstGeom>
          <a:noFill/>
          <a:ln/>
        </p:spPr>
        <p:txBody>
          <a:bodyPr wrap="square" lIns="1016" tIns="1016" rIns="1016" bIns="1016" rtlCol="0" anchor="ctr"/>
          <a:lstStyle/>
          <a:p>
            <a:pPr indent="0" marL="0">
              <a:spcAft>
                <a:spcPts val="400"/>
              </a:spcAft>
              <a:buNone/>
            </a:pPr>
            <a:r>
              <a:rPr lang="en-US" sz="2200" b="1" dirty="0">
                <a:solidFill>
                  <a:schemeClr val="tx1"/>
                </a:solidFill>
              </a:rPr>
              <a:t>6300</a:t>
            </a:r>
            <a:endParaRPr lang="en-US" sz="2200" dirty="0"/>
          </a:p>
        </p:txBody>
      </p:sp>
      <p:sp>
        <p:nvSpPr>
          <p:cNvPr id="8" name="Text 6"/>
          <p:cNvSpPr txBox="1"/>
          <p:nvPr/>
        </p:nvSpPr>
        <p:spPr>
          <a:xfrm>
            <a:off x="2011680" y="1920240"/>
            <a:ext cx="3657600" cy="731520"/>
          </a:xfrm>
          <a:prstGeom prst="rect">
            <a:avLst/>
          </a:prstGeom>
          <a:noFill/>
          <a:ln/>
        </p:spPr>
        <p:txBody>
          <a:bodyPr wrap="square" lIns="1016" tIns="1016" rIns="1016" bIns="1016" rtlCol="0" anchor="ctr"/>
          <a:lstStyle/>
          <a:p>
            <a:pPr indent="0" marL="0">
              <a:spcAft>
                <a:spcPts val="400"/>
              </a:spcAft>
              <a:buNone/>
            </a:pPr>
            <a:r>
              <a:rPr lang="en-US" sz="1600" dirty="0">
                <a:solidFill>
                  <a:schemeClr val="tx1"/>
                </a:solidFill>
              </a:rPr>
              <a:t>Producers</a:t>
            </a:r>
            <a:endParaRPr lang="en-US" sz="1600" dirty="0"/>
          </a:p>
        </p:txBody>
      </p:sp>
      <p:sp>
        <p:nvSpPr>
          <p:cNvPr id="9" name="Shape 7"/>
          <p:cNvSpPr/>
          <p:nvPr/>
        </p:nvSpPr>
        <p:spPr>
          <a:xfrm>
            <a:off x="1234440" y="2670048"/>
            <a:ext cx="914" cy="219456"/>
          </a:xfrm>
          <a:prstGeom prst="line">
            <a:avLst/>
          </a:prstGeom>
          <a:noFill/>
          <a:ln w="25400">
            <a:solidFill>
              <a:schemeClr val="tx2"/>
            </a:solidFill>
            <a:prstDash val="solid"/>
            <a:tailEnd type="triangle"/>
          </a:ln>
        </p:spPr>
      </p:sp>
      <p:sp>
        <p:nvSpPr>
          <p:cNvPr id="10" name="Shape 8"/>
          <p:cNvSpPr/>
          <p:nvPr/>
        </p:nvSpPr>
        <p:spPr>
          <a:xfrm>
            <a:off x="548640" y="2907792"/>
            <a:ext cx="5303520" cy="731520"/>
          </a:xfrm>
          <a:prstGeom prst="roundRect">
            <a:avLst>
              <a:gd name="adj" fmla="val 15000"/>
            </a:avLst>
          </a:prstGeom>
          <a:solidFill>
            <a:schemeClr val="accent5"/>
          </a:solidFill>
          <a:ln w="15875">
            <a:solidFill>
              <a:schemeClr val="accent2"/>
            </a:solidFill>
            <a:prstDash val="solid"/>
          </a:ln>
        </p:spPr>
      </p:sp>
      <p:sp>
        <p:nvSpPr>
          <p:cNvPr id="11" name="Text 9"/>
          <p:cNvSpPr txBox="1"/>
          <p:nvPr/>
        </p:nvSpPr>
        <p:spPr>
          <a:xfrm>
            <a:off x="731520" y="2907792"/>
            <a:ext cx="1188720" cy="731520"/>
          </a:xfrm>
          <a:prstGeom prst="rect">
            <a:avLst/>
          </a:prstGeom>
          <a:noFill/>
          <a:ln/>
        </p:spPr>
        <p:txBody>
          <a:bodyPr wrap="square" lIns="1016" tIns="1016" rIns="1016" bIns="1016" rtlCol="0" anchor="ctr"/>
          <a:lstStyle/>
          <a:p>
            <a:pPr indent="0" marL="0">
              <a:spcAft>
                <a:spcPts val="400"/>
              </a:spcAft>
              <a:buNone/>
            </a:pPr>
            <a:r>
              <a:rPr lang="en-US" sz="2200" b="1" dirty="0">
                <a:solidFill>
                  <a:schemeClr val="tx1"/>
                </a:solidFill>
              </a:rPr>
              <a:t>4032</a:t>
            </a:r>
            <a:endParaRPr lang="en-US" sz="2200" dirty="0"/>
          </a:p>
        </p:txBody>
      </p:sp>
      <p:sp>
        <p:nvSpPr>
          <p:cNvPr id="12" name="Text 10"/>
          <p:cNvSpPr txBox="1"/>
          <p:nvPr/>
        </p:nvSpPr>
        <p:spPr>
          <a:xfrm>
            <a:off x="2011680" y="2907792"/>
            <a:ext cx="3657600" cy="731520"/>
          </a:xfrm>
          <a:prstGeom prst="rect">
            <a:avLst/>
          </a:prstGeom>
          <a:noFill/>
          <a:ln/>
        </p:spPr>
        <p:txBody>
          <a:bodyPr wrap="square" lIns="1016" tIns="1016" rIns="1016" bIns="1016" rtlCol="0" anchor="ctr"/>
          <a:lstStyle/>
          <a:p>
            <a:pPr indent="0" marL="0">
              <a:spcAft>
                <a:spcPts val="400"/>
              </a:spcAft>
              <a:buNone/>
            </a:pPr>
            <a:r>
              <a:rPr lang="en-US" sz="1600" dirty="0">
                <a:solidFill>
                  <a:schemeClr val="tx1"/>
                </a:solidFill>
              </a:rPr>
              <a:t>Primary consumers</a:t>
            </a:r>
            <a:endParaRPr lang="en-US" sz="1600" dirty="0"/>
          </a:p>
        </p:txBody>
      </p:sp>
      <p:sp>
        <p:nvSpPr>
          <p:cNvPr id="13" name="Shape 11"/>
          <p:cNvSpPr/>
          <p:nvPr/>
        </p:nvSpPr>
        <p:spPr>
          <a:xfrm>
            <a:off x="1234440" y="3657600"/>
            <a:ext cx="914" cy="219456"/>
          </a:xfrm>
          <a:prstGeom prst="line">
            <a:avLst/>
          </a:prstGeom>
          <a:noFill/>
          <a:ln w="25400">
            <a:solidFill>
              <a:schemeClr val="tx2"/>
            </a:solidFill>
            <a:prstDash val="solid"/>
            <a:tailEnd type="triangle"/>
          </a:ln>
        </p:spPr>
      </p:sp>
      <p:sp>
        <p:nvSpPr>
          <p:cNvPr id="14" name="Shape 12"/>
          <p:cNvSpPr/>
          <p:nvPr/>
        </p:nvSpPr>
        <p:spPr>
          <a:xfrm>
            <a:off x="548640" y="3895344"/>
            <a:ext cx="5303520" cy="731520"/>
          </a:xfrm>
          <a:prstGeom prst="roundRect">
            <a:avLst>
              <a:gd name="adj" fmla="val 15000"/>
            </a:avLst>
          </a:prstGeom>
          <a:solidFill>
            <a:schemeClr val="accent5"/>
          </a:solidFill>
          <a:ln w="15875">
            <a:solidFill>
              <a:schemeClr val="accent2"/>
            </a:solidFill>
            <a:prstDash val="solid"/>
          </a:ln>
        </p:spPr>
      </p:sp>
      <p:sp>
        <p:nvSpPr>
          <p:cNvPr id="15" name="Text 13"/>
          <p:cNvSpPr txBox="1"/>
          <p:nvPr/>
        </p:nvSpPr>
        <p:spPr>
          <a:xfrm>
            <a:off x="731520" y="3895344"/>
            <a:ext cx="1188720" cy="731520"/>
          </a:xfrm>
          <a:prstGeom prst="rect">
            <a:avLst/>
          </a:prstGeom>
          <a:noFill/>
          <a:ln/>
        </p:spPr>
        <p:txBody>
          <a:bodyPr wrap="square" lIns="1016" tIns="1016" rIns="1016" bIns="1016" rtlCol="0" anchor="ctr"/>
          <a:lstStyle/>
          <a:p>
            <a:pPr indent="0" marL="0">
              <a:spcAft>
                <a:spcPts val="400"/>
              </a:spcAft>
              <a:buNone/>
            </a:pPr>
            <a:r>
              <a:rPr lang="en-US" sz="2200" b="1" dirty="0">
                <a:solidFill>
                  <a:schemeClr val="tx1"/>
                </a:solidFill>
              </a:rPr>
              <a:t>714</a:t>
            </a:r>
            <a:endParaRPr lang="en-US" sz="2200" dirty="0"/>
          </a:p>
        </p:txBody>
      </p:sp>
      <p:sp>
        <p:nvSpPr>
          <p:cNvPr id="16" name="Text 14"/>
          <p:cNvSpPr txBox="1"/>
          <p:nvPr/>
        </p:nvSpPr>
        <p:spPr>
          <a:xfrm>
            <a:off x="2011680" y="3895344"/>
            <a:ext cx="3657600" cy="731520"/>
          </a:xfrm>
          <a:prstGeom prst="rect">
            <a:avLst/>
          </a:prstGeom>
          <a:noFill/>
          <a:ln/>
        </p:spPr>
        <p:txBody>
          <a:bodyPr wrap="square" lIns="1016" tIns="1016" rIns="1016" bIns="1016" rtlCol="0" anchor="ctr"/>
          <a:lstStyle/>
          <a:p>
            <a:pPr indent="0" marL="0">
              <a:spcAft>
                <a:spcPts val="400"/>
              </a:spcAft>
              <a:buNone/>
            </a:pPr>
            <a:r>
              <a:rPr lang="en-US" sz="1600" dirty="0">
                <a:solidFill>
                  <a:schemeClr val="tx1"/>
                </a:solidFill>
              </a:rPr>
              <a:t>Secondary consumers</a:t>
            </a:r>
            <a:endParaRPr lang="en-US" sz="1600" dirty="0"/>
          </a:p>
        </p:txBody>
      </p:sp>
      <p:sp>
        <p:nvSpPr>
          <p:cNvPr id="17" name="Shape 15"/>
          <p:cNvSpPr/>
          <p:nvPr/>
        </p:nvSpPr>
        <p:spPr>
          <a:xfrm>
            <a:off x="1234440" y="4645152"/>
            <a:ext cx="914" cy="219456"/>
          </a:xfrm>
          <a:prstGeom prst="line">
            <a:avLst/>
          </a:prstGeom>
          <a:noFill/>
          <a:ln w="25400">
            <a:solidFill>
              <a:schemeClr val="tx2"/>
            </a:solidFill>
            <a:prstDash val="solid"/>
            <a:tailEnd type="triangle"/>
          </a:ln>
        </p:spPr>
      </p:sp>
      <p:sp>
        <p:nvSpPr>
          <p:cNvPr id="18" name="Shape 16"/>
          <p:cNvSpPr/>
          <p:nvPr/>
        </p:nvSpPr>
        <p:spPr>
          <a:xfrm>
            <a:off x="548640" y="4882896"/>
            <a:ext cx="5303520" cy="731520"/>
          </a:xfrm>
          <a:prstGeom prst="roundRect">
            <a:avLst>
              <a:gd name="adj" fmla="val 15000"/>
            </a:avLst>
          </a:prstGeom>
          <a:solidFill>
            <a:schemeClr val="accent4"/>
          </a:solidFill>
          <a:ln w="12700">
            <a:solidFill>
              <a:schemeClr val="accent4"/>
            </a:solidFill>
            <a:prstDash val="solid"/>
          </a:ln>
        </p:spPr>
      </p:sp>
      <p:sp>
        <p:nvSpPr>
          <p:cNvPr id="19" name="Text 17"/>
          <p:cNvSpPr txBox="1"/>
          <p:nvPr/>
        </p:nvSpPr>
        <p:spPr>
          <a:xfrm>
            <a:off x="731520" y="4882896"/>
            <a:ext cx="1188720" cy="731520"/>
          </a:xfrm>
          <a:prstGeom prst="rect">
            <a:avLst/>
          </a:prstGeom>
          <a:noFill/>
          <a:ln/>
        </p:spPr>
        <p:txBody>
          <a:bodyPr wrap="square" lIns="1016" tIns="1016" rIns="1016" bIns="1016" rtlCol="0" anchor="ctr"/>
          <a:lstStyle/>
          <a:p>
            <a:pPr indent="0" marL="0">
              <a:spcAft>
                <a:spcPts val="400"/>
              </a:spcAft>
              <a:buNone/>
            </a:pPr>
            <a:r>
              <a:rPr lang="en-US" sz="2200" b="1" dirty="0">
                <a:solidFill>
                  <a:schemeClr val="tx1"/>
                </a:solidFill>
              </a:rPr>
              <a:t>78</a:t>
            </a:r>
            <a:endParaRPr lang="en-US" sz="2200" dirty="0"/>
          </a:p>
        </p:txBody>
      </p:sp>
      <p:sp>
        <p:nvSpPr>
          <p:cNvPr id="20" name="Text 18"/>
          <p:cNvSpPr txBox="1"/>
          <p:nvPr/>
        </p:nvSpPr>
        <p:spPr>
          <a:xfrm>
            <a:off x="2011680" y="4882896"/>
            <a:ext cx="3657600" cy="731520"/>
          </a:xfrm>
          <a:prstGeom prst="rect">
            <a:avLst/>
          </a:prstGeom>
          <a:noFill/>
          <a:ln/>
        </p:spPr>
        <p:txBody>
          <a:bodyPr wrap="square" lIns="1016" tIns="1016" rIns="1016" bIns="1016" rtlCol="0" anchor="ctr"/>
          <a:lstStyle/>
          <a:p>
            <a:pPr indent="0" marL="0">
              <a:spcAft>
                <a:spcPts val="400"/>
              </a:spcAft>
              <a:buNone/>
            </a:pPr>
            <a:r>
              <a:rPr lang="en-US" sz="1600" dirty="0">
                <a:solidFill>
                  <a:schemeClr val="tx1"/>
                </a:solidFill>
              </a:rPr>
              <a:t>Tertiary consumers</a:t>
            </a:r>
            <a:endParaRPr lang="en-US" sz="1600" dirty="0"/>
          </a:p>
        </p:txBody>
      </p:sp>
      <p:sp>
        <p:nvSpPr>
          <p:cNvPr id="21" name="Shape 19"/>
          <p:cNvSpPr/>
          <p:nvPr/>
        </p:nvSpPr>
        <p:spPr>
          <a:xfrm>
            <a:off x="6309360" y="1920240"/>
            <a:ext cx="5303520" cy="2743200"/>
          </a:xfrm>
          <a:prstGeom prst="roundRect">
            <a:avLst>
              <a:gd name="adj" fmla="val 4000"/>
            </a:avLst>
          </a:prstGeom>
          <a:solidFill>
            <a:schemeClr val="bg1"/>
          </a:solidFill>
          <a:ln w="15875">
            <a:solidFill>
              <a:schemeClr val="accent1"/>
            </a:solidFill>
            <a:prstDash val="solid"/>
          </a:ln>
        </p:spPr>
      </p:sp>
      <p:sp>
        <p:nvSpPr>
          <p:cNvPr id="22" name="Text 20"/>
          <p:cNvSpPr txBox="1"/>
          <p:nvPr/>
        </p:nvSpPr>
        <p:spPr>
          <a:xfrm>
            <a:off x="6492240" y="2057400"/>
            <a:ext cx="4937760" cy="914400"/>
          </a:xfrm>
          <a:prstGeom prst="rect">
            <a:avLst/>
          </a:prstGeom>
          <a:noFill/>
          <a:ln/>
        </p:spPr>
        <p:txBody>
          <a:bodyPr wrap="square" lIns="1016" tIns="1016" rIns="1016" bIns="1016" rtlCol="0" anchor="t"/>
          <a:lstStyle/>
          <a:p>
            <a:pPr indent="0" marL="0">
              <a:spcAft>
                <a:spcPts val="400"/>
              </a:spcAft>
              <a:buNone/>
            </a:pPr>
            <a:r>
              <a:rPr lang="en-US" sz="1700" b="1" dirty="0">
                <a:solidFill>
                  <a:schemeClr val="tx1"/>
                </a:solidFill>
              </a:rPr>
              <a:t>Find the percentage efficiency of energy transfer between primary and secondary consumers.</a:t>
            </a:r>
            <a:endParaRPr lang="en-US" sz="1700" dirty="0"/>
          </a:p>
        </p:txBody>
      </p:sp>
      <p:sp>
        <p:nvSpPr>
          <p:cNvPr id="23" name="Text 21"/>
          <p:cNvSpPr txBox="1"/>
          <p:nvPr/>
        </p:nvSpPr>
        <p:spPr>
          <a:xfrm>
            <a:off x="6492240" y="3063240"/>
            <a:ext cx="4937760" cy="1371600"/>
          </a:xfrm>
          <a:prstGeom prst="rect">
            <a:avLst/>
          </a:prstGeom>
          <a:noFill/>
          <a:ln/>
        </p:spPr>
        <p:txBody>
          <a:bodyPr wrap="square" lIns="1016" tIns="1016" rIns="1016" bIns="1016" rtlCol="0" anchor="t"/>
          <a:lstStyle/>
          <a:p>
            <a:pPr indent="0" marL="0">
              <a:spcAft>
                <a:spcPts val="400"/>
              </a:spcAft>
              <a:buNone/>
            </a:pPr>
            <a:r>
              <a:rPr lang="en-US" sz="1600" b="1" dirty="0">
                <a:solidFill>
                  <a:schemeClr val="tx1"/>
                </a:solidFill>
              </a:rPr>
              <a:t>Think: </a:t>
            </a:r>
            <a:pPr indent="0" marL="0">
              <a:spcAft>
                <a:spcPts val="400"/>
              </a:spcAft>
              <a:buNone/>
            </a:pPr>
            <a:r>
              <a:rPr lang="en-US" sz="1600" dirty="0">
                <a:solidFill>
                  <a:schemeClr val="tx1"/>
                </a:solidFill>
              </a:rPr>
              <a:t>which number is "after" the transfer and which is "before"?</a:t>
            </a:r>
            <a:endParaRPr lang="en-US" sz="1600" dirty="0"/>
          </a:p>
          <a:p>
            <a:pPr indent="0" marL="0">
              <a:spcAft>
                <a:spcPts val="400"/>
              </a:spcAft>
              <a:buNone/>
            </a:pPr>
            <a:r>
              <a:rPr lang="en-US" sz="1600" dirty="0">
                <a:solidFill>
                  <a:schemeClr val="tx1"/>
                </a:solidFill>
              </a:rPr>
              <a:t>Then use: after ÷ before × 100</a:t>
            </a:r>
            <a:endParaRPr lang="en-US" sz="1600" dirty="0"/>
          </a:p>
        </p:txBody>
      </p:sp>
      <p:sp>
        <p:nvSpPr>
          <p:cNvPr id="24" name="Text 22"/>
          <p:cNvSpPr txBox="1"/>
          <p:nvPr/>
        </p:nvSpPr>
        <p:spPr>
          <a:xfrm>
            <a:off x="6309360" y="4846320"/>
            <a:ext cx="5303520" cy="365760"/>
          </a:xfrm>
          <a:prstGeom prst="rect">
            <a:avLst/>
          </a:prstGeom>
          <a:noFill/>
          <a:ln/>
        </p:spPr>
        <p:txBody>
          <a:bodyPr wrap="square" lIns="1016" tIns="1016" rIns="1016" bIns="1016" rtlCol="0" anchor="t"/>
          <a:lstStyle/>
          <a:p>
            <a:pPr algn="r" indent="0" marL="0">
              <a:spcAft>
                <a:spcPts val="400"/>
              </a:spcAft>
              <a:buNone/>
            </a:pPr>
            <a:r>
              <a:rPr lang="en-US" sz="1400" dirty="0">
                <a:solidFill>
                  <a:schemeClr val="tx2"/>
                </a:solidFill>
              </a:rPr>
              <a:t>Solution on the next slide →</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896112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SECTION C · WORKED EXAMPLE SOLUTION</a:t>
            </a:r>
            <a:endParaRPr lang="en-US" sz="1200" dirty="0"/>
          </a:p>
        </p:txBody>
      </p:sp>
      <p:sp>
        <p:nvSpPr>
          <p:cNvPr id="3" name="Text 0"/>
          <p:cNvSpPr/>
          <p:nvPr>
            <p:ph idx="101" type="title" hasCustomPrompt="1"/>
          </p:nvPr>
        </p:nvSpPr>
        <p:spPr>
          <a:xfrm>
            <a:off x="548640" y="566928"/>
            <a:ext cx="9509760" cy="73152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Worked example: step by step</a:t>
            </a:r>
            <a:endParaRPr lang="en-US" sz="3200" dirty="0"/>
          </a:p>
        </p:txBody>
      </p:sp>
      <p:sp>
        <p:nvSpPr>
          <p:cNvPr id="4" name="nav-map"/>
          <p:cNvSpPr txBox="1"/>
          <p:nvPr/>
        </p:nvSpPr>
        <p:spPr>
          <a:xfrm>
            <a:off x="10469880" y="274320"/>
            <a:ext cx="1188720" cy="320040"/>
          </a:xfrm>
          <a:prstGeom prst="rect">
            <a:avLst/>
          </a:prstGeom>
          <a:noFill/>
          <a:ln/>
        </p:spPr>
        <p:txBody>
          <a:bodyPr wrap="square" lIns="0" tIns="0" rIns="0" bIns="0" rtlCol="0" anchor="ctr"/>
          <a:lstStyle/>
          <a:p>
            <a:pPr algn="r" indent="0" marL="0">
              <a:buNone/>
            </a:pPr>
            <a:r>
              <a:rPr lang="en-US" sz="1200" u="sng" dirty="0">
                <a:solidFill>
                  <a:schemeClr val="accent1"/>
                </a:solidFill>
                <a:hlinkClick r:id="rId1" action="ppaction://hlinksldjump" tooltip="Back to lesson map">
                  <a:extLst>
                    <a:ext uri="{A12FA001-AC4F-418D-AE19-62706E023703}">
                      <ahyp:hlinkClr xmlns:ahyp="http://schemas.microsoft.com/office/drawing/2018/hyperlinkcolor" val="tx"/>
                    </a:ext>
                  </a:extLst>
                </a:hlinkClick>
              </a:rPr>
              <a:t>Lesson map</a:t>
            </a:r>
            <a:endParaRPr lang="en-US" sz="1200" dirty="0"/>
          </a:p>
        </p:txBody>
      </p:sp>
      <p:sp>
        <p:nvSpPr>
          <p:cNvPr id="5" name="Shape 3"/>
          <p:cNvSpPr/>
          <p:nvPr/>
        </p:nvSpPr>
        <p:spPr>
          <a:xfrm>
            <a:off x="548640" y="1600200"/>
            <a:ext cx="384048" cy="384048"/>
          </a:xfrm>
          <a:prstGeom prst="ellipse">
            <a:avLst/>
          </a:prstGeom>
          <a:solidFill>
            <a:schemeClr val="accent1"/>
          </a:solidFill>
          <a:ln w="12700">
            <a:solidFill>
              <a:schemeClr val="accent1"/>
            </a:solidFill>
            <a:prstDash val="solid"/>
          </a:ln>
        </p:spPr>
      </p:sp>
      <p:sp>
        <p:nvSpPr>
          <p:cNvPr id="6" name="Text 4"/>
          <p:cNvSpPr txBox="1"/>
          <p:nvPr/>
        </p:nvSpPr>
        <p:spPr>
          <a:xfrm>
            <a:off x="548640" y="1600200"/>
            <a:ext cx="384048" cy="384048"/>
          </a:xfrm>
          <a:prstGeom prst="rect">
            <a:avLst/>
          </a:prstGeom>
          <a:noFill/>
          <a:ln/>
        </p:spPr>
        <p:txBody>
          <a:bodyPr wrap="square" lIns="0" tIns="0" rIns="0" bIns="0" rtlCol="0" anchor="ctr"/>
          <a:lstStyle/>
          <a:p>
            <a:pPr algn="ctr" indent="0" marL="0">
              <a:spcAft>
                <a:spcPts val="400"/>
              </a:spcAft>
              <a:buNone/>
            </a:pPr>
            <a:r>
              <a:rPr lang="en-US" sz="1500" b="1" dirty="0">
                <a:solidFill>
                  <a:schemeClr val="bg1"/>
                </a:solidFill>
              </a:rPr>
              <a:t>1</a:t>
            </a:r>
            <a:endParaRPr lang="en-US" sz="1500" dirty="0"/>
          </a:p>
        </p:txBody>
      </p:sp>
      <p:sp>
        <p:nvSpPr>
          <p:cNvPr id="7" name="Shape 5"/>
          <p:cNvSpPr/>
          <p:nvPr/>
        </p:nvSpPr>
        <p:spPr>
          <a:xfrm>
            <a:off x="1097280" y="1463040"/>
            <a:ext cx="6400800" cy="777240"/>
          </a:xfrm>
          <a:prstGeom prst="roundRect">
            <a:avLst>
              <a:gd name="adj" fmla="val 14118"/>
            </a:avLst>
          </a:prstGeom>
          <a:solidFill>
            <a:schemeClr val="bg1"/>
          </a:solidFill>
          <a:ln w="12700">
            <a:solidFill>
              <a:schemeClr val="bg1"/>
            </a:solidFill>
            <a:prstDash val="solid"/>
          </a:ln>
        </p:spPr>
      </p:sp>
      <p:sp>
        <p:nvSpPr>
          <p:cNvPr id="8" name="Text 6"/>
          <p:cNvSpPr txBox="1"/>
          <p:nvPr/>
        </p:nvSpPr>
        <p:spPr>
          <a:xfrm>
            <a:off x="1234440" y="1463040"/>
            <a:ext cx="6172200" cy="777240"/>
          </a:xfrm>
          <a:prstGeom prst="rect">
            <a:avLst/>
          </a:prstGeom>
          <a:noFill/>
          <a:ln/>
        </p:spPr>
        <p:txBody>
          <a:bodyPr wrap="square" lIns="1016" tIns="1016" rIns="1016" bIns="1016" rtlCol="0" anchor="ctr"/>
          <a:lstStyle/>
          <a:p>
            <a:pPr indent="0" marL="0">
              <a:spcAft>
                <a:spcPts val="400"/>
              </a:spcAft>
              <a:buNone/>
            </a:pPr>
            <a:r>
              <a:rPr lang="en-US" sz="1600" b="1" dirty="0">
                <a:solidFill>
                  <a:schemeClr val="tx1"/>
                </a:solidFill>
              </a:rPr>
              <a:t>Find "after":  </a:t>
            </a:r>
            <a:pPr indent="0" marL="0">
              <a:spcAft>
                <a:spcPts val="400"/>
              </a:spcAft>
              <a:buNone/>
            </a:pPr>
            <a:r>
              <a:rPr lang="en-US" sz="1600" dirty="0">
                <a:solidFill>
                  <a:schemeClr val="tx1"/>
                </a:solidFill>
              </a:rPr>
              <a:t>The energy that reaches the secondary consumers = 714 kJ m⁻² year⁻¹</a:t>
            </a:r>
            <a:endParaRPr lang="en-US" sz="1600" dirty="0"/>
          </a:p>
        </p:txBody>
      </p:sp>
      <p:sp>
        <p:nvSpPr>
          <p:cNvPr id="9" name="Shape 7"/>
          <p:cNvSpPr/>
          <p:nvPr/>
        </p:nvSpPr>
        <p:spPr>
          <a:xfrm>
            <a:off x="548640" y="2560320"/>
            <a:ext cx="384048" cy="384048"/>
          </a:xfrm>
          <a:prstGeom prst="ellipse">
            <a:avLst/>
          </a:prstGeom>
          <a:solidFill>
            <a:schemeClr val="accent1"/>
          </a:solidFill>
          <a:ln w="12700">
            <a:solidFill>
              <a:schemeClr val="accent1"/>
            </a:solidFill>
            <a:prstDash val="solid"/>
          </a:ln>
        </p:spPr>
      </p:sp>
      <p:sp>
        <p:nvSpPr>
          <p:cNvPr id="10" name="Text 8"/>
          <p:cNvSpPr txBox="1"/>
          <p:nvPr/>
        </p:nvSpPr>
        <p:spPr>
          <a:xfrm>
            <a:off x="548640" y="2560320"/>
            <a:ext cx="384048" cy="384048"/>
          </a:xfrm>
          <a:prstGeom prst="rect">
            <a:avLst/>
          </a:prstGeom>
          <a:noFill/>
          <a:ln/>
        </p:spPr>
        <p:txBody>
          <a:bodyPr wrap="square" lIns="0" tIns="0" rIns="0" bIns="0" rtlCol="0" anchor="ctr"/>
          <a:lstStyle/>
          <a:p>
            <a:pPr algn="ctr" indent="0" marL="0">
              <a:spcAft>
                <a:spcPts val="400"/>
              </a:spcAft>
              <a:buNone/>
            </a:pPr>
            <a:r>
              <a:rPr lang="en-US" sz="1500" b="1" dirty="0">
                <a:solidFill>
                  <a:schemeClr val="bg1"/>
                </a:solidFill>
              </a:rPr>
              <a:t>2</a:t>
            </a:r>
            <a:endParaRPr lang="en-US" sz="1500" dirty="0"/>
          </a:p>
        </p:txBody>
      </p:sp>
      <p:sp>
        <p:nvSpPr>
          <p:cNvPr id="11" name="Shape 9"/>
          <p:cNvSpPr/>
          <p:nvPr/>
        </p:nvSpPr>
        <p:spPr>
          <a:xfrm>
            <a:off x="1097280" y="2423160"/>
            <a:ext cx="6400800" cy="777240"/>
          </a:xfrm>
          <a:prstGeom prst="roundRect">
            <a:avLst>
              <a:gd name="adj" fmla="val 14118"/>
            </a:avLst>
          </a:prstGeom>
          <a:solidFill>
            <a:schemeClr val="bg1"/>
          </a:solidFill>
          <a:ln w="12700">
            <a:solidFill>
              <a:schemeClr val="bg1"/>
            </a:solidFill>
            <a:prstDash val="solid"/>
          </a:ln>
        </p:spPr>
      </p:sp>
      <p:sp>
        <p:nvSpPr>
          <p:cNvPr id="12" name="Text 10"/>
          <p:cNvSpPr txBox="1"/>
          <p:nvPr/>
        </p:nvSpPr>
        <p:spPr>
          <a:xfrm>
            <a:off x="1234440" y="2423160"/>
            <a:ext cx="6172200" cy="777240"/>
          </a:xfrm>
          <a:prstGeom prst="rect">
            <a:avLst/>
          </a:prstGeom>
          <a:noFill/>
          <a:ln/>
        </p:spPr>
        <p:txBody>
          <a:bodyPr wrap="square" lIns="1016" tIns="1016" rIns="1016" bIns="1016" rtlCol="0" anchor="ctr"/>
          <a:lstStyle/>
          <a:p>
            <a:pPr indent="0" marL="0">
              <a:spcAft>
                <a:spcPts val="400"/>
              </a:spcAft>
              <a:buNone/>
            </a:pPr>
            <a:r>
              <a:rPr lang="en-US" sz="1600" b="1" dirty="0">
                <a:solidFill>
                  <a:schemeClr val="tx1"/>
                </a:solidFill>
              </a:rPr>
              <a:t>Find "before":  </a:t>
            </a:r>
            <a:pPr indent="0" marL="0">
              <a:spcAft>
                <a:spcPts val="400"/>
              </a:spcAft>
              <a:buNone/>
            </a:pPr>
            <a:r>
              <a:rPr lang="en-US" sz="1600" dirty="0">
                <a:solidFill>
                  <a:schemeClr val="tx1"/>
                </a:solidFill>
              </a:rPr>
              <a:t>The energy that was available in the primary consumers = 4032 kJ m⁻² year⁻¹</a:t>
            </a:r>
            <a:endParaRPr lang="en-US" sz="1600" dirty="0"/>
          </a:p>
        </p:txBody>
      </p:sp>
      <p:sp>
        <p:nvSpPr>
          <p:cNvPr id="13" name="Shape 11"/>
          <p:cNvSpPr/>
          <p:nvPr/>
        </p:nvSpPr>
        <p:spPr>
          <a:xfrm>
            <a:off x="548640" y="3520440"/>
            <a:ext cx="384048" cy="384048"/>
          </a:xfrm>
          <a:prstGeom prst="ellipse">
            <a:avLst/>
          </a:prstGeom>
          <a:solidFill>
            <a:schemeClr val="accent1"/>
          </a:solidFill>
          <a:ln w="12700">
            <a:solidFill>
              <a:schemeClr val="accent1"/>
            </a:solidFill>
            <a:prstDash val="solid"/>
          </a:ln>
        </p:spPr>
      </p:sp>
      <p:sp>
        <p:nvSpPr>
          <p:cNvPr id="14" name="Text 12"/>
          <p:cNvSpPr txBox="1"/>
          <p:nvPr/>
        </p:nvSpPr>
        <p:spPr>
          <a:xfrm>
            <a:off x="548640" y="3520440"/>
            <a:ext cx="384048" cy="384048"/>
          </a:xfrm>
          <a:prstGeom prst="rect">
            <a:avLst/>
          </a:prstGeom>
          <a:noFill/>
          <a:ln/>
        </p:spPr>
        <p:txBody>
          <a:bodyPr wrap="square" lIns="0" tIns="0" rIns="0" bIns="0" rtlCol="0" anchor="ctr"/>
          <a:lstStyle/>
          <a:p>
            <a:pPr algn="ctr" indent="0" marL="0">
              <a:spcAft>
                <a:spcPts val="400"/>
              </a:spcAft>
              <a:buNone/>
            </a:pPr>
            <a:r>
              <a:rPr lang="en-US" sz="1500" b="1" dirty="0">
                <a:solidFill>
                  <a:schemeClr val="bg1"/>
                </a:solidFill>
              </a:rPr>
              <a:t>3</a:t>
            </a:r>
            <a:endParaRPr lang="en-US" sz="1500" dirty="0"/>
          </a:p>
        </p:txBody>
      </p:sp>
      <p:sp>
        <p:nvSpPr>
          <p:cNvPr id="15" name="Shape 13"/>
          <p:cNvSpPr/>
          <p:nvPr/>
        </p:nvSpPr>
        <p:spPr>
          <a:xfrm>
            <a:off x="1097280" y="3383280"/>
            <a:ext cx="6400800" cy="777240"/>
          </a:xfrm>
          <a:prstGeom prst="roundRect">
            <a:avLst>
              <a:gd name="adj" fmla="val 14118"/>
            </a:avLst>
          </a:prstGeom>
          <a:solidFill>
            <a:schemeClr val="bg1"/>
          </a:solidFill>
          <a:ln w="12700">
            <a:solidFill>
              <a:schemeClr val="bg1"/>
            </a:solidFill>
            <a:prstDash val="solid"/>
          </a:ln>
        </p:spPr>
      </p:sp>
      <p:sp>
        <p:nvSpPr>
          <p:cNvPr id="16" name="Text 14"/>
          <p:cNvSpPr txBox="1"/>
          <p:nvPr/>
        </p:nvSpPr>
        <p:spPr>
          <a:xfrm>
            <a:off x="1234440" y="3383280"/>
            <a:ext cx="6172200" cy="777240"/>
          </a:xfrm>
          <a:prstGeom prst="rect">
            <a:avLst/>
          </a:prstGeom>
          <a:noFill/>
          <a:ln/>
        </p:spPr>
        <p:txBody>
          <a:bodyPr wrap="square" lIns="1016" tIns="1016" rIns="1016" bIns="1016" rtlCol="0" anchor="ctr"/>
          <a:lstStyle/>
          <a:p>
            <a:pPr indent="0" marL="0">
              <a:spcAft>
                <a:spcPts val="400"/>
              </a:spcAft>
              <a:buNone/>
            </a:pPr>
            <a:r>
              <a:rPr lang="en-US" sz="1600" b="1" dirty="0">
                <a:solidFill>
                  <a:schemeClr val="tx1"/>
                </a:solidFill>
              </a:rPr>
              <a:t>Divide after by before:  </a:t>
            </a:r>
            <a:pPr indent="0" marL="0">
              <a:spcAft>
                <a:spcPts val="400"/>
              </a:spcAft>
              <a:buNone/>
            </a:pPr>
            <a:r>
              <a:rPr lang="en-US" sz="1600" dirty="0">
                <a:solidFill>
                  <a:schemeClr val="tx1"/>
                </a:solidFill>
              </a:rPr>
              <a:t>714 ÷ 4032 = 0.1771</a:t>
            </a:r>
            <a:endParaRPr lang="en-US" sz="1600" dirty="0"/>
          </a:p>
        </p:txBody>
      </p:sp>
      <p:sp>
        <p:nvSpPr>
          <p:cNvPr id="17" name="Shape 15"/>
          <p:cNvSpPr/>
          <p:nvPr/>
        </p:nvSpPr>
        <p:spPr>
          <a:xfrm>
            <a:off x="548640" y="4480560"/>
            <a:ext cx="384048" cy="384048"/>
          </a:xfrm>
          <a:prstGeom prst="ellipse">
            <a:avLst/>
          </a:prstGeom>
          <a:solidFill>
            <a:schemeClr val="accent1"/>
          </a:solidFill>
          <a:ln w="12700">
            <a:solidFill>
              <a:schemeClr val="accent1"/>
            </a:solidFill>
            <a:prstDash val="solid"/>
          </a:ln>
        </p:spPr>
      </p:sp>
      <p:sp>
        <p:nvSpPr>
          <p:cNvPr id="18" name="Text 16"/>
          <p:cNvSpPr txBox="1"/>
          <p:nvPr/>
        </p:nvSpPr>
        <p:spPr>
          <a:xfrm>
            <a:off x="548640" y="4480560"/>
            <a:ext cx="384048" cy="384048"/>
          </a:xfrm>
          <a:prstGeom prst="rect">
            <a:avLst/>
          </a:prstGeom>
          <a:noFill/>
          <a:ln/>
        </p:spPr>
        <p:txBody>
          <a:bodyPr wrap="square" lIns="0" tIns="0" rIns="0" bIns="0" rtlCol="0" anchor="ctr"/>
          <a:lstStyle/>
          <a:p>
            <a:pPr algn="ctr" indent="0" marL="0">
              <a:spcAft>
                <a:spcPts val="400"/>
              </a:spcAft>
              <a:buNone/>
            </a:pPr>
            <a:r>
              <a:rPr lang="en-US" sz="1500" b="1" dirty="0">
                <a:solidFill>
                  <a:schemeClr val="bg1"/>
                </a:solidFill>
              </a:rPr>
              <a:t>4</a:t>
            </a:r>
            <a:endParaRPr lang="en-US" sz="1500" dirty="0"/>
          </a:p>
        </p:txBody>
      </p:sp>
      <p:sp>
        <p:nvSpPr>
          <p:cNvPr id="19" name="Shape 17"/>
          <p:cNvSpPr/>
          <p:nvPr/>
        </p:nvSpPr>
        <p:spPr>
          <a:xfrm>
            <a:off x="1097280" y="4343400"/>
            <a:ext cx="6400800" cy="777240"/>
          </a:xfrm>
          <a:prstGeom prst="roundRect">
            <a:avLst>
              <a:gd name="adj" fmla="val 14118"/>
            </a:avLst>
          </a:prstGeom>
          <a:solidFill>
            <a:schemeClr val="bg1"/>
          </a:solidFill>
          <a:ln w="12700">
            <a:solidFill>
              <a:schemeClr val="bg1"/>
            </a:solidFill>
            <a:prstDash val="solid"/>
          </a:ln>
        </p:spPr>
      </p:sp>
      <p:sp>
        <p:nvSpPr>
          <p:cNvPr id="20" name="Text 18"/>
          <p:cNvSpPr txBox="1"/>
          <p:nvPr/>
        </p:nvSpPr>
        <p:spPr>
          <a:xfrm>
            <a:off x="1234440" y="4343400"/>
            <a:ext cx="6172200" cy="777240"/>
          </a:xfrm>
          <a:prstGeom prst="rect">
            <a:avLst/>
          </a:prstGeom>
          <a:noFill/>
          <a:ln/>
        </p:spPr>
        <p:txBody>
          <a:bodyPr wrap="square" lIns="1016" tIns="1016" rIns="1016" bIns="1016" rtlCol="0" anchor="ctr"/>
          <a:lstStyle/>
          <a:p>
            <a:pPr indent="0" marL="0">
              <a:spcAft>
                <a:spcPts val="400"/>
              </a:spcAft>
              <a:buNone/>
            </a:pPr>
            <a:r>
              <a:rPr lang="en-US" sz="1600" b="1" dirty="0">
                <a:solidFill>
                  <a:schemeClr val="tx1"/>
                </a:solidFill>
              </a:rPr>
              <a:t>Multiply by 100:  </a:t>
            </a:r>
            <a:pPr indent="0" marL="0">
              <a:spcAft>
                <a:spcPts val="400"/>
              </a:spcAft>
              <a:buNone/>
            </a:pPr>
            <a:r>
              <a:rPr lang="en-US" sz="1600" dirty="0">
                <a:solidFill>
                  <a:schemeClr val="tx1"/>
                </a:solidFill>
              </a:rPr>
              <a:t>0.1771 × 100 = 17.7%</a:t>
            </a:r>
            <a:endParaRPr lang="en-US" sz="1600" dirty="0"/>
          </a:p>
        </p:txBody>
      </p:sp>
      <p:sp>
        <p:nvSpPr>
          <p:cNvPr id="21" name="Shape 19"/>
          <p:cNvSpPr/>
          <p:nvPr/>
        </p:nvSpPr>
        <p:spPr>
          <a:xfrm>
            <a:off x="7863840" y="1463040"/>
            <a:ext cx="3749040" cy="3611880"/>
          </a:xfrm>
          <a:prstGeom prst="roundRect">
            <a:avLst>
              <a:gd name="adj" fmla="val 3038"/>
            </a:avLst>
          </a:prstGeom>
          <a:solidFill>
            <a:schemeClr val="accent1"/>
          </a:solidFill>
          <a:ln w="12700">
            <a:solidFill>
              <a:schemeClr val="accent1"/>
            </a:solidFill>
            <a:prstDash val="solid"/>
          </a:ln>
        </p:spPr>
      </p:sp>
      <p:sp>
        <p:nvSpPr>
          <p:cNvPr id="22" name="Text 20"/>
          <p:cNvSpPr txBox="1"/>
          <p:nvPr/>
        </p:nvSpPr>
        <p:spPr>
          <a:xfrm>
            <a:off x="8001000" y="1600200"/>
            <a:ext cx="3474720" cy="3337560"/>
          </a:xfrm>
          <a:prstGeom prst="rect">
            <a:avLst/>
          </a:prstGeom>
          <a:noFill/>
          <a:ln/>
        </p:spPr>
        <p:txBody>
          <a:bodyPr wrap="square" lIns="1016" tIns="1016" rIns="1016" bIns="1016" rtlCol="0" anchor="ctr"/>
          <a:lstStyle/>
          <a:p>
            <a:pPr algn="ctr" indent="0" marL="0">
              <a:spcAft>
                <a:spcPts val="400"/>
              </a:spcAft>
              <a:buNone/>
            </a:pPr>
            <a:r>
              <a:rPr lang="en-US" sz="1600" dirty="0">
                <a:solidFill>
                  <a:schemeClr val="bg1"/>
                </a:solidFill>
                <a:latin typeface="Cambria" pitchFamily="34" charset="0"/>
                <a:ea typeface="Cambria" pitchFamily="34" charset="-122"/>
                <a:cs typeface="Cambria" pitchFamily="34" charset="-120"/>
              </a:rPr>
              <a:t>Percentage efficiency</a:t>
            </a:r>
            <a:endParaRPr lang="en-US" sz="1600" dirty="0"/>
          </a:p>
          <a:p>
            <a:pPr algn="ctr" indent="0" marL="0">
              <a:spcAft>
                <a:spcPts val="400"/>
              </a:spcAft>
              <a:buNone/>
            </a:pPr>
            <a:r>
              <a:rPr lang="en-US" sz="2400" b="1" u="sng" dirty="0">
                <a:solidFill>
                  <a:schemeClr val="bg1"/>
                </a:solidFill>
                <a:latin typeface="Cambria" pitchFamily="34" charset="0"/>
                <a:ea typeface="Cambria" pitchFamily="34" charset="-122"/>
                <a:cs typeface="Cambria" pitchFamily="34" charset="-120"/>
              </a:rPr>
              <a:t>714</a:t>
            </a:r>
            <a:endParaRPr lang="en-US" sz="1600" dirty="0"/>
          </a:p>
          <a:p>
            <a:pPr algn="ctr" indent="0" marL="0">
              <a:spcAft>
                <a:spcPts val="400"/>
              </a:spcAft>
              <a:buNone/>
            </a:pPr>
            <a:r>
              <a:rPr lang="en-US" sz="2400" b="1" dirty="0">
                <a:solidFill>
                  <a:schemeClr val="bg1"/>
                </a:solidFill>
                <a:latin typeface="Cambria" pitchFamily="34" charset="0"/>
                <a:ea typeface="Cambria" pitchFamily="34" charset="-122"/>
                <a:cs typeface="Cambria" pitchFamily="34" charset="-120"/>
              </a:rPr>
              <a:t>4032</a:t>
            </a:r>
            <a:endParaRPr lang="en-US" sz="1600" dirty="0"/>
          </a:p>
          <a:p>
            <a:pPr algn="ctr" indent="0" marL="0">
              <a:spcAft>
                <a:spcPts val="400"/>
              </a:spcAft>
              <a:buNone/>
            </a:pPr>
            <a:r>
              <a:rPr lang="en-US" sz="2800" b="1" dirty="0">
                <a:solidFill>
                  <a:schemeClr val="bg1"/>
                </a:solidFill>
                <a:latin typeface="Cambria" pitchFamily="34" charset="0"/>
                <a:ea typeface="Cambria" pitchFamily="34" charset="-122"/>
                <a:cs typeface="Cambria" pitchFamily="34" charset="-120"/>
              </a:rPr>
              <a:t>× 100 = 17.7%</a:t>
            </a:r>
            <a:endParaRPr lang="en-US" sz="1600" dirty="0"/>
          </a:p>
        </p:txBody>
      </p:sp>
      <p:sp>
        <p:nvSpPr>
          <p:cNvPr id="23" name="Shape 21"/>
          <p:cNvSpPr/>
          <p:nvPr/>
        </p:nvSpPr>
        <p:spPr>
          <a:xfrm>
            <a:off x="548640" y="5349240"/>
            <a:ext cx="11064240" cy="777240"/>
          </a:xfrm>
          <a:prstGeom prst="roundRect">
            <a:avLst>
              <a:gd name="adj" fmla="val 14118"/>
            </a:avLst>
          </a:prstGeom>
          <a:solidFill>
            <a:schemeClr val="bg1"/>
          </a:solidFill>
          <a:ln w="12700">
            <a:solidFill>
              <a:schemeClr val="bg1"/>
            </a:solidFill>
            <a:prstDash val="solid"/>
          </a:ln>
        </p:spPr>
      </p:sp>
      <p:sp>
        <p:nvSpPr>
          <p:cNvPr id="24" name="Text 22"/>
          <p:cNvSpPr txBox="1"/>
          <p:nvPr/>
        </p:nvSpPr>
        <p:spPr>
          <a:xfrm>
            <a:off x="685800" y="5440680"/>
            <a:ext cx="10789920" cy="594360"/>
          </a:xfrm>
          <a:prstGeom prst="rect">
            <a:avLst/>
          </a:prstGeom>
          <a:noFill/>
          <a:ln/>
        </p:spPr>
        <p:txBody>
          <a:bodyPr wrap="square" lIns="1016" tIns="1016" rIns="1016" bIns="1016" rtlCol="0" anchor="t"/>
          <a:lstStyle/>
          <a:p>
            <a:pPr indent="0" marL="0">
              <a:spcAft>
                <a:spcPts val="400"/>
              </a:spcAft>
              <a:buNone/>
            </a:pPr>
            <a:r>
              <a:rPr lang="en-US" sz="1100" b="1" spc="100" kern="0" dirty="0">
                <a:solidFill>
                  <a:schemeClr val="tx1"/>
                </a:solidFill>
              </a:rPr>
              <a:t>SENSE CHECK</a:t>
            </a:r>
            <a:endParaRPr lang="en-US" sz="1500" dirty="0"/>
          </a:p>
          <a:p>
            <a:pPr indent="0" marL="0">
              <a:spcAft>
                <a:spcPts val="400"/>
              </a:spcAft>
              <a:buNone/>
            </a:pPr>
            <a:r>
              <a:rPr lang="en-US" sz="1500" dirty="0">
                <a:solidFill>
                  <a:schemeClr val="tx1"/>
                </a:solidFill>
              </a:rPr>
              <a:t>17.7% sits inside the 15–20% shown in Figure 1 for this step.</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896112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CHECK C · TRY FIRST, ANSWERS ON THE NEXT SLIDE</a:t>
            </a:r>
            <a:endParaRPr lang="en-US" sz="1200" dirty="0"/>
          </a:p>
        </p:txBody>
      </p:sp>
      <p:sp>
        <p:nvSpPr>
          <p:cNvPr id="3" name="Text 0"/>
          <p:cNvSpPr/>
          <p:nvPr>
            <p:ph idx="101" type="title" hasCustomPrompt="1"/>
          </p:nvPr>
        </p:nvSpPr>
        <p:spPr>
          <a:xfrm>
            <a:off x="548640" y="566928"/>
            <a:ext cx="9509760" cy="73152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Check your understanding</a:t>
            </a:r>
            <a:endParaRPr lang="en-US" sz="3200" dirty="0"/>
          </a:p>
        </p:txBody>
      </p:sp>
      <p:sp>
        <p:nvSpPr>
          <p:cNvPr id="4" name="nav-map"/>
          <p:cNvSpPr txBox="1"/>
          <p:nvPr/>
        </p:nvSpPr>
        <p:spPr>
          <a:xfrm>
            <a:off x="10469880" y="274320"/>
            <a:ext cx="1188720" cy="320040"/>
          </a:xfrm>
          <a:prstGeom prst="rect">
            <a:avLst/>
          </a:prstGeom>
          <a:noFill/>
          <a:ln/>
        </p:spPr>
        <p:txBody>
          <a:bodyPr wrap="square" lIns="0" tIns="0" rIns="0" bIns="0" rtlCol="0" anchor="ctr"/>
          <a:lstStyle/>
          <a:p>
            <a:pPr algn="r" indent="0" marL="0">
              <a:buNone/>
            </a:pPr>
            <a:r>
              <a:rPr lang="en-US" sz="1200" u="sng" dirty="0">
                <a:solidFill>
                  <a:schemeClr val="accent1"/>
                </a:solidFill>
                <a:hlinkClick r:id="rId1" action="ppaction://hlinksldjump" tooltip="Back to lesson map">
                  <a:extLst>
                    <a:ext uri="{A12FA001-AC4F-418D-AE19-62706E023703}">
                      <ahyp:hlinkClr xmlns:ahyp="http://schemas.microsoft.com/office/drawing/2018/hyperlinkcolor" val="tx"/>
                    </a:ext>
                  </a:extLst>
                </a:hlinkClick>
              </a:rPr>
              <a:t>Lesson map</a:t>
            </a:r>
            <a:endParaRPr lang="en-US" sz="1200" dirty="0"/>
          </a:p>
        </p:txBody>
      </p:sp>
      <p:sp>
        <p:nvSpPr>
          <p:cNvPr id="5" name="Shape 3"/>
          <p:cNvSpPr/>
          <p:nvPr/>
        </p:nvSpPr>
        <p:spPr>
          <a:xfrm>
            <a:off x="548640" y="1417320"/>
            <a:ext cx="5486400" cy="2286000"/>
          </a:xfrm>
          <a:prstGeom prst="roundRect">
            <a:avLst>
              <a:gd name="adj" fmla="val 4800"/>
            </a:avLst>
          </a:prstGeom>
          <a:solidFill>
            <a:schemeClr val="bg1"/>
          </a:solidFill>
          <a:ln w="12700">
            <a:solidFill>
              <a:schemeClr val="bg1"/>
            </a:solidFill>
            <a:prstDash val="solid"/>
          </a:ln>
        </p:spPr>
      </p:sp>
      <p:sp>
        <p:nvSpPr>
          <p:cNvPr id="6" name="Shape 4"/>
          <p:cNvSpPr/>
          <p:nvPr/>
        </p:nvSpPr>
        <p:spPr>
          <a:xfrm>
            <a:off x="685800" y="1554480"/>
            <a:ext cx="1097280" cy="274320"/>
          </a:xfrm>
          <a:prstGeom prst="roundRect">
            <a:avLst>
              <a:gd name="adj" fmla="val 40000"/>
            </a:avLst>
          </a:prstGeom>
          <a:solidFill>
            <a:schemeClr val="accent4"/>
          </a:solidFill>
          <a:ln w="12700">
            <a:solidFill>
              <a:schemeClr val="accent4"/>
            </a:solidFill>
            <a:prstDash val="solid"/>
          </a:ln>
        </p:spPr>
      </p:sp>
      <p:sp>
        <p:nvSpPr>
          <p:cNvPr id="7" name="Text 5"/>
          <p:cNvSpPr txBox="1"/>
          <p:nvPr/>
        </p:nvSpPr>
        <p:spPr>
          <a:xfrm>
            <a:off x="685800" y="1554480"/>
            <a:ext cx="1097280" cy="274320"/>
          </a:xfrm>
          <a:prstGeom prst="rect">
            <a:avLst/>
          </a:prstGeom>
          <a:noFill/>
          <a:ln/>
        </p:spPr>
        <p:txBody>
          <a:bodyPr wrap="square" lIns="0" tIns="0" rIns="0" bIns="0" rtlCol="0" anchor="ctr"/>
          <a:lstStyle/>
          <a:p>
            <a:pPr algn="ctr" indent="0" marL="0">
              <a:spcAft>
                <a:spcPts val="400"/>
              </a:spcAft>
              <a:buNone/>
            </a:pPr>
            <a:r>
              <a:rPr lang="en-US" sz="1000" b="1" spc="100" kern="0" dirty="0">
                <a:solidFill>
                  <a:schemeClr val="tx1"/>
                </a:solidFill>
              </a:rPr>
              <a:t>NEW QUESTION</a:t>
            </a:r>
            <a:endParaRPr lang="en-US" sz="1000" dirty="0"/>
          </a:p>
        </p:txBody>
      </p:sp>
      <p:sp>
        <p:nvSpPr>
          <p:cNvPr id="8" name="Text 6"/>
          <p:cNvSpPr txBox="1"/>
          <p:nvPr/>
        </p:nvSpPr>
        <p:spPr>
          <a:xfrm>
            <a:off x="685800" y="1892808"/>
            <a:ext cx="5212080" cy="1737360"/>
          </a:xfrm>
          <a:prstGeom prst="rect">
            <a:avLst/>
          </a:prstGeom>
          <a:noFill/>
          <a:ln/>
        </p:spPr>
        <p:txBody>
          <a:bodyPr wrap="square" lIns="1016" tIns="1016" rIns="1016" bIns="1016" rtlCol="0" anchor="t"/>
          <a:lstStyle/>
          <a:p>
            <a:pPr indent="0" marL="0">
              <a:spcAft>
                <a:spcPts val="400"/>
              </a:spcAft>
              <a:buNone/>
            </a:pPr>
            <a:r>
              <a:rPr lang="en-US" sz="1500" dirty="0">
                <a:solidFill>
                  <a:schemeClr val="tx1"/>
                </a:solidFill>
              </a:rPr>
              <a:t>1. Using the same food chain (6300 → 4032 → 714 → 78), calculate the percentage efficiency between secondary and tertiary consumers. Give your answer to 1 decimal place.</a:t>
            </a:r>
            <a:endParaRPr lang="en-US" sz="1500" dirty="0"/>
          </a:p>
        </p:txBody>
      </p:sp>
      <p:sp>
        <p:nvSpPr>
          <p:cNvPr id="9" name="Shape 7"/>
          <p:cNvSpPr/>
          <p:nvPr/>
        </p:nvSpPr>
        <p:spPr>
          <a:xfrm>
            <a:off x="6172200" y="1417320"/>
            <a:ext cx="5486400" cy="2286000"/>
          </a:xfrm>
          <a:prstGeom prst="roundRect">
            <a:avLst>
              <a:gd name="adj" fmla="val 4800"/>
            </a:avLst>
          </a:prstGeom>
          <a:solidFill>
            <a:schemeClr val="bg1"/>
          </a:solidFill>
          <a:ln w="12700">
            <a:solidFill>
              <a:schemeClr val="bg1"/>
            </a:solidFill>
            <a:prstDash val="solid"/>
          </a:ln>
        </p:spPr>
      </p:sp>
      <p:sp>
        <p:nvSpPr>
          <p:cNvPr id="10" name="Shape 8"/>
          <p:cNvSpPr/>
          <p:nvPr/>
        </p:nvSpPr>
        <p:spPr>
          <a:xfrm>
            <a:off x="6309360" y="1554480"/>
            <a:ext cx="1097280" cy="274320"/>
          </a:xfrm>
          <a:prstGeom prst="roundRect">
            <a:avLst>
              <a:gd name="adj" fmla="val 40000"/>
            </a:avLst>
          </a:prstGeom>
          <a:solidFill>
            <a:schemeClr val="accent4"/>
          </a:solidFill>
          <a:ln w="12700">
            <a:solidFill>
              <a:schemeClr val="accent4"/>
            </a:solidFill>
            <a:prstDash val="solid"/>
          </a:ln>
        </p:spPr>
      </p:sp>
      <p:sp>
        <p:nvSpPr>
          <p:cNvPr id="11" name="Text 9"/>
          <p:cNvSpPr txBox="1"/>
          <p:nvPr/>
        </p:nvSpPr>
        <p:spPr>
          <a:xfrm>
            <a:off x="6309360" y="1554480"/>
            <a:ext cx="1097280" cy="274320"/>
          </a:xfrm>
          <a:prstGeom prst="rect">
            <a:avLst/>
          </a:prstGeom>
          <a:noFill/>
          <a:ln/>
        </p:spPr>
        <p:txBody>
          <a:bodyPr wrap="square" lIns="0" tIns="0" rIns="0" bIns="0" rtlCol="0" anchor="ctr"/>
          <a:lstStyle/>
          <a:p>
            <a:pPr algn="ctr" indent="0" marL="0">
              <a:spcAft>
                <a:spcPts val="400"/>
              </a:spcAft>
              <a:buNone/>
            </a:pPr>
            <a:r>
              <a:rPr lang="en-US" sz="1000" b="1" spc="100" kern="0" dirty="0">
                <a:solidFill>
                  <a:schemeClr val="tx1"/>
                </a:solidFill>
              </a:rPr>
              <a:t>NEW QUESTION</a:t>
            </a:r>
            <a:endParaRPr lang="en-US" sz="1000" dirty="0"/>
          </a:p>
        </p:txBody>
      </p:sp>
      <p:sp>
        <p:nvSpPr>
          <p:cNvPr id="12" name="Text 10"/>
          <p:cNvSpPr txBox="1"/>
          <p:nvPr/>
        </p:nvSpPr>
        <p:spPr>
          <a:xfrm>
            <a:off x="6309360" y="1892808"/>
            <a:ext cx="5212080" cy="1737360"/>
          </a:xfrm>
          <a:prstGeom prst="rect">
            <a:avLst/>
          </a:prstGeom>
          <a:noFill/>
          <a:ln/>
        </p:spPr>
        <p:txBody>
          <a:bodyPr wrap="square" lIns="1016" tIns="1016" rIns="1016" bIns="1016" rtlCol="0" anchor="t"/>
          <a:lstStyle/>
          <a:p>
            <a:pPr indent="0" marL="0">
              <a:spcAft>
                <a:spcPts val="400"/>
              </a:spcAft>
              <a:buNone/>
            </a:pPr>
            <a:r>
              <a:rPr lang="en-US" sz="1500" dirty="0">
                <a:solidFill>
                  <a:schemeClr val="tx1"/>
                </a:solidFill>
              </a:rPr>
              <a:t>2. Now calculate the efficiency between producers and primary consumers.</a:t>
            </a:r>
            <a:endParaRPr lang="en-US" sz="1500" dirty="0"/>
          </a:p>
        </p:txBody>
      </p:sp>
      <p:sp>
        <p:nvSpPr>
          <p:cNvPr id="13" name="Shape 11"/>
          <p:cNvSpPr/>
          <p:nvPr/>
        </p:nvSpPr>
        <p:spPr>
          <a:xfrm>
            <a:off x="548640" y="3840480"/>
            <a:ext cx="11109960" cy="2240280"/>
          </a:xfrm>
          <a:prstGeom prst="roundRect">
            <a:avLst>
              <a:gd name="adj" fmla="val 4898"/>
            </a:avLst>
          </a:prstGeom>
          <a:solidFill>
            <a:schemeClr val="bg1"/>
          </a:solidFill>
          <a:ln w="12700">
            <a:solidFill>
              <a:schemeClr val="bg1"/>
            </a:solidFill>
            <a:prstDash val="solid"/>
          </a:ln>
        </p:spPr>
      </p:sp>
      <p:sp>
        <p:nvSpPr>
          <p:cNvPr id="14" name="Shape 12"/>
          <p:cNvSpPr/>
          <p:nvPr/>
        </p:nvSpPr>
        <p:spPr>
          <a:xfrm>
            <a:off x="685800" y="3977640"/>
            <a:ext cx="1097280" cy="274320"/>
          </a:xfrm>
          <a:prstGeom prst="roundRect">
            <a:avLst>
              <a:gd name="adj" fmla="val 40000"/>
            </a:avLst>
          </a:prstGeom>
          <a:solidFill>
            <a:schemeClr val="accent4"/>
          </a:solidFill>
          <a:ln w="12700">
            <a:solidFill>
              <a:schemeClr val="accent4"/>
            </a:solidFill>
            <a:prstDash val="solid"/>
          </a:ln>
        </p:spPr>
      </p:sp>
      <p:sp>
        <p:nvSpPr>
          <p:cNvPr id="15" name="Text 13"/>
          <p:cNvSpPr txBox="1"/>
          <p:nvPr/>
        </p:nvSpPr>
        <p:spPr>
          <a:xfrm>
            <a:off x="685800" y="3977640"/>
            <a:ext cx="1097280" cy="274320"/>
          </a:xfrm>
          <a:prstGeom prst="rect">
            <a:avLst/>
          </a:prstGeom>
          <a:noFill/>
          <a:ln/>
        </p:spPr>
        <p:txBody>
          <a:bodyPr wrap="square" lIns="0" tIns="0" rIns="0" bIns="0" rtlCol="0" anchor="ctr"/>
          <a:lstStyle/>
          <a:p>
            <a:pPr algn="ctr" indent="0" marL="0">
              <a:spcAft>
                <a:spcPts val="400"/>
              </a:spcAft>
              <a:buNone/>
            </a:pPr>
            <a:r>
              <a:rPr lang="en-US" sz="1000" b="1" spc="100" kern="0" dirty="0">
                <a:solidFill>
                  <a:schemeClr val="tx1"/>
                </a:solidFill>
              </a:rPr>
              <a:t>NEW QUESTION</a:t>
            </a:r>
            <a:endParaRPr lang="en-US" sz="1000" dirty="0"/>
          </a:p>
        </p:txBody>
      </p:sp>
      <p:sp>
        <p:nvSpPr>
          <p:cNvPr id="16" name="Text 14"/>
          <p:cNvSpPr txBox="1"/>
          <p:nvPr/>
        </p:nvSpPr>
        <p:spPr>
          <a:xfrm>
            <a:off x="685800" y="4315968"/>
            <a:ext cx="10835640" cy="1691640"/>
          </a:xfrm>
          <a:prstGeom prst="rect">
            <a:avLst/>
          </a:prstGeom>
          <a:noFill/>
          <a:ln/>
        </p:spPr>
        <p:txBody>
          <a:bodyPr wrap="square" lIns="1016" tIns="1016" rIns="1016" bIns="1016" rtlCol="0" anchor="t"/>
          <a:lstStyle/>
          <a:p>
            <a:pPr indent="0" marL="0">
              <a:spcAft>
                <a:spcPts val="400"/>
              </a:spcAft>
              <a:buNone/>
            </a:pPr>
            <a:r>
              <a:rPr lang="en-US" sz="1500" dirty="0">
                <a:solidFill>
                  <a:schemeClr val="tx1"/>
                </a:solidFill>
              </a:rPr>
              <a:t>3. Which units would you use for productivity in a lake?</a:t>
            </a:r>
            <a:endParaRPr lang="en-US" sz="1500" dirty="0"/>
          </a:p>
          <a:p>
            <a:pPr indent="0" marL="0">
              <a:spcAft>
                <a:spcPts val="400"/>
              </a:spcAft>
              <a:buNone/>
            </a:pPr>
            <a:r>
              <a:rPr lang="en-US" sz="1500" dirty="0">
                <a:solidFill>
                  <a:schemeClr val="tx1"/>
                </a:solidFill>
              </a:rPr>
              <a:t>A  kJ        B  kJ m⁻² year⁻¹        C  kJ m⁻³ year⁻¹        D  m⁻³ year⁻¹</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896112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CHECK C · ANSWERS</a:t>
            </a:r>
            <a:endParaRPr lang="en-US" sz="1200" dirty="0"/>
          </a:p>
        </p:txBody>
      </p:sp>
      <p:sp>
        <p:nvSpPr>
          <p:cNvPr id="3" name="Text 0"/>
          <p:cNvSpPr/>
          <p:nvPr>
            <p:ph idx="101" type="title" hasCustomPrompt="1"/>
          </p:nvPr>
        </p:nvSpPr>
        <p:spPr>
          <a:xfrm>
            <a:off x="548640" y="566928"/>
            <a:ext cx="9509760" cy="73152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Check C: answers and why</a:t>
            </a:r>
            <a:endParaRPr lang="en-US" sz="3200" dirty="0"/>
          </a:p>
        </p:txBody>
      </p:sp>
      <p:sp>
        <p:nvSpPr>
          <p:cNvPr id="4" name="nav-map"/>
          <p:cNvSpPr txBox="1"/>
          <p:nvPr/>
        </p:nvSpPr>
        <p:spPr>
          <a:xfrm>
            <a:off x="10469880" y="274320"/>
            <a:ext cx="1188720" cy="320040"/>
          </a:xfrm>
          <a:prstGeom prst="rect">
            <a:avLst/>
          </a:prstGeom>
          <a:noFill/>
          <a:ln/>
        </p:spPr>
        <p:txBody>
          <a:bodyPr wrap="square" lIns="0" tIns="0" rIns="0" bIns="0" rtlCol="0" anchor="ctr"/>
          <a:lstStyle/>
          <a:p>
            <a:pPr algn="r" indent="0" marL="0">
              <a:buNone/>
            </a:pPr>
            <a:r>
              <a:rPr lang="en-US" sz="1200" u="sng" dirty="0">
                <a:solidFill>
                  <a:schemeClr val="accent1"/>
                </a:solidFill>
                <a:hlinkClick r:id="rId1" action="ppaction://hlinksldjump" tooltip="Back to lesson map">
                  <a:extLst>
                    <a:ext uri="{A12FA001-AC4F-418D-AE19-62706E023703}">
                      <ahyp:hlinkClr xmlns:ahyp="http://schemas.microsoft.com/office/drawing/2018/hyperlinkcolor" val="tx"/>
                    </a:ext>
                  </a:extLst>
                </a:hlinkClick>
              </a:rPr>
              <a:t>Lesson map</a:t>
            </a:r>
            <a:endParaRPr lang="en-US" sz="1200" dirty="0"/>
          </a:p>
        </p:txBody>
      </p:sp>
      <p:sp>
        <p:nvSpPr>
          <p:cNvPr id="5" name="Shape 3"/>
          <p:cNvSpPr/>
          <p:nvPr/>
        </p:nvSpPr>
        <p:spPr>
          <a:xfrm>
            <a:off x="548640" y="1417320"/>
            <a:ext cx="5486400" cy="2377440"/>
          </a:xfrm>
          <a:prstGeom prst="roundRect">
            <a:avLst>
              <a:gd name="adj" fmla="val 4615"/>
            </a:avLst>
          </a:prstGeom>
          <a:solidFill>
            <a:schemeClr val="bg1"/>
          </a:solidFill>
          <a:ln w="12700">
            <a:solidFill>
              <a:schemeClr val="bg1"/>
            </a:solidFill>
            <a:prstDash val="solid"/>
          </a:ln>
        </p:spPr>
      </p:sp>
      <p:sp>
        <p:nvSpPr>
          <p:cNvPr id="6" name="Text 4"/>
          <p:cNvSpPr txBox="1"/>
          <p:nvPr/>
        </p:nvSpPr>
        <p:spPr>
          <a:xfrm>
            <a:off x="685800" y="1527048"/>
            <a:ext cx="5212080" cy="2194560"/>
          </a:xfrm>
          <a:prstGeom prst="rect">
            <a:avLst/>
          </a:prstGeom>
          <a:noFill/>
          <a:ln/>
        </p:spPr>
        <p:txBody>
          <a:bodyPr wrap="square" lIns="1016" tIns="1016" rIns="1016" bIns="1016" rtlCol="0" anchor="t"/>
          <a:lstStyle/>
          <a:p>
            <a:pPr indent="0" marL="0">
              <a:spcAft>
                <a:spcPts val="400"/>
              </a:spcAft>
              <a:buNone/>
            </a:pPr>
            <a:r>
              <a:rPr lang="en-US" sz="1500" b="1" dirty="0">
                <a:solidFill>
                  <a:schemeClr val="accent1"/>
                </a:solidFill>
              </a:rPr>
              <a:t>1.  10.9%</a:t>
            </a:r>
            <a:endParaRPr lang="en-US" sz="1500" dirty="0"/>
          </a:p>
          <a:p>
            <a:pPr indent="0" marL="0">
              <a:spcAft>
                <a:spcPts val="400"/>
              </a:spcAft>
              <a:buNone/>
            </a:pPr>
            <a:r>
              <a:rPr lang="en-US" sz="1500" b="1" dirty="0">
                <a:solidFill>
                  <a:schemeClr val="tx1"/>
                </a:solidFill>
              </a:rPr>
              <a:t>After </a:t>
            </a:r>
            <a:pPr indent="0" marL="0">
              <a:spcAft>
                <a:spcPts val="400"/>
              </a:spcAft>
              <a:buNone/>
            </a:pPr>
            <a:r>
              <a:rPr lang="en-US" sz="1500" dirty="0">
                <a:solidFill>
                  <a:schemeClr val="tx1"/>
                </a:solidFill>
              </a:rPr>
              <a:t>= tertiary consumers = 78. </a:t>
            </a:r>
            <a:pPr indent="0" marL="0">
              <a:spcAft>
                <a:spcPts val="400"/>
              </a:spcAft>
              <a:buNone/>
            </a:pPr>
            <a:r>
              <a:rPr lang="en-US" sz="1500" b="1" dirty="0">
                <a:solidFill>
                  <a:schemeClr val="tx1"/>
                </a:solidFill>
              </a:rPr>
              <a:t>Before </a:t>
            </a:r>
            <a:pPr indent="0" marL="0">
              <a:spcAft>
                <a:spcPts val="400"/>
              </a:spcAft>
              <a:buNone/>
            </a:pPr>
            <a:r>
              <a:rPr lang="en-US" sz="1500" dirty="0">
                <a:solidFill>
                  <a:schemeClr val="tx1"/>
                </a:solidFill>
              </a:rPr>
              <a:t>= secondary consumers = 714.</a:t>
            </a:r>
            <a:endParaRPr lang="en-US" sz="1500" dirty="0"/>
          </a:p>
          <a:p>
            <a:pPr indent="0" marL="0">
              <a:spcAft>
                <a:spcPts val="400"/>
              </a:spcAft>
              <a:buNone/>
            </a:pPr>
            <a:r>
              <a:rPr lang="en-US" sz="1500" dirty="0">
                <a:solidFill>
                  <a:schemeClr val="tx1"/>
                </a:solidFill>
              </a:rPr>
              <a:t>78 ÷ 714 = 0.1092 → × 100 = </a:t>
            </a:r>
            <a:endParaRPr lang="en-US" sz="1500" dirty="0"/>
          </a:p>
          <a:p>
            <a:pPr indent="0" marL="0">
              <a:spcAft>
                <a:spcPts val="400"/>
              </a:spcAft>
              <a:buNone/>
            </a:pPr>
            <a:r>
              <a:rPr lang="en-US" sz="1500" b="1" dirty="0">
                <a:solidFill>
                  <a:schemeClr val="tx1"/>
                </a:solidFill>
              </a:rPr>
              <a:t>10.9%</a:t>
            </a:r>
            <a:pPr indent="0" marL="0">
              <a:spcAft>
                <a:spcPts val="400"/>
              </a:spcAft>
              <a:buNone/>
            </a:pPr>
            <a:endParaRPr lang="en-US" sz="1500" dirty="0"/>
          </a:p>
          <a:p>
            <a:pPr indent="0" marL="0">
              <a:spcAft>
                <a:spcPts val="400"/>
              </a:spcAft>
              <a:buNone/>
            </a:pPr>
            <a:r>
              <a:rPr lang="en-US" sz="1500" dirty="0">
                <a:solidFill>
                  <a:schemeClr val="tx1"/>
                </a:solidFill>
              </a:rPr>
              <a:t>Trap: 915% means the fraction is upside down.</a:t>
            </a:r>
            <a:endParaRPr lang="en-US" sz="1500" dirty="0"/>
          </a:p>
        </p:txBody>
      </p:sp>
      <p:sp>
        <p:nvSpPr>
          <p:cNvPr id="7" name="Shape 5"/>
          <p:cNvSpPr/>
          <p:nvPr/>
        </p:nvSpPr>
        <p:spPr>
          <a:xfrm>
            <a:off x="6172200" y="1417320"/>
            <a:ext cx="5486400" cy="2377440"/>
          </a:xfrm>
          <a:prstGeom prst="roundRect">
            <a:avLst>
              <a:gd name="adj" fmla="val 4615"/>
            </a:avLst>
          </a:prstGeom>
          <a:solidFill>
            <a:schemeClr val="bg1"/>
          </a:solidFill>
          <a:ln w="12700">
            <a:solidFill>
              <a:schemeClr val="bg1"/>
            </a:solidFill>
            <a:prstDash val="solid"/>
          </a:ln>
        </p:spPr>
      </p:sp>
      <p:sp>
        <p:nvSpPr>
          <p:cNvPr id="8" name="Text 6"/>
          <p:cNvSpPr txBox="1"/>
          <p:nvPr/>
        </p:nvSpPr>
        <p:spPr>
          <a:xfrm>
            <a:off x="6309360" y="1527048"/>
            <a:ext cx="5212080" cy="2194560"/>
          </a:xfrm>
          <a:prstGeom prst="rect">
            <a:avLst/>
          </a:prstGeom>
          <a:noFill/>
          <a:ln/>
        </p:spPr>
        <p:txBody>
          <a:bodyPr wrap="square" lIns="1016" tIns="1016" rIns="1016" bIns="1016" rtlCol="0" anchor="t"/>
          <a:lstStyle/>
          <a:p>
            <a:pPr indent="0" marL="0">
              <a:spcAft>
                <a:spcPts val="400"/>
              </a:spcAft>
              <a:buNone/>
            </a:pPr>
            <a:r>
              <a:rPr lang="en-US" sz="1500" b="1" dirty="0">
                <a:solidFill>
                  <a:schemeClr val="accent1"/>
                </a:solidFill>
              </a:rPr>
              <a:t>2.  64.0%</a:t>
            </a:r>
            <a:endParaRPr lang="en-US" sz="1500" dirty="0"/>
          </a:p>
          <a:p>
            <a:pPr indent="0" marL="0">
              <a:spcAft>
                <a:spcPts val="400"/>
              </a:spcAft>
              <a:buNone/>
            </a:pPr>
            <a:r>
              <a:rPr lang="en-US" sz="1500" dirty="0">
                <a:solidFill>
                  <a:schemeClr val="tx1"/>
                </a:solidFill>
              </a:rPr>
              <a:t>4032 ÷ 6300 × 100 = </a:t>
            </a:r>
            <a:pPr indent="0" marL="0">
              <a:spcAft>
                <a:spcPts val="400"/>
              </a:spcAft>
              <a:buNone/>
            </a:pPr>
            <a:r>
              <a:rPr lang="en-US" sz="1500" b="1" dirty="0">
                <a:solidFill>
                  <a:schemeClr val="tx1"/>
                </a:solidFill>
              </a:rPr>
              <a:t>64.0%</a:t>
            </a:r>
            <a:pPr indent="0" marL="0">
              <a:spcAft>
                <a:spcPts val="400"/>
              </a:spcAft>
              <a:buNone/>
            </a:pPr>
            <a:endParaRPr lang="en-US" sz="1500" dirty="0"/>
          </a:p>
          <a:p>
            <a:pPr indent="0" marL="0">
              <a:spcAft>
                <a:spcPts val="400"/>
              </a:spcAft>
              <a:buNone/>
            </a:pPr>
            <a:r>
              <a:rPr lang="en-US" sz="1500" dirty="0">
                <a:solidFill>
                  <a:schemeClr val="tx1"/>
                </a:solidFill>
              </a:rPr>
              <a:t>That is far above the 5–10% in Figure 1. Exam numbers are sometimes made up to practise the method, so trust your calculation.</a:t>
            </a:r>
            <a:endParaRPr lang="en-US" sz="1500" dirty="0"/>
          </a:p>
        </p:txBody>
      </p:sp>
      <p:sp>
        <p:nvSpPr>
          <p:cNvPr id="9" name="Shape 7"/>
          <p:cNvSpPr/>
          <p:nvPr/>
        </p:nvSpPr>
        <p:spPr>
          <a:xfrm>
            <a:off x="548640" y="3931920"/>
            <a:ext cx="11109960" cy="2148840"/>
          </a:xfrm>
          <a:prstGeom prst="roundRect">
            <a:avLst>
              <a:gd name="adj" fmla="val 5106"/>
            </a:avLst>
          </a:prstGeom>
          <a:solidFill>
            <a:schemeClr val="bg1"/>
          </a:solidFill>
          <a:ln w="12700">
            <a:solidFill>
              <a:schemeClr val="bg1"/>
            </a:solidFill>
            <a:prstDash val="solid"/>
          </a:ln>
        </p:spPr>
      </p:sp>
      <p:sp>
        <p:nvSpPr>
          <p:cNvPr id="10" name="Text 8"/>
          <p:cNvSpPr txBox="1"/>
          <p:nvPr/>
        </p:nvSpPr>
        <p:spPr>
          <a:xfrm>
            <a:off x="685800" y="4041648"/>
            <a:ext cx="10835640" cy="1965960"/>
          </a:xfrm>
          <a:prstGeom prst="rect">
            <a:avLst/>
          </a:prstGeom>
          <a:noFill/>
          <a:ln/>
        </p:spPr>
        <p:txBody>
          <a:bodyPr wrap="square" lIns="1016" tIns="1016" rIns="1016" bIns="1016" rtlCol="0" anchor="t"/>
          <a:lstStyle/>
          <a:p>
            <a:pPr indent="0" marL="0">
              <a:spcAft>
                <a:spcPts val="400"/>
              </a:spcAft>
              <a:buNone/>
            </a:pPr>
            <a:r>
              <a:rPr lang="en-US" sz="1500" b="1" dirty="0">
                <a:solidFill>
                  <a:schemeClr val="accent1"/>
                </a:solidFill>
              </a:rPr>
              <a:t>3.  C: kJ m⁻³ year⁻¹</a:t>
            </a:r>
            <a:endParaRPr lang="en-US" sz="1500" dirty="0"/>
          </a:p>
          <a:p>
            <a:pPr indent="0" marL="0">
              <a:spcAft>
                <a:spcPts val="400"/>
              </a:spcAft>
              <a:buNone/>
            </a:pPr>
            <a:r>
              <a:rPr lang="en-US" sz="1500" dirty="0">
                <a:solidFill>
                  <a:schemeClr val="tx1"/>
                </a:solidFill>
              </a:rPr>
              <a:t>Aquatic ecosystems are measured per cubic metre of water, per year. B is the land unit (per m²). A has no area or time part, and D has no energy unit.</a:t>
            </a:r>
            <a:endParaRPr lang="en-US" sz="1500" dirty="0"/>
          </a:p>
        </p:txBody>
      </p:sp>
      <p:sp>
        <p:nvSpPr>
          <p:cNvPr id="11" name="Text 9"/>
          <p:cNvSpPr txBox="1"/>
          <p:nvPr/>
        </p:nvSpPr>
        <p:spPr>
          <a:xfrm>
            <a:off x="8412480" y="6355080"/>
            <a:ext cx="2651760" cy="320040"/>
          </a:xfrm>
          <a:prstGeom prst="rect">
            <a:avLst/>
          </a:prstGeom>
          <a:noFill/>
          <a:ln/>
        </p:spPr>
        <p:txBody>
          <a:bodyPr wrap="square" lIns="0" tIns="0" rIns="0" bIns="0" rtlCol="0" anchor="ctr"/>
          <a:lstStyle/>
          <a:p>
            <a:pPr algn="r" indent="0" marL="0">
              <a:buNone/>
            </a:pPr>
            <a:r>
              <a:rPr lang="en-US" sz="1200" u="sng" dirty="0">
                <a:solidFill>
                  <a:schemeClr val="accent1"/>
                </a:solidFill>
                <a:hlinkClick r:id="rId2" action="ppaction://hlinksldjump" tooltip="">
                  <a:extLst>
                    <a:ext uri="{A12FA001-AC4F-418D-AE19-62706E023703}">
                      <ahyp:hlinkClr xmlns:ahyp="http://schemas.microsoft.com/office/drawing/2018/hyperlinkcolor" val="tx"/>
                    </a:ext>
                  </a:extLst>
                </a:hlinkClick>
              </a:rPr>
              <a:t>Next: Section D →</a:t>
            </a:r>
            <a:endParaRPr lang="en-US" sz="1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896112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SECTION D · ORIGINAL EXAM QUESTION (TOTAL 5 MARKS)</a:t>
            </a:r>
            <a:endParaRPr lang="en-US" sz="1200" dirty="0"/>
          </a:p>
        </p:txBody>
      </p:sp>
      <p:sp>
        <p:nvSpPr>
          <p:cNvPr id="3" name="Text 0"/>
          <p:cNvSpPr/>
          <p:nvPr>
            <p:ph idx="101" type="title" hasCustomPrompt="1"/>
          </p:nvPr>
        </p:nvSpPr>
        <p:spPr>
          <a:xfrm>
            <a:off x="548640" y="566928"/>
            <a:ext cx="9509760" cy="73152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The cow question: (a)</a:t>
            </a:r>
            <a:endParaRPr lang="en-US" sz="3200" dirty="0"/>
          </a:p>
        </p:txBody>
      </p:sp>
      <p:sp>
        <p:nvSpPr>
          <p:cNvPr id="4" name="nav-map"/>
          <p:cNvSpPr txBox="1"/>
          <p:nvPr/>
        </p:nvSpPr>
        <p:spPr>
          <a:xfrm>
            <a:off x="10469880" y="274320"/>
            <a:ext cx="1188720" cy="320040"/>
          </a:xfrm>
          <a:prstGeom prst="rect">
            <a:avLst/>
          </a:prstGeom>
          <a:noFill/>
          <a:ln/>
        </p:spPr>
        <p:txBody>
          <a:bodyPr wrap="square" lIns="0" tIns="0" rIns="0" bIns="0" rtlCol="0" anchor="ctr"/>
          <a:lstStyle/>
          <a:p>
            <a:pPr algn="r" indent="0" marL="0">
              <a:buNone/>
            </a:pPr>
            <a:r>
              <a:rPr lang="en-US" sz="1200" u="sng" dirty="0">
                <a:solidFill>
                  <a:schemeClr val="accent1"/>
                </a:solidFill>
                <a:hlinkClick r:id="rId1" action="ppaction://hlinksldjump" tooltip="Back to lesson map">
                  <a:extLst>
                    <a:ext uri="{A12FA001-AC4F-418D-AE19-62706E023703}">
                      <ahyp:hlinkClr xmlns:ahyp="http://schemas.microsoft.com/office/drawing/2018/hyperlinkcolor" val="tx"/>
                    </a:ext>
                  </a:extLst>
                </a:hlinkClick>
              </a:rPr>
              <a:t>Lesson map</a:t>
            </a:r>
            <a:endParaRPr lang="en-US" sz="1200" dirty="0"/>
          </a:p>
        </p:txBody>
      </p:sp>
      <p:sp>
        <p:nvSpPr>
          <p:cNvPr id="5" name="Text 3"/>
          <p:cNvSpPr txBox="1"/>
          <p:nvPr/>
        </p:nvSpPr>
        <p:spPr>
          <a:xfrm>
            <a:off x="548640" y="1371600"/>
            <a:ext cx="11064240" cy="594360"/>
          </a:xfrm>
          <a:prstGeom prst="rect">
            <a:avLst/>
          </a:prstGeom>
          <a:noFill/>
          <a:ln/>
        </p:spPr>
        <p:txBody>
          <a:bodyPr wrap="square" lIns="1016" tIns="1016" rIns="1016" bIns="1016" rtlCol="0" anchor="t"/>
          <a:lstStyle/>
          <a:p>
            <a:pPr indent="0" marL="0">
              <a:spcAft>
                <a:spcPts val="400"/>
              </a:spcAft>
              <a:buNone/>
            </a:pPr>
            <a:r>
              <a:rPr lang="en-US" sz="1500" dirty="0">
                <a:solidFill>
                  <a:schemeClr val="tx1"/>
                </a:solidFill>
              </a:rPr>
              <a:t>The diagram shows the transfer of energy through a cow. The figures are in kJ × 10⁶ year⁻¹. (Redrawn as a flow; same numbers as the cow drawing in your notes.)</a:t>
            </a:r>
            <a:endParaRPr lang="en-US" sz="1500" dirty="0"/>
          </a:p>
        </p:txBody>
      </p:sp>
      <p:sp>
        <p:nvSpPr>
          <p:cNvPr id="6" name="Shape 4"/>
          <p:cNvSpPr/>
          <p:nvPr/>
        </p:nvSpPr>
        <p:spPr>
          <a:xfrm>
            <a:off x="548640" y="2743200"/>
            <a:ext cx="1737360" cy="868680"/>
          </a:xfrm>
          <a:prstGeom prst="roundRect">
            <a:avLst>
              <a:gd name="adj" fmla="val 12632"/>
            </a:avLst>
          </a:prstGeom>
          <a:solidFill>
            <a:schemeClr val="accent2"/>
          </a:solidFill>
          <a:ln w="12700">
            <a:solidFill>
              <a:schemeClr val="accent2"/>
            </a:solidFill>
            <a:prstDash val="solid"/>
          </a:ln>
        </p:spPr>
      </p:sp>
      <p:sp>
        <p:nvSpPr>
          <p:cNvPr id="7" name="Text 5"/>
          <p:cNvSpPr txBox="1"/>
          <p:nvPr/>
        </p:nvSpPr>
        <p:spPr>
          <a:xfrm>
            <a:off x="548640" y="2743200"/>
            <a:ext cx="1737360" cy="868680"/>
          </a:xfrm>
          <a:prstGeom prst="rect">
            <a:avLst/>
          </a:prstGeom>
          <a:noFill/>
          <a:ln/>
        </p:spPr>
        <p:txBody>
          <a:bodyPr wrap="square" lIns="0" tIns="0" rIns="0" bIns="0" rtlCol="0" anchor="ctr"/>
          <a:lstStyle/>
          <a:p>
            <a:pPr algn="ctr" indent="0" marL="0">
              <a:spcAft>
                <a:spcPts val="400"/>
              </a:spcAft>
              <a:buNone/>
            </a:pPr>
            <a:r>
              <a:rPr lang="en-US" sz="1400" b="1" dirty="0">
                <a:solidFill>
                  <a:schemeClr val="tx1"/>
                </a:solidFill>
              </a:rPr>
              <a:t>C = 91.34</a:t>
            </a:r>
            <a:endParaRPr lang="en-US" sz="1400" dirty="0"/>
          </a:p>
          <a:p>
            <a:pPr algn="ctr" indent="0" marL="0">
              <a:spcAft>
                <a:spcPts val="400"/>
              </a:spcAft>
              <a:buNone/>
            </a:pPr>
            <a:r>
              <a:rPr lang="en-US" sz="1100" dirty="0">
                <a:solidFill>
                  <a:schemeClr val="tx1"/>
                </a:solidFill>
              </a:rPr>
              <a:t>consumed in food</a:t>
            </a:r>
            <a:endParaRPr lang="en-US" sz="1400" dirty="0"/>
          </a:p>
        </p:txBody>
      </p:sp>
      <p:sp>
        <p:nvSpPr>
          <p:cNvPr id="8" name="Shape 6"/>
          <p:cNvSpPr/>
          <p:nvPr/>
        </p:nvSpPr>
        <p:spPr>
          <a:xfrm>
            <a:off x="2331720" y="3172968"/>
            <a:ext cx="1188720" cy="914"/>
          </a:xfrm>
          <a:prstGeom prst="line">
            <a:avLst/>
          </a:prstGeom>
          <a:noFill/>
          <a:ln w="31750">
            <a:solidFill>
              <a:schemeClr val="tx2"/>
            </a:solidFill>
            <a:prstDash val="solid"/>
            <a:tailEnd type="triangle"/>
          </a:ln>
        </p:spPr>
      </p:sp>
      <p:sp>
        <p:nvSpPr>
          <p:cNvPr id="9" name="Shape 7"/>
          <p:cNvSpPr/>
          <p:nvPr/>
        </p:nvSpPr>
        <p:spPr>
          <a:xfrm>
            <a:off x="2926080" y="3172968"/>
            <a:ext cx="914" cy="758952"/>
          </a:xfrm>
          <a:prstGeom prst="line">
            <a:avLst/>
          </a:prstGeom>
          <a:noFill/>
          <a:ln w="31750">
            <a:solidFill>
              <a:schemeClr val="accent3"/>
            </a:solidFill>
            <a:prstDash val="solid"/>
            <a:tailEnd type="triangle"/>
          </a:ln>
        </p:spPr>
      </p:sp>
      <p:sp>
        <p:nvSpPr>
          <p:cNvPr id="10" name="Shape 8"/>
          <p:cNvSpPr/>
          <p:nvPr/>
        </p:nvSpPr>
        <p:spPr>
          <a:xfrm>
            <a:off x="2103120" y="3977640"/>
            <a:ext cx="1645920" cy="777240"/>
          </a:xfrm>
          <a:prstGeom prst="roundRect">
            <a:avLst>
              <a:gd name="adj" fmla="val 14118"/>
            </a:avLst>
          </a:prstGeom>
          <a:solidFill>
            <a:schemeClr val="accent6"/>
          </a:solidFill>
          <a:ln w="15875">
            <a:solidFill>
              <a:schemeClr val="accent3"/>
            </a:solidFill>
            <a:prstDash val="solid"/>
          </a:ln>
        </p:spPr>
      </p:sp>
      <p:sp>
        <p:nvSpPr>
          <p:cNvPr id="11" name="Text 9"/>
          <p:cNvSpPr txBox="1"/>
          <p:nvPr/>
        </p:nvSpPr>
        <p:spPr>
          <a:xfrm>
            <a:off x="2103120" y="3977640"/>
            <a:ext cx="1645920" cy="777240"/>
          </a:xfrm>
          <a:prstGeom prst="rect">
            <a:avLst/>
          </a:prstGeom>
          <a:noFill/>
          <a:ln/>
        </p:spPr>
        <p:txBody>
          <a:bodyPr wrap="square" lIns="0" tIns="0" rIns="0" bIns="0" rtlCol="0" anchor="ctr"/>
          <a:lstStyle/>
          <a:p>
            <a:pPr algn="ctr" indent="0" marL="0">
              <a:spcAft>
                <a:spcPts val="400"/>
              </a:spcAft>
              <a:buNone/>
            </a:pPr>
            <a:r>
              <a:rPr lang="en-US" sz="1400" b="1" dirty="0">
                <a:solidFill>
                  <a:schemeClr val="tx1"/>
                </a:solidFill>
              </a:rPr>
              <a:t>F = 57.06</a:t>
            </a:r>
            <a:endParaRPr lang="en-US" sz="1400" dirty="0"/>
          </a:p>
          <a:p>
            <a:pPr algn="ctr" indent="0" marL="0">
              <a:spcAft>
                <a:spcPts val="400"/>
              </a:spcAft>
              <a:buNone/>
            </a:pPr>
            <a:r>
              <a:rPr lang="en-US" sz="1100" dirty="0">
                <a:solidFill>
                  <a:schemeClr val="tx1"/>
                </a:solidFill>
              </a:rPr>
              <a:t>lost in faeces</a:t>
            </a:r>
            <a:endParaRPr lang="en-US" sz="1400" dirty="0"/>
          </a:p>
        </p:txBody>
      </p:sp>
      <p:sp>
        <p:nvSpPr>
          <p:cNvPr id="12" name="Shape 10"/>
          <p:cNvSpPr/>
          <p:nvPr/>
        </p:nvSpPr>
        <p:spPr>
          <a:xfrm>
            <a:off x="3566160" y="2743200"/>
            <a:ext cx="1737360" cy="868680"/>
          </a:xfrm>
          <a:prstGeom prst="roundRect">
            <a:avLst>
              <a:gd name="adj" fmla="val 12632"/>
            </a:avLst>
          </a:prstGeom>
          <a:solidFill>
            <a:schemeClr val="accent4"/>
          </a:solidFill>
          <a:ln w="15875">
            <a:solidFill>
              <a:schemeClr val="accent1"/>
            </a:solidFill>
            <a:prstDash val="solid"/>
          </a:ln>
        </p:spPr>
      </p:sp>
      <p:sp>
        <p:nvSpPr>
          <p:cNvPr id="13" name="Text 11"/>
          <p:cNvSpPr txBox="1"/>
          <p:nvPr/>
        </p:nvSpPr>
        <p:spPr>
          <a:xfrm>
            <a:off x="3566160" y="2743200"/>
            <a:ext cx="1737360" cy="868680"/>
          </a:xfrm>
          <a:prstGeom prst="rect">
            <a:avLst/>
          </a:prstGeom>
          <a:noFill/>
          <a:ln/>
        </p:spPr>
        <p:txBody>
          <a:bodyPr wrap="square" lIns="0" tIns="0" rIns="0" bIns="0" rtlCol="0" anchor="ctr"/>
          <a:lstStyle/>
          <a:p>
            <a:pPr algn="ctr" indent="0" marL="0">
              <a:spcAft>
                <a:spcPts val="400"/>
              </a:spcAft>
              <a:buNone/>
            </a:pPr>
            <a:r>
              <a:rPr lang="en-US" sz="1400" b="1" dirty="0">
                <a:solidFill>
                  <a:schemeClr val="tx1"/>
                </a:solidFill>
              </a:rPr>
              <a:t>A = 34.28</a:t>
            </a:r>
            <a:endParaRPr lang="en-US" sz="1400" dirty="0"/>
          </a:p>
          <a:p>
            <a:pPr algn="ctr" indent="0" marL="0">
              <a:spcAft>
                <a:spcPts val="400"/>
              </a:spcAft>
              <a:buNone/>
            </a:pPr>
            <a:r>
              <a:rPr lang="en-US" sz="1100" dirty="0">
                <a:solidFill>
                  <a:schemeClr val="tx1"/>
                </a:solidFill>
              </a:rPr>
              <a:t>absorbed from gut</a:t>
            </a:r>
            <a:endParaRPr lang="en-US" sz="1400" dirty="0"/>
          </a:p>
        </p:txBody>
      </p:sp>
      <p:sp>
        <p:nvSpPr>
          <p:cNvPr id="14" name="Shape 12"/>
          <p:cNvSpPr/>
          <p:nvPr/>
        </p:nvSpPr>
        <p:spPr>
          <a:xfrm flipV="1">
            <a:off x="5349240" y="2286000"/>
            <a:ext cx="822960" cy="640080"/>
          </a:xfrm>
          <a:prstGeom prst="line">
            <a:avLst/>
          </a:prstGeom>
          <a:noFill/>
          <a:ln w="31750">
            <a:solidFill>
              <a:schemeClr val="accent3"/>
            </a:solidFill>
            <a:prstDash val="solid"/>
            <a:tailEnd type="triangle"/>
          </a:ln>
        </p:spPr>
      </p:sp>
      <p:sp>
        <p:nvSpPr>
          <p:cNvPr id="15" name="Shape 13"/>
          <p:cNvSpPr/>
          <p:nvPr/>
        </p:nvSpPr>
        <p:spPr>
          <a:xfrm>
            <a:off x="5349240" y="3172968"/>
            <a:ext cx="822960" cy="914"/>
          </a:xfrm>
          <a:prstGeom prst="line">
            <a:avLst/>
          </a:prstGeom>
          <a:noFill/>
          <a:ln w="31750">
            <a:solidFill>
              <a:schemeClr val="accent3"/>
            </a:solidFill>
            <a:prstDash val="solid"/>
            <a:tailEnd type="triangle"/>
          </a:ln>
        </p:spPr>
      </p:sp>
      <p:sp>
        <p:nvSpPr>
          <p:cNvPr id="16" name="Shape 14"/>
          <p:cNvSpPr/>
          <p:nvPr/>
        </p:nvSpPr>
        <p:spPr>
          <a:xfrm>
            <a:off x="5349240" y="3429000"/>
            <a:ext cx="822960" cy="640080"/>
          </a:xfrm>
          <a:prstGeom prst="line">
            <a:avLst/>
          </a:prstGeom>
          <a:noFill/>
          <a:ln w="31750">
            <a:solidFill>
              <a:schemeClr val="accent1"/>
            </a:solidFill>
            <a:prstDash val="solid"/>
            <a:tailEnd type="triangle"/>
          </a:ln>
        </p:spPr>
      </p:sp>
      <p:sp>
        <p:nvSpPr>
          <p:cNvPr id="17" name="Shape 15"/>
          <p:cNvSpPr/>
          <p:nvPr/>
        </p:nvSpPr>
        <p:spPr>
          <a:xfrm>
            <a:off x="6217920" y="1920240"/>
            <a:ext cx="1828800" cy="685800"/>
          </a:xfrm>
          <a:prstGeom prst="roundRect">
            <a:avLst>
              <a:gd name="adj" fmla="val 16000"/>
            </a:avLst>
          </a:prstGeom>
          <a:solidFill>
            <a:schemeClr val="accent6"/>
          </a:solidFill>
          <a:ln w="15875">
            <a:solidFill>
              <a:schemeClr val="accent3"/>
            </a:solidFill>
            <a:prstDash val="solid"/>
          </a:ln>
        </p:spPr>
      </p:sp>
      <p:sp>
        <p:nvSpPr>
          <p:cNvPr id="18" name="Text 16"/>
          <p:cNvSpPr txBox="1"/>
          <p:nvPr/>
        </p:nvSpPr>
        <p:spPr>
          <a:xfrm>
            <a:off x="6217920" y="1920240"/>
            <a:ext cx="1828800" cy="685800"/>
          </a:xfrm>
          <a:prstGeom prst="rect">
            <a:avLst/>
          </a:prstGeom>
          <a:noFill/>
          <a:ln/>
        </p:spPr>
        <p:txBody>
          <a:bodyPr wrap="square" lIns="0" tIns="0" rIns="0" bIns="0" rtlCol="0" anchor="ctr"/>
          <a:lstStyle/>
          <a:p>
            <a:pPr algn="ctr" indent="0" marL="0">
              <a:spcAft>
                <a:spcPts val="400"/>
              </a:spcAft>
              <a:buNone/>
            </a:pPr>
            <a:r>
              <a:rPr lang="en-US" sz="1400" b="1" dirty="0">
                <a:solidFill>
                  <a:schemeClr val="tx1"/>
                </a:solidFill>
              </a:rPr>
              <a:t>R = 30.51  </a:t>
            </a:r>
            <a:pPr algn="ctr" indent="0" marL="0">
              <a:spcAft>
                <a:spcPts val="400"/>
              </a:spcAft>
              <a:buNone/>
            </a:pPr>
            <a:r>
              <a:rPr lang="en-US" sz="1100" dirty="0">
                <a:solidFill>
                  <a:schemeClr val="tx1"/>
                </a:solidFill>
              </a:rPr>
              <a:t>respiration</a:t>
            </a:r>
            <a:endParaRPr lang="en-US" sz="1400" dirty="0"/>
          </a:p>
        </p:txBody>
      </p:sp>
      <p:sp>
        <p:nvSpPr>
          <p:cNvPr id="19" name="Shape 17"/>
          <p:cNvSpPr/>
          <p:nvPr/>
        </p:nvSpPr>
        <p:spPr>
          <a:xfrm>
            <a:off x="6217920" y="2834640"/>
            <a:ext cx="1828800" cy="685800"/>
          </a:xfrm>
          <a:prstGeom prst="roundRect">
            <a:avLst>
              <a:gd name="adj" fmla="val 16000"/>
            </a:avLst>
          </a:prstGeom>
          <a:solidFill>
            <a:schemeClr val="accent6"/>
          </a:solidFill>
          <a:ln w="15875">
            <a:solidFill>
              <a:schemeClr val="accent3"/>
            </a:solidFill>
            <a:prstDash val="solid"/>
          </a:ln>
        </p:spPr>
      </p:sp>
      <p:sp>
        <p:nvSpPr>
          <p:cNvPr id="20" name="Text 18"/>
          <p:cNvSpPr txBox="1"/>
          <p:nvPr/>
        </p:nvSpPr>
        <p:spPr>
          <a:xfrm>
            <a:off x="6217920" y="2834640"/>
            <a:ext cx="1828800" cy="685800"/>
          </a:xfrm>
          <a:prstGeom prst="rect">
            <a:avLst/>
          </a:prstGeom>
          <a:noFill/>
          <a:ln/>
        </p:spPr>
        <p:txBody>
          <a:bodyPr wrap="square" lIns="0" tIns="0" rIns="0" bIns="0" rtlCol="0" anchor="ctr"/>
          <a:lstStyle/>
          <a:p>
            <a:pPr algn="ctr" indent="0" marL="0">
              <a:spcAft>
                <a:spcPts val="400"/>
              </a:spcAft>
              <a:buNone/>
            </a:pPr>
            <a:r>
              <a:rPr lang="en-US" sz="1400" b="1" dirty="0">
                <a:solidFill>
                  <a:schemeClr val="tx1"/>
                </a:solidFill>
              </a:rPr>
              <a:t>U = 0.03  </a:t>
            </a:r>
            <a:pPr algn="ctr" indent="0" marL="0">
              <a:spcAft>
                <a:spcPts val="400"/>
              </a:spcAft>
              <a:buNone/>
            </a:pPr>
            <a:r>
              <a:rPr lang="en-US" sz="1100" dirty="0">
                <a:solidFill>
                  <a:schemeClr val="tx1"/>
                </a:solidFill>
              </a:rPr>
              <a:t>urine</a:t>
            </a:r>
            <a:endParaRPr lang="en-US" sz="1400" dirty="0"/>
          </a:p>
        </p:txBody>
      </p:sp>
      <p:sp>
        <p:nvSpPr>
          <p:cNvPr id="21" name="Shape 19"/>
          <p:cNvSpPr/>
          <p:nvPr/>
        </p:nvSpPr>
        <p:spPr>
          <a:xfrm>
            <a:off x="6217920" y="3749040"/>
            <a:ext cx="1828800" cy="685800"/>
          </a:xfrm>
          <a:prstGeom prst="roundRect">
            <a:avLst>
              <a:gd name="adj" fmla="val 16000"/>
            </a:avLst>
          </a:prstGeom>
          <a:solidFill>
            <a:schemeClr val="bg1"/>
          </a:solidFill>
          <a:ln w="19050">
            <a:solidFill>
              <a:schemeClr val="accent1"/>
            </a:solidFill>
            <a:prstDash val="dash"/>
          </a:ln>
        </p:spPr>
      </p:sp>
      <p:sp>
        <p:nvSpPr>
          <p:cNvPr id="22" name="Text 20"/>
          <p:cNvSpPr txBox="1"/>
          <p:nvPr/>
        </p:nvSpPr>
        <p:spPr>
          <a:xfrm>
            <a:off x="6217920" y="3749040"/>
            <a:ext cx="1828800" cy="685800"/>
          </a:xfrm>
          <a:prstGeom prst="rect">
            <a:avLst/>
          </a:prstGeom>
          <a:noFill/>
          <a:ln/>
        </p:spPr>
        <p:txBody>
          <a:bodyPr wrap="square" lIns="0" tIns="0" rIns="0" bIns="0" rtlCol="0" anchor="ctr"/>
          <a:lstStyle/>
          <a:p>
            <a:pPr algn="ctr" indent="0" marL="0">
              <a:spcAft>
                <a:spcPts val="400"/>
              </a:spcAft>
              <a:buNone/>
            </a:pPr>
            <a:r>
              <a:rPr lang="en-US" sz="1400" b="1" dirty="0">
                <a:solidFill>
                  <a:schemeClr val="tx1"/>
                </a:solidFill>
              </a:rPr>
              <a:t>P = ?  </a:t>
            </a:r>
            <a:pPr algn="ctr" indent="0" marL="0">
              <a:spcAft>
                <a:spcPts val="400"/>
              </a:spcAft>
              <a:buNone/>
            </a:pPr>
            <a:r>
              <a:rPr lang="en-US" sz="1100" dirty="0">
                <a:solidFill>
                  <a:schemeClr val="tx1"/>
                </a:solidFill>
              </a:rPr>
              <a:t>new tissue</a:t>
            </a:r>
            <a:endParaRPr lang="en-US" sz="1400" dirty="0"/>
          </a:p>
        </p:txBody>
      </p:sp>
      <p:sp>
        <p:nvSpPr>
          <p:cNvPr id="23" name="Shape 21"/>
          <p:cNvSpPr/>
          <p:nvPr/>
        </p:nvSpPr>
        <p:spPr>
          <a:xfrm>
            <a:off x="8321040" y="1965960"/>
            <a:ext cx="3291840" cy="2651760"/>
          </a:xfrm>
          <a:prstGeom prst="roundRect">
            <a:avLst>
              <a:gd name="adj" fmla="val 4138"/>
            </a:avLst>
          </a:prstGeom>
          <a:solidFill>
            <a:schemeClr val="bg1"/>
          </a:solidFill>
          <a:ln w="12700">
            <a:solidFill>
              <a:schemeClr val="bg1"/>
            </a:solidFill>
            <a:prstDash val="solid"/>
          </a:ln>
        </p:spPr>
      </p:sp>
      <p:sp>
        <p:nvSpPr>
          <p:cNvPr id="24" name="Text 22"/>
          <p:cNvSpPr txBox="1"/>
          <p:nvPr/>
        </p:nvSpPr>
        <p:spPr>
          <a:xfrm>
            <a:off x="8458200" y="2011680"/>
            <a:ext cx="3017520" cy="2560320"/>
          </a:xfrm>
          <a:prstGeom prst="rect">
            <a:avLst/>
          </a:prstGeom>
          <a:noFill/>
          <a:ln/>
        </p:spPr>
        <p:txBody>
          <a:bodyPr wrap="square" lIns="1016" tIns="1016" rIns="1016" bIns="1016" rtlCol="0" anchor="t"/>
          <a:lstStyle/>
          <a:p>
            <a:pPr indent="0" marL="0">
              <a:spcAft>
                <a:spcPts val="400"/>
              </a:spcAft>
              <a:buNone/>
            </a:pPr>
            <a:r>
              <a:rPr lang="en-US" sz="1100" b="1" spc="100" kern="0" dirty="0">
                <a:solidFill>
                  <a:schemeClr val="tx1"/>
                </a:solidFill>
              </a:rPr>
              <a:t>HINT (FROM THE QUESTION)</a:t>
            </a:r>
            <a:endParaRPr lang="en-US" sz="1300" dirty="0"/>
          </a:p>
          <a:p>
            <a:pPr indent="0" marL="0">
              <a:spcAft>
                <a:spcPts val="400"/>
              </a:spcAft>
              <a:buNone/>
            </a:pPr>
            <a:r>
              <a:rPr lang="en-US" sz="1300" dirty="0">
                <a:solidFill>
                  <a:schemeClr val="tx1"/>
                </a:solidFill>
              </a:rPr>
              <a:t>Energy cannot be created or destroyed. The total amount of energy entering a box must equal the amount of energy in the box plus the amount leaving the box.</a:t>
            </a:r>
            <a:endParaRPr lang="en-US" sz="1300" dirty="0"/>
          </a:p>
        </p:txBody>
      </p:sp>
      <p:sp>
        <p:nvSpPr>
          <p:cNvPr id="25" name="Text 23"/>
          <p:cNvSpPr txBox="1"/>
          <p:nvPr/>
        </p:nvSpPr>
        <p:spPr>
          <a:xfrm>
            <a:off x="548640" y="4800600"/>
            <a:ext cx="11064240" cy="457200"/>
          </a:xfrm>
          <a:prstGeom prst="rect">
            <a:avLst/>
          </a:prstGeom>
          <a:noFill/>
          <a:ln/>
        </p:spPr>
        <p:txBody>
          <a:bodyPr wrap="square" lIns="1016" tIns="1016" rIns="1016" bIns="1016" rtlCol="0" anchor="t"/>
          <a:lstStyle/>
          <a:p>
            <a:pPr indent="0" marL="0">
              <a:spcAft>
                <a:spcPts val="400"/>
              </a:spcAft>
              <a:buNone/>
            </a:pPr>
            <a:r>
              <a:rPr lang="en-US" sz="1200" dirty="0">
                <a:solidFill>
                  <a:schemeClr val="tx2"/>
                </a:solidFill>
              </a:rPr>
              <a:t>Key: A = energy absorbed from the gut · C = energy consumed in food · F = energy lost in faeces · P = energy used in production of new tissue · R = energy lost by respiration · U = energy lost in urine</a:t>
            </a:r>
            <a:endParaRPr lang="en-US" sz="1200" dirty="0"/>
          </a:p>
        </p:txBody>
      </p:sp>
      <p:sp>
        <p:nvSpPr>
          <p:cNvPr id="26" name="Shape 24"/>
          <p:cNvSpPr/>
          <p:nvPr/>
        </p:nvSpPr>
        <p:spPr>
          <a:xfrm>
            <a:off x="548640" y="5303520"/>
            <a:ext cx="11064240" cy="868680"/>
          </a:xfrm>
          <a:prstGeom prst="roundRect">
            <a:avLst>
              <a:gd name="adj" fmla="val 12632"/>
            </a:avLst>
          </a:prstGeom>
          <a:solidFill>
            <a:schemeClr val="bg1"/>
          </a:solidFill>
          <a:ln w="12700">
            <a:solidFill>
              <a:schemeClr val="bg1"/>
            </a:solidFill>
            <a:prstDash val="solid"/>
          </a:ln>
        </p:spPr>
      </p:sp>
      <p:sp>
        <p:nvSpPr>
          <p:cNvPr id="27" name="Text 25"/>
          <p:cNvSpPr txBox="1"/>
          <p:nvPr/>
        </p:nvSpPr>
        <p:spPr>
          <a:xfrm>
            <a:off x="685800" y="5349240"/>
            <a:ext cx="10789920" cy="777240"/>
          </a:xfrm>
          <a:prstGeom prst="rect">
            <a:avLst/>
          </a:prstGeom>
          <a:noFill/>
          <a:ln/>
        </p:spPr>
        <p:txBody>
          <a:bodyPr wrap="square" lIns="1016" tIns="1016" rIns="1016" bIns="1016" rtlCol="0" anchor="ctr"/>
          <a:lstStyle/>
          <a:p>
            <a:pPr indent="0" marL="0">
              <a:spcAft>
                <a:spcPts val="400"/>
              </a:spcAft>
              <a:buNone/>
            </a:pPr>
            <a:r>
              <a:rPr lang="en-US" sz="1400" b="1" dirty="0">
                <a:solidFill>
                  <a:schemeClr val="tx1"/>
                </a:solidFill>
              </a:rPr>
              <a:t>(a)(i) </a:t>
            </a:r>
            <a:pPr indent="0" marL="0">
              <a:spcAft>
                <a:spcPts val="400"/>
              </a:spcAft>
              <a:buNone/>
            </a:pPr>
            <a:r>
              <a:rPr lang="en-US" sz="1400" dirty="0">
                <a:solidFill>
                  <a:schemeClr val="tx1"/>
                </a:solidFill>
              </a:rPr>
              <a:t>Complete the following equation for the energy used in the production of new tissue. Use only the letters C, F, R and U.   P = ________   </a:t>
            </a:r>
            <a:pPr indent="0" marL="0">
              <a:spcAft>
                <a:spcPts val="400"/>
              </a:spcAft>
              <a:buNone/>
            </a:pPr>
            <a:r>
              <a:rPr lang="en-US" sz="1400" b="1" dirty="0">
                <a:solidFill>
                  <a:schemeClr val="tx1"/>
                </a:solidFill>
              </a:rPr>
              <a:t>(1)</a:t>
            </a:r>
            <a:endParaRPr lang="en-US" sz="1400" dirty="0"/>
          </a:p>
          <a:p>
            <a:pPr indent="0" marL="0">
              <a:spcAft>
                <a:spcPts val="400"/>
              </a:spcAft>
              <a:buNone/>
            </a:pPr>
            <a:r>
              <a:rPr lang="en-US" sz="1400" b="1" dirty="0">
                <a:solidFill>
                  <a:schemeClr val="tx1"/>
                </a:solidFill>
              </a:rPr>
              <a:t>(ii) </a:t>
            </a:r>
            <a:pPr indent="0" marL="0">
              <a:spcAft>
                <a:spcPts val="400"/>
              </a:spcAft>
              <a:buNone/>
            </a:pPr>
            <a:r>
              <a:rPr lang="en-US" sz="1400" dirty="0">
                <a:solidFill>
                  <a:schemeClr val="tx1"/>
                </a:solidFill>
              </a:rPr>
              <a:t>Calculate the value of P.   P = ________ kJ × 10⁶ year⁻¹   </a:t>
            </a:r>
            <a:pPr indent="0" marL="0">
              <a:spcAft>
                <a:spcPts val="400"/>
              </a:spcAft>
              <a:buNone/>
            </a:pPr>
            <a:r>
              <a:rPr lang="en-US" sz="1400" b="1" dirty="0">
                <a:solidFill>
                  <a:schemeClr val="tx1"/>
                </a:solidFill>
              </a:rPr>
              <a:t>(1)</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896112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SECTION D · ORIGINAL EXAM QUESTION (CONTINUED)</a:t>
            </a:r>
            <a:endParaRPr lang="en-US" sz="1200" dirty="0"/>
          </a:p>
        </p:txBody>
      </p:sp>
      <p:sp>
        <p:nvSpPr>
          <p:cNvPr id="3" name="Text 0"/>
          <p:cNvSpPr/>
          <p:nvPr>
            <p:ph idx="101" type="title" hasCustomPrompt="1"/>
          </p:nvPr>
        </p:nvSpPr>
        <p:spPr>
          <a:xfrm>
            <a:off x="548640" y="566928"/>
            <a:ext cx="9509760" cy="73152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The cow question: (b) and (c)</a:t>
            </a:r>
            <a:endParaRPr lang="en-US" sz="3200" dirty="0"/>
          </a:p>
        </p:txBody>
      </p:sp>
      <p:sp>
        <p:nvSpPr>
          <p:cNvPr id="4" name="nav-map"/>
          <p:cNvSpPr txBox="1"/>
          <p:nvPr/>
        </p:nvSpPr>
        <p:spPr>
          <a:xfrm>
            <a:off x="10469880" y="274320"/>
            <a:ext cx="1188720" cy="320040"/>
          </a:xfrm>
          <a:prstGeom prst="rect">
            <a:avLst/>
          </a:prstGeom>
          <a:noFill/>
          <a:ln/>
        </p:spPr>
        <p:txBody>
          <a:bodyPr wrap="square" lIns="0" tIns="0" rIns="0" bIns="0" rtlCol="0" anchor="ctr"/>
          <a:lstStyle/>
          <a:p>
            <a:pPr algn="r" indent="0" marL="0">
              <a:buNone/>
            </a:pPr>
            <a:r>
              <a:rPr lang="en-US" sz="1200" u="sng" dirty="0">
                <a:solidFill>
                  <a:schemeClr val="accent1"/>
                </a:solidFill>
                <a:hlinkClick r:id="rId1" action="ppaction://hlinksldjump" tooltip="Back to lesson map">
                  <a:extLst>
                    <a:ext uri="{A12FA001-AC4F-418D-AE19-62706E023703}">
                      <ahyp:hlinkClr xmlns:ahyp="http://schemas.microsoft.com/office/drawing/2018/hyperlinkcolor" val="tx"/>
                    </a:ext>
                  </a:extLst>
                </a:hlinkClick>
              </a:rPr>
              <a:t>Lesson map</a:t>
            </a:r>
            <a:endParaRPr lang="en-US" sz="1200" dirty="0"/>
          </a:p>
        </p:txBody>
      </p:sp>
      <p:sp>
        <p:nvSpPr>
          <p:cNvPr id="5" name="Shape 3"/>
          <p:cNvSpPr/>
          <p:nvPr/>
        </p:nvSpPr>
        <p:spPr>
          <a:xfrm>
            <a:off x="548640" y="1417320"/>
            <a:ext cx="11109960" cy="2148840"/>
          </a:xfrm>
          <a:prstGeom prst="roundRect">
            <a:avLst>
              <a:gd name="adj" fmla="val 5106"/>
            </a:avLst>
          </a:prstGeom>
          <a:solidFill>
            <a:schemeClr val="bg1"/>
          </a:solidFill>
          <a:ln w="12700">
            <a:solidFill>
              <a:schemeClr val="bg1"/>
            </a:solidFill>
            <a:prstDash val="solid"/>
          </a:ln>
        </p:spPr>
      </p:sp>
      <p:sp>
        <p:nvSpPr>
          <p:cNvPr id="6" name="Shape 4"/>
          <p:cNvSpPr/>
          <p:nvPr/>
        </p:nvSpPr>
        <p:spPr>
          <a:xfrm>
            <a:off x="685800" y="1554480"/>
            <a:ext cx="1485900" cy="274320"/>
          </a:xfrm>
          <a:prstGeom prst="roundRect">
            <a:avLst>
              <a:gd name="adj" fmla="val 40000"/>
            </a:avLst>
          </a:prstGeom>
          <a:solidFill>
            <a:schemeClr val="accent2"/>
          </a:solidFill>
          <a:ln w="12700">
            <a:solidFill>
              <a:schemeClr val="accent2"/>
            </a:solidFill>
            <a:prstDash val="solid"/>
          </a:ln>
        </p:spPr>
      </p:sp>
      <p:sp>
        <p:nvSpPr>
          <p:cNvPr id="7" name="Text 5"/>
          <p:cNvSpPr txBox="1"/>
          <p:nvPr/>
        </p:nvSpPr>
        <p:spPr>
          <a:xfrm>
            <a:off x="685800" y="1554480"/>
            <a:ext cx="1485900" cy="274320"/>
          </a:xfrm>
          <a:prstGeom prst="rect">
            <a:avLst/>
          </a:prstGeom>
          <a:noFill/>
          <a:ln/>
        </p:spPr>
        <p:txBody>
          <a:bodyPr wrap="square" lIns="0" tIns="0" rIns="0" bIns="0" rtlCol="0" anchor="ctr"/>
          <a:lstStyle/>
          <a:p>
            <a:pPr algn="ctr" indent="0" marL="0">
              <a:spcAft>
                <a:spcPts val="400"/>
              </a:spcAft>
              <a:buNone/>
            </a:pPr>
            <a:r>
              <a:rPr lang="en-US" sz="1000" b="1" spc="100" kern="0" dirty="0">
                <a:solidFill>
                  <a:schemeClr val="tx1"/>
                </a:solidFill>
              </a:rPr>
              <a:t>ORIGINAL QUESTION</a:t>
            </a:r>
            <a:endParaRPr lang="en-US" sz="1000" dirty="0"/>
          </a:p>
        </p:txBody>
      </p:sp>
      <p:sp>
        <p:nvSpPr>
          <p:cNvPr id="8" name="Text 6"/>
          <p:cNvSpPr txBox="1"/>
          <p:nvPr/>
        </p:nvSpPr>
        <p:spPr>
          <a:xfrm>
            <a:off x="10469880" y="1527048"/>
            <a:ext cx="1051560" cy="320040"/>
          </a:xfrm>
          <a:prstGeom prst="rect">
            <a:avLst/>
          </a:prstGeom>
          <a:noFill/>
          <a:ln/>
        </p:spPr>
        <p:txBody>
          <a:bodyPr wrap="square" lIns="1016" tIns="1016" rIns="1016" bIns="1016" rtlCol="0" anchor="t"/>
          <a:lstStyle/>
          <a:p>
            <a:pPr algn="r" indent="0" marL="0">
              <a:spcAft>
                <a:spcPts val="400"/>
              </a:spcAft>
              <a:buNone/>
            </a:pPr>
            <a:r>
              <a:rPr lang="en-US" sz="1200" b="1" dirty="0">
                <a:solidFill>
                  <a:schemeClr val="tx2"/>
                </a:solidFill>
              </a:rPr>
              <a:t>(2)</a:t>
            </a:r>
            <a:endParaRPr lang="en-US" sz="1200" dirty="0"/>
          </a:p>
        </p:txBody>
      </p:sp>
      <p:sp>
        <p:nvSpPr>
          <p:cNvPr id="9" name="Text 7"/>
          <p:cNvSpPr txBox="1"/>
          <p:nvPr/>
        </p:nvSpPr>
        <p:spPr>
          <a:xfrm>
            <a:off x="685800" y="1892808"/>
            <a:ext cx="10835640" cy="1600200"/>
          </a:xfrm>
          <a:prstGeom prst="rect">
            <a:avLst/>
          </a:prstGeom>
          <a:noFill/>
          <a:ln/>
        </p:spPr>
        <p:txBody>
          <a:bodyPr wrap="square" lIns="1016" tIns="1016" rIns="1016" bIns="1016" rtlCol="0" anchor="t"/>
          <a:lstStyle/>
          <a:p>
            <a:pPr indent="0" marL="0">
              <a:spcAft>
                <a:spcPts val="400"/>
              </a:spcAft>
              <a:buNone/>
            </a:pPr>
            <a:r>
              <a:rPr lang="en-US" sz="1500" dirty="0">
                <a:solidFill>
                  <a:schemeClr val="tx1"/>
                </a:solidFill>
              </a:rPr>
              <a:t>(b) It has been estimated that an area of 8100 m² of grassland is needed to keep one cow. The productivity of grass is 21 135 kJ m⁻² year⁻¹. What percentage of the energy in the grass is used in the production of new tissue in one cow? Show your working.</a:t>
            </a:r>
            <a:endParaRPr lang="en-US" sz="1500" dirty="0"/>
          </a:p>
          <a:p>
            <a:pPr indent="0" marL="0">
              <a:spcAft>
                <a:spcPts val="400"/>
              </a:spcAft>
              <a:buNone/>
            </a:pPr>
            <a:endParaRPr lang="en-US" sz="1500" dirty="0"/>
          </a:p>
          <a:p>
            <a:pPr indent="0" marL="0">
              <a:spcAft>
                <a:spcPts val="400"/>
              </a:spcAft>
              <a:buNone/>
            </a:pPr>
            <a:r>
              <a:rPr lang="en-US" sz="1500" dirty="0">
                <a:solidFill>
                  <a:schemeClr val="tx1"/>
                </a:solidFill>
              </a:rPr>
              <a:t>Answer ____________ %</a:t>
            </a:r>
            <a:endParaRPr lang="en-US" sz="1500" dirty="0"/>
          </a:p>
        </p:txBody>
      </p:sp>
      <p:sp>
        <p:nvSpPr>
          <p:cNvPr id="10" name="Shape 8"/>
          <p:cNvSpPr/>
          <p:nvPr/>
        </p:nvSpPr>
        <p:spPr>
          <a:xfrm>
            <a:off x="548640" y="3703320"/>
            <a:ext cx="6949440" cy="2377440"/>
          </a:xfrm>
          <a:prstGeom prst="roundRect">
            <a:avLst>
              <a:gd name="adj" fmla="val 4615"/>
            </a:avLst>
          </a:prstGeom>
          <a:solidFill>
            <a:schemeClr val="bg1"/>
          </a:solidFill>
          <a:ln w="12700">
            <a:solidFill>
              <a:schemeClr val="bg1"/>
            </a:solidFill>
            <a:prstDash val="solid"/>
          </a:ln>
        </p:spPr>
      </p:sp>
      <p:sp>
        <p:nvSpPr>
          <p:cNvPr id="11" name="Shape 9"/>
          <p:cNvSpPr/>
          <p:nvPr/>
        </p:nvSpPr>
        <p:spPr>
          <a:xfrm>
            <a:off x="685800" y="3840480"/>
            <a:ext cx="1485900" cy="274320"/>
          </a:xfrm>
          <a:prstGeom prst="roundRect">
            <a:avLst>
              <a:gd name="adj" fmla="val 40000"/>
            </a:avLst>
          </a:prstGeom>
          <a:solidFill>
            <a:schemeClr val="accent2"/>
          </a:solidFill>
          <a:ln w="12700">
            <a:solidFill>
              <a:schemeClr val="accent2"/>
            </a:solidFill>
            <a:prstDash val="solid"/>
          </a:ln>
        </p:spPr>
      </p:sp>
      <p:sp>
        <p:nvSpPr>
          <p:cNvPr id="12" name="Text 10"/>
          <p:cNvSpPr txBox="1"/>
          <p:nvPr/>
        </p:nvSpPr>
        <p:spPr>
          <a:xfrm>
            <a:off x="685800" y="3840480"/>
            <a:ext cx="1485900" cy="274320"/>
          </a:xfrm>
          <a:prstGeom prst="rect">
            <a:avLst/>
          </a:prstGeom>
          <a:noFill/>
          <a:ln/>
        </p:spPr>
        <p:txBody>
          <a:bodyPr wrap="square" lIns="0" tIns="0" rIns="0" bIns="0" rtlCol="0" anchor="ctr"/>
          <a:lstStyle/>
          <a:p>
            <a:pPr algn="ctr" indent="0" marL="0">
              <a:spcAft>
                <a:spcPts val="400"/>
              </a:spcAft>
              <a:buNone/>
            </a:pPr>
            <a:r>
              <a:rPr lang="en-US" sz="1000" b="1" spc="100" kern="0" dirty="0">
                <a:solidFill>
                  <a:schemeClr val="tx1"/>
                </a:solidFill>
              </a:rPr>
              <a:t>ORIGINAL QUESTION</a:t>
            </a:r>
            <a:endParaRPr lang="en-US" sz="1000" dirty="0"/>
          </a:p>
        </p:txBody>
      </p:sp>
      <p:sp>
        <p:nvSpPr>
          <p:cNvPr id="13" name="Text 11"/>
          <p:cNvSpPr txBox="1"/>
          <p:nvPr/>
        </p:nvSpPr>
        <p:spPr>
          <a:xfrm>
            <a:off x="6309360" y="3813048"/>
            <a:ext cx="1051560" cy="320040"/>
          </a:xfrm>
          <a:prstGeom prst="rect">
            <a:avLst/>
          </a:prstGeom>
          <a:noFill/>
          <a:ln/>
        </p:spPr>
        <p:txBody>
          <a:bodyPr wrap="square" lIns="1016" tIns="1016" rIns="1016" bIns="1016" rtlCol="0" anchor="t"/>
          <a:lstStyle/>
          <a:p>
            <a:pPr algn="r" indent="0" marL="0">
              <a:spcAft>
                <a:spcPts val="400"/>
              </a:spcAft>
              <a:buNone/>
            </a:pPr>
            <a:r>
              <a:rPr lang="en-US" sz="1200" b="1" dirty="0">
                <a:solidFill>
                  <a:schemeClr val="tx2"/>
                </a:solidFill>
              </a:rPr>
              <a:t>(1)</a:t>
            </a:r>
            <a:endParaRPr lang="en-US" sz="1200" dirty="0"/>
          </a:p>
        </p:txBody>
      </p:sp>
      <p:sp>
        <p:nvSpPr>
          <p:cNvPr id="14" name="Text 12"/>
          <p:cNvSpPr txBox="1"/>
          <p:nvPr/>
        </p:nvSpPr>
        <p:spPr>
          <a:xfrm>
            <a:off x="685800" y="4178808"/>
            <a:ext cx="6675120" cy="1828800"/>
          </a:xfrm>
          <a:prstGeom prst="rect">
            <a:avLst/>
          </a:prstGeom>
          <a:noFill/>
          <a:ln/>
        </p:spPr>
        <p:txBody>
          <a:bodyPr wrap="square" lIns="1016" tIns="1016" rIns="1016" bIns="1016" rtlCol="0" anchor="t"/>
          <a:lstStyle/>
          <a:p>
            <a:pPr indent="0" marL="0">
              <a:spcAft>
                <a:spcPts val="400"/>
              </a:spcAft>
              <a:buNone/>
            </a:pPr>
            <a:r>
              <a:rPr lang="en-US" sz="1500" dirty="0">
                <a:solidFill>
                  <a:schemeClr val="tx1"/>
                </a:solidFill>
              </a:rPr>
              <a:t>(c) Keeping cattle indoors, in barns, leads to a higher efficiency of energy transfer. Explain why.</a:t>
            </a:r>
            <a:endParaRPr lang="en-US" sz="1500" dirty="0"/>
          </a:p>
        </p:txBody>
      </p:sp>
      <p:sp>
        <p:nvSpPr>
          <p:cNvPr id="15" name="Shape 13"/>
          <p:cNvSpPr/>
          <p:nvPr/>
        </p:nvSpPr>
        <p:spPr>
          <a:xfrm>
            <a:off x="7680960" y="3703320"/>
            <a:ext cx="3977640" cy="2377440"/>
          </a:xfrm>
          <a:prstGeom prst="roundRect">
            <a:avLst>
              <a:gd name="adj" fmla="val 4615"/>
            </a:avLst>
          </a:prstGeom>
          <a:solidFill>
            <a:schemeClr val="accent5"/>
          </a:solidFill>
          <a:ln w="12700">
            <a:solidFill>
              <a:schemeClr val="accent5"/>
            </a:solidFill>
            <a:prstDash val="solid"/>
          </a:ln>
        </p:spPr>
      </p:sp>
      <p:sp>
        <p:nvSpPr>
          <p:cNvPr id="16" name="Text 14"/>
          <p:cNvSpPr txBox="1"/>
          <p:nvPr/>
        </p:nvSpPr>
        <p:spPr>
          <a:xfrm>
            <a:off x="7818120" y="3794760"/>
            <a:ext cx="3703320" cy="2194560"/>
          </a:xfrm>
          <a:prstGeom prst="rect">
            <a:avLst/>
          </a:prstGeom>
          <a:noFill/>
          <a:ln/>
        </p:spPr>
        <p:txBody>
          <a:bodyPr wrap="square" lIns="1016" tIns="1016" rIns="1016" bIns="1016" rtlCol="0" anchor="t"/>
          <a:lstStyle/>
          <a:p>
            <a:pPr indent="0" marL="0">
              <a:spcAft>
                <a:spcPts val="400"/>
              </a:spcAft>
              <a:buNone/>
            </a:pPr>
            <a:r>
              <a:rPr lang="en-US" sz="1100" b="1" spc="100" kern="0" dirty="0">
                <a:solidFill>
                  <a:schemeClr val="tx1"/>
                </a:solidFill>
              </a:rPr>
              <a:t>HINTS, IF YOU NEED THEM</a:t>
            </a:r>
            <a:endParaRPr lang="en-US" sz="1500" dirty="0"/>
          </a:p>
          <a:p>
            <a:pPr indent="0" marL="0">
              <a:spcAft>
                <a:spcPts val="400"/>
              </a:spcAft>
              <a:buNone/>
            </a:pPr>
            <a:r>
              <a:rPr lang="en-US" sz="1500" dirty="0">
                <a:solidFill>
                  <a:schemeClr val="tx1"/>
                </a:solidFill>
              </a:rPr>
              <a:t>(b) Multiply productivity by area first. Then make the units match P (kJ × 10⁶).</a:t>
            </a:r>
            <a:endParaRPr lang="en-US" sz="1500" dirty="0"/>
          </a:p>
          <a:p>
            <a:pPr indent="0" marL="0">
              <a:spcAft>
                <a:spcPts val="400"/>
              </a:spcAft>
              <a:buNone/>
            </a:pPr>
            <a:r>
              <a:rPr lang="en-US" sz="1500" dirty="0">
                <a:solidFill>
                  <a:schemeClr val="tx1"/>
                </a:solidFill>
              </a:rPr>
              <a:t>(c) Which loss in the diagram does a warm barn reduce?</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896112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SECTION D · ORIGINAL EXAM QUESTION</a:t>
            </a:r>
            <a:endParaRPr lang="en-US" sz="1200" dirty="0"/>
          </a:p>
        </p:txBody>
      </p:sp>
      <p:sp>
        <p:nvSpPr>
          <p:cNvPr id="3" name="Text 0"/>
          <p:cNvSpPr/>
          <p:nvPr>
            <p:ph idx="101" type="title" hasCustomPrompt="1"/>
          </p:nvPr>
        </p:nvSpPr>
        <p:spPr>
          <a:xfrm>
            <a:off x="548640" y="566928"/>
            <a:ext cx="9509760" cy="73152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Productivity</a:t>
            </a:r>
            <a:endParaRPr lang="en-US" sz="3200" dirty="0"/>
          </a:p>
        </p:txBody>
      </p:sp>
      <p:sp>
        <p:nvSpPr>
          <p:cNvPr id="4" name="nav-map"/>
          <p:cNvSpPr txBox="1"/>
          <p:nvPr/>
        </p:nvSpPr>
        <p:spPr>
          <a:xfrm>
            <a:off x="10469880" y="274320"/>
            <a:ext cx="1188720" cy="320040"/>
          </a:xfrm>
          <a:prstGeom prst="rect">
            <a:avLst/>
          </a:prstGeom>
          <a:noFill/>
          <a:ln/>
        </p:spPr>
        <p:txBody>
          <a:bodyPr wrap="square" lIns="0" tIns="0" rIns="0" bIns="0" rtlCol="0" anchor="ctr"/>
          <a:lstStyle/>
          <a:p>
            <a:pPr algn="r" indent="0" marL="0">
              <a:buNone/>
            </a:pPr>
            <a:r>
              <a:rPr lang="en-US" sz="1200" u="sng" dirty="0">
                <a:solidFill>
                  <a:schemeClr val="accent1"/>
                </a:solidFill>
                <a:hlinkClick r:id="rId1" action="ppaction://hlinksldjump" tooltip="Back to lesson map">
                  <a:extLst>
                    <a:ext uri="{A12FA001-AC4F-418D-AE19-62706E023703}">
                      <ahyp:hlinkClr xmlns:ahyp="http://schemas.microsoft.com/office/drawing/2018/hyperlinkcolor" val="tx"/>
                    </a:ext>
                  </a:extLst>
                </a:hlinkClick>
              </a:rPr>
              <a:t>Lesson map</a:t>
            </a:r>
            <a:endParaRPr lang="en-US" sz="1200" dirty="0"/>
          </a:p>
        </p:txBody>
      </p:sp>
      <p:sp>
        <p:nvSpPr>
          <p:cNvPr id="5" name="Shape 3"/>
          <p:cNvSpPr/>
          <p:nvPr/>
        </p:nvSpPr>
        <p:spPr>
          <a:xfrm>
            <a:off x="548640" y="1417320"/>
            <a:ext cx="11109960" cy="1828800"/>
          </a:xfrm>
          <a:prstGeom prst="roundRect">
            <a:avLst>
              <a:gd name="adj" fmla="val 6000"/>
            </a:avLst>
          </a:prstGeom>
          <a:solidFill>
            <a:schemeClr val="bg1"/>
          </a:solidFill>
          <a:ln w="12700">
            <a:solidFill>
              <a:schemeClr val="bg1"/>
            </a:solidFill>
            <a:prstDash val="solid"/>
          </a:ln>
        </p:spPr>
      </p:sp>
      <p:sp>
        <p:nvSpPr>
          <p:cNvPr id="6" name="Shape 4"/>
          <p:cNvSpPr/>
          <p:nvPr/>
        </p:nvSpPr>
        <p:spPr>
          <a:xfrm>
            <a:off x="685800" y="1554480"/>
            <a:ext cx="1485900" cy="274320"/>
          </a:xfrm>
          <a:prstGeom prst="roundRect">
            <a:avLst>
              <a:gd name="adj" fmla="val 40000"/>
            </a:avLst>
          </a:prstGeom>
          <a:solidFill>
            <a:schemeClr val="accent2"/>
          </a:solidFill>
          <a:ln w="12700">
            <a:solidFill>
              <a:schemeClr val="accent2"/>
            </a:solidFill>
            <a:prstDash val="solid"/>
          </a:ln>
        </p:spPr>
      </p:sp>
      <p:sp>
        <p:nvSpPr>
          <p:cNvPr id="7" name="Text 5"/>
          <p:cNvSpPr txBox="1"/>
          <p:nvPr/>
        </p:nvSpPr>
        <p:spPr>
          <a:xfrm>
            <a:off x="685800" y="1554480"/>
            <a:ext cx="1485900" cy="274320"/>
          </a:xfrm>
          <a:prstGeom prst="rect">
            <a:avLst/>
          </a:prstGeom>
          <a:noFill/>
          <a:ln/>
        </p:spPr>
        <p:txBody>
          <a:bodyPr wrap="square" lIns="0" tIns="0" rIns="0" bIns="0" rtlCol="0" anchor="ctr"/>
          <a:lstStyle/>
          <a:p>
            <a:pPr algn="ctr" indent="0" marL="0">
              <a:spcAft>
                <a:spcPts val="400"/>
              </a:spcAft>
              <a:buNone/>
            </a:pPr>
            <a:r>
              <a:rPr lang="en-US" sz="1000" b="1" spc="100" kern="0" dirty="0">
                <a:solidFill>
                  <a:schemeClr val="tx1"/>
                </a:solidFill>
              </a:rPr>
              <a:t>ORIGINAL QUESTION</a:t>
            </a:r>
            <a:endParaRPr lang="en-US" sz="1000" dirty="0"/>
          </a:p>
        </p:txBody>
      </p:sp>
      <p:sp>
        <p:nvSpPr>
          <p:cNvPr id="8" name="Text 6"/>
          <p:cNvSpPr txBox="1"/>
          <p:nvPr/>
        </p:nvSpPr>
        <p:spPr>
          <a:xfrm>
            <a:off x="10469880" y="1527048"/>
            <a:ext cx="1051560" cy="320040"/>
          </a:xfrm>
          <a:prstGeom prst="rect">
            <a:avLst/>
          </a:prstGeom>
          <a:noFill/>
          <a:ln/>
        </p:spPr>
        <p:txBody>
          <a:bodyPr wrap="square" lIns="1016" tIns="1016" rIns="1016" bIns="1016" rtlCol="0" anchor="t"/>
          <a:lstStyle/>
          <a:p>
            <a:pPr algn="r" indent="0" marL="0">
              <a:spcAft>
                <a:spcPts val="400"/>
              </a:spcAft>
              <a:buNone/>
            </a:pPr>
            <a:r>
              <a:rPr lang="en-US" sz="1200" b="1" dirty="0">
                <a:solidFill>
                  <a:schemeClr val="tx2"/>
                </a:solidFill>
              </a:rPr>
              <a:t>[2 marks]</a:t>
            </a:r>
            <a:endParaRPr lang="en-US" sz="1200" dirty="0"/>
          </a:p>
        </p:txBody>
      </p:sp>
      <p:sp>
        <p:nvSpPr>
          <p:cNvPr id="9" name="Text 7"/>
          <p:cNvSpPr txBox="1"/>
          <p:nvPr/>
        </p:nvSpPr>
        <p:spPr>
          <a:xfrm>
            <a:off x="685800" y="1892808"/>
            <a:ext cx="10835640" cy="1280160"/>
          </a:xfrm>
          <a:prstGeom prst="rect">
            <a:avLst/>
          </a:prstGeom>
          <a:noFill/>
          <a:ln/>
        </p:spPr>
        <p:txBody>
          <a:bodyPr wrap="square" lIns="1016" tIns="1016" rIns="1016" bIns="1016" rtlCol="0" anchor="t"/>
          <a:lstStyle/>
          <a:p>
            <a:pPr indent="0" marL="0">
              <a:spcAft>
                <a:spcPts val="400"/>
              </a:spcAft>
              <a:buNone/>
            </a:pPr>
            <a:r>
              <a:rPr lang="en-US" sz="1500" dirty="0">
                <a:solidFill>
                  <a:schemeClr val="tx1"/>
                </a:solidFill>
              </a:rPr>
              <a:t>Explain why an increase in shoot biomass can be taken as a measurement of </a:t>
            </a:r>
            <a:pPr indent="0" marL="0">
              <a:spcAft>
                <a:spcPts val="400"/>
              </a:spcAft>
              <a:buNone/>
            </a:pPr>
            <a:r>
              <a:rPr lang="en-US" sz="1500" b="1" dirty="0">
                <a:solidFill>
                  <a:schemeClr val="tx1"/>
                </a:solidFill>
              </a:rPr>
              <a:t>net</a:t>
            </a:r>
            <a:pPr indent="0" marL="0">
              <a:spcAft>
                <a:spcPts val="400"/>
              </a:spcAft>
              <a:buNone/>
            </a:pPr>
            <a:r>
              <a:rPr lang="en-US" sz="1500" dirty="0">
                <a:solidFill>
                  <a:schemeClr val="tx1"/>
                </a:solidFill>
              </a:rPr>
              <a:t> primary productivity.</a:t>
            </a:r>
            <a:endParaRPr lang="en-US" sz="1500" dirty="0"/>
          </a:p>
        </p:txBody>
      </p:sp>
      <p:sp>
        <p:nvSpPr>
          <p:cNvPr id="10" name="Shape 8"/>
          <p:cNvSpPr/>
          <p:nvPr/>
        </p:nvSpPr>
        <p:spPr>
          <a:xfrm>
            <a:off x="548640" y="3429000"/>
            <a:ext cx="5486400" cy="1463040"/>
          </a:xfrm>
          <a:prstGeom prst="roundRect">
            <a:avLst>
              <a:gd name="adj" fmla="val 7500"/>
            </a:avLst>
          </a:prstGeom>
          <a:solidFill>
            <a:schemeClr val="accent5"/>
          </a:solidFill>
          <a:ln w="12700">
            <a:solidFill>
              <a:schemeClr val="accent5"/>
            </a:solidFill>
            <a:prstDash val="solid"/>
          </a:ln>
        </p:spPr>
      </p:sp>
      <p:sp>
        <p:nvSpPr>
          <p:cNvPr id="11" name="Text 9"/>
          <p:cNvSpPr txBox="1"/>
          <p:nvPr/>
        </p:nvSpPr>
        <p:spPr>
          <a:xfrm>
            <a:off x="685800" y="3520440"/>
            <a:ext cx="5212080" cy="1280160"/>
          </a:xfrm>
          <a:prstGeom prst="rect">
            <a:avLst/>
          </a:prstGeom>
          <a:noFill/>
          <a:ln/>
        </p:spPr>
        <p:txBody>
          <a:bodyPr wrap="square" lIns="1016" tIns="1016" rIns="1016" bIns="1016" rtlCol="0" anchor="t"/>
          <a:lstStyle/>
          <a:p>
            <a:pPr indent="0" marL="0">
              <a:spcAft>
                <a:spcPts val="400"/>
              </a:spcAft>
              <a:buNone/>
            </a:pPr>
            <a:r>
              <a:rPr lang="en-US" sz="1100" b="1" spc="100" kern="0" dirty="0">
                <a:solidFill>
                  <a:schemeClr val="tx1"/>
                </a:solidFill>
              </a:rPr>
              <a:t>HINT 1</a:t>
            </a:r>
            <a:endParaRPr lang="en-US" sz="1500" dirty="0"/>
          </a:p>
          <a:p>
            <a:pPr indent="0" marL="0">
              <a:spcAft>
                <a:spcPts val="400"/>
              </a:spcAft>
              <a:buNone/>
            </a:pPr>
            <a:r>
              <a:rPr lang="en-US" sz="1500" dirty="0">
                <a:solidFill>
                  <a:schemeClr val="tx1"/>
                </a:solidFill>
              </a:rPr>
              <a:t>What does biomass contain? Think about the definition of GPP.</a:t>
            </a:r>
            <a:endParaRPr lang="en-US" sz="1500" dirty="0"/>
          </a:p>
        </p:txBody>
      </p:sp>
      <p:sp>
        <p:nvSpPr>
          <p:cNvPr id="12" name="Shape 10"/>
          <p:cNvSpPr/>
          <p:nvPr/>
        </p:nvSpPr>
        <p:spPr>
          <a:xfrm>
            <a:off x="6172200" y="3429000"/>
            <a:ext cx="5486400" cy="1463040"/>
          </a:xfrm>
          <a:prstGeom prst="roundRect">
            <a:avLst>
              <a:gd name="adj" fmla="val 7500"/>
            </a:avLst>
          </a:prstGeom>
          <a:solidFill>
            <a:schemeClr val="accent5"/>
          </a:solidFill>
          <a:ln w="12700">
            <a:solidFill>
              <a:schemeClr val="accent5"/>
            </a:solidFill>
            <a:prstDash val="solid"/>
          </a:ln>
        </p:spPr>
      </p:sp>
      <p:sp>
        <p:nvSpPr>
          <p:cNvPr id="13" name="Text 11"/>
          <p:cNvSpPr txBox="1"/>
          <p:nvPr/>
        </p:nvSpPr>
        <p:spPr>
          <a:xfrm>
            <a:off x="6309360" y="3520440"/>
            <a:ext cx="5212080" cy="1280160"/>
          </a:xfrm>
          <a:prstGeom prst="rect">
            <a:avLst/>
          </a:prstGeom>
          <a:noFill/>
          <a:ln/>
        </p:spPr>
        <p:txBody>
          <a:bodyPr wrap="square" lIns="1016" tIns="1016" rIns="1016" bIns="1016" rtlCol="0" anchor="t"/>
          <a:lstStyle/>
          <a:p>
            <a:pPr indent="0" marL="0">
              <a:spcAft>
                <a:spcPts val="400"/>
              </a:spcAft>
              <a:buNone/>
            </a:pPr>
            <a:r>
              <a:rPr lang="en-US" sz="1100" b="1" spc="100" kern="0" dirty="0">
                <a:solidFill>
                  <a:schemeClr val="tx1"/>
                </a:solidFill>
              </a:rPr>
              <a:t>HINT 2</a:t>
            </a:r>
            <a:endParaRPr lang="en-US" sz="1500" dirty="0"/>
          </a:p>
          <a:p>
            <a:pPr indent="0" marL="0">
              <a:spcAft>
                <a:spcPts val="400"/>
              </a:spcAft>
              <a:buNone/>
            </a:pPr>
            <a:r>
              <a:rPr lang="en-US" sz="1500" dirty="0">
                <a:solidFill>
                  <a:schemeClr val="tx1"/>
                </a:solidFill>
              </a:rPr>
              <a:t>NPP = GPP − R. Has the plant already respired before it adds new biomass?</a:t>
            </a:r>
            <a:endParaRPr lang="en-US" sz="1500" dirty="0"/>
          </a:p>
        </p:txBody>
      </p:sp>
      <p:sp>
        <p:nvSpPr>
          <p:cNvPr id="14" name="Text 12"/>
          <p:cNvSpPr txBox="1"/>
          <p:nvPr/>
        </p:nvSpPr>
        <p:spPr>
          <a:xfrm>
            <a:off x="548640" y="5120640"/>
            <a:ext cx="11064240" cy="365760"/>
          </a:xfrm>
          <a:prstGeom prst="rect">
            <a:avLst/>
          </a:prstGeom>
          <a:noFill/>
          <a:ln/>
        </p:spPr>
        <p:txBody>
          <a:bodyPr wrap="square" lIns="1016" tIns="1016" rIns="1016" bIns="1016" rtlCol="0" anchor="t"/>
          <a:lstStyle/>
          <a:p>
            <a:pPr algn="r" indent="0" marL="0">
              <a:spcAft>
                <a:spcPts val="400"/>
              </a:spcAft>
              <a:buNone/>
            </a:pPr>
            <a:r>
              <a:rPr lang="en-US" sz="1400" dirty="0">
                <a:solidFill>
                  <a:schemeClr val="tx2"/>
                </a:solidFill>
              </a:rPr>
              <a:t>Answers for all of Section D are on the next two slides →</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896112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SECTION D · ANSWERS</a:t>
            </a:r>
            <a:endParaRPr lang="en-US" sz="1200" dirty="0"/>
          </a:p>
        </p:txBody>
      </p:sp>
      <p:sp>
        <p:nvSpPr>
          <p:cNvPr id="3" name="Text 0"/>
          <p:cNvSpPr/>
          <p:nvPr>
            <p:ph idx="101" type="title" hasCustomPrompt="1"/>
          </p:nvPr>
        </p:nvSpPr>
        <p:spPr>
          <a:xfrm>
            <a:off x="548640" y="566928"/>
            <a:ext cx="9509760" cy="73152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Cow question: (a)(i), (a)(ii) and (c)</a:t>
            </a:r>
            <a:endParaRPr lang="en-US" sz="3200" dirty="0"/>
          </a:p>
        </p:txBody>
      </p:sp>
      <p:sp>
        <p:nvSpPr>
          <p:cNvPr id="4" name="nav-map"/>
          <p:cNvSpPr txBox="1"/>
          <p:nvPr/>
        </p:nvSpPr>
        <p:spPr>
          <a:xfrm>
            <a:off x="10469880" y="274320"/>
            <a:ext cx="1188720" cy="320040"/>
          </a:xfrm>
          <a:prstGeom prst="rect">
            <a:avLst/>
          </a:prstGeom>
          <a:noFill/>
          <a:ln/>
        </p:spPr>
        <p:txBody>
          <a:bodyPr wrap="square" lIns="0" tIns="0" rIns="0" bIns="0" rtlCol="0" anchor="ctr"/>
          <a:lstStyle/>
          <a:p>
            <a:pPr algn="r" indent="0" marL="0">
              <a:buNone/>
            </a:pPr>
            <a:r>
              <a:rPr lang="en-US" sz="1200" u="sng" dirty="0">
                <a:solidFill>
                  <a:schemeClr val="accent1"/>
                </a:solidFill>
                <a:hlinkClick r:id="rId1" action="ppaction://hlinksldjump" tooltip="Back to lesson map">
                  <a:extLst>
                    <a:ext uri="{A12FA001-AC4F-418D-AE19-62706E023703}">
                      <ahyp:hlinkClr xmlns:ahyp="http://schemas.microsoft.com/office/drawing/2018/hyperlinkcolor" val="tx"/>
                    </a:ext>
                  </a:extLst>
                </a:hlinkClick>
              </a:rPr>
              <a:t>Lesson map</a:t>
            </a:r>
            <a:endParaRPr lang="en-US" sz="1200" dirty="0"/>
          </a:p>
        </p:txBody>
      </p:sp>
      <p:sp>
        <p:nvSpPr>
          <p:cNvPr id="5" name="Shape 3"/>
          <p:cNvSpPr/>
          <p:nvPr/>
        </p:nvSpPr>
        <p:spPr>
          <a:xfrm>
            <a:off x="548640" y="1417320"/>
            <a:ext cx="5486400" cy="2331720"/>
          </a:xfrm>
          <a:prstGeom prst="roundRect">
            <a:avLst>
              <a:gd name="adj" fmla="val 4706"/>
            </a:avLst>
          </a:prstGeom>
          <a:solidFill>
            <a:schemeClr val="bg1"/>
          </a:solidFill>
          <a:ln w="12700">
            <a:solidFill>
              <a:schemeClr val="bg1"/>
            </a:solidFill>
            <a:prstDash val="solid"/>
          </a:ln>
        </p:spPr>
      </p:sp>
      <p:sp>
        <p:nvSpPr>
          <p:cNvPr id="6" name="Text 4"/>
          <p:cNvSpPr txBox="1"/>
          <p:nvPr/>
        </p:nvSpPr>
        <p:spPr>
          <a:xfrm>
            <a:off x="685800" y="1527048"/>
            <a:ext cx="5212080" cy="2148840"/>
          </a:xfrm>
          <a:prstGeom prst="rect">
            <a:avLst/>
          </a:prstGeom>
          <a:noFill/>
          <a:ln/>
        </p:spPr>
        <p:txBody>
          <a:bodyPr wrap="square" lIns="1016" tIns="1016" rIns="1016" bIns="1016" rtlCol="0" anchor="t"/>
          <a:lstStyle/>
          <a:p>
            <a:pPr indent="0" marL="0">
              <a:spcAft>
                <a:spcPts val="400"/>
              </a:spcAft>
              <a:buNone/>
            </a:pPr>
            <a:r>
              <a:rPr lang="en-US" sz="1500" b="1" dirty="0">
                <a:solidFill>
                  <a:schemeClr val="accent1"/>
                </a:solidFill>
              </a:rPr>
              <a:t>(a)(i)  P = C − (F + R + U)</a:t>
            </a:r>
            <a:endParaRPr lang="en-US" sz="1500" dirty="0"/>
          </a:p>
          <a:p>
            <a:pPr indent="0" marL="0">
              <a:spcAft>
                <a:spcPts val="400"/>
              </a:spcAft>
              <a:buNone/>
            </a:pPr>
            <a:r>
              <a:rPr lang="en-US" sz="1500" dirty="0">
                <a:solidFill>
                  <a:schemeClr val="tx1"/>
                </a:solidFill>
              </a:rPr>
              <a:t>Also accepted: P = C − F − R − U.</a:t>
            </a:r>
            <a:endParaRPr lang="en-US" sz="1500" dirty="0"/>
          </a:p>
          <a:p>
            <a:pPr indent="0" marL="0">
              <a:spcAft>
                <a:spcPts val="400"/>
              </a:spcAft>
              <a:buNone/>
            </a:pPr>
            <a:r>
              <a:rPr lang="en-US" sz="1500" b="1" dirty="0">
                <a:solidFill>
                  <a:schemeClr val="tx1"/>
                </a:solidFill>
              </a:rPr>
              <a:t>Why: </a:t>
            </a:r>
            <a:pPr indent="0" marL="0">
              <a:spcAft>
                <a:spcPts val="400"/>
              </a:spcAft>
              <a:buNone/>
            </a:pPr>
            <a:r>
              <a:rPr lang="en-US" sz="1500" dirty="0">
                <a:solidFill>
                  <a:schemeClr val="tx1"/>
                </a:solidFill>
              </a:rPr>
              <a:t>energy cannot be created or destroyed, so everything eaten (C) either leaves the cow (F, R, U) or stays as new tissue (P). Do not use A: the question says only C, F, R and U.</a:t>
            </a:r>
            <a:endParaRPr lang="en-US" sz="1500" dirty="0"/>
          </a:p>
        </p:txBody>
      </p:sp>
      <p:sp>
        <p:nvSpPr>
          <p:cNvPr id="7" name="Shape 5"/>
          <p:cNvSpPr/>
          <p:nvPr/>
        </p:nvSpPr>
        <p:spPr>
          <a:xfrm>
            <a:off x="6172200" y="1417320"/>
            <a:ext cx="5486400" cy="2331720"/>
          </a:xfrm>
          <a:prstGeom prst="roundRect">
            <a:avLst>
              <a:gd name="adj" fmla="val 4706"/>
            </a:avLst>
          </a:prstGeom>
          <a:solidFill>
            <a:schemeClr val="bg1"/>
          </a:solidFill>
          <a:ln w="12700">
            <a:solidFill>
              <a:schemeClr val="bg1"/>
            </a:solidFill>
            <a:prstDash val="solid"/>
          </a:ln>
        </p:spPr>
      </p:sp>
      <p:sp>
        <p:nvSpPr>
          <p:cNvPr id="8" name="Text 6"/>
          <p:cNvSpPr txBox="1"/>
          <p:nvPr/>
        </p:nvSpPr>
        <p:spPr>
          <a:xfrm>
            <a:off x="6309360" y="1527048"/>
            <a:ext cx="5212080" cy="2148840"/>
          </a:xfrm>
          <a:prstGeom prst="rect">
            <a:avLst/>
          </a:prstGeom>
          <a:noFill/>
          <a:ln/>
        </p:spPr>
        <p:txBody>
          <a:bodyPr wrap="square" lIns="1016" tIns="1016" rIns="1016" bIns="1016" rtlCol="0" anchor="t"/>
          <a:lstStyle/>
          <a:p>
            <a:pPr indent="0" marL="0">
              <a:spcAft>
                <a:spcPts val="400"/>
              </a:spcAft>
              <a:buNone/>
            </a:pPr>
            <a:r>
              <a:rPr lang="en-US" sz="1500" b="1" dirty="0">
                <a:solidFill>
                  <a:schemeClr val="accent1"/>
                </a:solidFill>
              </a:rPr>
              <a:t>(a)(ii)  P = 3.74 kJ × 10⁶ year⁻¹</a:t>
            </a:r>
            <a:endParaRPr lang="en-US" sz="1500" dirty="0"/>
          </a:p>
          <a:p>
            <a:pPr indent="0" marL="0">
              <a:spcAft>
                <a:spcPts val="400"/>
              </a:spcAft>
              <a:buNone/>
            </a:pPr>
            <a:r>
              <a:rPr lang="en-US" sz="1500" b="1" dirty="0">
                <a:solidFill>
                  <a:schemeClr val="tx1"/>
                </a:solidFill>
              </a:rPr>
              <a:t>Step 1: </a:t>
            </a:r>
            <a:pPr indent="0" marL="0">
              <a:spcAft>
                <a:spcPts val="400"/>
              </a:spcAft>
              <a:buNone/>
            </a:pPr>
            <a:r>
              <a:rPr lang="en-US" sz="1500" dirty="0">
                <a:solidFill>
                  <a:schemeClr val="tx1"/>
                </a:solidFill>
              </a:rPr>
              <a:t>add the losses: 57.06 + 30.51 + 0.03 = 87.60</a:t>
            </a:r>
            <a:endParaRPr lang="en-US" sz="1500" dirty="0"/>
          </a:p>
          <a:p>
            <a:pPr indent="0" marL="0">
              <a:spcAft>
                <a:spcPts val="400"/>
              </a:spcAft>
              <a:buNone/>
            </a:pPr>
            <a:r>
              <a:rPr lang="en-US" sz="1500" b="1" dirty="0">
                <a:solidFill>
                  <a:schemeClr val="tx1"/>
                </a:solidFill>
              </a:rPr>
              <a:t>Step 2: </a:t>
            </a:r>
            <a:pPr indent="0" marL="0">
              <a:spcAft>
                <a:spcPts val="400"/>
              </a:spcAft>
              <a:buNone/>
            </a:pPr>
            <a:r>
              <a:rPr lang="en-US" sz="1500" dirty="0">
                <a:solidFill>
                  <a:schemeClr val="tx1"/>
                </a:solidFill>
              </a:rPr>
              <a:t>91.34 − 87.60 = 3.74</a:t>
            </a:r>
            <a:endParaRPr lang="en-US" sz="1500" dirty="0"/>
          </a:p>
          <a:p>
            <a:pPr indent="0" marL="0">
              <a:spcAft>
                <a:spcPts val="400"/>
              </a:spcAft>
              <a:buNone/>
            </a:pPr>
            <a:r>
              <a:rPr lang="en-US" sz="1500" b="1" dirty="0">
                <a:solidFill>
                  <a:schemeClr val="tx1"/>
                </a:solidFill>
              </a:rPr>
              <a:t>Check: </a:t>
            </a:r>
            <a:pPr indent="0" marL="0">
              <a:spcAft>
                <a:spcPts val="400"/>
              </a:spcAft>
              <a:buNone/>
            </a:pPr>
            <a:r>
              <a:rPr lang="en-US" sz="1500" dirty="0">
                <a:solidFill>
                  <a:schemeClr val="tx1"/>
                </a:solidFill>
              </a:rPr>
              <a:t>C − F = 34.28, which matches A. Then 34.28 − 30.51 − 0.03 = 3.74 ✓</a:t>
            </a:r>
            <a:endParaRPr lang="en-US" sz="1500" dirty="0"/>
          </a:p>
        </p:txBody>
      </p:sp>
      <p:sp>
        <p:nvSpPr>
          <p:cNvPr id="9" name="Shape 7"/>
          <p:cNvSpPr/>
          <p:nvPr/>
        </p:nvSpPr>
        <p:spPr>
          <a:xfrm>
            <a:off x="548640" y="3886200"/>
            <a:ext cx="11109960" cy="2194560"/>
          </a:xfrm>
          <a:prstGeom prst="roundRect">
            <a:avLst>
              <a:gd name="adj" fmla="val 5000"/>
            </a:avLst>
          </a:prstGeom>
          <a:solidFill>
            <a:schemeClr val="bg1"/>
          </a:solidFill>
          <a:ln w="12700">
            <a:solidFill>
              <a:schemeClr val="bg1"/>
            </a:solidFill>
            <a:prstDash val="solid"/>
          </a:ln>
        </p:spPr>
      </p:sp>
      <p:sp>
        <p:nvSpPr>
          <p:cNvPr id="10" name="Text 8"/>
          <p:cNvSpPr txBox="1"/>
          <p:nvPr/>
        </p:nvSpPr>
        <p:spPr>
          <a:xfrm>
            <a:off x="685800" y="3995928"/>
            <a:ext cx="10835640" cy="2011680"/>
          </a:xfrm>
          <a:prstGeom prst="rect">
            <a:avLst/>
          </a:prstGeom>
          <a:noFill/>
          <a:ln/>
        </p:spPr>
        <p:txBody>
          <a:bodyPr wrap="square" lIns="1016" tIns="1016" rIns="1016" bIns="1016" rtlCol="0" anchor="t"/>
          <a:lstStyle/>
          <a:p>
            <a:pPr indent="0" marL="0">
              <a:spcAft>
                <a:spcPts val="400"/>
              </a:spcAft>
              <a:buNone/>
            </a:pPr>
            <a:r>
              <a:rPr lang="en-US" sz="1500" b="1" dirty="0">
                <a:solidFill>
                  <a:schemeClr val="accent1"/>
                </a:solidFill>
              </a:rPr>
              <a:t>(c)  Model answer (1 mark)</a:t>
            </a:r>
            <a:endParaRPr lang="en-US" sz="1500" dirty="0"/>
          </a:p>
          <a:p>
            <a:pPr indent="0" marL="0">
              <a:spcAft>
                <a:spcPts val="400"/>
              </a:spcAft>
              <a:buNone/>
            </a:pPr>
            <a:r>
              <a:rPr lang="en-US" sz="1500" dirty="0">
                <a:solidFill>
                  <a:schemeClr val="tx1"/>
                </a:solidFill>
              </a:rPr>
              <a:t>Less energy is lost as heat, and the cattle move around less, so </a:t>
            </a:r>
            <a:pPr indent="0" marL="0">
              <a:spcAft>
                <a:spcPts val="400"/>
              </a:spcAft>
              <a:buNone/>
            </a:pPr>
            <a:r>
              <a:rPr lang="en-US" sz="1500" b="1" dirty="0">
                <a:solidFill>
                  <a:schemeClr val="tx1"/>
                </a:solidFill>
              </a:rPr>
              <a:t>less energy is used in respiration</a:t>
            </a:r>
            <a:pPr indent="0" marL="0">
              <a:spcAft>
                <a:spcPts val="400"/>
              </a:spcAft>
              <a:buNone/>
            </a:pPr>
            <a:r>
              <a:rPr lang="en-US" sz="1500" dirty="0">
                <a:solidFill>
                  <a:schemeClr val="tx1"/>
                </a:solidFill>
              </a:rPr>
              <a:t>. More energy is available for growth (P).</a:t>
            </a:r>
            <a:endParaRPr lang="en-US" sz="1500" dirty="0"/>
          </a:p>
          <a:p>
            <a:pPr indent="0" marL="0">
              <a:spcAft>
                <a:spcPts val="400"/>
              </a:spcAft>
              <a:buNone/>
            </a:pPr>
            <a:r>
              <a:rPr lang="en-US" sz="1500" b="1" dirty="0">
                <a:solidFill>
                  <a:schemeClr val="tx1"/>
                </a:solidFill>
              </a:rPr>
              <a:t>Why: </a:t>
            </a:r>
            <a:pPr indent="0" marL="0">
              <a:spcAft>
                <a:spcPts val="400"/>
              </a:spcAft>
              <a:buNone/>
            </a:pPr>
            <a:r>
              <a:rPr lang="en-US" sz="1500" dirty="0">
                <a:solidFill>
                  <a:schemeClr val="tx1"/>
                </a:solidFill>
              </a:rPr>
              <a:t>in a warm barn the cow uses less energy keeping its body temperature up, and in a small space it walks less. Both reduce R. From P = C − (F + R + U), a smaller R means a bigger P.</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896112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SECTION D · ANSWERS</a:t>
            </a:r>
            <a:endParaRPr lang="en-US" sz="1200" dirty="0"/>
          </a:p>
        </p:txBody>
      </p:sp>
      <p:sp>
        <p:nvSpPr>
          <p:cNvPr id="3" name="Text 0"/>
          <p:cNvSpPr/>
          <p:nvPr>
            <p:ph idx="101" type="title" hasCustomPrompt="1"/>
          </p:nvPr>
        </p:nvSpPr>
        <p:spPr>
          <a:xfrm>
            <a:off x="548640" y="566928"/>
            <a:ext cx="9509760" cy="73152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Cow question (b) and productivity</a:t>
            </a:r>
            <a:endParaRPr lang="en-US" sz="3200" dirty="0"/>
          </a:p>
        </p:txBody>
      </p:sp>
      <p:sp>
        <p:nvSpPr>
          <p:cNvPr id="4" name="nav-map"/>
          <p:cNvSpPr txBox="1"/>
          <p:nvPr/>
        </p:nvSpPr>
        <p:spPr>
          <a:xfrm>
            <a:off x="10469880" y="274320"/>
            <a:ext cx="1188720" cy="320040"/>
          </a:xfrm>
          <a:prstGeom prst="rect">
            <a:avLst/>
          </a:prstGeom>
          <a:noFill/>
          <a:ln/>
        </p:spPr>
        <p:txBody>
          <a:bodyPr wrap="square" lIns="0" tIns="0" rIns="0" bIns="0" rtlCol="0" anchor="ctr"/>
          <a:lstStyle/>
          <a:p>
            <a:pPr algn="r" indent="0" marL="0">
              <a:buNone/>
            </a:pPr>
            <a:r>
              <a:rPr lang="en-US" sz="1200" u="sng" dirty="0">
                <a:solidFill>
                  <a:schemeClr val="accent1"/>
                </a:solidFill>
                <a:hlinkClick r:id="rId1" action="ppaction://hlinksldjump" tooltip="Back to lesson map">
                  <a:extLst>
                    <a:ext uri="{A12FA001-AC4F-418D-AE19-62706E023703}">
                      <ahyp:hlinkClr xmlns:ahyp="http://schemas.microsoft.com/office/drawing/2018/hyperlinkcolor" val="tx"/>
                    </a:ext>
                  </a:extLst>
                </a:hlinkClick>
              </a:rPr>
              <a:t>Lesson map</a:t>
            </a:r>
            <a:endParaRPr lang="en-US" sz="1200" dirty="0"/>
          </a:p>
        </p:txBody>
      </p:sp>
      <p:sp>
        <p:nvSpPr>
          <p:cNvPr id="5" name="Shape 3"/>
          <p:cNvSpPr/>
          <p:nvPr/>
        </p:nvSpPr>
        <p:spPr>
          <a:xfrm>
            <a:off x="548640" y="1417320"/>
            <a:ext cx="6035040" cy="4663440"/>
          </a:xfrm>
          <a:prstGeom prst="roundRect">
            <a:avLst>
              <a:gd name="adj" fmla="val 2353"/>
            </a:avLst>
          </a:prstGeom>
          <a:solidFill>
            <a:schemeClr val="bg1"/>
          </a:solidFill>
          <a:ln w="12700">
            <a:solidFill>
              <a:schemeClr val="bg1"/>
            </a:solidFill>
            <a:prstDash val="solid"/>
          </a:ln>
        </p:spPr>
      </p:sp>
      <p:sp>
        <p:nvSpPr>
          <p:cNvPr id="6" name="Text 4"/>
          <p:cNvSpPr txBox="1"/>
          <p:nvPr/>
        </p:nvSpPr>
        <p:spPr>
          <a:xfrm>
            <a:off x="685800" y="1527048"/>
            <a:ext cx="5760720" cy="4480560"/>
          </a:xfrm>
          <a:prstGeom prst="rect">
            <a:avLst/>
          </a:prstGeom>
          <a:noFill/>
          <a:ln/>
        </p:spPr>
        <p:txBody>
          <a:bodyPr wrap="square" lIns="1016" tIns="1016" rIns="1016" bIns="1016" rtlCol="0" anchor="t"/>
          <a:lstStyle/>
          <a:p>
            <a:pPr indent="0" marL="0">
              <a:spcAft>
                <a:spcPts val="400"/>
              </a:spcAft>
              <a:buNone/>
            </a:pPr>
            <a:r>
              <a:rPr lang="en-US" sz="1500" b="1" dirty="0">
                <a:solidFill>
                  <a:schemeClr val="accent1"/>
                </a:solidFill>
              </a:rPr>
              <a:t>(b)  2.18%  (2.2% also fine)</a:t>
            </a:r>
            <a:endParaRPr lang="en-US" sz="1500" dirty="0"/>
          </a:p>
          <a:p>
            <a:pPr indent="0" marL="0">
              <a:spcAft>
                <a:spcPts val="400"/>
              </a:spcAft>
              <a:buNone/>
            </a:pPr>
            <a:r>
              <a:rPr lang="en-US" sz="1500" b="1" dirty="0">
                <a:solidFill>
                  <a:schemeClr val="tx1"/>
                </a:solidFill>
              </a:rPr>
              <a:t>Step 1 · energy in the grass. </a:t>
            </a:r>
            <a:pPr indent="0" marL="0">
              <a:spcAft>
                <a:spcPts val="400"/>
              </a:spcAft>
              <a:buNone/>
            </a:pPr>
            <a:r>
              <a:rPr lang="en-US" sz="1500" dirty="0">
                <a:solidFill>
                  <a:schemeClr val="tx1"/>
                </a:solidFill>
              </a:rPr>
              <a:t>Productivity is per m², so multiply by the area:
21 135 × 8100 = 171 193 500 kJ year⁻¹
</a:t>
            </a:r>
            <a:pPr indent="0" marL="0">
              <a:spcAft>
                <a:spcPts val="400"/>
              </a:spcAft>
              <a:buNone/>
            </a:pPr>
            <a:r>
              <a:rPr lang="en-US" sz="1500" b="1" dirty="0">
                <a:solidFill>
                  <a:schemeClr val="tx1"/>
                </a:solidFill>
              </a:rPr>
              <a:t>Step 2 · match the units. </a:t>
            </a:r>
            <a:pPr indent="0" marL="0">
              <a:spcAft>
                <a:spcPts val="400"/>
              </a:spcAft>
              <a:buNone/>
            </a:pPr>
            <a:r>
              <a:rPr lang="en-US" sz="1500" dirty="0">
                <a:solidFill>
                  <a:schemeClr val="tx1"/>
                </a:solidFill>
              </a:rPr>
              <a:t>P is in kJ × 10⁶, so write the grass energy as 171.19 × 10⁶ kJ year⁻¹.</a:t>
            </a:r>
            <a:endParaRPr lang="en-US" sz="1500" dirty="0"/>
          </a:p>
          <a:p>
            <a:pPr indent="0" marL="0">
              <a:spcAft>
                <a:spcPts val="400"/>
              </a:spcAft>
              <a:buNone/>
            </a:pPr>
            <a:r>
              <a:rPr lang="en-US" sz="1500" b="1" dirty="0">
                <a:solidFill>
                  <a:schemeClr val="tx1"/>
                </a:solidFill>
              </a:rPr>
              <a:t>Step 3 · percentage. </a:t>
            </a:r>
            <a:pPr indent="0" marL="0">
              <a:spcAft>
                <a:spcPts val="400"/>
              </a:spcAft>
              <a:buNone/>
            </a:pPr>
            <a:r>
              <a:rPr lang="en-US" sz="1500" dirty="0">
                <a:solidFill>
                  <a:schemeClr val="tx1"/>
                </a:solidFill>
              </a:rPr>
              <a:t>3.74 ÷ 171.19 × 100 = 2.18%</a:t>
            </a:r>
            <a:endParaRPr lang="en-US" sz="1500" dirty="0"/>
          </a:p>
          <a:p>
            <a:pPr indent="0" marL="0">
              <a:spcAft>
                <a:spcPts val="400"/>
              </a:spcAft>
              <a:buNone/>
            </a:pPr>
            <a:r>
              <a:rPr lang="en-US" sz="1500" b="1" dirty="0">
                <a:solidFill>
                  <a:schemeClr val="tx1"/>
                </a:solidFill>
              </a:rPr>
              <a:t>Marks: </a:t>
            </a:r>
            <a:pPr indent="0" marL="0">
              <a:spcAft>
                <a:spcPts val="400"/>
              </a:spcAft>
              <a:buNone/>
            </a:pPr>
            <a:r>
              <a:rPr lang="en-US" sz="1500" dirty="0">
                <a:solidFill>
                  <a:schemeClr val="tx1"/>
                </a:solidFill>
              </a:rPr>
              <a:t>1 for working, 1 for the answer.</a:t>
            </a:r>
            <a:endParaRPr lang="en-US" sz="1500" dirty="0"/>
          </a:p>
          <a:p>
            <a:pPr indent="0" marL="0">
              <a:spcAft>
                <a:spcPts val="400"/>
              </a:spcAft>
              <a:buNone/>
            </a:pPr>
            <a:r>
              <a:rPr lang="en-US" sz="1500" b="1" dirty="0">
                <a:solidFill>
                  <a:schemeClr val="tx1"/>
                </a:solidFill>
              </a:rPr>
              <a:t>Traps: </a:t>
            </a:r>
            <a:pPr indent="0" marL="0">
              <a:spcAft>
                <a:spcPts val="400"/>
              </a:spcAft>
              <a:buNone/>
            </a:pPr>
            <a:r>
              <a:rPr lang="en-US" sz="1500" dirty="0">
                <a:solidFill>
                  <a:schemeClr val="tx1"/>
                </a:solidFill>
              </a:rPr>
              <a:t>0.0000022% means you forgot the × 10⁶. 0.018% means you skipped the area. 20% means you used A instead of P.</a:t>
            </a:r>
            <a:endParaRPr lang="en-US" sz="1500" dirty="0"/>
          </a:p>
        </p:txBody>
      </p:sp>
      <p:sp>
        <p:nvSpPr>
          <p:cNvPr id="7" name="Shape 5"/>
          <p:cNvSpPr/>
          <p:nvPr/>
        </p:nvSpPr>
        <p:spPr>
          <a:xfrm>
            <a:off x="6766560" y="1417320"/>
            <a:ext cx="4892040" cy="4663440"/>
          </a:xfrm>
          <a:prstGeom prst="roundRect">
            <a:avLst>
              <a:gd name="adj" fmla="val 2353"/>
            </a:avLst>
          </a:prstGeom>
          <a:solidFill>
            <a:schemeClr val="bg1"/>
          </a:solidFill>
          <a:ln w="12700">
            <a:solidFill>
              <a:schemeClr val="bg1"/>
            </a:solidFill>
            <a:prstDash val="solid"/>
          </a:ln>
        </p:spPr>
      </p:sp>
      <p:sp>
        <p:nvSpPr>
          <p:cNvPr id="8" name="Text 6"/>
          <p:cNvSpPr txBox="1"/>
          <p:nvPr/>
        </p:nvSpPr>
        <p:spPr>
          <a:xfrm>
            <a:off x="6903720" y="1527048"/>
            <a:ext cx="4617720" cy="4480560"/>
          </a:xfrm>
          <a:prstGeom prst="rect">
            <a:avLst/>
          </a:prstGeom>
          <a:noFill/>
          <a:ln/>
        </p:spPr>
        <p:txBody>
          <a:bodyPr wrap="square" lIns="1016" tIns="1016" rIns="1016" bIns="1016" rtlCol="0" anchor="t"/>
          <a:lstStyle/>
          <a:p>
            <a:pPr indent="0" marL="0">
              <a:spcAft>
                <a:spcPts val="400"/>
              </a:spcAft>
              <a:buNone/>
            </a:pPr>
            <a:r>
              <a:rPr lang="en-US" sz="1500" b="1" dirty="0">
                <a:solidFill>
                  <a:schemeClr val="accent1"/>
                </a:solidFill>
              </a:rPr>
              <a:t>Shoot biomass: model answer (2 marks)</a:t>
            </a:r>
            <a:endParaRPr lang="en-US" sz="1500" dirty="0"/>
          </a:p>
          <a:p>
            <a:pPr indent="0" marL="0">
              <a:spcAft>
                <a:spcPts val="400"/>
              </a:spcAft>
              <a:buNone/>
            </a:pPr>
            <a:r>
              <a:rPr lang="en-US" sz="1500" b="1" dirty="0">
                <a:solidFill>
                  <a:schemeClr val="tx1"/>
                </a:solidFill>
              </a:rPr>
              <a:t>✓ </a:t>
            </a:r>
            <a:pPr indent="0" marL="0">
              <a:spcAft>
                <a:spcPts val="400"/>
              </a:spcAft>
              <a:buNone/>
            </a:pPr>
            <a:r>
              <a:rPr lang="en-US" sz="1500" dirty="0">
                <a:solidFill>
                  <a:schemeClr val="tx1"/>
                </a:solidFill>
              </a:rPr>
              <a:t>Biomass is a store of chemical energy (organic molecules made in photosynthesis).</a:t>
            </a:r>
            <a:endParaRPr lang="en-US" sz="1500" dirty="0"/>
          </a:p>
          <a:p>
            <a:pPr indent="0" marL="0">
              <a:spcAft>
                <a:spcPts val="400"/>
              </a:spcAft>
              <a:buNone/>
            </a:pPr>
            <a:r>
              <a:rPr lang="en-US" sz="1500" b="1" dirty="0">
                <a:solidFill>
                  <a:schemeClr val="tx1"/>
                </a:solidFill>
              </a:rPr>
              <a:t>✓ </a:t>
            </a:r>
            <a:pPr indent="0" marL="0">
              <a:spcAft>
                <a:spcPts val="400"/>
              </a:spcAft>
              <a:buNone/>
            </a:pPr>
            <a:r>
              <a:rPr lang="en-US" sz="1500" dirty="0">
                <a:solidFill>
                  <a:schemeClr val="tx1"/>
                </a:solidFill>
              </a:rPr>
              <a:t>New biomass is only made from energy left after respiratory losses (NPP = GPP − R), so the increase shows net, not gross, production.</a:t>
            </a:r>
            <a:endParaRPr lang="en-US" sz="1500" dirty="0"/>
          </a:p>
          <a:p>
            <a:pPr indent="0" marL="0">
              <a:spcAft>
                <a:spcPts val="400"/>
              </a:spcAft>
              <a:buNone/>
            </a:pPr>
            <a:r>
              <a:rPr lang="en-US" sz="1500" b="1" dirty="0">
                <a:solidFill>
                  <a:schemeClr val="tx1"/>
                </a:solidFill>
              </a:rPr>
              <a:t>Why: </a:t>
            </a:r>
            <a:pPr indent="0" marL="0">
              <a:spcAft>
                <a:spcPts val="400"/>
              </a:spcAft>
              <a:buNone/>
            </a:pPr>
            <a:r>
              <a:rPr lang="en-US" sz="1500" dirty="0">
                <a:solidFill>
                  <a:schemeClr val="tx1"/>
                </a:solidFill>
              </a:rPr>
              <a:t>the plant respires all the time and that energy is lost as heat. It never shows up as biomass. What you can measure is what is left after respiration, which is NPP.</a:t>
            </a:r>
            <a:endParaRPr lang="en-US" sz="1500" dirty="0"/>
          </a:p>
        </p:txBody>
      </p:sp>
      <p:sp>
        <p:nvSpPr>
          <p:cNvPr id="9" name="Text 7"/>
          <p:cNvSpPr txBox="1"/>
          <p:nvPr/>
        </p:nvSpPr>
        <p:spPr>
          <a:xfrm>
            <a:off x="8412480" y="6355080"/>
            <a:ext cx="2651760" cy="320040"/>
          </a:xfrm>
          <a:prstGeom prst="rect">
            <a:avLst/>
          </a:prstGeom>
          <a:noFill/>
          <a:ln/>
        </p:spPr>
        <p:txBody>
          <a:bodyPr wrap="square" lIns="0" tIns="0" rIns="0" bIns="0" rtlCol="0" anchor="ctr"/>
          <a:lstStyle/>
          <a:p>
            <a:pPr algn="r" indent="0" marL="0">
              <a:buNone/>
            </a:pPr>
            <a:r>
              <a:rPr lang="en-US" sz="1200" u="sng" dirty="0">
                <a:solidFill>
                  <a:schemeClr val="accent1"/>
                </a:solidFill>
                <a:hlinkClick r:id="rId2" action="ppaction://hlinksldjump" tooltip="">
                  <a:extLst>
                    <a:ext uri="{A12FA001-AC4F-418D-AE19-62706E023703}">
                      <ahyp:hlinkClr xmlns:ahyp="http://schemas.microsoft.com/office/drawing/2018/hyperlinkcolor" val="tx"/>
                    </a:ext>
                  </a:extLst>
                </a:hlinkClick>
              </a:rPr>
              <a:t>Next: Summary →</a:t>
            </a:r>
            <a:endParaRPr lang="en-US" sz="1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896112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SUMMARY</a:t>
            </a:r>
            <a:endParaRPr lang="en-US" sz="1200" dirty="0"/>
          </a:p>
        </p:txBody>
      </p:sp>
      <p:sp>
        <p:nvSpPr>
          <p:cNvPr id="3" name="Text 0"/>
          <p:cNvSpPr/>
          <p:nvPr>
            <p:ph idx="101" type="title" hasCustomPrompt="1"/>
          </p:nvPr>
        </p:nvSpPr>
        <p:spPr>
          <a:xfrm>
            <a:off x="548640" y="566928"/>
            <a:ext cx="9509760" cy="73152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Everything on one slide</a:t>
            </a:r>
            <a:endParaRPr lang="en-US" sz="3200" dirty="0"/>
          </a:p>
        </p:txBody>
      </p:sp>
      <p:sp>
        <p:nvSpPr>
          <p:cNvPr id="4" name="nav-map"/>
          <p:cNvSpPr txBox="1"/>
          <p:nvPr/>
        </p:nvSpPr>
        <p:spPr>
          <a:xfrm>
            <a:off x="10469880" y="274320"/>
            <a:ext cx="1188720" cy="320040"/>
          </a:xfrm>
          <a:prstGeom prst="rect">
            <a:avLst/>
          </a:prstGeom>
          <a:noFill/>
          <a:ln/>
        </p:spPr>
        <p:txBody>
          <a:bodyPr wrap="square" lIns="0" tIns="0" rIns="0" bIns="0" rtlCol="0" anchor="ctr"/>
          <a:lstStyle/>
          <a:p>
            <a:pPr algn="r" indent="0" marL="0">
              <a:buNone/>
            </a:pPr>
            <a:r>
              <a:rPr lang="en-US" sz="1200" u="sng" dirty="0">
                <a:solidFill>
                  <a:schemeClr val="accent1"/>
                </a:solidFill>
                <a:hlinkClick r:id="rId1" action="ppaction://hlinksldjump" tooltip="Back to lesson map">
                  <a:extLst>
                    <a:ext uri="{A12FA001-AC4F-418D-AE19-62706E023703}">
                      <ahyp:hlinkClr xmlns:ahyp="http://schemas.microsoft.com/office/drawing/2018/hyperlinkcolor" val="tx"/>
                    </a:ext>
                  </a:extLst>
                </a:hlinkClick>
              </a:rPr>
              <a:t>Lesson map</a:t>
            </a:r>
            <a:endParaRPr lang="en-US" sz="1200" dirty="0"/>
          </a:p>
        </p:txBody>
      </p:sp>
      <p:sp>
        <p:nvSpPr>
          <p:cNvPr id="5" name="Shape 3"/>
          <p:cNvSpPr/>
          <p:nvPr/>
        </p:nvSpPr>
        <p:spPr>
          <a:xfrm>
            <a:off x="548640" y="1417320"/>
            <a:ext cx="3017520" cy="804672"/>
          </a:xfrm>
          <a:prstGeom prst="roundRect">
            <a:avLst>
              <a:gd name="adj" fmla="val 13636"/>
            </a:avLst>
          </a:prstGeom>
          <a:solidFill>
            <a:schemeClr val="accent1"/>
          </a:solidFill>
          <a:ln w="12700">
            <a:solidFill>
              <a:schemeClr val="accent1"/>
            </a:solidFill>
            <a:prstDash val="solid"/>
          </a:ln>
        </p:spPr>
      </p:sp>
      <p:sp>
        <p:nvSpPr>
          <p:cNvPr id="6" name="Text 4"/>
          <p:cNvSpPr txBox="1"/>
          <p:nvPr/>
        </p:nvSpPr>
        <p:spPr>
          <a:xfrm>
            <a:off x="548640" y="1417320"/>
            <a:ext cx="3017520" cy="804672"/>
          </a:xfrm>
          <a:prstGeom prst="rect">
            <a:avLst/>
          </a:prstGeom>
          <a:noFill/>
          <a:ln/>
        </p:spPr>
        <p:txBody>
          <a:bodyPr wrap="square" lIns="0" tIns="0" rIns="0" bIns="0" rtlCol="0" anchor="ctr"/>
          <a:lstStyle/>
          <a:p>
            <a:pPr algn="ctr" indent="0" marL="0">
              <a:spcAft>
                <a:spcPts val="400"/>
              </a:spcAft>
              <a:buNone/>
            </a:pPr>
            <a:r>
              <a:rPr lang="en-US" sz="1800" b="1" dirty="0">
                <a:solidFill>
                  <a:schemeClr val="bg1"/>
                </a:solidFill>
                <a:latin typeface="Cambria" pitchFamily="34" charset="0"/>
                <a:ea typeface="Cambria" pitchFamily="34" charset="-122"/>
                <a:cs typeface="Cambria" pitchFamily="34" charset="-120"/>
              </a:rPr>
              <a:t>1–3%</a:t>
            </a:r>
            <a:endParaRPr lang="en-US" sz="1800" dirty="0"/>
          </a:p>
        </p:txBody>
      </p:sp>
      <p:sp>
        <p:nvSpPr>
          <p:cNvPr id="7" name="Text 5"/>
          <p:cNvSpPr txBox="1"/>
          <p:nvPr/>
        </p:nvSpPr>
        <p:spPr>
          <a:xfrm>
            <a:off x="3749040" y="1417320"/>
            <a:ext cx="7863840" cy="804672"/>
          </a:xfrm>
          <a:prstGeom prst="rect">
            <a:avLst/>
          </a:prstGeom>
          <a:noFill/>
          <a:ln/>
        </p:spPr>
        <p:txBody>
          <a:bodyPr wrap="square" lIns="1016" tIns="1016" rIns="1016" bIns="1016" rtlCol="0" anchor="ctr"/>
          <a:lstStyle/>
          <a:p>
            <a:pPr indent="0" marL="0">
              <a:spcAft>
                <a:spcPts val="400"/>
              </a:spcAft>
              <a:buNone/>
            </a:pPr>
            <a:r>
              <a:rPr lang="en-US" sz="1600" dirty="0">
                <a:solidFill>
                  <a:schemeClr val="tx1"/>
                </a:solidFill>
              </a:rPr>
              <a:t>of sunlight is captured: reflected, absorbed by atmosphere, wrong wavelength, misses chlorophyll.</a:t>
            </a:r>
            <a:endParaRPr lang="en-US" sz="1600" dirty="0"/>
          </a:p>
        </p:txBody>
      </p:sp>
      <p:sp>
        <p:nvSpPr>
          <p:cNvPr id="8" name="Shape 6"/>
          <p:cNvSpPr/>
          <p:nvPr/>
        </p:nvSpPr>
        <p:spPr>
          <a:xfrm>
            <a:off x="548640" y="2359152"/>
            <a:ext cx="3017520" cy="804672"/>
          </a:xfrm>
          <a:prstGeom prst="roundRect">
            <a:avLst>
              <a:gd name="adj" fmla="val 13636"/>
            </a:avLst>
          </a:prstGeom>
          <a:solidFill>
            <a:schemeClr val="accent4"/>
          </a:solidFill>
          <a:ln w="12700">
            <a:solidFill>
              <a:schemeClr val="accent4"/>
            </a:solidFill>
            <a:prstDash val="solid"/>
          </a:ln>
        </p:spPr>
      </p:sp>
      <p:sp>
        <p:nvSpPr>
          <p:cNvPr id="9" name="Text 7"/>
          <p:cNvSpPr txBox="1"/>
          <p:nvPr/>
        </p:nvSpPr>
        <p:spPr>
          <a:xfrm>
            <a:off x="548640" y="2359152"/>
            <a:ext cx="3017520" cy="804672"/>
          </a:xfrm>
          <a:prstGeom prst="rect">
            <a:avLst/>
          </a:prstGeom>
          <a:noFill/>
          <a:ln/>
        </p:spPr>
        <p:txBody>
          <a:bodyPr wrap="square" lIns="0" tIns="0" rIns="0" bIns="0" rtlCol="0" anchor="ctr"/>
          <a:lstStyle/>
          <a:p>
            <a:pPr algn="ctr" indent="0" marL="0">
              <a:spcAft>
                <a:spcPts val="400"/>
              </a:spcAft>
              <a:buNone/>
            </a:pPr>
            <a:r>
              <a:rPr lang="en-US" sz="1800" b="1" dirty="0">
                <a:solidFill>
                  <a:schemeClr val="tx1"/>
                </a:solidFill>
                <a:latin typeface="Cambria" pitchFamily="34" charset="0"/>
                <a:ea typeface="Cambria" pitchFamily="34" charset="-122"/>
                <a:cs typeface="Cambria" pitchFamily="34" charset="-120"/>
              </a:rPr>
              <a:t>NPP = GPP − R</a:t>
            </a:r>
            <a:endParaRPr lang="en-US" sz="1800" dirty="0"/>
          </a:p>
        </p:txBody>
      </p:sp>
      <p:sp>
        <p:nvSpPr>
          <p:cNvPr id="10" name="Text 8"/>
          <p:cNvSpPr txBox="1"/>
          <p:nvPr/>
        </p:nvSpPr>
        <p:spPr>
          <a:xfrm>
            <a:off x="3749040" y="2359152"/>
            <a:ext cx="7863840" cy="804672"/>
          </a:xfrm>
          <a:prstGeom prst="rect">
            <a:avLst/>
          </a:prstGeom>
          <a:noFill/>
          <a:ln/>
        </p:spPr>
        <p:txBody>
          <a:bodyPr wrap="square" lIns="1016" tIns="1016" rIns="1016" bIns="1016" rtlCol="0" anchor="ctr"/>
          <a:lstStyle/>
          <a:p>
            <a:pPr indent="0" marL="0">
              <a:spcAft>
                <a:spcPts val="400"/>
              </a:spcAft>
              <a:buNone/>
            </a:pPr>
            <a:r>
              <a:rPr lang="en-US" sz="1600" dirty="0">
                <a:solidFill>
                  <a:schemeClr val="tx1"/>
                </a:solidFill>
              </a:rPr>
              <a:t>GPP is the chemical energy store in plant biomass. NPP is what is left after respiration: for growth, reproduction and other trophic levels.</a:t>
            </a:r>
            <a:endParaRPr lang="en-US" sz="1600" dirty="0"/>
          </a:p>
        </p:txBody>
      </p:sp>
      <p:sp>
        <p:nvSpPr>
          <p:cNvPr id="11" name="Shape 9"/>
          <p:cNvSpPr/>
          <p:nvPr/>
        </p:nvSpPr>
        <p:spPr>
          <a:xfrm>
            <a:off x="548640" y="3300984"/>
            <a:ext cx="3017520" cy="804672"/>
          </a:xfrm>
          <a:prstGeom prst="roundRect">
            <a:avLst>
              <a:gd name="adj" fmla="val 13636"/>
            </a:avLst>
          </a:prstGeom>
          <a:solidFill>
            <a:schemeClr val="accent1"/>
          </a:solidFill>
          <a:ln w="12700">
            <a:solidFill>
              <a:schemeClr val="accent1"/>
            </a:solidFill>
            <a:prstDash val="solid"/>
          </a:ln>
        </p:spPr>
      </p:sp>
      <p:sp>
        <p:nvSpPr>
          <p:cNvPr id="12" name="Text 10"/>
          <p:cNvSpPr txBox="1"/>
          <p:nvPr/>
        </p:nvSpPr>
        <p:spPr>
          <a:xfrm>
            <a:off x="548640" y="3300984"/>
            <a:ext cx="3017520" cy="804672"/>
          </a:xfrm>
          <a:prstGeom prst="rect">
            <a:avLst/>
          </a:prstGeom>
          <a:noFill/>
          <a:ln/>
        </p:spPr>
        <p:txBody>
          <a:bodyPr wrap="square" lIns="0" tIns="0" rIns="0" bIns="0" rtlCol="0" anchor="ctr"/>
          <a:lstStyle/>
          <a:p>
            <a:pPr algn="ctr" indent="0" marL="0">
              <a:spcAft>
                <a:spcPts val="400"/>
              </a:spcAft>
              <a:buNone/>
            </a:pPr>
            <a:r>
              <a:rPr lang="en-US" sz="1800" b="1" dirty="0">
                <a:solidFill>
                  <a:schemeClr val="bg1"/>
                </a:solidFill>
                <a:latin typeface="Cambria" pitchFamily="34" charset="0"/>
                <a:ea typeface="Cambria" pitchFamily="34" charset="-122"/>
                <a:cs typeface="Cambria" pitchFamily="34" charset="-120"/>
              </a:rPr>
              <a:t>N = I − (F + R)</a:t>
            </a:r>
            <a:endParaRPr lang="en-US" sz="1800" dirty="0"/>
          </a:p>
        </p:txBody>
      </p:sp>
      <p:sp>
        <p:nvSpPr>
          <p:cNvPr id="13" name="Text 11"/>
          <p:cNvSpPr txBox="1"/>
          <p:nvPr/>
        </p:nvSpPr>
        <p:spPr>
          <a:xfrm>
            <a:off x="3749040" y="3300984"/>
            <a:ext cx="7863840" cy="804672"/>
          </a:xfrm>
          <a:prstGeom prst="rect">
            <a:avLst/>
          </a:prstGeom>
          <a:noFill/>
          <a:ln/>
        </p:spPr>
        <p:txBody>
          <a:bodyPr wrap="square" lIns="1016" tIns="1016" rIns="1016" bIns="1016" rtlCol="0" anchor="ctr"/>
          <a:lstStyle/>
          <a:p>
            <a:pPr indent="0" marL="0">
              <a:spcAft>
                <a:spcPts val="400"/>
              </a:spcAft>
              <a:buNone/>
            </a:pPr>
            <a:r>
              <a:rPr lang="en-US" sz="1600" dirty="0">
                <a:solidFill>
                  <a:schemeClr val="tx1"/>
                </a:solidFill>
              </a:rPr>
              <a:t>Consumers lose energy because food is indigestible (faeces), not all eaten, lost in urine, and respired as heat.</a:t>
            </a:r>
            <a:endParaRPr lang="en-US" sz="1600" dirty="0"/>
          </a:p>
        </p:txBody>
      </p:sp>
      <p:sp>
        <p:nvSpPr>
          <p:cNvPr id="14" name="Shape 12"/>
          <p:cNvSpPr/>
          <p:nvPr/>
        </p:nvSpPr>
        <p:spPr>
          <a:xfrm>
            <a:off x="548640" y="4242816"/>
            <a:ext cx="3017520" cy="804672"/>
          </a:xfrm>
          <a:prstGeom prst="roundRect">
            <a:avLst>
              <a:gd name="adj" fmla="val 13636"/>
            </a:avLst>
          </a:prstGeom>
          <a:solidFill>
            <a:schemeClr val="accent4"/>
          </a:solidFill>
          <a:ln w="12700">
            <a:solidFill>
              <a:schemeClr val="accent4"/>
            </a:solidFill>
            <a:prstDash val="solid"/>
          </a:ln>
        </p:spPr>
      </p:sp>
      <p:sp>
        <p:nvSpPr>
          <p:cNvPr id="15" name="Text 13"/>
          <p:cNvSpPr txBox="1"/>
          <p:nvPr/>
        </p:nvSpPr>
        <p:spPr>
          <a:xfrm>
            <a:off x="548640" y="4242816"/>
            <a:ext cx="3017520" cy="804672"/>
          </a:xfrm>
          <a:prstGeom prst="rect">
            <a:avLst/>
          </a:prstGeom>
          <a:noFill/>
          <a:ln/>
        </p:spPr>
        <p:txBody>
          <a:bodyPr wrap="square" lIns="0" tIns="0" rIns="0" bIns="0" rtlCol="0" anchor="ctr"/>
          <a:lstStyle/>
          <a:p>
            <a:pPr algn="ctr" indent="0" marL="0">
              <a:spcAft>
                <a:spcPts val="400"/>
              </a:spcAft>
              <a:buNone/>
            </a:pPr>
            <a:r>
              <a:rPr lang="en-US" sz="1800" b="1" dirty="0">
                <a:solidFill>
                  <a:schemeClr val="tx1"/>
                </a:solidFill>
                <a:latin typeface="Cambria" pitchFamily="34" charset="0"/>
                <a:ea typeface="Cambria" pitchFamily="34" charset="-122"/>
                <a:cs typeface="Cambria" pitchFamily="34" charset="-120"/>
              </a:rPr>
              <a:t>4–5 levels</a:t>
            </a:r>
            <a:endParaRPr lang="en-US" sz="1800" dirty="0"/>
          </a:p>
        </p:txBody>
      </p:sp>
      <p:sp>
        <p:nvSpPr>
          <p:cNvPr id="16" name="Text 14"/>
          <p:cNvSpPr txBox="1"/>
          <p:nvPr/>
        </p:nvSpPr>
        <p:spPr>
          <a:xfrm>
            <a:off x="3749040" y="4242816"/>
            <a:ext cx="7863840" cy="804672"/>
          </a:xfrm>
          <a:prstGeom prst="rect">
            <a:avLst/>
          </a:prstGeom>
          <a:noFill/>
          <a:ln/>
        </p:spPr>
        <p:txBody>
          <a:bodyPr wrap="square" lIns="1016" tIns="1016" rIns="1016" bIns="1016" rtlCol="0" anchor="ctr"/>
          <a:lstStyle/>
          <a:p>
            <a:pPr indent="0" marL="0">
              <a:spcAft>
                <a:spcPts val="400"/>
              </a:spcAft>
              <a:buNone/>
            </a:pPr>
            <a:r>
              <a:rPr lang="en-US" sz="1600" dirty="0">
                <a:solidFill>
                  <a:schemeClr val="tx1"/>
                </a:solidFill>
              </a:rPr>
              <a:t>Big losses at each level mean too little energy to support a breeding population higher up.</a:t>
            </a:r>
            <a:endParaRPr lang="en-US" sz="1600" dirty="0"/>
          </a:p>
        </p:txBody>
      </p:sp>
      <p:sp>
        <p:nvSpPr>
          <p:cNvPr id="17" name="Shape 15"/>
          <p:cNvSpPr/>
          <p:nvPr/>
        </p:nvSpPr>
        <p:spPr>
          <a:xfrm>
            <a:off x="548640" y="5184648"/>
            <a:ext cx="3017520" cy="804672"/>
          </a:xfrm>
          <a:prstGeom prst="roundRect">
            <a:avLst>
              <a:gd name="adj" fmla="val 13636"/>
            </a:avLst>
          </a:prstGeom>
          <a:solidFill>
            <a:schemeClr val="accent1"/>
          </a:solidFill>
          <a:ln w="12700">
            <a:solidFill>
              <a:schemeClr val="accent1"/>
            </a:solidFill>
            <a:prstDash val="solid"/>
          </a:ln>
        </p:spPr>
      </p:sp>
      <p:sp>
        <p:nvSpPr>
          <p:cNvPr id="18" name="Text 16"/>
          <p:cNvSpPr txBox="1"/>
          <p:nvPr/>
        </p:nvSpPr>
        <p:spPr>
          <a:xfrm>
            <a:off x="548640" y="5184648"/>
            <a:ext cx="3017520" cy="804672"/>
          </a:xfrm>
          <a:prstGeom prst="rect">
            <a:avLst/>
          </a:prstGeom>
          <a:noFill/>
          <a:ln/>
        </p:spPr>
        <p:txBody>
          <a:bodyPr wrap="square" lIns="0" tIns="0" rIns="0" bIns="0" rtlCol="0" anchor="ctr"/>
          <a:lstStyle/>
          <a:p>
            <a:pPr algn="ctr" indent="0" marL="0">
              <a:spcAft>
                <a:spcPts val="400"/>
              </a:spcAft>
              <a:buNone/>
            </a:pPr>
            <a:r>
              <a:rPr lang="en-US" sz="1800" b="1" dirty="0">
                <a:solidFill>
                  <a:schemeClr val="bg1"/>
                </a:solidFill>
                <a:latin typeface="Cambria" pitchFamily="34" charset="0"/>
                <a:ea typeface="Cambria" pitchFamily="34" charset="-122"/>
                <a:cs typeface="Cambria" pitchFamily="34" charset="-120"/>
              </a:rPr>
              <a:t>after ÷ before × 100</a:t>
            </a:r>
            <a:endParaRPr lang="en-US" sz="1800" dirty="0"/>
          </a:p>
        </p:txBody>
      </p:sp>
      <p:sp>
        <p:nvSpPr>
          <p:cNvPr id="19" name="Text 17"/>
          <p:cNvSpPr txBox="1"/>
          <p:nvPr/>
        </p:nvSpPr>
        <p:spPr>
          <a:xfrm>
            <a:off x="3749040" y="5184648"/>
            <a:ext cx="7863840" cy="804672"/>
          </a:xfrm>
          <a:prstGeom prst="rect">
            <a:avLst/>
          </a:prstGeom>
          <a:noFill/>
          <a:ln/>
        </p:spPr>
        <p:txBody>
          <a:bodyPr wrap="square" lIns="1016" tIns="1016" rIns="1016" bIns="1016" rtlCol="0" anchor="ctr"/>
          <a:lstStyle/>
          <a:p>
            <a:pPr indent="0" marL="0">
              <a:spcAft>
                <a:spcPts val="400"/>
              </a:spcAft>
              <a:buNone/>
            </a:pPr>
            <a:r>
              <a:rPr lang="en-US" sz="1600" dirty="0">
                <a:solidFill>
                  <a:schemeClr val="tx1"/>
                </a:solidFill>
              </a:rPr>
              <a:t>% efficiency. Units: kJ m⁻² year⁻¹ on land, kJ m⁻³ year⁻¹ in water.</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896112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FINAL QUIZ · NEW QUESTIONS · ANSWERS ON THE NEXT SLIDE</a:t>
            </a:r>
            <a:endParaRPr lang="en-US" sz="1200" dirty="0"/>
          </a:p>
        </p:txBody>
      </p:sp>
      <p:sp>
        <p:nvSpPr>
          <p:cNvPr id="3" name="Text 0"/>
          <p:cNvSpPr/>
          <p:nvPr>
            <p:ph idx="101" type="title" hasCustomPrompt="1"/>
          </p:nvPr>
        </p:nvSpPr>
        <p:spPr>
          <a:xfrm>
            <a:off x="548640" y="566928"/>
            <a:ext cx="9509760" cy="73152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Final quiz</a:t>
            </a:r>
            <a:endParaRPr lang="en-US" sz="3200" dirty="0"/>
          </a:p>
        </p:txBody>
      </p:sp>
      <p:sp>
        <p:nvSpPr>
          <p:cNvPr id="4" name="nav-map"/>
          <p:cNvSpPr txBox="1"/>
          <p:nvPr/>
        </p:nvSpPr>
        <p:spPr>
          <a:xfrm>
            <a:off x="10469880" y="274320"/>
            <a:ext cx="1188720" cy="320040"/>
          </a:xfrm>
          <a:prstGeom prst="rect">
            <a:avLst/>
          </a:prstGeom>
          <a:noFill/>
          <a:ln/>
        </p:spPr>
        <p:txBody>
          <a:bodyPr wrap="square" lIns="0" tIns="0" rIns="0" bIns="0" rtlCol="0" anchor="ctr"/>
          <a:lstStyle/>
          <a:p>
            <a:pPr algn="r" indent="0" marL="0">
              <a:buNone/>
            </a:pPr>
            <a:r>
              <a:rPr lang="en-US" sz="1200" u="sng" dirty="0">
                <a:solidFill>
                  <a:schemeClr val="accent1"/>
                </a:solidFill>
                <a:hlinkClick r:id="rId1" action="ppaction://hlinksldjump" tooltip="Back to lesson map">
                  <a:extLst>
                    <a:ext uri="{A12FA001-AC4F-418D-AE19-62706E023703}">
                      <ahyp:hlinkClr xmlns:ahyp="http://schemas.microsoft.com/office/drawing/2018/hyperlinkcolor" val="tx"/>
                    </a:ext>
                  </a:extLst>
                </a:hlinkClick>
              </a:rPr>
              <a:t>Lesson map</a:t>
            </a:r>
            <a:endParaRPr lang="en-US" sz="1200" dirty="0"/>
          </a:p>
        </p:txBody>
      </p:sp>
      <p:sp>
        <p:nvSpPr>
          <p:cNvPr id="5" name="Shape 3"/>
          <p:cNvSpPr/>
          <p:nvPr/>
        </p:nvSpPr>
        <p:spPr>
          <a:xfrm>
            <a:off x="548640" y="1417320"/>
            <a:ext cx="5440680" cy="1463040"/>
          </a:xfrm>
          <a:prstGeom prst="roundRect">
            <a:avLst>
              <a:gd name="adj" fmla="val 7500"/>
            </a:avLst>
          </a:prstGeom>
          <a:solidFill>
            <a:schemeClr val="bg1"/>
          </a:solidFill>
          <a:ln w="12700">
            <a:solidFill>
              <a:schemeClr val="bg1"/>
            </a:solidFill>
            <a:prstDash val="solid"/>
          </a:ln>
        </p:spPr>
      </p:sp>
      <p:sp>
        <p:nvSpPr>
          <p:cNvPr id="6" name="Text 4"/>
          <p:cNvSpPr txBox="1"/>
          <p:nvPr/>
        </p:nvSpPr>
        <p:spPr>
          <a:xfrm>
            <a:off x="658368" y="1472184"/>
            <a:ext cx="5212080" cy="1371600"/>
          </a:xfrm>
          <a:prstGeom prst="rect">
            <a:avLst/>
          </a:prstGeom>
          <a:noFill/>
          <a:ln/>
        </p:spPr>
        <p:txBody>
          <a:bodyPr wrap="square" lIns="1016" tIns="1016" rIns="1016" bIns="1016" rtlCol="0" anchor="t"/>
          <a:lstStyle/>
          <a:p>
            <a:pPr indent="0" marL="0">
              <a:spcAft>
                <a:spcPts val="400"/>
              </a:spcAft>
              <a:buNone/>
            </a:pPr>
            <a:r>
              <a:rPr lang="en-US" sz="1300" b="1" dirty="0">
                <a:solidFill>
                  <a:schemeClr val="tx1"/>
                </a:solidFill>
              </a:rPr>
              <a:t>1. What is gross primary production?</a:t>
            </a:r>
            <a:endParaRPr lang="en-US" sz="1300" dirty="0"/>
          </a:p>
          <a:p>
            <a:pPr indent="0" marL="0">
              <a:spcAft>
                <a:spcPts val="400"/>
              </a:spcAft>
              <a:buNone/>
            </a:pPr>
            <a:r>
              <a:rPr lang="en-US" sz="1300" dirty="0">
                <a:solidFill>
                  <a:schemeClr val="tx1"/>
                </a:solidFill>
              </a:rPr>
              <a:t>A  Chemical energy store in plant biomass in a given area or volume</a:t>
            </a:r>
            <a:endParaRPr lang="en-US" sz="1300" dirty="0"/>
          </a:p>
          <a:p>
            <a:pPr indent="0" marL="0">
              <a:spcAft>
                <a:spcPts val="400"/>
              </a:spcAft>
              <a:buNone/>
            </a:pPr>
            <a:r>
              <a:rPr lang="en-US" sz="1300" dirty="0">
                <a:solidFill>
                  <a:schemeClr val="tx1"/>
                </a:solidFill>
              </a:rPr>
              <a:t>B  Chemical energy left in plants after respiration</a:t>
            </a:r>
            <a:endParaRPr lang="en-US" sz="1300" dirty="0"/>
          </a:p>
          <a:p>
            <a:pPr indent="0" marL="0">
              <a:spcAft>
                <a:spcPts val="400"/>
              </a:spcAft>
              <a:buNone/>
            </a:pPr>
            <a:r>
              <a:rPr lang="en-US" sz="1300" dirty="0">
                <a:solidFill>
                  <a:schemeClr val="tx1"/>
                </a:solidFill>
              </a:rPr>
              <a:t>C  All the light energy that reaches the plant</a:t>
            </a:r>
            <a:endParaRPr lang="en-US" sz="1300" dirty="0"/>
          </a:p>
        </p:txBody>
      </p:sp>
      <p:sp>
        <p:nvSpPr>
          <p:cNvPr id="7" name="Shape 5"/>
          <p:cNvSpPr/>
          <p:nvPr/>
        </p:nvSpPr>
        <p:spPr>
          <a:xfrm>
            <a:off x="6172200" y="1417320"/>
            <a:ext cx="5440680" cy="1463040"/>
          </a:xfrm>
          <a:prstGeom prst="roundRect">
            <a:avLst>
              <a:gd name="adj" fmla="val 7500"/>
            </a:avLst>
          </a:prstGeom>
          <a:solidFill>
            <a:schemeClr val="bg1"/>
          </a:solidFill>
          <a:ln w="12700">
            <a:solidFill>
              <a:schemeClr val="bg1"/>
            </a:solidFill>
            <a:prstDash val="solid"/>
          </a:ln>
        </p:spPr>
      </p:sp>
      <p:sp>
        <p:nvSpPr>
          <p:cNvPr id="8" name="Text 6"/>
          <p:cNvSpPr txBox="1"/>
          <p:nvPr/>
        </p:nvSpPr>
        <p:spPr>
          <a:xfrm>
            <a:off x="6281928" y="1472184"/>
            <a:ext cx="5212080" cy="1371600"/>
          </a:xfrm>
          <a:prstGeom prst="rect">
            <a:avLst/>
          </a:prstGeom>
          <a:noFill/>
          <a:ln/>
        </p:spPr>
        <p:txBody>
          <a:bodyPr wrap="square" lIns="1016" tIns="1016" rIns="1016" bIns="1016" rtlCol="0" anchor="t"/>
          <a:lstStyle/>
          <a:p>
            <a:pPr indent="0" marL="0">
              <a:spcAft>
                <a:spcPts val="400"/>
              </a:spcAft>
              <a:buNone/>
            </a:pPr>
            <a:r>
              <a:rPr lang="en-US" sz="1300" b="1" dirty="0">
                <a:solidFill>
                  <a:schemeClr val="tx1"/>
                </a:solidFill>
              </a:rPr>
              <a:t>2. GPP = 9 000 and R = 5 500 kJ m⁻² year⁻¹. What is NPP?</a:t>
            </a:r>
            <a:endParaRPr lang="en-US" sz="1300" dirty="0"/>
          </a:p>
          <a:p>
            <a:pPr indent="0" marL="0">
              <a:spcAft>
                <a:spcPts val="400"/>
              </a:spcAft>
              <a:buNone/>
            </a:pPr>
            <a:r>
              <a:rPr lang="en-US" sz="1300" dirty="0">
                <a:solidFill>
                  <a:schemeClr val="tx1"/>
                </a:solidFill>
              </a:rPr>
              <a:t>A  14 500     B  3 500     C  4 500</a:t>
            </a:r>
            <a:endParaRPr lang="en-US" sz="1300" dirty="0"/>
          </a:p>
        </p:txBody>
      </p:sp>
      <p:sp>
        <p:nvSpPr>
          <p:cNvPr id="9" name="Shape 7"/>
          <p:cNvSpPr/>
          <p:nvPr/>
        </p:nvSpPr>
        <p:spPr>
          <a:xfrm>
            <a:off x="548640" y="2990088"/>
            <a:ext cx="5440680" cy="1463040"/>
          </a:xfrm>
          <a:prstGeom prst="roundRect">
            <a:avLst>
              <a:gd name="adj" fmla="val 7500"/>
            </a:avLst>
          </a:prstGeom>
          <a:solidFill>
            <a:schemeClr val="bg1"/>
          </a:solidFill>
          <a:ln w="12700">
            <a:solidFill>
              <a:schemeClr val="bg1"/>
            </a:solidFill>
            <a:prstDash val="solid"/>
          </a:ln>
        </p:spPr>
      </p:sp>
      <p:sp>
        <p:nvSpPr>
          <p:cNvPr id="10" name="Text 8"/>
          <p:cNvSpPr txBox="1"/>
          <p:nvPr/>
        </p:nvSpPr>
        <p:spPr>
          <a:xfrm>
            <a:off x="658368" y="3044952"/>
            <a:ext cx="5212080" cy="1371600"/>
          </a:xfrm>
          <a:prstGeom prst="rect">
            <a:avLst/>
          </a:prstGeom>
          <a:noFill/>
          <a:ln/>
        </p:spPr>
        <p:txBody>
          <a:bodyPr wrap="square" lIns="1016" tIns="1016" rIns="1016" bIns="1016" rtlCol="0" anchor="t"/>
          <a:lstStyle/>
          <a:p>
            <a:pPr indent="0" marL="0">
              <a:spcAft>
                <a:spcPts val="400"/>
              </a:spcAft>
              <a:buNone/>
            </a:pPr>
            <a:r>
              <a:rPr lang="en-US" sz="1300" b="1" dirty="0">
                <a:solidFill>
                  <a:schemeClr val="tx1"/>
                </a:solidFill>
              </a:rPr>
              <a:t>3. In N = I − (F + R), what does F stand for?</a:t>
            </a:r>
            <a:endParaRPr lang="en-US" sz="1300" dirty="0"/>
          </a:p>
          <a:p>
            <a:pPr indent="0" marL="0">
              <a:spcAft>
                <a:spcPts val="400"/>
              </a:spcAft>
              <a:buNone/>
            </a:pPr>
            <a:r>
              <a:rPr lang="en-US" sz="1300" dirty="0">
                <a:solidFill>
                  <a:schemeClr val="tx1"/>
                </a:solidFill>
              </a:rPr>
              <a:t>A  Energy in food eaten</a:t>
            </a:r>
            <a:endParaRPr lang="en-US" sz="1300" dirty="0"/>
          </a:p>
          <a:p>
            <a:pPr indent="0" marL="0">
              <a:spcAft>
                <a:spcPts val="400"/>
              </a:spcAft>
              <a:buNone/>
            </a:pPr>
            <a:r>
              <a:rPr lang="en-US" sz="1300" dirty="0">
                <a:solidFill>
                  <a:schemeClr val="tx1"/>
                </a:solidFill>
              </a:rPr>
              <a:t>B  Energy lost in faeces only</a:t>
            </a:r>
            <a:endParaRPr lang="en-US" sz="1300" dirty="0"/>
          </a:p>
          <a:p>
            <a:pPr indent="0" marL="0">
              <a:spcAft>
                <a:spcPts val="400"/>
              </a:spcAft>
              <a:buNone/>
            </a:pPr>
            <a:r>
              <a:rPr lang="en-US" sz="1300" dirty="0">
                <a:solidFill>
                  <a:schemeClr val="tx1"/>
                </a:solidFill>
              </a:rPr>
              <a:t>C  Energy lost in faeces and urine</a:t>
            </a:r>
            <a:endParaRPr lang="en-US" sz="1300" dirty="0"/>
          </a:p>
        </p:txBody>
      </p:sp>
      <p:sp>
        <p:nvSpPr>
          <p:cNvPr id="11" name="Shape 9"/>
          <p:cNvSpPr/>
          <p:nvPr/>
        </p:nvSpPr>
        <p:spPr>
          <a:xfrm>
            <a:off x="6172200" y="2990088"/>
            <a:ext cx="5440680" cy="1463040"/>
          </a:xfrm>
          <a:prstGeom prst="roundRect">
            <a:avLst>
              <a:gd name="adj" fmla="val 7500"/>
            </a:avLst>
          </a:prstGeom>
          <a:solidFill>
            <a:schemeClr val="bg1"/>
          </a:solidFill>
          <a:ln w="12700">
            <a:solidFill>
              <a:schemeClr val="bg1"/>
            </a:solidFill>
            <a:prstDash val="solid"/>
          </a:ln>
        </p:spPr>
      </p:sp>
      <p:sp>
        <p:nvSpPr>
          <p:cNvPr id="12" name="Text 10"/>
          <p:cNvSpPr txBox="1"/>
          <p:nvPr/>
        </p:nvSpPr>
        <p:spPr>
          <a:xfrm>
            <a:off x="6281928" y="3044952"/>
            <a:ext cx="5212080" cy="1371600"/>
          </a:xfrm>
          <a:prstGeom prst="rect">
            <a:avLst/>
          </a:prstGeom>
          <a:noFill/>
          <a:ln/>
        </p:spPr>
        <p:txBody>
          <a:bodyPr wrap="square" lIns="1016" tIns="1016" rIns="1016" bIns="1016" rtlCol="0" anchor="t"/>
          <a:lstStyle/>
          <a:p>
            <a:pPr indent="0" marL="0">
              <a:spcAft>
                <a:spcPts val="400"/>
              </a:spcAft>
              <a:buNone/>
            </a:pPr>
            <a:r>
              <a:rPr lang="en-US" sz="1300" b="1" dirty="0">
                <a:solidFill>
                  <a:schemeClr val="tx1"/>
                </a:solidFill>
              </a:rPr>
              <a:t>4. A primary consumer has 2 000 kJ m⁻² year⁻¹; the secondary consumer receives 300. Efficiency?</a:t>
            </a:r>
            <a:endParaRPr lang="en-US" sz="1300" dirty="0"/>
          </a:p>
          <a:p>
            <a:pPr indent="0" marL="0">
              <a:spcAft>
                <a:spcPts val="400"/>
              </a:spcAft>
              <a:buNone/>
            </a:pPr>
            <a:r>
              <a:rPr lang="en-US" sz="1300" dirty="0">
                <a:solidFill>
                  <a:schemeClr val="tx1"/>
                </a:solidFill>
              </a:rPr>
              <a:t>A  15%     B  667%     C  0.15%</a:t>
            </a:r>
            <a:endParaRPr lang="en-US" sz="1300" dirty="0"/>
          </a:p>
        </p:txBody>
      </p:sp>
      <p:sp>
        <p:nvSpPr>
          <p:cNvPr id="13" name="Shape 11"/>
          <p:cNvSpPr/>
          <p:nvPr/>
        </p:nvSpPr>
        <p:spPr>
          <a:xfrm>
            <a:off x="548640" y="4562856"/>
            <a:ext cx="5440680" cy="1463040"/>
          </a:xfrm>
          <a:prstGeom prst="roundRect">
            <a:avLst>
              <a:gd name="adj" fmla="val 7500"/>
            </a:avLst>
          </a:prstGeom>
          <a:solidFill>
            <a:schemeClr val="bg1"/>
          </a:solidFill>
          <a:ln w="12700">
            <a:solidFill>
              <a:schemeClr val="bg1"/>
            </a:solidFill>
            <a:prstDash val="solid"/>
          </a:ln>
        </p:spPr>
      </p:sp>
      <p:sp>
        <p:nvSpPr>
          <p:cNvPr id="14" name="Text 12"/>
          <p:cNvSpPr txBox="1"/>
          <p:nvPr/>
        </p:nvSpPr>
        <p:spPr>
          <a:xfrm>
            <a:off x="658368" y="4617720"/>
            <a:ext cx="5212080" cy="1371600"/>
          </a:xfrm>
          <a:prstGeom prst="rect">
            <a:avLst/>
          </a:prstGeom>
          <a:noFill/>
          <a:ln/>
        </p:spPr>
        <p:txBody>
          <a:bodyPr wrap="square" lIns="1016" tIns="1016" rIns="1016" bIns="1016" rtlCol="0" anchor="t"/>
          <a:lstStyle/>
          <a:p>
            <a:pPr indent="0" marL="0">
              <a:spcAft>
                <a:spcPts val="400"/>
              </a:spcAft>
              <a:buNone/>
            </a:pPr>
            <a:r>
              <a:rPr lang="en-US" sz="1300" b="1" dirty="0">
                <a:solidFill>
                  <a:schemeClr val="tx1"/>
                </a:solidFill>
              </a:rPr>
              <a:t>5. Energy lost in respiration leaves the food chain mainly as…</a:t>
            </a:r>
            <a:endParaRPr lang="en-US" sz="1300" dirty="0"/>
          </a:p>
          <a:p>
            <a:pPr indent="0" marL="0">
              <a:spcAft>
                <a:spcPts val="400"/>
              </a:spcAft>
              <a:buNone/>
            </a:pPr>
            <a:r>
              <a:rPr lang="en-US" sz="1300" dirty="0">
                <a:solidFill>
                  <a:schemeClr val="tx1"/>
                </a:solidFill>
              </a:rPr>
              <a:t>A  new biomass     B  heat     C  light</a:t>
            </a:r>
            <a:endParaRPr lang="en-US" sz="1300" dirty="0"/>
          </a:p>
        </p:txBody>
      </p:sp>
      <p:sp>
        <p:nvSpPr>
          <p:cNvPr id="15" name="Shape 13"/>
          <p:cNvSpPr/>
          <p:nvPr/>
        </p:nvSpPr>
        <p:spPr>
          <a:xfrm>
            <a:off x="6172200" y="4562856"/>
            <a:ext cx="5440680" cy="1463040"/>
          </a:xfrm>
          <a:prstGeom prst="roundRect">
            <a:avLst>
              <a:gd name="adj" fmla="val 7500"/>
            </a:avLst>
          </a:prstGeom>
          <a:solidFill>
            <a:schemeClr val="bg1"/>
          </a:solidFill>
          <a:ln w="12700">
            <a:solidFill>
              <a:schemeClr val="bg1"/>
            </a:solidFill>
            <a:prstDash val="solid"/>
          </a:ln>
        </p:spPr>
      </p:sp>
      <p:sp>
        <p:nvSpPr>
          <p:cNvPr id="16" name="Text 14"/>
          <p:cNvSpPr txBox="1"/>
          <p:nvPr/>
        </p:nvSpPr>
        <p:spPr>
          <a:xfrm>
            <a:off x="6281928" y="4617720"/>
            <a:ext cx="5212080" cy="1371600"/>
          </a:xfrm>
          <a:prstGeom prst="rect">
            <a:avLst/>
          </a:prstGeom>
          <a:noFill/>
          <a:ln/>
        </p:spPr>
        <p:txBody>
          <a:bodyPr wrap="square" lIns="1016" tIns="1016" rIns="1016" bIns="1016" rtlCol="0" anchor="t"/>
          <a:lstStyle/>
          <a:p>
            <a:pPr indent="0" marL="0">
              <a:spcAft>
                <a:spcPts val="400"/>
              </a:spcAft>
              <a:buNone/>
            </a:pPr>
            <a:r>
              <a:rPr lang="en-US" sz="1300" b="1" dirty="0">
                <a:solidFill>
                  <a:schemeClr val="tx1"/>
                </a:solidFill>
              </a:rPr>
              <a:t>6. Why are food chains usually no more than 4–5 trophic levels?</a:t>
            </a:r>
            <a:endParaRPr lang="en-US" sz="1300" dirty="0"/>
          </a:p>
          <a:p>
            <a:pPr indent="0" marL="0">
              <a:spcAft>
                <a:spcPts val="400"/>
              </a:spcAft>
              <a:buNone/>
            </a:pPr>
            <a:r>
              <a:rPr lang="en-US" sz="1300" dirty="0">
                <a:solidFill>
                  <a:schemeClr val="tx1"/>
                </a:solidFill>
              </a:rPr>
              <a:t>A  Energy is destroyed at each level</a:t>
            </a:r>
            <a:endParaRPr lang="en-US" sz="1300" dirty="0"/>
          </a:p>
          <a:p>
            <a:pPr indent="0" marL="0">
              <a:spcAft>
                <a:spcPts val="400"/>
              </a:spcAft>
              <a:buNone/>
            </a:pPr>
            <a:r>
              <a:rPr lang="en-US" sz="1300" dirty="0">
                <a:solidFill>
                  <a:schemeClr val="tx1"/>
                </a:solidFill>
              </a:rPr>
              <a:t>B  There are not enough predator species</a:t>
            </a:r>
            <a:endParaRPr lang="en-US" sz="1300" dirty="0"/>
          </a:p>
          <a:p>
            <a:pPr indent="0" marL="0">
              <a:spcAft>
                <a:spcPts val="400"/>
              </a:spcAft>
              <a:buNone/>
            </a:pPr>
            <a:r>
              <a:rPr lang="en-US" sz="1300" dirty="0">
                <a:solidFill>
                  <a:schemeClr val="tx1"/>
                </a:solidFill>
              </a:rPr>
              <a:t>C  Not enough energy is left to support a breeding population</a:t>
            </a:r>
            <a:endParaRPr lang="en-US" sz="13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896112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FINAL QUIZ · ANSWERS</a:t>
            </a:r>
            <a:endParaRPr lang="en-US" sz="1200" dirty="0"/>
          </a:p>
        </p:txBody>
      </p:sp>
      <p:sp>
        <p:nvSpPr>
          <p:cNvPr id="3" name="Text 0"/>
          <p:cNvSpPr/>
          <p:nvPr>
            <p:ph idx="101" type="title" hasCustomPrompt="1"/>
          </p:nvPr>
        </p:nvSpPr>
        <p:spPr>
          <a:xfrm>
            <a:off x="548640" y="566928"/>
            <a:ext cx="9509760" cy="73152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Final quiz: answers</a:t>
            </a:r>
            <a:endParaRPr lang="en-US" sz="3200" dirty="0"/>
          </a:p>
        </p:txBody>
      </p:sp>
      <p:sp>
        <p:nvSpPr>
          <p:cNvPr id="4" name="nav-map"/>
          <p:cNvSpPr txBox="1"/>
          <p:nvPr/>
        </p:nvSpPr>
        <p:spPr>
          <a:xfrm>
            <a:off x="10469880" y="274320"/>
            <a:ext cx="1188720" cy="320040"/>
          </a:xfrm>
          <a:prstGeom prst="rect">
            <a:avLst/>
          </a:prstGeom>
          <a:noFill/>
          <a:ln/>
        </p:spPr>
        <p:txBody>
          <a:bodyPr wrap="square" lIns="0" tIns="0" rIns="0" bIns="0" rtlCol="0" anchor="ctr"/>
          <a:lstStyle/>
          <a:p>
            <a:pPr algn="r" indent="0" marL="0">
              <a:buNone/>
            </a:pPr>
            <a:r>
              <a:rPr lang="en-US" sz="1200" u="sng" dirty="0">
                <a:solidFill>
                  <a:schemeClr val="accent1"/>
                </a:solidFill>
                <a:hlinkClick r:id="rId1" action="ppaction://hlinksldjump" tooltip="Back to lesson map">
                  <a:extLst>
                    <a:ext uri="{A12FA001-AC4F-418D-AE19-62706E023703}">
                      <ahyp:hlinkClr xmlns:ahyp="http://schemas.microsoft.com/office/drawing/2018/hyperlinkcolor" val="tx"/>
                    </a:ext>
                  </a:extLst>
                </a:hlinkClick>
              </a:rPr>
              <a:t>Lesson map</a:t>
            </a:r>
            <a:endParaRPr lang="en-US" sz="1200" dirty="0"/>
          </a:p>
        </p:txBody>
      </p:sp>
      <p:sp>
        <p:nvSpPr>
          <p:cNvPr id="5" name="Shape 3"/>
          <p:cNvSpPr/>
          <p:nvPr/>
        </p:nvSpPr>
        <p:spPr>
          <a:xfrm>
            <a:off x="548640" y="1417320"/>
            <a:ext cx="5440680" cy="1188720"/>
          </a:xfrm>
          <a:prstGeom prst="roundRect">
            <a:avLst>
              <a:gd name="adj" fmla="val 9231"/>
            </a:avLst>
          </a:prstGeom>
          <a:solidFill>
            <a:schemeClr val="bg1"/>
          </a:solidFill>
          <a:ln w="12700">
            <a:solidFill>
              <a:schemeClr val="bg1"/>
            </a:solidFill>
            <a:prstDash val="solid"/>
          </a:ln>
        </p:spPr>
      </p:sp>
      <p:sp>
        <p:nvSpPr>
          <p:cNvPr id="6" name="Text 4"/>
          <p:cNvSpPr txBox="1"/>
          <p:nvPr/>
        </p:nvSpPr>
        <p:spPr>
          <a:xfrm>
            <a:off x="685800" y="1527048"/>
            <a:ext cx="5166360" cy="1005840"/>
          </a:xfrm>
          <a:prstGeom prst="rect">
            <a:avLst/>
          </a:prstGeom>
          <a:noFill/>
          <a:ln/>
        </p:spPr>
        <p:txBody>
          <a:bodyPr wrap="square" lIns="1016" tIns="1016" rIns="1016" bIns="1016" rtlCol="0" anchor="t"/>
          <a:lstStyle/>
          <a:p>
            <a:pPr indent="0" marL="0">
              <a:spcAft>
                <a:spcPts val="400"/>
              </a:spcAft>
              <a:buNone/>
            </a:pPr>
            <a:r>
              <a:rPr lang="en-US" sz="1500" b="1" dirty="0">
                <a:solidFill>
                  <a:schemeClr val="accent1"/>
                </a:solidFill>
              </a:rPr>
              <a:t>1. A</a:t>
            </a:r>
            <a:endParaRPr lang="en-US" sz="1500" dirty="0"/>
          </a:p>
          <a:p>
            <a:pPr indent="0" marL="0">
              <a:spcAft>
                <a:spcPts val="400"/>
              </a:spcAft>
              <a:buNone/>
            </a:pPr>
            <a:r>
              <a:rPr lang="en-US" sz="1500" dirty="0">
                <a:solidFill>
                  <a:schemeClr val="tx1"/>
                </a:solidFill>
              </a:rPr>
              <a:t>B is NPP. C is far too much: only 1–3% of light becomes GPP.</a:t>
            </a:r>
            <a:endParaRPr lang="en-US" sz="1500" dirty="0"/>
          </a:p>
        </p:txBody>
      </p:sp>
      <p:sp>
        <p:nvSpPr>
          <p:cNvPr id="7" name="Shape 5"/>
          <p:cNvSpPr/>
          <p:nvPr/>
        </p:nvSpPr>
        <p:spPr>
          <a:xfrm>
            <a:off x="6172200" y="1417320"/>
            <a:ext cx="5440680" cy="1188720"/>
          </a:xfrm>
          <a:prstGeom prst="roundRect">
            <a:avLst>
              <a:gd name="adj" fmla="val 9231"/>
            </a:avLst>
          </a:prstGeom>
          <a:solidFill>
            <a:schemeClr val="bg1"/>
          </a:solidFill>
          <a:ln w="12700">
            <a:solidFill>
              <a:schemeClr val="bg1"/>
            </a:solidFill>
            <a:prstDash val="solid"/>
          </a:ln>
        </p:spPr>
      </p:sp>
      <p:sp>
        <p:nvSpPr>
          <p:cNvPr id="8" name="Text 6"/>
          <p:cNvSpPr txBox="1"/>
          <p:nvPr/>
        </p:nvSpPr>
        <p:spPr>
          <a:xfrm>
            <a:off x="6309360" y="1527048"/>
            <a:ext cx="5166360" cy="1005840"/>
          </a:xfrm>
          <a:prstGeom prst="rect">
            <a:avLst/>
          </a:prstGeom>
          <a:noFill/>
          <a:ln/>
        </p:spPr>
        <p:txBody>
          <a:bodyPr wrap="square" lIns="1016" tIns="1016" rIns="1016" bIns="1016" rtlCol="0" anchor="t"/>
          <a:lstStyle/>
          <a:p>
            <a:pPr indent="0" marL="0">
              <a:spcAft>
                <a:spcPts val="400"/>
              </a:spcAft>
              <a:buNone/>
            </a:pPr>
            <a:r>
              <a:rPr lang="en-US" sz="1500" b="1" dirty="0">
                <a:solidFill>
                  <a:schemeClr val="accent1"/>
                </a:solidFill>
              </a:rPr>
              <a:t>2. B: 3 500</a:t>
            </a:r>
            <a:endParaRPr lang="en-US" sz="1500" dirty="0"/>
          </a:p>
          <a:p>
            <a:pPr indent="0" marL="0">
              <a:spcAft>
                <a:spcPts val="400"/>
              </a:spcAft>
              <a:buNone/>
            </a:pPr>
            <a:r>
              <a:rPr lang="en-US" sz="1500" dirty="0">
                <a:solidFill>
                  <a:schemeClr val="tx1"/>
                </a:solidFill>
              </a:rPr>
              <a:t>NPP = GPP − R = 9 000 − 5 500.</a:t>
            </a:r>
            <a:endParaRPr lang="en-US" sz="1500" dirty="0"/>
          </a:p>
        </p:txBody>
      </p:sp>
      <p:sp>
        <p:nvSpPr>
          <p:cNvPr id="9" name="Shape 7"/>
          <p:cNvSpPr/>
          <p:nvPr/>
        </p:nvSpPr>
        <p:spPr>
          <a:xfrm>
            <a:off x="548640" y="2743200"/>
            <a:ext cx="5440680" cy="1188720"/>
          </a:xfrm>
          <a:prstGeom prst="roundRect">
            <a:avLst>
              <a:gd name="adj" fmla="val 9231"/>
            </a:avLst>
          </a:prstGeom>
          <a:solidFill>
            <a:schemeClr val="bg1"/>
          </a:solidFill>
          <a:ln w="12700">
            <a:solidFill>
              <a:schemeClr val="bg1"/>
            </a:solidFill>
            <a:prstDash val="solid"/>
          </a:ln>
        </p:spPr>
      </p:sp>
      <p:sp>
        <p:nvSpPr>
          <p:cNvPr id="10" name="Text 8"/>
          <p:cNvSpPr txBox="1"/>
          <p:nvPr/>
        </p:nvSpPr>
        <p:spPr>
          <a:xfrm>
            <a:off x="685800" y="2852928"/>
            <a:ext cx="5166360" cy="1005840"/>
          </a:xfrm>
          <a:prstGeom prst="rect">
            <a:avLst/>
          </a:prstGeom>
          <a:noFill/>
          <a:ln/>
        </p:spPr>
        <p:txBody>
          <a:bodyPr wrap="square" lIns="1016" tIns="1016" rIns="1016" bIns="1016" rtlCol="0" anchor="t"/>
          <a:lstStyle/>
          <a:p>
            <a:pPr indent="0" marL="0">
              <a:spcAft>
                <a:spcPts val="400"/>
              </a:spcAft>
              <a:buNone/>
            </a:pPr>
            <a:r>
              <a:rPr lang="en-US" sz="1500" b="1" dirty="0">
                <a:solidFill>
                  <a:schemeClr val="accent1"/>
                </a:solidFill>
              </a:rPr>
              <a:t>3. C</a:t>
            </a:r>
            <a:endParaRPr lang="en-US" sz="1500" dirty="0"/>
          </a:p>
          <a:p>
            <a:pPr indent="0" marL="0">
              <a:spcAft>
                <a:spcPts val="400"/>
              </a:spcAft>
              <a:buNone/>
            </a:pPr>
            <a:r>
              <a:rPr lang="en-US" sz="1500" dirty="0">
                <a:solidFill>
                  <a:schemeClr val="tx1"/>
                </a:solidFill>
              </a:rPr>
              <a:t>In your notes F covers faeces and urine.</a:t>
            </a:r>
            <a:endParaRPr lang="en-US" sz="1500" dirty="0"/>
          </a:p>
        </p:txBody>
      </p:sp>
      <p:sp>
        <p:nvSpPr>
          <p:cNvPr id="11" name="Shape 9"/>
          <p:cNvSpPr/>
          <p:nvPr/>
        </p:nvSpPr>
        <p:spPr>
          <a:xfrm>
            <a:off x="6172200" y="2743200"/>
            <a:ext cx="5440680" cy="1188720"/>
          </a:xfrm>
          <a:prstGeom prst="roundRect">
            <a:avLst>
              <a:gd name="adj" fmla="val 9231"/>
            </a:avLst>
          </a:prstGeom>
          <a:solidFill>
            <a:schemeClr val="bg1"/>
          </a:solidFill>
          <a:ln w="12700">
            <a:solidFill>
              <a:schemeClr val="bg1"/>
            </a:solidFill>
            <a:prstDash val="solid"/>
          </a:ln>
        </p:spPr>
      </p:sp>
      <p:sp>
        <p:nvSpPr>
          <p:cNvPr id="12" name="Text 10"/>
          <p:cNvSpPr txBox="1"/>
          <p:nvPr/>
        </p:nvSpPr>
        <p:spPr>
          <a:xfrm>
            <a:off x="6309360" y="2852928"/>
            <a:ext cx="5166360" cy="1005840"/>
          </a:xfrm>
          <a:prstGeom prst="rect">
            <a:avLst/>
          </a:prstGeom>
          <a:noFill/>
          <a:ln/>
        </p:spPr>
        <p:txBody>
          <a:bodyPr wrap="square" lIns="1016" tIns="1016" rIns="1016" bIns="1016" rtlCol="0" anchor="t"/>
          <a:lstStyle/>
          <a:p>
            <a:pPr indent="0" marL="0">
              <a:spcAft>
                <a:spcPts val="400"/>
              </a:spcAft>
              <a:buNone/>
            </a:pPr>
            <a:r>
              <a:rPr lang="en-US" sz="1500" b="1" dirty="0">
                <a:solidFill>
                  <a:schemeClr val="accent1"/>
                </a:solidFill>
              </a:rPr>
              <a:t>4. A: 15%</a:t>
            </a:r>
            <a:endParaRPr lang="en-US" sz="1500" dirty="0"/>
          </a:p>
          <a:p>
            <a:pPr indent="0" marL="0">
              <a:spcAft>
                <a:spcPts val="400"/>
              </a:spcAft>
              <a:buNone/>
            </a:pPr>
            <a:r>
              <a:rPr lang="en-US" sz="1500" dirty="0">
                <a:solidFill>
                  <a:schemeClr val="tx1"/>
                </a:solidFill>
              </a:rPr>
              <a:t>300 ÷ 2 000 × 100. B is upside down; C forgot × 100.</a:t>
            </a:r>
            <a:endParaRPr lang="en-US" sz="1500" dirty="0"/>
          </a:p>
        </p:txBody>
      </p:sp>
      <p:sp>
        <p:nvSpPr>
          <p:cNvPr id="13" name="Shape 11"/>
          <p:cNvSpPr/>
          <p:nvPr/>
        </p:nvSpPr>
        <p:spPr>
          <a:xfrm>
            <a:off x="548640" y="4069080"/>
            <a:ext cx="5440680" cy="1188720"/>
          </a:xfrm>
          <a:prstGeom prst="roundRect">
            <a:avLst>
              <a:gd name="adj" fmla="val 9231"/>
            </a:avLst>
          </a:prstGeom>
          <a:solidFill>
            <a:schemeClr val="bg1"/>
          </a:solidFill>
          <a:ln w="12700">
            <a:solidFill>
              <a:schemeClr val="bg1"/>
            </a:solidFill>
            <a:prstDash val="solid"/>
          </a:ln>
        </p:spPr>
      </p:sp>
      <p:sp>
        <p:nvSpPr>
          <p:cNvPr id="14" name="Text 12"/>
          <p:cNvSpPr txBox="1"/>
          <p:nvPr/>
        </p:nvSpPr>
        <p:spPr>
          <a:xfrm>
            <a:off x="685800" y="4178808"/>
            <a:ext cx="5166360" cy="1005840"/>
          </a:xfrm>
          <a:prstGeom prst="rect">
            <a:avLst/>
          </a:prstGeom>
          <a:noFill/>
          <a:ln/>
        </p:spPr>
        <p:txBody>
          <a:bodyPr wrap="square" lIns="1016" tIns="1016" rIns="1016" bIns="1016" rtlCol="0" anchor="t"/>
          <a:lstStyle/>
          <a:p>
            <a:pPr indent="0" marL="0">
              <a:spcAft>
                <a:spcPts val="400"/>
              </a:spcAft>
              <a:buNone/>
            </a:pPr>
            <a:r>
              <a:rPr lang="en-US" sz="1500" b="1" dirty="0">
                <a:solidFill>
                  <a:schemeClr val="accent1"/>
                </a:solidFill>
              </a:rPr>
              <a:t>5. B: heat</a:t>
            </a:r>
            <a:endParaRPr lang="en-US" sz="1500" dirty="0"/>
          </a:p>
          <a:p>
            <a:pPr indent="0" marL="0">
              <a:spcAft>
                <a:spcPts val="400"/>
              </a:spcAft>
              <a:buNone/>
            </a:pPr>
            <a:r>
              <a:rPr lang="en-US" sz="1500" dirty="0">
                <a:solidFill>
                  <a:schemeClr val="tx1"/>
                </a:solidFill>
              </a:rPr>
              <a:t>Respiration releases energy that ends up as heat.</a:t>
            </a:r>
            <a:endParaRPr lang="en-US" sz="1500" dirty="0"/>
          </a:p>
        </p:txBody>
      </p:sp>
      <p:sp>
        <p:nvSpPr>
          <p:cNvPr id="15" name="Shape 13"/>
          <p:cNvSpPr/>
          <p:nvPr/>
        </p:nvSpPr>
        <p:spPr>
          <a:xfrm>
            <a:off x="6172200" y="4069080"/>
            <a:ext cx="5440680" cy="1188720"/>
          </a:xfrm>
          <a:prstGeom prst="roundRect">
            <a:avLst>
              <a:gd name="adj" fmla="val 9231"/>
            </a:avLst>
          </a:prstGeom>
          <a:solidFill>
            <a:schemeClr val="bg1"/>
          </a:solidFill>
          <a:ln w="12700">
            <a:solidFill>
              <a:schemeClr val="bg1"/>
            </a:solidFill>
            <a:prstDash val="solid"/>
          </a:ln>
        </p:spPr>
      </p:sp>
      <p:sp>
        <p:nvSpPr>
          <p:cNvPr id="16" name="Text 14"/>
          <p:cNvSpPr txBox="1"/>
          <p:nvPr/>
        </p:nvSpPr>
        <p:spPr>
          <a:xfrm>
            <a:off x="6309360" y="4178808"/>
            <a:ext cx="5166360" cy="1005840"/>
          </a:xfrm>
          <a:prstGeom prst="rect">
            <a:avLst/>
          </a:prstGeom>
          <a:noFill/>
          <a:ln/>
        </p:spPr>
        <p:txBody>
          <a:bodyPr wrap="square" lIns="1016" tIns="1016" rIns="1016" bIns="1016" rtlCol="0" anchor="t"/>
          <a:lstStyle/>
          <a:p>
            <a:pPr indent="0" marL="0">
              <a:spcAft>
                <a:spcPts val="400"/>
              </a:spcAft>
              <a:buNone/>
            </a:pPr>
            <a:r>
              <a:rPr lang="en-US" sz="1500" b="1" dirty="0">
                <a:solidFill>
                  <a:schemeClr val="accent1"/>
                </a:solidFill>
              </a:rPr>
              <a:t>6. C</a:t>
            </a:r>
            <a:endParaRPr lang="en-US" sz="1500" dirty="0"/>
          </a:p>
          <a:p>
            <a:pPr indent="0" marL="0">
              <a:spcAft>
                <a:spcPts val="400"/>
              </a:spcAft>
              <a:buNone/>
            </a:pPr>
            <a:r>
              <a:rPr lang="en-US" sz="1500" dirty="0">
                <a:solidFill>
                  <a:schemeClr val="tx1"/>
                </a:solidFill>
              </a:rPr>
              <a:t>Energy is never destroyed. It is lost from the chain at each level.</a:t>
            </a:r>
            <a:endParaRPr lang="en-US" sz="1500" dirty="0"/>
          </a:p>
        </p:txBody>
      </p:sp>
      <p:sp>
        <p:nvSpPr>
          <p:cNvPr id="17" name="Text 15"/>
          <p:cNvSpPr txBox="1"/>
          <p:nvPr/>
        </p:nvSpPr>
        <p:spPr>
          <a:xfrm>
            <a:off x="548640" y="5486400"/>
            <a:ext cx="11064240" cy="457200"/>
          </a:xfrm>
          <a:prstGeom prst="rect">
            <a:avLst/>
          </a:prstGeom>
          <a:noFill/>
          <a:ln/>
        </p:spPr>
        <p:txBody>
          <a:bodyPr wrap="square" lIns="1016" tIns="1016" rIns="1016" bIns="1016" rtlCol="0" anchor="t"/>
          <a:lstStyle/>
          <a:p>
            <a:pPr indent="0" marL="0">
              <a:spcAft>
                <a:spcPts val="400"/>
              </a:spcAft>
              <a:buNone/>
            </a:pPr>
            <a:r>
              <a:rPr lang="en-US" sz="1600" u="sng" dirty="0">
                <a:solidFill>
                  <a:schemeClr val="accent1"/>
                </a:solidFill>
                <a:hlinkClick r:id="rId2" action="ppaction://hlinksldjump" tooltip="">
                  <a:extLst>
                    <a:ext uri="{A12FA001-AC4F-418D-AE19-62706E023703}">
                      <ahyp:hlinkClr xmlns:ahyp="http://schemas.microsoft.com/office/drawing/2018/hyperlinkcolor" val="tx"/>
                    </a:ext>
                  </a:extLst>
                </a:hlinkClick>
              </a:rPr>
              <a:t>Back to the lesson map</a:t>
            </a:r>
            <a:pPr indent="0" marL="0">
              <a:spcAft>
                <a:spcPts val="400"/>
              </a:spcAft>
              <a:buNone/>
            </a:pPr>
            <a:r>
              <a:rPr lang="en-US" sz="1600" dirty="0">
                <a:solidFill>
                  <a:schemeClr val="accent1"/>
                </a:solidFill>
              </a:rPr>
              <a:t>  ·  Well done for finishing.</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24</a:t>
            </a:fld>
            <a:endParaRPr lang="en-US"/>
          </a:p>
        </p:txBody>
      </p:sp>
    </p:spTree>
  </p:cSld>
  <p:clrMapOvr>
    <a:masterClrMapping/>
  </p:clrMapOvr>
</p:sld>
</file>

<file path=ppt/theme/theme1.xml><?xml version="1.0" encoding="utf-8"?>
<a:theme xmlns:a="http://schemas.openxmlformats.org/drawingml/2006/main" name="Energy Flow">
  <a:themeElements>
    <a:clrScheme name="Energy Flow">
      <a:dk1>
        <a:srgbClr val="16241D"/>
      </a:dk1>
      <a:lt1>
        <a:srgbClr val="FFFFFF"/>
      </a:lt1>
      <a:dk2>
        <a:srgbClr val="4D5E55"/>
      </a:dk2>
      <a:lt2>
        <a:srgbClr val="F5F8F5"/>
      </a:lt2>
      <a:accent1>
        <a:srgbClr val="1F6B4E"/>
      </a:accent1>
      <a:accent2>
        <a:srgbClr val="F6C453"/>
      </a:accent2>
      <a:accent3>
        <a:srgbClr val="A93A22"/>
      </a:accent3>
      <a:accent4>
        <a:srgbClr val="E3F0E9"/>
      </a:accent4>
      <a:accent5>
        <a:srgbClr val="FDF2D9"/>
      </a:accent5>
      <a:accent6>
        <a:srgbClr val="FBE7E1"/>
      </a:accent6>
      <a:hlink>
        <a:srgbClr val="1F6B4E"/>
      </a:hlink>
      <a:folHlink>
        <a:srgbClr val="4D5E55"/>
      </a:folHlink>
    </a:clrScheme>
    <a:fontScheme name="Energy Flow">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Energy transfer between trophic levels</dc:title>
  <dc:subject>AQA A-level Biology: energy and ecosystems</dc:subject>
  <dc:creator>Lesson pack</dc:creator>
  <cp:lastModifiedBy>Lesson pack</cp:lastModifiedBy>
  <cp:revision>1</cp:revision>
  <dcterms:created xsi:type="dcterms:W3CDTF">2026-10-13T16:13:51Z</dcterms:created>
  <dcterms:modified xsi:type="dcterms:W3CDTF">2026-10-13T16:13:51Z</dcterms:modified>
</cp:coreProperties>
</file>