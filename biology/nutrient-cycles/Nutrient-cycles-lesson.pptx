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1d8ca504-002c-c610-f81c-1d8a8510cf4c}">
          <p14:sldIdLst>
            <p14:sldId id="256"/>
            <p14:sldId id="257"/>
          </p14:sldIdLst>
        </p14:section>
        <p14:section name="A · Recycling" id="{40372e8e-37ba-2ed4-4139-3e8dda50932f}">
          <p14:sldIdLst>
            <p14:sldId id="258"/>
            <p14:sldId id="259"/>
            <p14:sldId id="260"/>
            <p14:sldId id="261"/>
          </p14:sldIdLst>
        </p14:section>
        <p14:section name="B · Nitrogen in living things" id="{6028c18f-133a-640d-cfdc-98235d935818}">
          <p14:sldIdLst>
            <p14:sldId id="262"/>
            <p14:sldId id="263"/>
            <p14:sldId id="264"/>
          </p14:sldIdLst>
        </p14:section>
        <p14:section name="C · The nitrogen cycle" id="{09dba939-e3b8-8397-e9c6-966d751e7f92}">
          <p14:sldIdLst>
            <p14:sldId id="265"/>
            <p14:sldId id="266"/>
            <p14:sldId id="267"/>
            <p14:sldId id="268"/>
          </p14:sldIdLst>
        </p14:section>
        <p14:section name="D · Exam practice" id="{3e285c88-357c-cd6f-d55c-9fdca11c5d46}">
          <p14:sldIdLst>
            <p14:sldId id="269"/>
            <p14:sldId id="270"/>
          </p14:sldIdLst>
        </p14:section>
        <p14:section name="Summary &amp; quiz" id="{71a5c8de-b277-1cec-f734-97c5837cf4c7}">
          <p14:sldIdLst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ECK">
    <p:bg>
      <p:bgPr>
        <a:solidFill>
          <a:schemeClr val="accent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WER">
    <p:bg>
      <p:bgPr>
        <a:solidFill>
          <a:schemeClr val="accent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3.xml"/><Relationship Id="rId3" Type="http://schemas.openxmlformats.org/officeDocument/2006/relationships/slide" Target="slide7.xml"/><Relationship Id="rId4" Type="http://schemas.openxmlformats.org/officeDocument/2006/relationships/slide" Target="slide10.xml"/><Relationship Id="rId5" Type="http://schemas.openxmlformats.org/officeDocument/2006/relationships/slide" Target="slide14.xml"/><Relationship Id="rId6" Type="http://schemas.openxmlformats.org/officeDocument/2006/relationships/slide" Target="slide16.xm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7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0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4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16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spc="200" kern="0" dirty="0">
                <a:solidFill>
                  <a:schemeClr val="bg1"/>
                </a:solidFill>
              </a:rPr>
              <a:t>AQA A-LEVEL BIOLOGY · NUTRIENT CYCLES (13.6)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7498080" cy="1463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Nutrient cycles and the nitrogen cycle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676656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A short, self-paced lesson in 4 sections of about 5 minutes each. Learn one idea, try the check, then take a break whenever you need to.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069080"/>
            <a:ext cx="676656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4160520"/>
            <a:ext cx="64008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How to use this deck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526280"/>
            <a:ext cx="640080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Yellow slides are questions. Try them before moving on.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Green slides are the answers, with each step explained.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"Lesson map" (top right) jumps to any section.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Labels show where content came from: class notes, original question, new question or extra help.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692640" y="1097280"/>
            <a:ext cx="1097280" cy="10972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92640" y="1097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N₂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881360" y="2926080"/>
            <a:ext cx="1097280" cy="10972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881360" y="2926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NH₄⁺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692640" y="4754880"/>
            <a:ext cx="1097280" cy="10972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92640" y="47548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NO₃⁻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503920" y="2926080"/>
            <a:ext cx="1097280" cy="10972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03920" y="2926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Plants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698480" y="2011680"/>
            <a:ext cx="457200" cy="868680"/>
          </a:xfrm>
          <a:prstGeom prst="line">
            <a:avLst/>
          </a:prstGeom>
          <a:noFill/>
          <a:ln w="31750">
            <a:solidFill>
              <a:schemeClr val="bg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H="1">
            <a:off x="10698480" y="4069080"/>
            <a:ext cx="457200" cy="777240"/>
          </a:xfrm>
          <a:prstGeom prst="line">
            <a:avLst/>
          </a:prstGeom>
          <a:noFill/>
          <a:ln w="31750">
            <a:solidFill>
              <a:schemeClr val="bg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H="1" flipV="1">
            <a:off x="9144000" y="4069080"/>
            <a:ext cx="502920" cy="868680"/>
          </a:xfrm>
          <a:prstGeom prst="line">
            <a:avLst/>
          </a:prstGeom>
          <a:noFill/>
          <a:ln w="31750">
            <a:solidFill>
              <a:schemeClr val="bg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V="1">
            <a:off x="9144000" y="2011680"/>
            <a:ext cx="548640" cy="868680"/>
          </a:xfrm>
          <a:prstGeom prst="line">
            <a:avLst/>
          </a:prstGeom>
          <a:noFill/>
          <a:ln w="31750">
            <a:solidFill>
              <a:schemeClr val="bg1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LESSON MAP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short sections, then a summary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91440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77440"/>
            <a:ext cx="228600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Recycling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71800"/>
            <a:ext cx="228600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Why elements are recycled, and how saprobionts decompose.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u="sng" dirty="0">
                <a:solidFill>
                  <a:schemeClr val="accent1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 to section A →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1828800"/>
            <a:ext cx="8686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about 5 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64992" y="150876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47872" y="1645920"/>
            <a:ext cx="91440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2377440"/>
            <a:ext cx="228600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Nitrogen in living things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547872" y="2971800"/>
            <a:ext cx="228600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Where nitrogen is found and how plants absorb it.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547872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u="sng" dirty="0">
                <a:solidFill>
                  <a:schemeClr val="accent1"/>
                </a:solidFill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 to section B →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10912" y="1828800"/>
            <a:ext cx="8686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about 4 min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81344" y="150876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64224" y="1645920"/>
            <a:ext cx="91440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6364224" y="2377440"/>
            <a:ext cx="228600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The nitrogen cycle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364224" y="2971800"/>
            <a:ext cx="228600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Ammonification, nitrification, fixation, denitrification.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64224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u="sng" dirty="0">
                <a:solidFill>
                  <a:schemeClr val="accent1"/>
                </a:solidFill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 to section C →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827264" y="1828800"/>
            <a:ext cx="8686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about 6 min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997696" y="150876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80576" y="1645920"/>
            <a:ext cx="91440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9180576" y="2377440"/>
            <a:ext cx="228600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Exam practice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180576" y="2971800"/>
            <a:ext cx="228600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The 5-mark question from the notes, with the mark scheme.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180576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u="sng" dirty="0">
                <a:solidFill>
                  <a:schemeClr val="accent1"/>
                </a:solidFill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 to section D →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643616" y="1828800"/>
            <a:ext cx="8686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about 5 min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617720"/>
            <a:ext cx="11064240" cy="6858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4709160"/>
            <a:ext cx="106070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Then: </a:t>
            </a:r>
            <a:pPr indent="0" marL="0">
              <a:spcAft>
                <a:spcPts val="400"/>
              </a:spcAft>
              <a:buNone/>
            </a:pPr>
            <a:r>
              <a:rPr lang="en-US" sz="1600" u="sng" dirty="0">
                <a:solidFill>
                  <a:schemeClr val="tx1"/>
                </a:solidFill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Summary and final quiz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   ·   Whole lesson: about 20–25 minutes, with as many breaks as you like.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8640" y="544068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731520" y="5486400"/>
            <a:ext cx="1069848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Coming next in this topic: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phosphorus cycle, mycorrhizae, fertilisers, leaching and eutrophication are listed in the notes but not yet covered. They will be Part 2.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A · FROM THE CLASS NOTES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basic nutrient cycle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Chemical elements are recycled in ecosystems, and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microorganisms play a key role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 in this recycling. Recycling of chemical elements is important to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maintain the balance of elements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 in the ecosystem.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468880" cy="13716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246888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Producers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starch, lipids, phospholipids, glucose, chlorophyll, DNA, RNA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931920" y="2286000"/>
            <a:ext cx="2468880" cy="13716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31920" y="2286000"/>
            <a:ext cx="246888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Primary consumers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proteins, amino acids, phospholipids, DNA, RNA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0" y="2286000"/>
            <a:ext cx="2468880" cy="13716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0" y="2286000"/>
            <a:ext cx="246888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Secondary consumers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organic compounds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931920" y="4343400"/>
            <a:ext cx="2468880" cy="109728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31920" y="4343400"/>
            <a:ext cx="246888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Decomposers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saprobiotic bacteria and fungi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063240" y="2971800"/>
            <a:ext cx="822960" cy="914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46520" y="2971800"/>
            <a:ext cx="822960" cy="914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194560" y="3703320"/>
            <a:ext cx="1691640" cy="82296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66360" y="3703320"/>
            <a:ext cx="914" cy="59436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H="1">
            <a:off x="6446520" y="3703320"/>
            <a:ext cx="1691640" cy="82296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H="1">
            <a:off x="1097280" y="5120640"/>
            <a:ext cx="2788920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097280" y="3703320"/>
            <a:ext cx="914" cy="141732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1280160" y="5166360"/>
            <a:ext cx="23774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back to producers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058400" y="2286000"/>
            <a:ext cx="1600200" cy="3154680"/>
          </a:xfrm>
          <a:prstGeom prst="roundRect">
            <a:avLst>
              <a:gd name="adj" fmla="val 685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195560" y="2377440"/>
            <a:ext cx="1325880" cy="2971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WHY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Elements are reused. Without decomposers they stay locked in dead matter.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669280"/>
            <a:ext cx="932688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Each arrow is eating. Everything that dies or is excreted goes to the decomposers, which release elements back for producers.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A · FROM THE CLASS NOTES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Saprobionts: how decomposers feed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Decomposers are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saprobiotic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 bacteria and fungi (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saprobionts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). Their way of feeding is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saprobiotic nutrition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2606040" cy="2514600"/>
          </a:xfrm>
          <a:prstGeom prst="roundRect">
            <a:avLst>
              <a:gd name="adj" fmla="val 4364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194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Secrete enzymes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154680"/>
            <a:ext cx="237744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Extracellular enzymes are secreted onto dead matter through exocytosis.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72968" y="3291840"/>
            <a:ext cx="173736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64992" y="2057400"/>
            <a:ext cx="2606040" cy="2514600"/>
          </a:xfrm>
          <a:prstGeom prst="roundRect">
            <a:avLst>
              <a:gd name="adj" fmla="val 4364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02152" y="2194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02152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02152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Digest outside the cell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502152" y="3154680"/>
            <a:ext cx="237744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Enzymes hydrolyse nitrogen-containing polymers (proteins, DNA, RNA) into monomers.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89320" y="3291840"/>
            <a:ext cx="173736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81344" y="2057400"/>
            <a:ext cx="2606040" cy="2514600"/>
          </a:xfrm>
          <a:prstGeom prst="roundRect">
            <a:avLst>
              <a:gd name="adj" fmla="val 4364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18504" y="2194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18504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318504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Absorb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318504" y="3154680"/>
            <a:ext cx="237744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monomers are absorbed (through co-transport).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805672" y="3291840"/>
            <a:ext cx="173736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997696" y="2057400"/>
            <a:ext cx="2606040" cy="2514600"/>
          </a:xfrm>
          <a:prstGeom prst="roundRect">
            <a:avLst>
              <a:gd name="adj" fmla="val 436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34856" y="21945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34856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134856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Release ammonia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134856" y="3154680"/>
            <a:ext cx="237744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Ammonia (NH₃) is released into the soil. This is ammonification.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84632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4937760"/>
            <a:ext cx="1078992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EXTRA HELP · IN PLAIN WORDS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Saprobionts can't swallow food. They pour enzymes out onto it, let it dissolve into small pieces, then soak the pieces up. "Extracellular" means outside the cell.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A · TRY FIRST, ANSWERS ON THE NEXT SLIDE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0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54480"/>
            <a:ext cx="1097280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NEW QUESTION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92808"/>
            <a:ext cx="521208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1. According to your notes, why is recycling chemical elements important?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 It creates new energy for the ecosystem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  It maintains the balance of elements in the ecosystem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  Only consumers can recycle elements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8640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554480"/>
            <a:ext cx="1097280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NEW QUESTION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892808"/>
            <a:ext cx="521208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2. How do saprobionts release their enzymes onto dead matter?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 Active transport     B  Diffusion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  Exocytosis     D  Co-transport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1110996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840480"/>
            <a:ext cx="1097280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840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NEW QUESTION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469880" y="3813048"/>
            <a:ext cx="10515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[3 marks]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178808"/>
            <a:ext cx="1083564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3. Describe how saprobionts release ammonia from the proteins in a dead organism.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Hint: what leaves the saprobiont, what happens outside, and what comes back in?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A · ANSWERS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A: answers and why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0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27048"/>
            <a:ext cx="521208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1.  B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Recycling maintains the balance of elements. A is wrong: energy is not recycled. It flows through and is lost as heat.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48640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527048"/>
            <a:ext cx="521208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2.  C: exocytosis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Enzymes are large proteins, released in vesicles by exocytosis. Co-transport (D) is how monomers come back in.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1110996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675888"/>
            <a:ext cx="10835640" cy="2331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3.  Model answer (3 marks)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Saprobionts secrete (extracellular) enzymes onto the dead organism, by exocytosis.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enzymes hydrolyse proteins into amino acids (monomers).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amino acids are absorbed, and ammonia is released into the soil (ammonification).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Check yours against each point. Wording can differ.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6355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Section B →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B · FROM THE CLASS NOTES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Nitrogen in living things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Nitrogen is found in molecules such as: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005840" cy="411480"/>
          </a:xfrm>
          <a:prstGeom prst="roundRect">
            <a:avLst>
              <a:gd name="adj" fmla="val 2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amino acids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45920" y="1783080"/>
            <a:ext cx="1005840" cy="411480"/>
          </a:xfrm>
          <a:prstGeom prst="roundRect">
            <a:avLst>
              <a:gd name="adj" fmla="val 2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45920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proteins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0" y="1783080"/>
            <a:ext cx="1005840" cy="411480"/>
          </a:xfrm>
          <a:prstGeom prst="roundRect">
            <a:avLst>
              <a:gd name="adj" fmla="val 2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3200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DNA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0" y="1783080"/>
            <a:ext cx="1005840" cy="411480"/>
          </a:xfrm>
          <a:prstGeom prst="roundRect">
            <a:avLst>
              <a:gd name="adj" fmla="val 2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40480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RNA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1783080"/>
            <a:ext cx="1005840" cy="411480"/>
          </a:xfrm>
          <a:prstGeom prst="roundRect">
            <a:avLst>
              <a:gd name="adj" fmla="val 2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37760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ADP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286000"/>
            <a:ext cx="1005840" cy="411480"/>
          </a:xfrm>
          <a:prstGeom prst="roundRect">
            <a:avLst>
              <a:gd name="adj" fmla="val 2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22860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ATP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645920" y="2286000"/>
            <a:ext cx="1005840" cy="411480"/>
          </a:xfrm>
          <a:prstGeom prst="roundRect">
            <a:avLst>
              <a:gd name="adj" fmla="val 2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45920" y="22860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NADP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0" y="2286000"/>
            <a:ext cx="1005840" cy="411480"/>
          </a:xfrm>
          <a:prstGeom prst="roundRect">
            <a:avLst>
              <a:gd name="adj" fmla="val 2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743200" y="22860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NAD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840480" y="2286000"/>
            <a:ext cx="1005840" cy="411480"/>
          </a:xfrm>
          <a:prstGeom prst="roundRect">
            <a:avLst>
              <a:gd name="adj" fmla="val 2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840480" y="22860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FAD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2926080"/>
            <a:ext cx="5394960" cy="1005840"/>
          </a:xfrm>
          <a:prstGeom prst="roundRect">
            <a:avLst>
              <a:gd name="adj" fmla="val 1090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3017520"/>
            <a:ext cx="512064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HANDWRITTEN NOTE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ATP: nitrogenous base. ATP contains nitrogen because its base, adenine, is a nitrogenous base.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406908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4160520"/>
            <a:ext cx="512064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EXTRA HELP · QUICK TEST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Carbohydrates (glucose, starch) and triglycerides contain only C, H and O, so no nitrogen. Molecules with a base (DNA, RNA, ATP) or amino groups (proteins) contain nitrogen.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172200" y="1371600"/>
            <a:ext cx="5486400" cy="4709160"/>
          </a:xfrm>
          <a:prstGeom prst="roundRect">
            <a:avLst>
              <a:gd name="adj" fmla="val 233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09360" y="1463040"/>
            <a:ext cx="521208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N₂ is chemically inert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, so most organisms cannot use it directly. Most plants can only absorb nitrogen as </a:t>
            </a:r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nitrates (NO₃⁻)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from the soil.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309360" y="2331720"/>
            <a:ext cx="5212080" cy="3657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Plants absorb nitrate ions by active transport through root hair cells: one of the only routes into living things.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Plants make amino acids, proteins, DNA and RNA, so they can grow and reproduce.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Consumers eat plants, hydrolyse proteins into amino acids and build new tissue.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Nitrogen passes up the trophic levels.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Plants and animals die and are decomposed by saprobionts.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Animals excrete nitrogenous waste (urea).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B · TRY FIRST, ANSWERS ON THE NEXT SLIDE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0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54480"/>
            <a:ext cx="1097280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NEW QUESTION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92808"/>
            <a:ext cx="521208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1. Which of these molecules contains nitrogen?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 Glucose     B  Starch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  ATP     D  A triglyceride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8640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554480"/>
            <a:ext cx="1097280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NEW QUESTION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892808"/>
            <a:ext cx="521208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2. How do plants take up nitrogen from the soil?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 As nitrate ions, by active transport into root hair cells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  As nitrogen gas, by diffusion into leaves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  As nitrate ions, by osmosis through stomata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1110996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840480"/>
            <a:ext cx="1097280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840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NEW QUESTION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469880" y="3813048"/>
            <a:ext cx="10515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[2 marks]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178808"/>
            <a:ext cx="1083564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3. Most of the air is nitrogen gas. Explain why plants still depend on nitrates in the soil.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B · ANSWERS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B: answers and why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0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27048"/>
            <a:ext cx="521208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1.  C: ATP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ATP contains the nitrogenous base adenine. Glucose, starch and triglycerides contain only C, H and 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48640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527048"/>
            <a:ext cx="521208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2.  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Nitrate ions are absorbed by active transport through root hair cells. Plants can't use N₂ (B), and osmosis moves water, not ions (C).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1110996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675888"/>
            <a:ext cx="10835640" cy="2331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3.  Model answer (2 marks)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Nitrogen gas is chemically inert, so most organisms, including plants, cannot use it directly.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✓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Plants can only absorb nitrogen as nitrate ions from the soil (active transport through root hair cells), which they need to make amino acids, proteins and DNA.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6355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Section C →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C · FROM THE CLASS NOTES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nitrogen cycle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16198" y="1455359"/>
            <a:ext cx="1942186" cy="453177"/>
          </a:xfrm>
          <a:prstGeom prst="roundRect">
            <a:avLst>
              <a:gd name="adj" fmla="val 24213"/>
            </a:avLst>
          </a:prstGeom>
          <a:solidFill>
            <a:schemeClr val="accent5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416198" y="1455359"/>
            <a:ext cx="1942186" cy="45317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Nitrogen gas (N₂) in air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37206" y="2782519"/>
            <a:ext cx="1402690" cy="431597"/>
          </a:xfrm>
          <a:prstGeom prst="roundRect">
            <a:avLst>
              <a:gd name="adj" fmla="val 25424"/>
            </a:avLst>
          </a:prstGeom>
          <a:solidFill>
            <a:schemeClr val="accent4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37206" y="2782519"/>
            <a:ext cx="1402690" cy="43159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Animals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142586" y="2782519"/>
            <a:ext cx="1402690" cy="431597"/>
          </a:xfrm>
          <a:prstGeom prst="roundRect">
            <a:avLst>
              <a:gd name="adj" fmla="val 25424"/>
            </a:avLst>
          </a:prstGeom>
          <a:solidFill>
            <a:schemeClr val="accent4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42586" y="2782519"/>
            <a:ext cx="1402690" cy="43159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Plants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60904" y="3699662"/>
            <a:ext cx="3021178" cy="496336"/>
          </a:xfrm>
          <a:prstGeom prst="roundRect">
            <a:avLst>
              <a:gd name="adj" fmla="val 22108"/>
            </a:avLst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60904" y="3699662"/>
            <a:ext cx="3021178" cy="496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Dead organisms &amp; waste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proteins, DNA, urea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8718" y="4778654"/>
            <a:ext cx="1834286" cy="496336"/>
          </a:xfrm>
          <a:prstGeom prst="roundRect">
            <a:avLst>
              <a:gd name="adj" fmla="val 22108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8718" y="4778654"/>
            <a:ext cx="1834286" cy="496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Ammonia / ammonium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NH₃ / NH₄⁺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0148" y="4778654"/>
            <a:ext cx="1618488" cy="496336"/>
          </a:xfrm>
          <a:prstGeom prst="roundRect">
            <a:avLst>
              <a:gd name="adj" fmla="val 22108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70148" y="4778654"/>
            <a:ext cx="1618488" cy="496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Nitrites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NO₂⁻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51830" y="4778654"/>
            <a:ext cx="1618488" cy="496336"/>
          </a:xfrm>
          <a:prstGeom prst="roundRect">
            <a:avLst>
              <a:gd name="adj" fmla="val 22108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51830" y="4778654"/>
            <a:ext cx="1618488" cy="496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Nitrates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NO₃⁻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 flipH="1">
            <a:off x="1258214" y="1681947"/>
            <a:ext cx="2157984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8214" y="1681947"/>
            <a:ext cx="914" cy="3075127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1322954" y="2243023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Nitrogen fixation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 flipH="1">
            <a:off x="3761476" y="2998318"/>
            <a:ext cx="1381110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4117543" y="26746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eaten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038551" y="3214116"/>
            <a:ext cx="914" cy="463967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574182" y="3214116"/>
            <a:ext cx="914" cy="463967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3114081" y="3332805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death &amp; waste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71493" y="4195999"/>
            <a:ext cx="914" cy="280538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>
            <a:off x="2013509" y="4476537"/>
            <a:ext cx="2157984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13509" y="4476537"/>
            <a:ext cx="914" cy="280538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2445106" y="4217579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Ammonification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553005" y="5026823"/>
            <a:ext cx="895563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088636" y="5026823"/>
            <a:ext cx="841614" cy="91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3200400" y="533973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Nitrification (both arrows)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 flipV="1">
            <a:off x="6976872" y="2998318"/>
            <a:ext cx="914" cy="1758757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>
            <a:off x="6566855" y="2998318"/>
            <a:ext cx="410017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5574182" y="4368637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absorbed by active transport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570318" y="5026823"/>
            <a:ext cx="485546" cy="914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8055864" y="1681947"/>
            <a:ext cx="914" cy="3344875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>
            <a:off x="5379964" y="1681947"/>
            <a:ext cx="2675900" cy="914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6113678" y="137983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</a:rPr>
              <a:t>Denitrification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412334" y="1843796"/>
            <a:ext cx="2104034" cy="914"/>
          </a:xfrm>
          <a:prstGeom prst="line">
            <a:avLst/>
          </a:prstGeom>
          <a:noFill/>
          <a:ln w="22225">
            <a:solidFill>
              <a:schemeClr val="tx2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7516368" y="1843796"/>
            <a:ext cx="914" cy="2913278"/>
          </a:xfrm>
          <a:prstGeom prst="line">
            <a:avLst/>
          </a:prstGeom>
          <a:noFill/>
          <a:ln w="22225">
            <a:solidFill>
              <a:schemeClr val="tx2"/>
            </a:solidFill>
            <a:prstDash val="dash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6653174" y="235092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lightning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549640" y="1371600"/>
            <a:ext cx="3108960" cy="470916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686800" y="1463040"/>
            <a:ext cx="283464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Who does what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Nitrogen fixation: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nitrogen-fixing bacteria (soil, legume root nodules)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Ammonification: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saprobionts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Nitrification: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nitrifying bacteria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Denitrification: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denitrifying bacteria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Lightning: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not a microorganism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C · FROM THE CLASS NOTES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table and key details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7665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92024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Process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Microorganism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Reaction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Nitrification</a:t>
                      </a:r>
                      <a:endParaRPr lang="en-US" sz="1300" dirty="0"/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Nitrifying bacteria</a:t>
                      </a:r>
                      <a:endParaRPr lang="en-US" sz="1300" dirty="0"/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Ammonia to nitrites, nitrites to nitrates</a:t>
                      </a:r>
                      <a:endParaRPr lang="en-US" sz="1300" dirty="0"/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NH₃ → NO₂⁻ → NO₃⁻ (oxidation)</a:t>
                      </a:r>
                      <a:endParaRPr lang="en-US" sz="1300" dirty="0"/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Denitrification</a:t>
                      </a:r>
                      <a:endParaRPr lang="en-US" sz="1300" dirty="0"/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Denitrifying bacteria</a:t>
                      </a:r>
                      <a:endParaRPr lang="en-US" sz="1300" dirty="0"/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Nitrates to nitrogen gas, NO₃⁻ → N₂</a:t>
                      </a:r>
                      <a:endParaRPr lang="en-US" sz="1300" dirty="0"/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Also nitrates back to nitrites</a:t>
                      </a:r>
                      <a:endParaRPr lang="en-US" sz="1300" dirty="0"/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Nitrogen fixation</a:t>
                      </a:r>
                      <a:endParaRPr lang="en-US" sz="1300" dirty="0"/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Nitrogen-fixing bacteria</a:t>
                      </a:r>
                      <a:endParaRPr lang="en-US" sz="1300" dirty="0"/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Nitrogen gas to ammonia (NH₃) (reduction)</a:t>
                      </a:r>
                      <a:endParaRPr lang="en-US" sz="1300" dirty="0"/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Decomposition</a:t>
                      </a:r>
                      <a:endParaRPr lang="en-US" sz="1300" dirty="0"/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Saprobionts</a:t>
                      </a:r>
                      <a:endParaRPr lang="en-US" sz="1300" dirty="0"/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Nitrogen-containing compounds to ammonia (ammonification)</a:t>
                      </a:r>
                      <a:endParaRPr lang="en-US" sz="1300" dirty="0"/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709160"/>
            <a:ext cx="67665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Names of individual species of bacteria are not required.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543800" y="1371600"/>
            <a:ext cx="4114800" cy="1417320"/>
          </a:xfrm>
          <a:prstGeom prst="roundRect">
            <a:avLst>
              <a:gd name="adj" fmla="val 774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80960" y="1463040"/>
            <a:ext cx="384048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MARKS ARE IN THE DETAILS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Denitrification only in waterlogged, anaerobic conditions. Fixation bacteria live free in soil and in legume root nodules.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543800" y="2926080"/>
            <a:ext cx="4114800" cy="123444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80960" y="3017520"/>
            <a:ext cx="384048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AMMONIA OR AMMONIUM?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Ammonia (NH₃) dissolves in soil water as ammonium (NH₄⁺). Both are accepted.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543800" y="4297680"/>
            <a:ext cx="4114800" cy="1783080"/>
          </a:xfrm>
          <a:prstGeom prst="roundRect">
            <a:avLst>
              <a:gd name="adj" fmla="val 6154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80960" y="4389120"/>
            <a:ext cx="384048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WATCH OUT · SLIP IN THE NOTES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Point 11 says "bacteria and fungi" fix nitrogen. Only bacteria do. Write "nitrogen-fixing bacteria".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5120640"/>
            <a:ext cx="6766560" cy="960120"/>
          </a:xfrm>
          <a:prstGeom prst="roundRect">
            <a:avLst>
              <a:gd name="adj" fmla="val 1142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5212080"/>
            <a:ext cx="649224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MEMORY HOOK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Fixation → ammonia. Nitrification adds oxygen (oxidation). Denitrification destroys nitrate, and only without oxygen.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C · TRY FIRST, ANSWERS ON THE NEXT SLIDE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0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54480"/>
            <a:ext cx="1097280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NEW QUESTION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92808"/>
            <a:ext cx="521208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1. Match each process to its microorganism: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Nitrification  →  ______________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Denitrification  →  ______________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Nitrogen fixation  →  ______________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Ammonification  →  ______________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8640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554480"/>
            <a:ext cx="1097280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NEW QUESTION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892808"/>
            <a:ext cx="521208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2. Which shows nitrification in the correct order?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 NO₃⁻ → N₂          B  NH₃ → NO₂⁻ → NO₃⁻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  NH₃ → NO₃⁻ → NO₂⁻   D  N₂ → NH₃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48640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4069080"/>
            <a:ext cx="1097280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NEW QUESTION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407408"/>
            <a:ext cx="521208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3. A field becomes waterlogged, so the soil has very little oxygen. Which process is most likely to increase?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 Nitrification   B  Nitrogen fixation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  Lightning fixation   D  Denitrification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72200" y="3931920"/>
            <a:ext cx="548640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4069080"/>
            <a:ext cx="1097280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NEW QUESTION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4407408"/>
            <a:ext cx="521208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4. According to the summary table, which process is a reduction?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 Nitrogen fixation   B  Nitrification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  Ammonification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C · ANSWERS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C: answers and why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0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27048"/>
            <a:ext cx="5212080" cy="2057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1.  Matches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Nitrification → nitrifying bacteria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Denitrification → denitrifying bacteria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Nitrogen fixation → nitrogen-fixing bacteria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Ammonification → saprobionts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48640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527048"/>
            <a:ext cx="5212080" cy="2057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2.  B: NH₃ → NO₂⁻ → NO₃⁻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Ammonia is oxidised to nitrite, then nitrite to nitrate. A is denitrification, D is fixation, and C has nitrite and nitrate the wrong way round.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548640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904488"/>
            <a:ext cx="5212080" cy="2103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3.  D: denitrification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It only occurs in waterlogged, anaerobic conditions, so the soil loses nitrate. Nitrification needs oxygen, so it would decrease.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72200" y="3794760"/>
            <a:ext cx="548640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3904488"/>
            <a:ext cx="5212080" cy="2103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4.  A: nitrogen fixation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N₂ → NH₃ is labelled reduction in the notes. Nitrification is labelled oxidation.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6355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Section D →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D · ORIGINAL EXAM QUESTION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10996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54480"/>
            <a:ext cx="1485900" cy="27432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54480"/>
            <a:ext cx="1485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ORIGINAL QUESTION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469880" y="1527048"/>
            <a:ext cx="10515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(5)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92808"/>
            <a:ext cx="1083564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Describe how the action of microorganisms in the soil produces a source of nitrates for crop plants.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520440"/>
            <a:ext cx="329184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HINT 1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Where does the nitrogen start? Think about dead organisms and waste first.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97680" y="342900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34840" y="3520440"/>
            <a:ext cx="329184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HINT 2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Name each step AND the microorganism that does it: that is how marks are given.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46720" y="3429000"/>
            <a:ext cx="3611880" cy="1828800"/>
          </a:xfrm>
          <a:prstGeom prst="roundRect">
            <a:avLst>
              <a:gd name="adj" fmla="val 6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83880" y="3520440"/>
            <a:ext cx="333756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HINT 3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Two starting points end in nitrate: dead matter (via ammonia) and nitrogen gas (via fixation).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Mark scheme and worked answer on the next slide →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SECTION D · ANSWER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 scheme and how to build the answer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846320" cy="4754880"/>
          </a:xfrm>
          <a:prstGeom prst="roundRect">
            <a:avLst>
              <a:gd name="adj" fmla="val 230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81328"/>
            <a:ext cx="4572000" cy="4572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Mark scheme: any 5 of 7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1. Protein / amino acids / DNA converted into ammonium compounds / ammonia;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2. By saprobionts;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3. Ammonium / ammonia into nitrite;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4. (then) Nitrite into nitrate;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5. By nitrifying bacteria / microorganisms;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6. Nitrogen gas to ammonia / ammonium;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7. By nitrogen-fixing bacteria / microorganisms in soil;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23560" y="15544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2356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553212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371600"/>
            <a:ext cx="530352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Start with dead matter: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Protein / DNA → ammonia, by saprobionts. That's 2 marks.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23560" y="25146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2356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2331720"/>
            <a:ext cx="553212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2331720"/>
            <a:ext cx="530352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Nitrification in two steps: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Ammonia → nitrite, then nitrite → nitrate, by nitrifying bacteria. That's 3 marks.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23560" y="34747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2356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26480" y="3291840"/>
            <a:ext cx="553212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3291840"/>
            <a:ext cx="530352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Add the second source: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N₂ → ammonia by nitrogen-fixing bacteria. That's a backup 2 marks.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23560" y="4297680"/>
            <a:ext cx="6035040" cy="1828800"/>
          </a:xfrm>
          <a:prstGeom prst="roundRect">
            <a:avLst>
              <a:gd name="adj" fmla="val 6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0" y="4389120"/>
            <a:ext cx="576072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DON'T INCLUDE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Denitrification removes nitrate, so it isn't a source of nitrate. Lightning isn't a microorganism. Species names aren't needed.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6355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Summary →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SUMMARY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on one slide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743200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Recycling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1371600"/>
            <a:ext cx="81381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Keeps the balance of elements. Microorganisms play the key role.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2743200" cy="6858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16712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Saprobionts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167128"/>
            <a:ext cx="81381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Secrete enzymes (exocytosis), hydrolyse polymers, absorb monomers, release ammonia (ammonification).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962656"/>
            <a:ext cx="2743200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962656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Uptake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962656"/>
            <a:ext cx="81381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N₂ is inert. Plants absorb nitrate by active transport through root hair cells.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758184"/>
            <a:ext cx="2743200" cy="6858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758184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Nitrification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3758184"/>
            <a:ext cx="81381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Nitrifying bacteria: NH₃ → NO₂⁻ → NO₃⁻ (oxidation).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553712"/>
            <a:ext cx="2743200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55371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Fixation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3474720" y="4553712"/>
            <a:ext cx="81381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Nitrogen-fixing bacteria (soil, legume root nodules): N₂ → NH₃ (reduction).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349240"/>
            <a:ext cx="2743200" cy="6858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349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Denitrification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5349240"/>
            <a:ext cx="81381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Denitrifying bacteria: NO₃⁻ → N₂, only in waterlogged, anaerobic soil.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FINAL QUIZ · NEW QUESTIONS · ANSWERS ON THE NEXT SLIDE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quiz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406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472184"/>
            <a:ext cx="521208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1. Which process turns nitrogen gas into ammonia?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  Nitrification   B  Denitrification   C  Nitrogen fixation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4406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81928" y="1472184"/>
            <a:ext cx="521208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2. Saprobionts turn proteins in dead organisms into…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  nitrate     B  ammonia     C  nitrogen gas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90088"/>
            <a:ext cx="54406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3044952"/>
            <a:ext cx="521208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3. Nitrate ions enter root hair cells by…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  active transport   B  osmosis   C  exocytosis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2990088"/>
            <a:ext cx="54406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81928" y="3044952"/>
            <a:ext cx="521208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4. Nitrification is described in your notes as…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  a reduction   B  an oxidation   C  a hydrolysis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562856"/>
            <a:ext cx="54406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4617720"/>
            <a:ext cx="521208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5. Denitrification only occurs in…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  well-aerated soil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  legume root nodules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  waterlogged, anaerobic conditions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4562856"/>
            <a:ext cx="54406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81928" y="4617720"/>
            <a:ext cx="521208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6. Which adds nitrate to soil WITHOUT microorganisms?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  Lightning   B  Nitrification   C  Ammonification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FINAL QUIZ · ANSWERS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quiz: answers</a:t>
            </a:r>
            <a:endParaRPr lang="en-US" sz="3200" dirty="0"/>
          </a:p>
        </p:txBody>
      </p:sp>
      <p:sp>
        <p:nvSpPr>
          <p:cNvPr id="4" name="nav-map"/>
          <p:cNvSpPr txBox="1"/>
          <p:nvPr/>
        </p:nvSpPr>
        <p:spPr>
          <a:xfrm>
            <a:off x="10469880" y="274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action="ppaction://hlinksldjump" tooltip="Back to less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Lesson 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4068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27048"/>
            <a:ext cx="516636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1. C: nitrogen fixation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Nitrogen-fixing bacteria reduce N₂ to ammonia.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44068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527048"/>
            <a:ext cx="516636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2. B: ammonia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This is ammonification.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544068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852928"/>
            <a:ext cx="516636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3. A: active transport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It uses ATP. Osmosis moves water, not ions.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72200" y="2743200"/>
            <a:ext cx="544068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2852928"/>
            <a:ext cx="516636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4. B: an oxidation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NH₃ → NO₂⁻ → NO₃⁻ adds oxygen.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544068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178808"/>
            <a:ext cx="516636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5. C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Waterlogged, anaerobic conditions.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72200" y="4069080"/>
            <a:ext cx="544068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4178808"/>
            <a:ext cx="516636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6. A: lightning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Electrical fixation of N₂ into nitrates.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u="sng" dirty="0">
                <a:solidFill>
                  <a:schemeClr val="accent1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the lesson map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1"/>
                </a:solidFill>
              </a:rPr>
              <a:t>  ·  Well done for finishing.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ergy Flow">
  <a:themeElements>
    <a:clrScheme name="Energy Flow">
      <a:dk1>
        <a:srgbClr val="16241D"/>
      </a:dk1>
      <a:lt1>
        <a:srgbClr val="FFFFFF"/>
      </a:lt1>
      <a:dk2>
        <a:srgbClr val="4D5E55"/>
      </a:dk2>
      <a:lt2>
        <a:srgbClr val="F5F8F5"/>
      </a:lt2>
      <a:accent1>
        <a:srgbClr val="1F6B4E"/>
      </a:accent1>
      <a:accent2>
        <a:srgbClr val="F6C453"/>
      </a:accent2>
      <a:accent3>
        <a:srgbClr val="A93A22"/>
      </a:accent3>
      <a:accent4>
        <a:srgbClr val="E3F0E9"/>
      </a:accent4>
      <a:accent5>
        <a:srgbClr val="FDF2D9"/>
      </a:accent5>
      <a:accent6>
        <a:srgbClr val="FBE7E1"/>
      </a:accent6>
      <a:hlink>
        <a:srgbClr val="1F6B4E"/>
      </a:hlink>
      <a:folHlink>
        <a:srgbClr val="4D5E55"/>
      </a:folHlink>
    </a:clrScheme>
    <a:fontScheme name="Energy Flo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Nutrient cycles and the nitrogen cycle</dc:title>
  <dc:subject>AQA A-level Biology: energy and ecosystems</dc:subject>
  <dc:creator>Lesson pack</dc:creator>
  <cp:lastModifiedBy>Lesson pack</cp:lastModifiedBy>
  <cp:revision>1</cp:revision>
  <dcterms:created xsi:type="dcterms:W3CDTF">2026-10-14T08:43:02Z</dcterms:created>
  <dcterms:modified xsi:type="dcterms:W3CDTF">2026-10-14T08:43:02Z</dcterms:modified>
</cp:coreProperties>
</file>