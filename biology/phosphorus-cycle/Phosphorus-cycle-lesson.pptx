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bb5aa875-68fa-84f6-1d4c-4162b79d1480}">
          <p14:sldIdLst>
            <p14:sldId id="256"/>
            <p14:sldId id="257"/>
          </p14:sldIdLst>
        </p14:section>
        <p14:section name="A · Phosphorus cycle" id="{3686cdb6-1d05-b266-9713-58657249b0eb}">
          <p14:sldIdLst>
            <p14:sldId id="258"/>
            <p14:sldId id="259"/>
          </p14:sldIdLst>
        </p14:section>
        <p14:section name="B · Mycorrhizae" id="{0e139f99-f604-04a9-f6e6-ab4803f8e731}">
          <p14:sldIdLst>
            <p14:sldId id="260"/>
          </p14:sldIdLst>
        </p14:section>
        <p14:section name="C · Fertilisers" id="{114a31ec-8128-ed94-a10f-91b8203e3ecf}">
          <p14:sldIdLst>
            <p14:sldId id="261"/>
            <p14:sldId id="262"/>
            <p14:sldId id="263"/>
            <p14:sldId id="264"/>
          </p14:sldIdLst>
        </p14:section>
        <p14:section name="D · Exam practice" id="{3f2ad309-0b52-acb9-f0dd-6b87f3a39959}">
          <p14:sldIdLst>
            <p14:sldId id="265"/>
            <p14:sldId id="266"/>
            <p14:sldId id="267"/>
            <p14:sldId id="268"/>
          </p14:sldIdLst>
        </p14:section>
        <p14:section name="Summary &amp; quiz" id="{50b53604-29ac-c5ce-3955-08f1a35a2253}">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ECK">
    <p:bg>
      <p:bgPr>
        <a:solidFill>
          <a:schemeClr val="accent5"/>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NSWER">
    <p:bg>
      <p:bgPr>
        <a:solidFill>
          <a:schemeClr val="accent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4.xml"/><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10.xml"/><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14.xml"/><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2.xml"/><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10058400" cy="365760"/>
          </a:xfrm>
          <a:prstGeom prst="rect">
            <a:avLst/>
          </a:prstGeom>
          <a:noFill/>
          <a:ln/>
        </p:spPr>
        <p:txBody>
          <a:bodyPr wrap="square" lIns="1016" tIns="1016" rIns="1016" bIns="1016" rtlCol="0" anchor="t"/>
          <a:lstStyle/>
          <a:p>
            <a:pPr indent="0" marL="0">
              <a:spcAft>
                <a:spcPts val="400"/>
              </a:spcAft>
              <a:buNone/>
            </a:pPr>
            <a:r>
              <a:rPr lang="en-US" sz="1300" b="1" spc="200" kern="0" dirty="0">
                <a:solidFill>
                  <a:schemeClr val="bg1"/>
                </a:solidFill>
              </a:rPr>
              <a:t>AQA A-LEVEL BIOLOGY · NUTRIENT CYCLES, PART 2</a:t>
            </a:r>
            <a:endParaRPr lang="en-US" sz="1300" dirty="0"/>
          </a:p>
        </p:txBody>
      </p:sp>
      <p:sp>
        <p:nvSpPr>
          <p:cNvPr id="3" name="Text 1"/>
          <p:cNvSpPr txBox="1"/>
          <p:nvPr/>
        </p:nvSpPr>
        <p:spPr>
          <a:xfrm>
            <a:off x="731520" y="1234440"/>
            <a:ext cx="7315200" cy="1463040"/>
          </a:xfrm>
          <a:prstGeom prst="rect">
            <a:avLst/>
          </a:prstGeom>
          <a:noFill/>
          <a:ln/>
        </p:spPr>
        <p:txBody>
          <a:bodyPr wrap="square" lIns="1016" tIns="1016" rIns="1016" bIns="1016" rtlCol="0" anchor="t"/>
          <a:lstStyle/>
          <a:p>
            <a:pPr indent="0" marL="0">
              <a:spcAft>
                <a:spcPts val="400"/>
              </a:spcAft>
              <a:buNone/>
            </a:pPr>
            <a:r>
              <a:rPr lang="en-US" sz="3800" b="1" dirty="0">
                <a:solidFill>
                  <a:schemeClr val="bg1"/>
                </a:solidFill>
                <a:latin typeface="Cambria" pitchFamily="34" charset="0"/>
                <a:ea typeface="Cambria" pitchFamily="34" charset="-122"/>
                <a:cs typeface="Cambria" pitchFamily="34" charset="-120"/>
              </a:rPr>
              <a:t>The phosphorus cycle, mycorrhizae and fertilisers</a:t>
            </a:r>
            <a:endParaRPr lang="en-US" sz="3800" dirty="0"/>
          </a:p>
        </p:txBody>
      </p:sp>
      <p:sp>
        <p:nvSpPr>
          <p:cNvPr id="4" name="Text 2"/>
          <p:cNvSpPr txBox="1"/>
          <p:nvPr/>
        </p:nvSpPr>
        <p:spPr>
          <a:xfrm>
            <a:off x="731520" y="2834640"/>
            <a:ext cx="6766560" cy="914400"/>
          </a:xfrm>
          <a:prstGeom prst="rect">
            <a:avLst/>
          </a:prstGeom>
          <a:noFill/>
          <a:ln/>
        </p:spPr>
        <p:txBody>
          <a:bodyPr wrap="square" lIns="1016" tIns="1016" rIns="1016" bIns="1016" rtlCol="0" anchor="t"/>
          <a:lstStyle/>
          <a:p>
            <a:pPr indent="0" marL="0">
              <a:spcAft>
                <a:spcPts val="400"/>
              </a:spcAft>
              <a:buNone/>
            </a:pPr>
            <a:r>
              <a:rPr lang="en-US" sz="1700" dirty="0">
                <a:solidFill>
                  <a:schemeClr val="bg1"/>
                </a:solidFill>
              </a:rPr>
              <a:t>A short, self-paced lesson in 4 sections. Learn one idea, try the check, then take a break whenever you need to.</a:t>
            </a:r>
            <a:endParaRPr lang="en-US" sz="1700" dirty="0"/>
          </a:p>
        </p:txBody>
      </p:sp>
      <p:sp>
        <p:nvSpPr>
          <p:cNvPr id="5" name="Shape 3"/>
          <p:cNvSpPr/>
          <p:nvPr/>
        </p:nvSpPr>
        <p:spPr>
          <a:xfrm>
            <a:off x="731520" y="4069080"/>
            <a:ext cx="6766560" cy="2103120"/>
          </a:xfrm>
          <a:prstGeom prst="roundRect">
            <a:avLst>
              <a:gd name="adj" fmla="val 5217"/>
            </a:avLst>
          </a:prstGeom>
          <a:solidFill>
            <a:schemeClr val="bg1"/>
          </a:solidFill>
          <a:ln w="12700">
            <a:solidFill>
              <a:schemeClr val="bg1"/>
            </a:solidFill>
            <a:prstDash val="solid"/>
          </a:ln>
        </p:spPr>
      </p:sp>
      <p:sp>
        <p:nvSpPr>
          <p:cNvPr id="6" name="Text 4"/>
          <p:cNvSpPr txBox="1"/>
          <p:nvPr/>
        </p:nvSpPr>
        <p:spPr>
          <a:xfrm>
            <a:off x="914400" y="4160520"/>
            <a:ext cx="6400800" cy="365760"/>
          </a:xfrm>
          <a:prstGeom prst="rect">
            <a:avLst/>
          </a:prstGeom>
          <a:noFill/>
          <a:ln/>
        </p:spPr>
        <p:txBody>
          <a:bodyPr wrap="square" lIns="1016" tIns="1016" rIns="1016" bIns="1016" rtlCol="0" anchor="t"/>
          <a:lstStyle/>
          <a:p>
            <a:pPr indent="0" marL="0">
              <a:spcAft>
                <a:spcPts val="400"/>
              </a:spcAft>
              <a:buNone/>
            </a:pPr>
            <a:r>
              <a:rPr lang="en-US" sz="1600" b="1" dirty="0">
                <a:solidFill>
                  <a:schemeClr val="tx1"/>
                </a:solidFill>
              </a:rPr>
              <a:t>How to use this deck</a:t>
            </a:r>
            <a:endParaRPr lang="en-US" sz="1600" dirty="0"/>
          </a:p>
        </p:txBody>
      </p:sp>
      <p:sp>
        <p:nvSpPr>
          <p:cNvPr id="7" name="Text 5"/>
          <p:cNvSpPr txBox="1"/>
          <p:nvPr/>
        </p:nvSpPr>
        <p:spPr>
          <a:xfrm>
            <a:off x="914400" y="4526280"/>
            <a:ext cx="6400800" cy="1600200"/>
          </a:xfrm>
          <a:prstGeom prst="rect">
            <a:avLst/>
          </a:prstGeom>
          <a:noFill/>
          <a:ln/>
        </p:spPr>
        <p:txBody>
          <a:bodyPr wrap="square" lIns="1016" tIns="1016" rIns="1016" bIns="1016" rtlCol="0" anchor="t"/>
          <a:lstStyle/>
          <a:p>
            <a:pPr marL="342900" indent="-342900">
              <a:spcAft>
                <a:spcPts val="400"/>
              </a:spcAft>
              <a:buSzPct val="100000"/>
              <a:buChar char="•"/>
            </a:pPr>
            <a:r>
              <a:rPr lang="en-US" sz="1400" dirty="0">
                <a:solidFill>
                  <a:schemeClr val="tx1"/>
                </a:solidFill>
              </a:rPr>
              <a:t>Yellow slides are questions. Try them before moving on.</a:t>
            </a:r>
            <a:endParaRPr lang="en-US" sz="1400" dirty="0"/>
          </a:p>
          <a:p>
            <a:pPr marL="342900" indent="-342900">
              <a:spcAft>
                <a:spcPts val="400"/>
              </a:spcAft>
              <a:buSzPct val="100000"/>
              <a:buChar char="•"/>
            </a:pPr>
            <a:r>
              <a:rPr lang="en-US" sz="1400" dirty="0">
                <a:solidFill>
                  <a:schemeClr val="tx1"/>
                </a:solidFill>
              </a:rPr>
              <a:t>Green slides are the answers, with each step explained.</a:t>
            </a:r>
            <a:endParaRPr lang="en-US" sz="1400" dirty="0"/>
          </a:p>
          <a:p>
            <a:pPr marL="342900" indent="-342900">
              <a:spcAft>
                <a:spcPts val="400"/>
              </a:spcAft>
              <a:buSzPct val="100000"/>
              <a:buChar char="•"/>
            </a:pPr>
            <a:r>
              <a:rPr lang="en-US" sz="1400" dirty="0">
                <a:solidFill>
                  <a:schemeClr val="tx1"/>
                </a:solidFill>
              </a:rPr>
              <a:t>"Lesson map" (top right) jumps to any section.</a:t>
            </a:r>
            <a:endParaRPr lang="en-US" sz="1400" dirty="0"/>
          </a:p>
          <a:p>
            <a:pPr marL="342900" indent="-342900">
              <a:spcAft>
                <a:spcPts val="400"/>
              </a:spcAft>
              <a:buSzPct val="100000"/>
              <a:buChar char="•"/>
            </a:pPr>
            <a:r>
              <a:rPr lang="en-US" sz="1400" dirty="0">
                <a:solidFill>
                  <a:schemeClr val="tx1"/>
                </a:solidFill>
              </a:rPr>
              <a:t>Follows on from Nutrient cycles: the nitrogen cycle.</a:t>
            </a:r>
            <a:endParaRPr lang="en-US" sz="1400" dirty="0"/>
          </a:p>
        </p:txBody>
      </p:sp>
      <p:sp>
        <p:nvSpPr>
          <p:cNvPr id="8" name="Shape 6"/>
          <p:cNvSpPr/>
          <p:nvPr/>
        </p:nvSpPr>
        <p:spPr>
          <a:xfrm>
            <a:off x="9692640" y="1188720"/>
            <a:ext cx="1143000" cy="1143000"/>
          </a:xfrm>
          <a:prstGeom prst="ellipse">
            <a:avLst/>
          </a:prstGeom>
          <a:solidFill>
            <a:schemeClr val="accent2"/>
          </a:solidFill>
          <a:ln w="12700">
            <a:solidFill>
              <a:schemeClr val="bg1"/>
            </a:solidFill>
            <a:prstDash val="solid"/>
          </a:ln>
        </p:spPr>
      </p:sp>
      <p:sp>
        <p:nvSpPr>
          <p:cNvPr id="9" name="Text 7"/>
          <p:cNvSpPr txBox="1"/>
          <p:nvPr/>
        </p:nvSpPr>
        <p:spPr>
          <a:xfrm>
            <a:off x="9692640" y="1188720"/>
            <a:ext cx="1143000" cy="1143000"/>
          </a:xfrm>
          <a:prstGeom prst="rect">
            <a:avLst/>
          </a:prstGeom>
          <a:noFill/>
          <a:ln/>
        </p:spPr>
        <p:txBody>
          <a:bodyPr wrap="square" lIns="0" tIns="0" rIns="0" bIns="0" rtlCol="0" anchor="ctr"/>
          <a:lstStyle/>
          <a:p>
            <a:pPr algn="ctr" indent="0" marL="0">
              <a:spcAft>
                <a:spcPts val="400"/>
              </a:spcAft>
              <a:buNone/>
            </a:pPr>
            <a:r>
              <a:rPr lang="en-US" sz="1400" b="1" dirty="0">
                <a:solidFill>
                  <a:schemeClr val="accent1"/>
                </a:solidFill>
              </a:rPr>
              <a:t>Rock</a:t>
            </a:r>
            <a:endParaRPr lang="en-US" sz="1400" dirty="0"/>
          </a:p>
        </p:txBody>
      </p:sp>
      <p:sp>
        <p:nvSpPr>
          <p:cNvPr id="10" name="Shape 8"/>
          <p:cNvSpPr/>
          <p:nvPr/>
        </p:nvSpPr>
        <p:spPr>
          <a:xfrm>
            <a:off x="10881360" y="3017520"/>
            <a:ext cx="1143000" cy="1143000"/>
          </a:xfrm>
          <a:prstGeom prst="ellipse">
            <a:avLst/>
          </a:prstGeom>
          <a:solidFill>
            <a:schemeClr val="accent4"/>
          </a:solidFill>
          <a:ln w="12700">
            <a:solidFill>
              <a:schemeClr val="bg1"/>
            </a:solidFill>
            <a:prstDash val="solid"/>
          </a:ln>
        </p:spPr>
      </p:sp>
      <p:sp>
        <p:nvSpPr>
          <p:cNvPr id="11" name="Text 9"/>
          <p:cNvSpPr txBox="1"/>
          <p:nvPr/>
        </p:nvSpPr>
        <p:spPr>
          <a:xfrm>
            <a:off x="10881360" y="3017520"/>
            <a:ext cx="1143000" cy="1143000"/>
          </a:xfrm>
          <a:prstGeom prst="rect">
            <a:avLst/>
          </a:prstGeom>
          <a:noFill/>
          <a:ln/>
        </p:spPr>
        <p:txBody>
          <a:bodyPr wrap="square" lIns="0" tIns="0" rIns="0" bIns="0" rtlCol="0" anchor="ctr"/>
          <a:lstStyle/>
          <a:p>
            <a:pPr algn="ctr" indent="0" marL="0">
              <a:spcAft>
                <a:spcPts val="400"/>
              </a:spcAft>
              <a:buNone/>
            </a:pPr>
            <a:r>
              <a:rPr lang="en-US" sz="1400" b="1" dirty="0">
                <a:solidFill>
                  <a:schemeClr val="accent1"/>
                </a:solidFill>
              </a:rPr>
              <a:t>Water</a:t>
            </a:r>
            <a:endParaRPr lang="en-US" sz="1400" dirty="0"/>
          </a:p>
        </p:txBody>
      </p:sp>
      <p:sp>
        <p:nvSpPr>
          <p:cNvPr id="12" name="Shape 10"/>
          <p:cNvSpPr/>
          <p:nvPr/>
        </p:nvSpPr>
        <p:spPr>
          <a:xfrm>
            <a:off x="9692640" y="4754880"/>
            <a:ext cx="1143000" cy="1143000"/>
          </a:xfrm>
          <a:prstGeom prst="ellipse">
            <a:avLst/>
          </a:prstGeom>
          <a:solidFill>
            <a:schemeClr val="accent4"/>
          </a:solidFill>
          <a:ln w="12700">
            <a:solidFill>
              <a:schemeClr val="bg1"/>
            </a:solidFill>
            <a:prstDash val="solid"/>
          </a:ln>
        </p:spPr>
      </p:sp>
      <p:sp>
        <p:nvSpPr>
          <p:cNvPr id="13" name="Text 11"/>
          <p:cNvSpPr txBox="1"/>
          <p:nvPr/>
        </p:nvSpPr>
        <p:spPr>
          <a:xfrm>
            <a:off x="9692640" y="4754880"/>
            <a:ext cx="1143000" cy="1143000"/>
          </a:xfrm>
          <a:prstGeom prst="rect">
            <a:avLst/>
          </a:prstGeom>
          <a:noFill/>
          <a:ln/>
        </p:spPr>
        <p:txBody>
          <a:bodyPr wrap="square" lIns="0" tIns="0" rIns="0" bIns="0" rtlCol="0" anchor="ctr"/>
          <a:lstStyle/>
          <a:p>
            <a:pPr algn="ctr" indent="0" marL="0">
              <a:spcAft>
                <a:spcPts val="400"/>
              </a:spcAft>
              <a:buNone/>
            </a:pPr>
            <a:r>
              <a:rPr lang="en-US" sz="1400" b="1" dirty="0">
                <a:solidFill>
                  <a:schemeClr val="accent1"/>
                </a:solidFill>
              </a:rPr>
              <a:t>Plants</a:t>
            </a:r>
            <a:endParaRPr lang="en-US" sz="1400" dirty="0"/>
          </a:p>
        </p:txBody>
      </p:sp>
      <p:sp>
        <p:nvSpPr>
          <p:cNvPr id="14" name="Shape 12"/>
          <p:cNvSpPr/>
          <p:nvPr/>
        </p:nvSpPr>
        <p:spPr>
          <a:xfrm>
            <a:off x="8503920" y="3017520"/>
            <a:ext cx="1143000" cy="1143000"/>
          </a:xfrm>
          <a:prstGeom prst="ellipse">
            <a:avLst/>
          </a:prstGeom>
          <a:solidFill>
            <a:schemeClr val="accent4"/>
          </a:solidFill>
          <a:ln w="12700">
            <a:solidFill>
              <a:schemeClr val="bg1"/>
            </a:solidFill>
            <a:prstDash val="solid"/>
          </a:ln>
        </p:spPr>
      </p:sp>
      <p:sp>
        <p:nvSpPr>
          <p:cNvPr id="15" name="Text 13"/>
          <p:cNvSpPr txBox="1"/>
          <p:nvPr/>
        </p:nvSpPr>
        <p:spPr>
          <a:xfrm>
            <a:off x="8503920" y="3017520"/>
            <a:ext cx="1143000" cy="1143000"/>
          </a:xfrm>
          <a:prstGeom prst="rect">
            <a:avLst/>
          </a:prstGeom>
          <a:noFill/>
          <a:ln/>
        </p:spPr>
        <p:txBody>
          <a:bodyPr wrap="square" lIns="0" tIns="0" rIns="0" bIns="0" rtlCol="0" anchor="ctr"/>
          <a:lstStyle/>
          <a:p>
            <a:pPr algn="ctr" indent="0" marL="0">
              <a:spcAft>
                <a:spcPts val="400"/>
              </a:spcAft>
              <a:buNone/>
            </a:pPr>
            <a:r>
              <a:rPr lang="en-US" sz="1400" b="1" dirty="0">
                <a:solidFill>
                  <a:schemeClr val="accent1"/>
                </a:solidFill>
              </a:rPr>
              <a:t>Animals</a:t>
            </a:r>
            <a:endParaRPr lang="en-US" sz="1400" dirty="0"/>
          </a:p>
        </p:txBody>
      </p:sp>
      <p:sp>
        <p:nvSpPr>
          <p:cNvPr id="16" name="Shape 14"/>
          <p:cNvSpPr/>
          <p:nvPr/>
        </p:nvSpPr>
        <p:spPr>
          <a:xfrm>
            <a:off x="10744200" y="2103120"/>
            <a:ext cx="457200" cy="868680"/>
          </a:xfrm>
          <a:prstGeom prst="line">
            <a:avLst/>
          </a:prstGeom>
          <a:noFill/>
          <a:ln w="31750">
            <a:solidFill>
              <a:schemeClr val="bg1"/>
            </a:solidFill>
            <a:prstDash val="solid"/>
            <a:tailEnd type="triangle"/>
          </a:ln>
        </p:spPr>
      </p:sp>
      <p:sp>
        <p:nvSpPr>
          <p:cNvPr id="17" name="Shape 15"/>
          <p:cNvSpPr/>
          <p:nvPr/>
        </p:nvSpPr>
        <p:spPr>
          <a:xfrm flipH="1">
            <a:off x="10744200" y="4160520"/>
            <a:ext cx="457200" cy="685800"/>
          </a:xfrm>
          <a:prstGeom prst="line">
            <a:avLst/>
          </a:prstGeom>
          <a:noFill/>
          <a:ln w="31750">
            <a:solidFill>
              <a:schemeClr val="bg1"/>
            </a:solidFill>
            <a:prstDash val="solid"/>
            <a:tailEnd type="triangle"/>
          </a:ln>
        </p:spPr>
      </p:sp>
      <p:sp>
        <p:nvSpPr>
          <p:cNvPr id="18" name="Shape 16"/>
          <p:cNvSpPr/>
          <p:nvPr/>
        </p:nvSpPr>
        <p:spPr>
          <a:xfrm flipH="1" flipV="1">
            <a:off x="9144000" y="4160520"/>
            <a:ext cx="502920" cy="822960"/>
          </a:xfrm>
          <a:prstGeom prst="line">
            <a:avLst/>
          </a:prstGeom>
          <a:noFill/>
          <a:ln w="31750">
            <a:solidFill>
              <a:schemeClr val="bg1"/>
            </a:solidFill>
            <a:prstDash val="solid"/>
            <a:tailEnd type="triangle"/>
          </a:ln>
        </p:spPr>
      </p:sp>
      <p:sp>
        <p:nvSpPr>
          <p:cNvPr id="19" name="Shape 17"/>
          <p:cNvSpPr/>
          <p:nvPr/>
        </p:nvSpPr>
        <p:spPr>
          <a:xfrm flipV="1">
            <a:off x="9144000" y="2103120"/>
            <a:ext cx="548640" cy="868680"/>
          </a:xfrm>
          <a:prstGeom prst="line">
            <a:avLst/>
          </a:prstGeom>
          <a:noFill/>
          <a:ln w="31750">
            <a:solidFill>
              <a:schemeClr val="bg1"/>
            </a:solidFill>
            <a:prstDash val="solid"/>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LESSON MAP</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Four short sections, then a summary</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508760"/>
            <a:ext cx="2606040" cy="2926080"/>
          </a:xfrm>
          <a:prstGeom prst="roundRect">
            <a:avLst>
              <a:gd name="adj" fmla="val 4211"/>
            </a:avLst>
          </a:prstGeom>
          <a:solidFill>
            <a:schemeClr val="bg1"/>
          </a:solidFill>
          <a:ln w="15875">
            <a:solidFill>
              <a:schemeClr val="accent1"/>
            </a:solidFill>
            <a:prstDash val="solid"/>
          </a:ln>
        </p:spPr>
      </p:sp>
      <p:sp>
        <p:nvSpPr>
          <p:cNvPr id="6" name="Text 4"/>
          <p:cNvSpPr txBox="1"/>
          <p:nvPr/>
        </p:nvSpPr>
        <p:spPr>
          <a:xfrm>
            <a:off x="731520" y="1645920"/>
            <a:ext cx="914400" cy="731520"/>
          </a:xfrm>
          <a:prstGeom prst="rect">
            <a:avLst/>
          </a:prstGeom>
          <a:noFill/>
          <a:ln/>
        </p:spPr>
        <p:txBody>
          <a:bodyPr wrap="square" lIns="1016" tIns="1016" rIns="1016" bIns="1016" rtlCol="0" anchor="t"/>
          <a:lstStyle/>
          <a:p>
            <a:pPr indent="0" marL="0">
              <a:spcAft>
                <a:spcPts val="400"/>
              </a:spcAft>
              <a:buNone/>
            </a:pPr>
            <a:r>
              <a:rPr lang="en-US" sz="4000" b="1" dirty="0">
                <a:solidFill>
                  <a:schemeClr val="accent1"/>
                </a:solidFill>
                <a:latin typeface="Cambria" pitchFamily="34" charset="0"/>
                <a:ea typeface="Cambria" pitchFamily="34" charset="-122"/>
                <a:cs typeface="Cambria" pitchFamily="34" charset="-120"/>
              </a:rPr>
              <a:t>A</a:t>
            </a:r>
            <a:endParaRPr lang="en-US" sz="4000" dirty="0"/>
          </a:p>
        </p:txBody>
      </p:sp>
      <p:sp>
        <p:nvSpPr>
          <p:cNvPr id="7" name="Text 5"/>
          <p:cNvSpPr txBox="1"/>
          <p:nvPr/>
        </p:nvSpPr>
        <p:spPr>
          <a:xfrm>
            <a:off x="731520" y="2377440"/>
            <a:ext cx="2286000" cy="594360"/>
          </a:xfrm>
          <a:prstGeom prst="rect">
            <a:avLst/>
          </a:prstGeom>
          <a:noFill/>
          <a:ln/>
        </p:spPr>
        <p:txBody>
          <a:bodyPr wrap="square" lIns="1016" tIns="1016" rIns="1016" bIns="1016" rtlCol="0" anchor="t"/>
          <a:lstStyle/>
          <a:p>
            <a:pPr indent="0" marL="0">
              <a:spcAft>
                <a:spcPts val="400"/>
              </a:spcAft>
              <a:buNone/>
            </a:pPr>
            <a:r>
              <a:rPr lang="en-US" sz="1700" b="1" dirty="0">
                <a:solidFill>
                  <a:schemeClr val="tx1"/>
                </a:solidFill>
              </a:rPr>
              <a:t>Phosphorus cycle</a:t>
            </a:r>
            <a:endParaRPr lang="en-US" sz="1700" dirty="0"/>
          </a:p>
        </p:txBody>
      </p:sp>
      <p:sp>
        <p:nvSpPr>
          <p:cNvPr id="8" name="Text 6"/>
          <p:cNvSpPr txBox="1"/>
          <p:nvPr/>
        </p:nvSpPr>
        <p:spPr>
          <a:xfrm>
            <a:off x="731520" y="2971800"/>
            <a:ext cx="2286000" cy="868680"/>
          </a:xfrm>
          <a:prstGeom prst="rect">
            <a:avLst/>
          </a:prstGeom>
          <a:noFill/>
          <a:ln/>
        </p:spPr>
        <p:txBody>
          <a:bodyPr wrap="square" lIns="1016" tIns="1016" rIns="1016" bIns="1016" rtlCol="0" anchor="t"/>
          <a:lstStyle/>
          <a:p>
            <a:pPr indent="0" marL="0">
              <a:spcAft>
                <a:spcPts val="400"/>
              </a:spcAft>
              <a:buNone/>
            </a:pPr>
            <a:r>
              <a:rPr lang="en-US" sz="1300" dirty="0">
                <a:solidFill>
                  <a:schemeClr val="tx2"/>
                </a:solidFill>
              </a:rPr>
              <a:t>Rocks, water, plants, animals. No gases.</a:t>
            </a:r>
            <a:endParaRPr lang="en-US" sz="1300" dirty="0"/>
          </a:p>
        </p:txBody>
      </p:sp>
      <p:sp>
        <p:nvSpPr>
          <p:cNvPr id="9" name="Text 7"/>
          <p:cNvSpPr txBox="1"/>
          <p:nvPr/>
        </p:nvSpPr>
        <p:spPr>
          <a:xfrm>
            <a:off x="731520" y="3886200"/>
            <a:ext cx="2286000" cy="365760"/>
          </a:xfrm>
          <a:prstGeom prst="rect">
            <a:avLst/>
          </a:prstGeom>
          <a:noFill/>
          <a:ln/>
        </p:spPr>
        <p:txBody>
          <a:bodyPr wrap="square" lIns="1016" tIns="1016" rIns="1016" bIns="1016" rtlCol="0" anchor="t"/>
          <a:lstStyle/>
          <a:p>
            <a:pPr indent="0" marL="0">
              <a:spcAft>
                <a:spcPts val="400"/>
              </a:spcAft>
              <a:buNone/>
            </a:pPr>
            <a:r>
              <a:rPr lang="en-US" sz="1400" b="1" u="sng" dirty="0">
                <a:solidFill>
                  <a:schemeClr val="accent1"/>
                </a:solidFill>
                <a:hlinkClick r:id="rId2" action="ppaction://hlinksldjump" tooltip="">
                  <a:extLst>
                    <a:ext uri="{A12FA001-AC4F-418D-AE19-62706E023703}">
                      <ahyp:hlinkClr xmlns:ahyp="http://schemas.microsoft.com/office/drawing/2018/hyperlinkcolor" val="tx"/>
                    </a:ext>
                  </a:extLst>
                </a:hlinkClick>
              </a:rPr>
              <a:t>Go to section A →</a:t>
            </a:r>
            <a:endParaRPr lang="en-US" sz="1400" dirty="0"/>
          </a:p>
        </p:txBody>
      </p:sp>
      <p:sp>
        <p:nvSpPr>
          <p:cNvPr id="10" name="Text 8"/>
          <p:cNvSpPr txBox="1"/>
          <p:nvPr/>
        </p:nvSpPr>
        <p:spPr>
          <a:xfrm>
            <a:off x="2194560" y="1828800"/>
            <a:ext cx="868680" cy="320040"/>
          </a:xfrm>
          <a:prstGeom prst="rect">
            <a:avLst/>
          </a:prstGeom>
          <a:noFill/>
          <a:ln/>
        </p:spPr>
        <p:txBody>
          <a:bodyPr wrap="square" lIns="1016" tIns="1016" rIns="1016" bIns="1016" rtlCol="0" anchor="t"/>
          <a:lstStyle/>
          <a:p>
            <a:pPr algn="r" indent="0" marL="0">
              <a:spcAft>
                <a:spcPts val="400"/>
              </a:spcAft>
              <a:buNone/>
            </a:pPr>
            <a:r>
              <a:rPr lang="en-US" sz="1100" dirty="0">
                <a:solidFill>
                  <a:schemeClr val="tx2"/>
                </a:solidFill>
              </a:rPr>
              <a:t>about 5 min</a:t>
            </a:r>
            <a:endParaRPr lang="en-US" sz="1100" dirty="0"/>
          </a:p>
        </p:txBody>
      </p:sp>
      <p:sp>
        <p:nvSpPr>
          <p:cNvPr id="11" name="Shape 9"/>
          <p:cNvSpPr/>
          <p:nvPr/>
        </p:nvSpPr>
        <p:spPr>
          <a:xfrm>
            <a:off x="3364992" y="1508760"/>
            <a:ext cx="2606040" cy="2926080"/>
          </a:xfrm>
          <a:prstGeom prst="roundRect">
            <a:avLst>
              <a:gd name="adj" fmla="val 4211"/>
            </a:avLst>
          </a:prstGeom>
          <a:solidFill>
            <a:schemeClr val="bg1"/>
          </a:solidFill>
          <a:ln w="15875">
            <a:solidFill>
              <a:schemeClr val="accent1"/>
            </a:solidFill>
            <a:prstDash val="solid"/>
          </a:ln>
        </p:spPr>
      </p:sp>
      <p:sp>
        <p:nvSpPr>
          <p:cNvPr id="12" name="Text 10"/>
          <p:cNvSpPr txBox="1"/>
          <p:nvPr/>
        </p:nvSpPr>
        <p:spPr>
          <a:xfrm>
            <a:off x="3547872" y="1645920"/>
            <a:ext cx="914400" cy="731520"/>
          </a:xfrm>
          <a:prstGeom prst="rect">
            <a:avLst/>
          </a:prstGeom>
          <a:noFill/>
          <a:ln/>
        </p:spPr>
        <p:txBody>
          <a:bodyPr wrap="square" lIns="1016" tIns="1016" rIns="1016" bIns="1016" rtlCol="0" anchor="t"/>
          <a:lstStyle/>
          <a:p>
            <a:pPr indent="0" marL="0">
              <a:spcAft>
                <a:spcPts val="400"/>
              </a:spcAft>
              <a:buNone/>
            </a:pPr>
            <a:r>
              <a:rPr lang="en-US" sz="4000" b="1" dirty="0">
                <a:solidFill>
                  <a:schemeClr val="accent1"/>
                </a:solidFill>
                <a:latin typeface="Cambria" pitchFamily="34" charset="0"/>
                <a:ea typeface="Cambria" pitchFamily="34" charset="-122"/>
                <a:cs typeface="Cambria" pitchFamily="34" charset="-120"/>
              </a:rPr>
              <a:t>B</a:t>
            </a:r>
            <a:endParaRPr lang="en-US" sz="4000" dirty="0"/>
          </a:p>
        </p:txBody>
      </p:sp>
      <p:sp>
        <p:nvSpPr>
          <p:cNvPr id="13" name="Text 11"/>
          <p:cNvSpPr txBox="1"/>
          <p:nvPr/>
        </p:nvSpPr>
        <p:spPr>
          <a:xfrm>
            <a:off x="3547872" y="2377440"/>
            <a:ext cx="2286000" cy="594360"/>
          </a:xfrm>
          <a:prstGeom prst="rect">
            <a:avLst/>
          </a:prstGeom>
          <a:noFill/>
          <a:ln/>
        </p:spPr>
        <p:txBody>
          <a:bodyPr wrap="square" lIns="1016" tIns="1016" rIns="1016" bIns="1016" rtlCol="0" anchor="t"/>
          <a:lstStyle/>
          <a:p>
            <a:pPr indent="0" marL="0">
              <a:spcAft>
                <a:spcPts val="400"/>
              </a:spcAft>
              <a:buNone/>
            </a:pPr>
            <a:r>
              <a:rPr lang="en-US" sz="1700" b="1" dirty="0">
                <a:solidFill>
                  <a:schemeClr val="tx1"/>
                </a:solidFill>
              </a:rPr>
              <a:t>Mycorrhizae</a:t>
            </a:r>
            <a:endParaRPr lang="en-US" sz="1700" dirty="0"/>
          </a:p>
        </p:txBody>
      </p:sp>
      <p:sp>
        <p:nvSpPr>
          <p:cNvPr id="14" name="Text 12"/>
          <p:cNvSpPr txBox="1"/>
          <p:nvPr/>
        </p:nvSpPr>
        <p:spPr>
          <a:xfrm>
            <a:off x="3547872" y="2971800"/>
            <a:ext cx="2286000" cy="868680"/>
          </a:xfrm>
          <a:prstGeom prst="rect">
            <a:avLst/>
          </a:prstGeom>
          <a:noFill/>
          <a:ln/>
        </p:spPr>
        <p:txBody>
          <a:bodyPr wrap="square" lIns="1016" tIns="1016" rIns="1016" bIns="1016" rtlCol="0" anchor="t"/>
          <a:lstStyle/>
          <a:p>
            <a:pPr indent="0" marL="0">
              <a:spcAft>
                <a:spcPts val="400"/>
              </a:spcAft>
              <a:buNone/>
            </a:pPr>
            <a:r>
              <a:rPr lang="en-US" sz="1300" dirty="0">
                <a:solidFill>
                  <a:schemeClr val="tx2"/>
                </a:solidFill>
              </a:rPr>
              <a:t>Root fungi: more water and mineral ions.</a:t>
            </a:r>
            <a:endParaRPr lang="en-US" sz="1300" dirty="0"/>
          </a:p>
        </p:txBody>
      </p:sp>
      <p:sp>
        <p:nvSpPr>
          <p:cNvPr id="15" name="Text 13"/>
          <p:cNvSpPr txBox="1"/>
          <p:nvPr/>
        </p:nvSpPr>
        <p:spPr>
          <a:xfrm>
            <a:off x="3547872" y="3886200"/>
            <a:ext cx="2286000" cy="365760"/>
          </a:xfrm>
          <a:prstGeom prst="rect">
            <a:avLst/>
          </a:prstGeom>
          <a:noFill/>
          <a:ln/>
        </p:spPr>
        <p:txBody>
          <a:bodyPr wrap="square" lIns="1016" tIns="1016" rIns="1016" bIns="1016" rtlCol="0" anchor="t"/>
          <a:lstStyle/>
          <a:p>
            <a:pPr indent="0" marL="0">
              <a:spcAft>
                <a:spcPts val="400"/>
              </a:spcAft>
              <a:buNone/>
            </a:pPr>
            <a:r>
              <a:rPr lang="en-US" sz="1400" b="1" u="sng" dirty="0">
                <a:solidFill>
                  <a:schemeClr val="accent1"/>
                </a:solidFill>
                <a:hlinkClick r:id="rId3" action="ppaction://hlinksldjump" tooltip="">
                  <a:extLst>
                    <a:ext uri="{A12FA001-AC4F-418D-AE19-62706E023703}">
                      <ahyp:hlinkClr xmlns:ahyp="http://schemas.microsoft.com/office/drawing/2018/hyperlinkcolor" val="tx"/>
                    </a:ext>
                  </a:extLst>
                </a:hlinkClick>
              </a:rPr>
              <a:t>Go to section B →</a:t>
            </a:r>
            <a:endParaRPr lang="en-US" sz="1400" dirty="0"/>
          </a:p>
        </p:txBody>
      </p:sp>
      <p:sp>
        <p:nvSpPr>
          <p:cNvPr id="16" name="Text 14"/>
          <p:cNvSpPr txBox="1"/>
          <p:nvPr/>
        </p:nvSpPr>
        <p:spPr>
          <a:xfrm>
            <a:off x="5010912" y="1828800"/>
            <a:ext cx="868680" cy="320040"/>
          </a:xfrm>
          <a:prstGeom prst="rect">
            <a:avLst/>
          </a:prstGeom>
          <a:noFill/>
          <a:ln/>
        </p:spPr>
        <p:txBody>
          <a:bodyPr wrap="square" lIns="1016" tIns="1016" rIns="1016" bIns="1016" rtlCol="0" anchor="t"/>
          <a:lstStyle/>
          <a:p>
            <a:pPr algn="r" indent="0" marL="0">
              <a:spcAft>
                <a:spcPts val="400"/>
              </a:spcAft>
              <a:buNone/>
            </a:pPr>
            <a:r>
              <a:rPr lang="en-US" sz="1100" dirty="0">
                <a:solidFill>
                  <a:schemeClr val="tx2"/>
                </a:solidFill>
              </a:rPr>
              <a:t>about 3 min</a:t>
            </a:r>
            <a:endParaRPr lang="en-US" sz="1100" dirty="0"/>
          </a:p>
        </p:txBody>
      </p:sp>
      <p:sp>
        <p:nvSpPr>
          <p:cNvPr id="17" name="Shape 15"/>
          <p:cNvSpPr/>
          <p:nvPr/>
        </p:nvSpPr>
        <p:spPr>
          <a:xfrm>
            <a:off x="6181344" y="1508760"/>
            <a:ext cx="2606040" cy="2926080"/>
          </a:xfrm>
          <a:prstGeom prst="roundRect">
            <a:avLst>
              <a:gd name="adj" fmla="val 4211"/>
            </a:avLst>
          </a:prstGeom>
          <a:solidFill>
            <a:schemeClr val="bg1"/>
          </a:solidFill>
          <a:ln w="15875">
            <a:solidFill>
              <a:schemeClr val="accent1"/>
            </a:solidFill>
            <a:prstDash val="solid"/>
          </a:ln>
        </p:spPr>
      </p:sp>
      <p:sp>
        <p:nvSpPr>
          <p:cNvPr id="18" name="Text 16"/>
          <p:cNvSpPr txBox="1"/>
          <p:nvPr/>
        </p:nvSpPr>
        <p:spPr>
          <a:xfrm>
            <a:off x="6364224" y="1645920"/>
            <a:ext cx="914400" cy="731520"/>
          </a:xfrm>
          <a:prstGeom prst="rect">
            <a:avLst/>
          </a:prstGeom>
          <a:noFill/>
          <a:ln/>
        </p:spPr>
        <p:txBody>
          <a:bodyPr wrap="square" lIns="1016" tIns="1016" rIns="1016" bIns="1016" rtlCol="0" anchor="t"/>
          <a:lstStyle/>
          <a:p>
            <a:pPr indent="0" marL="0">
              <a:spcAft>
                <a:spcPts val="400"/>
              </a:spcAft>
              <a:buNone/>
            </a:pPr>
            <a:r>
              <a:rPr lang="en-US" sz="4000" b="1" dirty="0">
                <a:solidFill>
                  <a:schemeClr val="accent1"/>
                </a:solidFill>
                <a:latin typeface="Cambria" pitchFamily="34" charset="0"/>
                <a:ea typeface="Cambria" pitchFamily="34" charset="-122"/>
                <a:cs typeface="Cambria" pitchFamily="34" charset="-120"/>
              </a:rPr>
              <a:t>C</a:t>
            </a:r>
            <a:endParaRPr lang="en-US" sz="4000" dirty="0"/>
          </a:p>
        </p:txBody>
      </p:sp>
      <p:sp>
        <p:nvSpPr>
          <p:cNvPr id="19" name="Text 17"/>
          <p:cNvSpPr txBox="1"/>
          <p:nvPr/>
        </p:nvSpPr>
        <p:spPr>
          <a:xfrm>
            <a:off x="6364224" y="2377440"/>
            <a:ext cx="2286000" cy="594360"/>
          </a:xfrm>
          <a:prstGeom prst="rect">
            <a:avLst/>
          </a:prstGeom>
          <a:noFill/>
          <a:ln/>
        </p:spPr>
        <p:txBody>
          <a:bodyPr wrap="square" lIns="1016" tIns="1016" rIns="1016" bIns="1016" rtlCol="0" anchor="t"/>
          <a:lstStyle/>
          <a:p>
            <a:pPr indent="0" marL="0">
              <a:spcAft>
                <a:spcPts val="400"/>
              </a:spcAft>
              <a:buNone/>
            </a:pPr>
            <a:r>
              <a:rPr lang="en-US" sz="1700" b="1" dirty="0">
                <a:solidFill>
                  <a:schemeClr val="tx1"/>
                </a:solidFill>
              </a:rPr>
              <a:t>Fertilisers</a:t>
            </a:r>
            <a:endParaRPr lang="en-US" sz="1700" dirty="0"/>
          </a:p>
        </p:txBody>
      </p:sp>
      <p:sp>
        <p:nvSpPr>
          <p:cNvPr id="20" name="Text 18"/>
          <p:cNvSpPr txBox="1"/>
          <p:nvPr/>
        </p:nvSpPr>
        <p:spPr>
          <a:xfrm>
            <a:off x="6364224" y="2971800"/>
            <a:ext cx="2286000" cy="868680"/>
          </a:xfrm>
          <a:prstGeom prst="rect">
            <a:avLst/>
          </a:prstGeom>
          <a:noFill/>
          <a:ln/>
        </p:spPr>
        <p:txBody>
          <a:bodyPr wrap="square" lIns="1016" tIns="1016" rIns="1016" bIns="1016" rtlCol="0" anchor="t"/>
          <a:lstStyle/>
          <a:p>
            <a:pPr indent="0" marL="0">
              <a:spcAft>
                <a:spcPts val="400"/>
              </a:spcAft>
              <a:buNone/>
            </a:pPr>
            <a:r>
              <a:rPr lang="en-US" sz="1300" dirty="0">
                <a:solidFill>
                  <a:schemeClr val="tx2"/>
                </a:solidFill>
              </a:rPr>
              <a:t>Why they're used; diversity and leaching.</a:t>
            </a:r>
            <a:endParaRPr lang="en-US" sz="1300" dirty="0"/>
          </a:p>
        </p:txBody>
      </p:sp>
      <p:sp>
        <p:nvSpPr>
          <p:cNvPr id="21" name="Text 19"/>
          <p:cNvSpPr txBox="1"/>
          <p:nvPr/>
        </p:nvSpPr>
        <p:spPr>
          <a:xfrm>
            <a:off x="6364224" y="3886200"/>
            <a:ext cx="2286000" cy="365760"/>
          </a:xfrm>
          <a:prstGeom prst="rect">
            <a:avLst/>
          </a:prstGeom>
          <a:noFill/>
          <a:ln/>
        </p:spPr>
        <p:txBody>
          <a:bodyPr wrap="square" lIns="1016" tIns="1016" rIns="1016" bIns="1016" rtlCol="0" anchor="t"/>
          <a:lstStyle/>
          <a:p>
            <a:pPr indent="0" marL="0">
              <a:spcAft>
                <a:spcPts val="400"/>
              </a:spcAft>
              <a:buNone/>
            </a:pPr>
            <a:r>
              <a:rPr lang="en-US" sz="1400" b="1" u="sng" dirty="0">
                <a:solidFill>
                  <a:schemeClr val="accent1"/>
                </a:solidFill>
                <a:hlinkClick r:id="rId4" action="ppaction://hlinksldjump" tooltip="">
                  <a:extLst>
                    <a:ext uri="{A12FA001-AC4F-418D-AE19-62706E023703}">
                      <ahyp:hlinkClr xmlns:ahyp="http://schemas.microsoft.com/office/drawing/2018/hyperlinkcolor" val="tx"/>
                    </a:ext>
                  </a:extLst>
                </a:hlinkClick>
              </a:rPr>
              <a:t>Go to section C →</a:t>
            </a:r>
            <a:endParaRPr lang="en-US" sz="1400" dirty="0"/>
          </a:p>
        </p:txBody>
      </p:sp>
      <p:sp>
        <p:nvSpPr>
          <p:cNvPr id="22" name="Text 20"/>
          <p:cNvSpPr txBox="1"/>
          <p:nvPr/>
        </p:nvSpPr>
        <p:spPr>
          <a:xfrm>
            <a:off x="7827264" y="1828800"/>
            <a:ext cx="868680" cy="320040"/>
          </a:xfrm>
          <a:prstGeom prst="rect">
            <a:avLst/>
          </a:prstGeom>
          <a:noFill/>
          <a:ln/>
        </p:spPr>
        <p:txBody>
          <a:bodyPr wrap="square" lIns="1016" tIns="1016" rIns="1016" bIns="1016" rtlCol="0" anchor="t"/>
          <a:lstStyle/>
          <a:p>
            <a:pPr algn="r" indent="0" marL="0">
              <a:spcAft>
                <a:spcPts val="400"/>
              </a:spcAft>
              <a:buNone/>
            </a:pPr>
            <a:r>
              <a:rPr lang="en-US" sz="1100" dirty="0">
                <a:solidFill>
                  <a:schemeClr val="tx2"/>
                </a:solidFill>
              </a:rPr>
              <a:t>about 5 min</a:t>
            </a:r>
            <a:endParaRPr lang="en-US" sz="1100" dirty="0"/>
          </a:p>
        </p:txBody>
      </p:sp>
      <p:sp>
        <p:nvSpPr>
          <p:cNvPr id="23" name="Shape 21"/>
          <p:cNvSpPr/>
          <p:nvPr/>
        </p:nvSpPr>
        <p:spPr>
          <a:xfrm>
            <a:off x="8997696" y="1508760"/>
            <a:ext cx="2606040" cy="2926080"/>
          </a:xfrm>
          <a:prstGeom prst="roundRect">
            <a:avLst>
              <a:gd name="adj" fmla="val 4211"/>
            </a:avLst>
          </a:prstGeom>
          <a:solidFill>
            <a:schemeClr val="bg1"/>
          </a:solidFill>
          <a:ln w="15875">
            <a:solidFill>
              <a:schemeClr val="accent1"/>
            </a:solidFill>
            <a:prstDash val="solid"/>
          </a:ln>
        </p:spPr>
      </p:sp>
      <p:sp>
        <p:nvSpPr>
          <p:cNvPr id="24" name="Text 22"/>
          <p:cNvSpPr txBox="1"/>
          <p:nvPr/>
        </p:nvSpPr>
        <p:spPr>
          <a:xfrm>
            <a:off x="9180576" y="1645920"/>
            <a:ext cx="914400" cy="731520"/>
          </a:xfrm>
          <a:prstGeom prst="rect">
            <a:avLst/>
          </a:prstGeom>
          <a:noFill/>
          <a:ln/>
        </p:spPr>
        <p:txBody>
          <a:bodyPr wrap="square" lIns="1016" tIns="1016" rIns="1016" bIns="1016" rtlCol="0" anchor="t"/>
          <a:lstStyle/>
          <a:p>
            <a:pPr indent="0" marL="0">
              <a:spcAft>
                <a:spcPts val="400"/>
              </a:spcAft>
              <a:buNone/>
            </a:pPr>
            <a:r>
              <a:rPr lang="en-US" sz="4000" b="1" dirty="0">
                <a:solidFill>
                  <a:schemeClr val="accent1"/>
                </a:solidFill>
                <a:latin typeface="Cambria" pitchFamily="34" charset="0"/>
                <a:ea typeface="Cambria" pitchFamily="34" charset="-122"/>
                <a:cs typeface="Cambria" pitchFamily="34" charset="-120"/>
              </a:rPr>
              <a:t>D</a:t>
            </a:r>
            <a:endParaRPr lang="en-US" sz="4000" dirty="0"/>
          </a:p>
        </p:txBody>
      </p:sp>
      <p:sp>
        <p:nvSpPr>
          <p:cNvPr id="25" name="Text 23"/>
          <p:cNvSpPr txBox="1"/>
          <p:nvPr/>
        </p:nvSpPr>
        <p:spPr>
          <a:xfrm>
            <a:off x="9180576" y="2377440"/>
            <a:ext cx="2286000" cy="594360"/>
          </a:xfrm>
          <a:prstGeom prst="rect">
            <a:avLst/>
          </a:prstGeom>
          <a:noFill/>
          <a:ln/>
        </p:spPr>
        <p:txBody>
          <a:bodyPr wrap="square" lIns="1016" tIns="1016" rIns="1016" bIns="1016" rtlCol="0" anchor="t"/>
          <a:lstStyle/>
          <a:p>
            <a:pPr indent="0" marL="0">
              <a:spcAft>
                <a:spcPts val="400"/>
              </a:spcAft>
              <a:buNone/>
            </a:pPr>
            <a:r>
              <a:rPr lang="en-US" sz="1700" b="1" dirty="0">
                <a:solidFill>
                  <a:schemeClr val="tx1"/>
                </a:solidFill>
              </a:rPr>
              <a:t>Exam practice</a:t>
            </a:r>
            <a:endParaRPr lang="en-US" sz="1700" dirty="0"/>
          </a:p>
        </p:txBody>
      </p:sp>
      <p:sp>
        <p:nvSpPr>
          <p:cNvPr id="26" name="Text 24"/>
          <p:cNvSpPr txBox="1"/>
          <p:nvPr/>
        </p:nvSpPr>
        <p:spPr>
          <a:xfrm>
            <a:off x="9180576" y="2971800"/>
            <a:ext cx="2286000" cy="868680"/>
          </a:xfrm>
          <a:prstGeom prst="rect">
            <a:avLst/>
          </a:prstGeom>
          <a:noFill/>
          <a:ln/>
        </p:spPr>
        <p:txBody>
          <a:bodyPr wrap="square" lIns="1016" tIns="1016" rIns="1016" bIns="1016" rtlCol="0" anchor="t"/>
          <a:lstStyle/>
          <a:p>
            <a:pPr indent="0" marL="0">
              <a:spcAft>
                <a:spcPts val="400"/>
              </a:spcAft>
              <a:buNone/>
            </a:pPr>
            <a:r>
              <a:rPr lang="en-US" sz="1300" dirty="0">
                <a:solidFill>
                  <a:schemeClr val="tx2"/>
                </a:solidFill>
              </a:rPr>
              <a:t>The 5-mark question from the notes.</a:t>
            </a:r>
            <a:endParaRPr lang="en-US" sz="1300" dirty="0"/>
          </a:p>
        </p:txBody>
      </p:sp>
      <p:sp>
        <p:nvSpPr>
          <p:cNvPr id="27" name="Text 25"/>
          <p:cNvSpPr txBox="1"/>
          <p:nvPr/>
        </p:nvSpPr>
        <p:spPr>
          <a:xfrm>
            <a:off x="9180576" y="3886200"/>
            <a:ext cx="2286000" cy="365760"/>
          </a:xfrm>
          <a:prstGeom prst="rect">
            <a:avLst/>
          </a:prstGeom>
          <a:noFill/>
          <a:ln/>
        </p:spPr>
        <p:txBody>
          <a:bodyPr wrap="square" lIns="1016" tIns="1016" rIns="1016" bIns="1016" rtlCol="0" anchor="t"/>
          <a:lstStyle/>
          <a:p>
            <a:pPr indent="0" marL="0">
              <a:spcAft>
                <a:spcPts val="400"/>
              </a:spcAft>
              <a:buNone/>
            </a:pPr>
            <a:r>
              <a:rPr lang="en-US" sz="1400" b="1" u="sng" dirty="0">
                <a:solidFill>
                  <a:schemeClr val="accent1"/>
                </a:solidFill>
                <a:hlinkClick r:id="rId5" action="ppaction://hlinksldjump" tooltip="">
                  <a:extLst>
                    <a:ext uri="{A12FA001-AC4F-418D-AE19-62706E023703}">
                      <ahyp:hlinkClr xmlns:ahyp="http://schemas.microsoft.com/office/drawing/2018/hyperlinkcolor" val="tx"/>
                    </a:ext>
                  </a:extLst>
                </a:hlinkClick>
              </a:rPr>
              <a:t>Go to section D →</a:t>
            </a:r>
            <a:endParaRPr lang="en-US" sz="1400" dirty="0"/>
          </a:p>
        </p:txBody>
      </p:sp>
      <p:sp>
        <p:nvSpPr>
          <p:cNvPr id="28" name="Text 26"/>
          <p:cNvSpPr txBox="1"/>
          <p:nvPr/>
        </p:nvSpPr>
        <p:spPr>
          <a:xfrm>
            <a:off x="10643616" y="1828800"/>
            <a:ext cx="868680" cy="320040"/>
          </a:xfrm>
          <a:prstGeom prst="rect">
            <a:avLst/>
          </a:prstGeom>
          <a:noFill/>
          <a:ln/>
        </p:spPr>
        <p:txBody>
          <a:bodyPr wrap="square" lIns="1016" tIns="1016" rIns="1016" bIns="1016" rtlCol="0" anchor="t"/>
          <a:lstStyle/>
          <a:p>
            <a:pPr algn="r" indent="0" marL="0">
              <a:spcAft>
                <a:spcPts val="400"/>
              </a:spcAft>
              <a:buNone/>
            </a:pPr>
            <a:r>
              <a:rPr lang="en-US" sz="1100" dirty="0">
                <a:solidFill>
                  <a:schemeClr val="tx2"/>
                </a:solidFill>
              </a:rPr>
              <a:t>about 5 min</a:t>
            </a:r>
            <a:endParaRPr lang="en-US" sz="1100" dirty="0"/>
          </a:p>
        </p:txBody>
      </p:sp>
      <p:sp>
        <p:nvSpPr>
          <p:cNvPr id="29" name="Shape 27"/>
          <p:cNvSpPr/>
          <p:nvPr/>
        </p:nvSpPr>
        <p:spPr>
          <a:xfrm>
            <a:off x="548640" y="4617720"/>
            <a:ext cx="11064240" cy="685800"/>
          </a:xfrm>
          <a:prstGeom prst="roundRect">
            <a:avLst>
              <a:gd name="adj" fmla="val 16000"/>
            </a:avLst>
          </a:prstGeom>
          <a:solidFill>
            <a:schemeClr val="accent4"/>
          </a:solidFill>
          <a:ln w="12700">
            <a:solidFill>
              <a:schemeClr val="accent4"/>
            </a:solidFill>
            <a:prstDash val="solid"/>
          </a:ln>
        </p:spPr>
      </p:sp>
      <p:sp>
        <p:nvSpPr>
          <p:cNvPr id="30" name="Text 28"/>
          <p:cNvSpPr txBox="1"/>
          <p:nvPr/>
        </p:nvSpPr>
        <p:spPr>
          <a:xfrm>
            <a:off x="777240" y="4709160"/>
            <a:ext cx="10607040" cy="457200"/>
          </a:xfrm>
          <a:prstGeom prst="rect">
            <a:avLst/>
          </a:prstGeom>
          <a:noFill/>
          <a:ln/>
        </p:spPr>
        <p:txBody>
          <a:bodyPr wrap="square" lIns="1016" tIns="1016" rIns="1016" bIns="1016" rtlCol="0" anchor="t"/>
          <a:lstStyle/>
          <a:p>
            <a:pPr indent="0" marL="0">
              <a:spcAft>
                <a:spcPts val="400"/>
              </a:spcAft>
              <a:buNone/>
            </a:pPr>
            <a:r>
              <a:rPr lang="en-US" sz="1600" b="1" dirty="0">
                <a:solidFill>
                  <a:schemeClr val="tx1"/>
                </a:solidFill>
              </a:rPr>
              <a:t>Then: </a:t>
            </a:r>
            <a:pPr indent="0" marL="0">
              <a:spcAft>
                <a:spcPts val="400"/>
              </a:spcAft>
              <a:buNone/>
            </a:pPr>
            <a:r>
              <a:rPr lang="en-US" sz="1600" u="sng" dirty="0">
                <a:solidFill>
                  <a:schemeClr val="tx1"/>
                </a:solidFill>
                <a:hlinkClick r:id="rId6" action="ppaction://hlinksldjump" tooltip="">
                  <a:extLst>
                    <a:ext uri="{A12FA001-AC4F-418D-AE19-62706E023703}">
                      <ahyp:hlinkClr xmlns:ahyp="http://schemas.microsoft.com/office/drawing/2018/hyperlinkcolor" val="tx"/>
                    </a:ext>
                  </a:extLst>
                </a:hlinkClick>
              </a:rPr>
              <a:t>Summary and final quiz</a:t>
            </a:r>
            <a:pPr indent="0" marL="0">
              <a:spcAft>
                <a:spcPts val="400"/>
              </a:spcAft>
              <a:buNone/>
            </a:pPr>
            <a:r>
              <a:rPr lang="en-US" sz="1600" dirty="0">
                <a:solidFill>
                  <a:schemeClr val="tx1"/>
                </a:solidFill>
              </a:rPr>
              <a:t>   ·   Whole lesson: about 15–20 minutes.</a:t>
            </a:r>
            <a:endParaRPr lang="en-US" sz="1600" dirty="0"/>
          </a:p>
        </p:txBody>
      </p:sp>
      <p:sp>
        <p:nvSpPr>
          <p:cNvPr id="31" name="Shape 29"/>
          <p:cNvSpPr/>
          <p:nvPr/>
        </p:nvSpPr>
        <p:spPr>
          <a:xfrm>
            <a:off x="548640" y="5440680"/>
            <a:ext cx="11064240" cy="731520"/>
          </a:xfrm>
          <a:prstGeom prst="roundRect">
            <a:avLst>
              <a:gd name="adj" fmla="val 15000"/>
            </a:avLst>
          </a:prstGeom>
          <a:solidFill>
            <a:schemeClr val="bg1"/>
          </a:solidFill>
          <a:ln w="12700">
            <a:solidFill>
              <a:schemeClr val="tx2"/>
            </a:solidFill>
            <a:prstDash val="dash"/>
          </a:ln>
        </p:spPr>
      </p:sp>
      <p:sp>
        <p:nvSpPr>
          <p:cNvPr id="32" name="Text 30"/>
          <p:cNvSpPr txBox="1"/>
          <p:nvPr/>
        </p:nvSpPr>
        <p:spPr>
          <a:xfrm>
            <a:off x="731520" y="5486400"/>
            <a:ext cx="10698480" cy="640080"/>
          </a:xfrm>
          <a:prstGeom prst="rect">
            <a:avLst/>
          </a:prstGeom>
          <a:noFill/>
          <a:ln/>
        </p:spPr>
        <p:txBody>
          <a:bodyPr wrap="square" lIns="1016" tIns="1016" rIns="1016" bIns="1016" rtlCol="0" anchor="ctr"/>
          <a:lstStyle/>
          <a:p>
            <a:pPr indent="0" marL="0">
              <a:spcAft>
                <a:spcPts val="400"/>
              </a:spcAft>
              <a:buNone/>
            </a:pPr>
            <a:r>
              <a:rPr lang="en-US" sz="1400" b="1" dirty="0">
                <a:solidFill>
                  <a:schemeClr val="tx1"/>
                </a:solidFill>
              </a:rPr>
              <a:t>Still to come: </a:t>
            </a:r>
            <a:pPr indent="0" marL="0">
              <a:spcAft>
                <a:spcPts val="400"/>
              </a:spcAft>
              <a:buNone/>
            </a:pPr>
            <a:r>
              <a:rPr lang="en-US" sz="1400" dirty="0">
                <a:solidFill>
                  <a:schemeClr val="tx1"/>
                </a:solidFill>
              </a:rPr>
              <a:t>eutrophication is in the spec box but not on these pages. It will be added when those pages come in.</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A · FROM THE CLASS NOTES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phosphorus cycle</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902970" y="1623060"/>
            <a:ext cx="2057400" cy="640080"/>
          </a:xfrm>
          <a:prstGeom prst="roundRect">
            <a:avLst>
              <a:gd name="adj" fmla="val 17143"/>
            </a:avLst>
          </a:prstGeom>
          <a:solidFill>
            <a:schemeClr val="accent4"/>
          </a:solidFill>
          <a:ln w="15875">
            <a:solidFill>
              <a:schemeClr val="accent1"/>
            </a:solidFill>
            <a:prstDash val="solid"/>
          </a:ln>
        </p:spPr>
      </p:sp>
      <p:sp>
        <p:nvSpPr>
          <p:cNvPr id="6" name="Text 4"/>
          <p:cNvSpPr txBox="1"/>
          <p:nvPr/>
        </p:nvSpPr>
        <p:spPr>
          <a:xfrm>
            <a:off x="902970" y="1623060"/>
            <a:ext cx="2057400" cy="640080"/>
          </a:xfrm>
          <a:prstGeom prst="rect">
            <a:avLst/>
          </a:prstGeom>
          <a:noFill/>
          <a:ln/>
        </p:spPr>
        <p:txBody>
          <a:bodyPr wrap="square" lIns="254" tIns="254" rIns="254" bIns="254" rtlCol="0" anchor="ctr"/>
          <a:lstStyle/>
          <a:p>
            <a:pPr algn="ctr" indent="0" marL="0">
              <a:spcAft>
                <a:spcPts val="400"/>
              </a:spcAft>
              <a:buNone/>
            </a:pPr>
            <a:r>
              <a:rPr lang="en-US" sz="1300" b="1" dirty="0">
                <a:solidFill>
                  <a:schemeClr val="tx1"/>
                </a:solidFill>
              </a:rPr>
              <a:t>Phosphate ions in plants</a:t>
            </a:r>
            <a:endParaRPr lang="en-US" sz="1300" dirty="0"/>
          </a:p>
        </p:txBody>
      </p:sp>
      <p:sp>
        <p:nvSpPr>
          <p:cNvPr id="7" name="Shape 5"/>
          <p:cNvSpPr/>
          <p:nvPr/>
        </p:nvSpPr>
        <p:spPr>
          <a:xfrm>
            <a:off x="902970" y="5074920"/>
            <a:ext cx="2057400" cy="640080"/>
          </a:xfrm>
          <a:prstGeom prst="roundRect">
            <a:avLst>
              <a:gd name="adj" fmla="val 17143"/>
            </a:avLst>
          </a:prstGeom>
          <a:solidFill>
            <a:schemeClr val="accent4"/>
          </a:solidFill>
          <a:ln w="15875">
            <a:solidFill>
              <a:schemeClr val="accent1"/>
            </a:solidFill>
            <a:prstDash val="solid"/>
          </a:ln>
        </p:spPr>
      </p:sp>
      <p:sp>
        <p:nvSpPr>
          <p:cNvPr id="8" name="Text 6"/>
          <p:cNvSpPr txBox="1"/>
          <p:nvPr/>
        </p:nvSpPr>
        <p:spPr>
          <a:xfrm>
            <a:off x="902970" y="5074920"/>
            <a:ext cx="2057400" cy="640080"/>
          </a:xfrm>
          <a:prstGeom prst="rect">
            <a:avLst/>
          </a:prstGeom>
          <a:noFill/>
          <a:ln/>
        </p:spPr>
        <p:txBody>
          <a:bodyPr wrap="square" lIns="254" tIns="254" rIns="254" bIns="254" rtlCol="0" anchor="ctr"/>
          <a:lstStyle/>
          <a:p>
            <a:pPr algn="ctr" indent="0" marL="0">
              <a:spcAft>
                <a:spcPts val="400"/>
              </a:spcAft>
              <a:buNone/>
            </a:pPr>
            <a:r>
              <a:rPr lang="en-US" sz="1300" b="1" dirty="0">
                <a:solidFill>
                  <a:schemeClr val="tx1"/>
                </a:solidFill>
              </a:rPr>
              <a:t>Phosphate ions in animals</a:t>
            </a:r>
            <a:endParaRPr lang="en-US" sz="1300" dirty="0"/>
          </a:p>
        </p:txBody>
      </p:sp>
      <p:sp>
        <p:nvSpPr>
          <p:cNvPr id="9" name="Shape 7"/>
          <p:cNvSpPr/>
          <p:nvPr/>
        </p:nvSpPr>
        <p:spPr>
          <a:xfrm>
            <a:off x="3680460" y="2914650"/>
            <a:ext cx="1645920" cy="1645920"/>
          </a:xfrm>
          <a:prstGeom prst="ellipse">
            <a:avLst/>
          </a:prstGeom>
          <a:solidFill>
            <a:schemeClr val="accent5"/>
          </a:solidFill>
          <a:ln w="15875">
            <a:solidFill>
              <a:schemeClr val="accent2"/>
            </a:solidFill>
            <a:prstDash val="solid"/>
          </a:ln>
        </p:spPr>
      </p:sp>
      <p:sp>
        <p:nvSpPr>
          <p:cNvPr id="10" name="Text 8"/>
          <p:cNvSpPr txBox="1"/>
          <p:nvPr/>
        </p:nvSpPr>
        <p:spPr>
          <a:xfrm>
            <a:off x="3680460" y="2914650"/>
            <a:ext cx="1645920" cy="1645920"/>
          </a:xfrm>
          <a:prstGeom prst="rect">
            <a:avLst/>
          </a:prstGeom>
          <a:noFill/>
          <a:ln/>
        </p:spPr>
        <p:txBody>
          <a:bodyPr wrap="square" lIns="635" tIns="635" rIns="635" bIns="635" rtlCol="0" anchor="ctr"/>
          <a:lstStyle/>
          <a:p>
            <a:pPr algn="ctr" indent="0" marL="0">
              <a:spcAft>
                <a:spcPts val="400"/>
              </a:spcAft>
              <a:buNone/>
            </a:pPr>
            <a:r>
              <a:rPr lang="en-US" sz="1200" b="1" dirty="0">
                <a:solidFill>
                  <a:schemeClr val="tx1"/>
                </a:solidFill>
              </a:rPr>
              <a:t>Dissolved phosphate ions</a:t>
            </a:r>
            <a:endParaRPr lang="en-US" sz="1200" dirty="0"/>
          </a:p>
          <a:p>
            <a:pPr algn="ctr" indent="0" marL="0">
              <a:spcAft>
                <a:spcPts val="400"/>
              </a:spcAft>
              <a:buNone/>
            </a:pPr>
            <a:r>
              <a:rPr lang="en-US" sz="1000" dirty="0">
                <a:solidFill>
                  <a:schemeClr val="tx1"/>
                </a:solidFill>
              </a:rPr>
              <a:t>oceans, lakes, soils</a:t>
            </a:r>
            <a:endParaRPr lang="en-US" sz="1200" dirty="0"/>
          </a:p>
        </p:txBody>
      </p:sp>
      <p:sp>
        <p:nvSpPr>
          <p:cNvPr id="11" name="Shape 9"/>
          <p:cNvSpPr/>
          <p:nvPr/>
        </p:nvSpPr>
        <p:spPr>
          <a:xfrm>
            <a:off x="6640830" y="1474470"/>
            <a:ext cx="1325880" cy="1325880"/>
          </a:xfrm>
          <a:prstGeom prst="ellipse">
            <a:avLst/>
          </a:prstGeom>
          <a:solidFill>
            <a:schemeClr val="accent5"/>
          </a:solidFill>
          <a:ln w="15875">
            <a:solidFill>
              <a:schemeClr val="accent2"/>
            </a:solidFill>
            <a:prstDash val="solid"/>
          </a:ln>
        </p:spPr>
      </p:sp>
      <p:sp>
        <p:nvSpPr>
          <p:cNvPr id="12" name="Text 10"/>
          <p:cNvSpPr txBox="1"/>
          <p:nvPr/>
        </p:nvSpPr>
        <p:spPr>
          <a:xfrm>
            <a:off x="6640830" y="1474470"/>
            <a:ext cx="1325880" cy="1325880"/>
          </a:xfrm>
          <a:prstGeom prst="rect">
            <a:avLst/>
          </a:prstGeom>
          <a:noFill/>
          <a:ln/>
        </p:spPr>
        <p:txBody>
          <a:bodyPr wrap="square" lIns="635" tIns="635" rIns="635" bIns="635" rtlCol="0" anchor="ctr"/>
          <a:lstStyle/>
          <a:p>
            <a:pPr algn="ctr" indent="0" marL="0">
              <a:spcAft>
                <a:spcPts val="400"/>
              </a:spcAft>
              <a:buNone/>
            </a:pPr>
            <a:r>
              <a:rPr lang="en-US" sz="1200" b="1" dirty="0">
                <a:solidFill>
                  <a:schemeClr val="tx1"/>
                </a:solidFill>
              </a:rPr>
              <a:t>Phosphates in rocks</a:t>
            </a:r>
            <a:endParaRPr lang="en-US" sz="1200" dirty="0"/>
          </a:p>
        </p:txBody>
      </p:sp>
      <p:sp>
        <p:nvSpPr>
          <p:cNvPr id="13" name="Shape 11"/>
          <p:cNvSpPr/>
          <p:nvPr/>
        </p:nvSpPr>
        <p:spPr>
          <a:xfrm>
            <a:off x="6526530" y="4446270"/>
            <a:ext cx="1554480" cy="1554480"/>
          </a:xfrm>
          <a:prstGeom prst="ellipse">
            <a:avLst/>
          </a:prstGeom>
          <a:solidFill>
            <a:schemeClr val="accent5"/>
          </a:solidFill>
          <a:ln w="15875">
            <a:solidFill>
              <a:schemeClr val="accent2"/>
            </a:solidFill>
            <a:prstDash val="solid"/>
          </a:ln>
        </p:spPr>
      </p:sp>
      <p:sp>
        <p:nvSpPr>
          <p:cNvPr id="14" name="Text 12"/>
          <p:cNvSpPr txBox="1"/>
          <p:nvPr/>
        </p:nvSpPr>
        <p:spPr>
          <a:xfrm>
            <a:off x="6526530" y="4446270"/>
            <a:ext cx="1554480" cy="1554480"/>
          </a:xfrm>
          <a:prstGeom prst="rect">
            <a:avLst/>
          </a:prstGeom>
          <a:noFill/>
          <a:ln/>
        </p:spPr>
        <p:txBody>
          <a:bodyPr wrap="square" lIns="635" tIns="635" rIns="635" bIns="635" rtlCol="0" anchor="ctr"/>
          <a:lstStyle/>
          <a:p>
            <a:pPr algn="ctr" indent="0" marL="0">
              <a:spcAft>
                <a:spcPts val="400"/>
              </a:spcAft>
              <a:buNone/>
            </a:pPr>
            <a:r>
              <a:rPr lang="en-US" sz="1200" b="1" dirty="0">
                <a:solidFill>
                  <a:schemeClr val="tx1"/>
                </a:solidFill>
              </a:rPr>
              <a:t>Wastes &amp; remains</a:t>
            </a:r>
            <a:endParaRPr lang="en-US" sz="1200" dirty="0"/>
          </a:p>
          <a:p>
            <a:pPr algn="ctr" indent="0" marL="0">
              <a:spcAft>
                <a:spcPts val="400"/>
              </a:spcAft>
              <a:buNone/>
            </a:pPr>
            <a:r>
              <a:rPr lang="en-US" sz="1000" dirty="0">
                <a:solidFill>
                  <a:schemeClr val="tx1"/>
                </a:solidFill>
              </a:rPr>
              <a:t>guano, bones, shells</a:t>
            </a:r>
            <a:endParaRPr lang="en-US" sz="1200" dirty="0"/>
          </a:p>
        </p:txBody>
      </p:sp>
      <p:sp>
        <p:nvSpPr>
          <p:cNvPr id="15" name="Shape 13"/>
          <p:cNvSpPr/>
          <p:nvPr/>
        </p:nvSpPr>
        <p:spPr>
          <a:xfrm flipH="1" flipV="1">
            <a:off x="2994660" y="2331720"/>
            <a:ext cx="914400" cy="834390"/>
          </a:xfrm>
          <a:prstGeom prst="line">
            <a:avLst/>
          </a:prstGeom>
          <a:noFill/>
          <a:ln w="25400">
            <a:solidFill>
              <a:schemeClr val="accent1"/>
            </a:solidFill>
            <a:prstDash val="solid"/>
            <a:tailEnd type="triangle"/>
          </a:ln>
        </p:spPr>
      </p:sp>
      <p:sp>
        <p:nvSpPr>
          <p:cNvPr id="16" name="Text 14"/>
          <p:cNvSpPr txBox="1"/>
          <p:nvPr/>
        </p:nvSpPr>
        <p:spPr>
          <a:xfrm>
            <a:off x="3566160" y="2468880"/>
            <a:ext cx="1097280" cy="274320"/>
          </a:xfrm>
          <a:prstGeom prst="rect">
            <a:avLst/>
          </a:prstGeom>
          <a:noFill/>
          <a:ln/>
        </p:spPr>
        <p:txBody>
          <a:bodyPr wrap="square" lIns="0" tIns="0" rIns="0" bIns="0" rtlCol="0" anchor="t"/>
          <a:lstStyle/>
          <a:p>
            <a:pPr indent="0" marL="0">
              <a:spcAft>
                <a:spcPts val="400"/>
              </a:spcAft>
              <a:buNone/>
            </a:pPr>
            <a:r>
              <a:rPr lang="en-US" sz="1100" b="1" dirty="0">
                <a:solidFill>
                  <a:schemeClr val="accent1"/>
                </a:solidFill>
              </a:rPr>
              <a:t>absorption</a:t>
            </a:r>
            <a:endParaRPr lang="en-US" sz="1100" dirty="0"/>
          </a:p>
        </p:txBody>
      </p:sp>
      <p:sp>
        <p:nvSpPr>
          <p:cNvPr id="17" name="Shape 15"/>
          <p:cNvSpPr/>
          <p:nvPr/>
        </p:nvSpPr>
        <p:spPr>
          <a:xfrm>
            <a:off x="1931670" y="2286000"/>
            <a:ext cx="914" cy="2720340"/>
          </a:xfrm>
          <a:prstGeom prst="line">
            <a:avLst/>
          </a:prstGeom>
          <a:noFill/>
          <a:ln w="25400">
            <a:solidFill>
              <a:schemeClr val="tx2"/>
            </a:solidFill>
            <a:prstDash val="solid"/>
            <a:tailEnd type="triangle"/>
          </a:ln>
        </p:spPr>
      </p:sp>
      <p:sp>
        <p:nvSpPr>
          <p:cNvPr id="18" name="Text 16"/>
          <p:cNvSpPr txBox="1"/>
          <p:nvPr/>
        </p:nvSpPr>
        <p:spPr>
          <a:xfrm>
            <a:off x="2023110" y="3509010"/>
            <a:ext cx="1280160" cy="274320"/>
          </a:xfrm>
          <a:prstGeom prst="rect">
            <a:avLst/>
          </a:prstGeom>
          <a:noFill/>
          <a:ln/>
        </p:spPr>
        <p:txBody>
          <a:bodyPr wrap="square" lIns="0" tIns="0" rIns="0" bIns="0" rtlCol="0" anchor="t"/>
          <a:lstStyle/>
          <a:p>
            <a:pPr indent="0" marL="0">
              <a:spcAft>
                <a:spcPts val="400"/>
              </a:spcAft>
              <a:buNone/>
            </a:pPr>
            <a:r>
              <a:rPr lang="en-US" sz="1100" dirty="0">
                <a:solidFill>
                  <a:schemeClr val="tx2"/>
                </a:solidFill>
              </a:rPr>
              <a:t>feeding &amp; digestion</a:t>
            </a:r>
            <a:endParaRPr lang="en-US" sz="1100" dirty="0"/>
          </a:p>
        </p:txBody>
      </p:sp>
      <p:sp>
        <p:nvSpPr>
          <p:cNvPr id="19" name="Shape 17"/>
          <p:cNvSpPr/>
          <p:nvPr/>
        </p:nvSpPr>
        <p:spPr>
          <a:xfrm flipV="1">
            <a:off x="2960370" y="4309110"/>
            <a:ext cx="914400" cy="765810"/>
          </a:xfrm>
          <a:prstGeom prst="line">
            <a:avLst/>
          </a:prstGeom>
          <a:noFill/>
          <a:ln w="25400">
            <a:solidFill>
              <a:schemeClr val="tx2"/>
            </a:solidFill>
            <a:prstDash val="solid"/>
            <a:tailEnd type="triangle"/>
          </a:ln>
        </p:spPr>
      </p:sp>
      <p:sp>
        <p:nvSpPr>
          <p:cNvPr id="20" name="Text 18"/>
          <p:cNvSpPr txBox="1"/>
          <p:nvPr/>
        </p:nvSpPr>
        <p:spPr>
          <a:xfrm>
            <a:off x="3451860" y="4766310"/>
            <a:ext cx="914400" cy="274320"/>
          </a:xfrm>
          <a:prstGeom prst="rect">
            <a:avLst/>
          </a:prstGeom>
          <a:noFill/>
          <a:ln/>
        </p:spPr>
        <p:txBody>
          <a:bodyPr wrap="square" lIns="0" tIns="0" rIns="0" bIns="0" rtlCol="0" anchor="t"/>
          <a:lstStyle/>
          <a:p>
            <a:pPr indent="0" marL="0">
              <a:spcAft>
                <a:spcPts val="400"/>
              </a:spcAft>
              <a:buNone/>
            </a:pPr>
            <a:r>
              <a:rPr lang="en-US" sz="1100" dirty="0">
                <a:solidFill>
                  <a:schemeClr val="tx2"/>
                </a:solidFill>
              </a:rPr>
              <a:t>excretion</a:t>
            </a:r>
            <a:endParaRPr lang="en-US" sz="1100" dirty="0"/>
          </a:p>
        </p:txBody>
      </p:sp>
      <p:sp>
        <p:nvSpPr>
          <p:cNvPr id="21" name="Shape 19"/>
          <p:cNvSpPr/>
          <p:nvPr/>
        </p:nvSpPr>
        <p:spPr>
          <a:xfrm>
            <a:off x="2983230" y="5486400"/>
            <a:ext cx="3474720" cy="914"/>
          </a:xfrm>
          <a:prstGeom prst="line">
            <a:avLst/>
          </a:prstGeom>
          <a:noFill/>
          <a:ln w="25400">
            <a:solidFill>
              <a:schemeClr val="tx2"/>
            </a:solidFill>
            <a:prstDash val="solid"/>
            <a:tailEnd type="triangle"/>
          </a:ln>
        </p:spPr>
      </p:sp>
      <p:sp>
        <p:nvSpPr>
          <p:cNvPr id="22" name="Text 20"/>
          <p:cNvSpPr txBox="1"/>
          <p:nvPr/>
        </p:nvSpPr>
        <p:spPr>
          <a:xfrm>
            <a:off x="3360420" y="5566410"/>
            <a:ext cx="2103120" cy="274320"/>
          </a:xfrm>
          <a:prstGeom prst="rect">
            <a:avLst/>
          </a:prstGeom>
          <a:noFill/>
          <a:ln/>
        </p:spPr>
        <p:txBody>
          <a:bodyPr wrap="square" lIns="0" tIns="0" rIns="0" bIns="0" rtlCol="0" anchor="t"/>
          <a:lstStyle/>
          <a:p>
            <a:pPr algn="ctr" indent="0" marL="0">
              <a:spcAft>
                <a:spcPts val="400"/>
              </a:spcAft>
              <a:buNone/>
            </a:pPr>
            <a:r>
              <a:rPr lang="en-US" sz="1100" dirty="0">
                <a:solidFill>
                  <a:schemeClr val="tx2"/>
                </a:solidFill>
              </a:rPr>
              <a:t>excretion &amp; decomposition</a:t>
            </a:r>
            <a:endParaRPr lang="en-US" sz="1100" dirty="0"/>
          </a:p>
        </p:txBody>
      </p:sp>
      <p:sp>
        <p:nvSpPr>
          <p:cNvPr id="23" name="Shape 21"/>
          <p:cNvSpPr/>
          <p:nvPr/>
        </p:nvSpPr>
        <p:spPr>
          <a:xfrm flipH="1" flipV="1">
            <a:off x="5257800" y="4160520"/>
            <a:ext cx="1360170" cy="685800"/>
          </a:xfrm>
          <a:prstGeom prst="line">
            <a:avLst/>
          </a:prstGeom>
          <a:noFill/>
          <a:ln w="25400">
            <a:solidFill>
              <a:schemeClr val="tx2"/>
            </a:solidFill>
            <a:prstDash val="solid"/>
            <a:tailEnd type="triangle"/>
          </a:ln>
        </p:spPr>
      </p:sp>
      <p:sp>
        <p:nvSpPr>
          <p:cNvPr id="24" name="Text 22"/>
          <p:cNvSpPr txBox="1"/>
          <p:nvPr/>
        </p:nvSpPr>
        <p:spPr>
          <a:xfrm>
            <a:off x="5852160" y="4617720"/>
            <a:ext cx="731520" cy="274320"/>
          </a:xfrm>
          <a:prstGeom prst="rect">
            <a:avLst/>
          </a:prstGeom>
          <a:noFill/>
          <a:ln/>
        </p:spPr>
        <p:txBody>
          <a:bodyPr wrap="square" lIns="0" tIns="0" rIns="0" bIns="0" rtlCol="0" anchor="t"/>
          <a:lstStyle/>
          <a:p>
            <a:pPr indent="0" marL="0">
              <a:spcAft>
                <a:spcPts val="400"/>
              </a:spcAft>
              <a:buNone/>
            </a:pPr>
            <a:r>
              <a:rPr lang="en-US" sz="1100" dirty="0">
                <a:solidFill>
                  <a:schemeClr val="tx2"/>
                </a:solidFill>
              </a:rPr>
              <a:t>erosion</a:t>
            </a:r>
            <a:endParaRPr lang="en-US" sz="1100" dirty="0"/>
          </a:p>
        </p:txBody>
      </p:sp>
      <p:sp>
        <p:nvSpPr>
          <p:cNvPr id="25" name="Shape 23"/>
          <p:cNvSpPr/>
          <p:nvPr/>
        </p:nvSpPr>
        <p:spPr>
          <a:xfrm flipV="1">
            <a:off x="7303770" y="2846070"/>
            <a:ext cx="914" cy="1588770"/>
          </a:xfrm>
          <a:prstGeom prst="line">
            <a:avLst/>
          </a:prstGeom>
          <a:noFill/>
          <a:ln w="25400">
            <a:solidFill>
              <a:schemeClr val="tx2"/>
            </a:solidFill>
            <a:prstDash val="solid"/>
            <a:tailEnd type="triangle"/>
          </a:ln>
        </p:spPr>
      </p:sp>
      <p:sp>
        <p:nvSpPr>
          <p:cNvPr id="26" name="Text 24"/>
          <p:cNvSpPr txBox="1"/>
          <p:nvPr/>
        </p:nvSpPr>
        <p:spPr>
          <a:xfrm>
            <a:off x="7383780" y="3543300"/>
            <a:ext cx="914400" cy="274320"/>
          </a:xfrm>
          <a:prstGeom prst="rect">
            <a:avLst/>
          </a:prstGeom>
          <a:noFill/>
          <a:ln/>
        </p:spPr>
        <p:txBody>
          <a:bodyPr wrap="square" lIns="0" tIns="0" rIns="0" bIns="0" rtlCol="0" anchor="t"/>
          <a:lstStyle/>
          <a:p>
            <a:pPr indent="0" marL="0">
              <a:spcAft>
                <a:spcPts val="400"/>
              </a:spcAft>
              <a:buNone/>
            </a:pPr>
            <a:r>
              <a:rPr lang="en-US" sz="1100" dirty="0">
                <a:solidFill>
                  <a:schemeClr val="tx2"/>
                </a:solidFill>
              </a:rPr>
              <a:t>deposition</a:t>
            </a:r>
            <a:endParaRPr lang="en-US" sz="1100" dirty="0"/>
          </a:p>
        </p:txBody>
      </p:sp>
      <p:sp>
        <p:nvSpPr>
          <p:cNvPr id="27" name="Shape 25"/>
          <p:cNvSpPr/>
          <p:nvPr/>
        </p:nvSpPr>
        <p:spPr>
          <a:xfrm flipV="1">
            <a:off x="5006340" y="2263140"/>
            <a:ext cx="1623060" cy="822960"/>
          </a:xfrm>
          <a:prstGeom prst="line">
            <a:avLst/>
          </a:prstGeom>
          <a:noFill/>
          <a:ln w="25400">
            <a:solidFill>
              <a:schemeClr val="tx2"/>
            </a:solidFill>
            <a:prstDash val="solid"/>
            <a:tailEnd type="triangle"/>
          </a:ln>
        </p:spPr>
      </p:sp>
      <p:sp>
        <p:nvSpPr>
          <p:cNvPr id="28" name="Text 26"/>
          <p:cNvSpPr txBox="1"/>
          <p:nvPr/>
        </p:nvSpPr>
        <p:spPr>
          <a:xfrm>
            <a:off x="4983480" y="2468880"/>
            <a:ext cx="1188720" cy="274320"/>
          </a:xfrm>
          <a:prstGeom prst="rect">
            <a:avLst/>
          </a:prstGeom>
          <a:noFill/>
          <a:ln/>
        </p:spPr>
        <p:txBody>
          <a:bodyPr wrap="square" lIns="0" tIns="0" rIns="0" bIns="0" rtlCol="0" anchor="t"/>
          <a:lstStyle/>
          <a:p>
            <a:pPr indent="0" marL="0">
              <a:spcAft>
                <a:spcPts val="400"/>
              </a:spcAft>
              <a:buNone/>
            </a:pPr>
            <a:r>
              <a:rPr lang="en-US" sz="1100" dirty="0">
                <a:solidFill>
                  <a:schemeClr val="tx2"/>
                </a:solidFill>
              </a:rPr>
              <a:t>sedimentation</a:t>
            </a:r>
            <a:endParaRPr lang="en-US" sz="1100" dirty="0"/>
          </a:p>
        </p:txBody>
      </p:sp>
      <p:sp>
        <p:nvSpPr>
          <p:cNvPr id="29" name="Shape 27"/>
          <p:cNvSpPr/>
          <p:nvPr/>
        </p:nvSpPr>
        <p:spPr>
          <a:xfrm flipH="1">
            <a:off x="5303520" y="2560320"/>
            <a:ext cx="1463040" cy="800100"/>
          </a:xfrm>
          <a:prstGeom prst="line">
            <a:avLst/>
          </a:prstGeom>
          <a:noFill/>
          <a:ln w="25400">
            <a:solidFill>
              <a:schemeClr val="accent1"/>
            </a:solidFill>
            <a:prstDash val="solid"/>
            <a:tailEnd type="triangle"/>
          </a:ln>
        </p:spPr>
      </p:sp>
      <p:sp>
        <p:nvSpPr>
          <p:cNvPr id="30" name="Text 28"/>
          <p:cNvSpPr txBox="1"/>
          <p:nvPr/>
        </p:nvSpPr>
        <p:spPr>
          <a:xfrm>
            <a:off x="5783580" y="3223260"/>
            <a:ext cx="1188720" cy="274320"/>
          </a:xfrm>
          <a:prstGeom prst="rect">
            <a:avLst/>
          </a:prstGeom>
          <a:noFill/>
          <a:ln/>
        </p:spPr>
        <p:txBody>
          <a:bodyPr wrap="square" lIns="0" tIns="0" rIns="0" bIns="0" rtlCol="0" anchor="t"/>
          <a:lstStyle/>
          <a:p>
            <a:pPr indent="0" marL="0">
              <a:spcAft>
                <a:spcPts val="400"/>
              </a:spcAft>
              <a:buNone/>
            </a:pPr>
            <a:r>
              <a:rPr lang="en-US" sz="1100" b="1" dirty="0">
                <a:solidFill>
                  <a:schemeClr val="accent1"/>
                </a:solidFill>
              </a:rPr>
              <a:t>erosion &amp; fertilisers</a:t>
            </a:r>
            <a:endParaRPr lang="en-US" sz="1100" dirty="0"/>
          </a:p>
        </p:txBody>
      </p:sp>
      <p:sp>
        <p:nvSpPr>
          <p:cNvPr id="31" name="Shape 29"/>
          <p:cNvSpPr/>
          <p:nvPr/>
        </p:nvSpPr>
        <p:spPr>
          <a:xfrm>
            <a:off x="8778240" y="1371600"/>
            <a:ext cx="2880360" cy="4709160"/>
          </a:xfrm>
          <a:prstGeom prst="roundRect">
            <a:avLst>
              <a:gd name="adj" fmla="val 3810"/>
            </a:avLst>
          </a:prstGeom>
          <a:solidFill>
            <a:schemeClr val="accent4"/>
          </a:solidFill>
          <a:ln w="12700">
            <a:solidFill>
              <a:schemeClr val="accent4"/>
            </a:solidFill>
            <a:prstDash val="solid"/>
          </a:ln>
        </p:spPr>
      </p:sp>
      <p:sp>
        <p:nvSpPr>
          <p:cNvPr id="32" name="Text 30"/>
          <p:cNvSpPr txBox="1"/>
          <p:nvPr/>
        </p:nvSpPr>
        <p:spPr>
          <a:xfrm>
            <a:off x="8915400" y="1463040"/>
            <a:ext cx="2606040" cy="4526280"/>
          </a:xfrm>
          <a:prstGeom prst="rect">
            <a:avLst/>
          </a:prstGeom>
          <a:noFill/>
          <a:ln/>
        </p:spPr>
        <p:txBody>
          <a:bodyPr wrap="square" lIns="1016" tIns="1016" rIns="1016" bIns="1016" rtlCol="0" anchor="t"/>
          <a:lstStyle/>
          <a:p>
            <a:pPr indent="0" marL="0">
              <a:spcAft>
                <a:spcPts val="400"/>
              </a:spcAft>
              <a:buNone/>
            </a:pPr>
            <a:r>
              <a:rPr lang="en-US" sz="1500" b="1" dirty="0">
                <a:solidFill>
                  <a:schemeClr val="tx1"/>
                </a:solidFill>
              </a:rPr>
              <a:t>Key facts</a:t>
            </a:r>
            <a:endParaRPr lang="en-US" sz="1300" dirty="0"/>
          </a:p>
          <a:p>
            <a:pPr indent="0" marL="0">
              <a:spcAft>
                <a:spcPts val="400"/>
              </a:spcAft>
              <a:buNone/>
            </a:pPr>
            <a:r>
              <a:rPr lang="en-US" sz="1300" dirty="0">
                <a:solidFill>
                  <a:schemeClr val="tx1"/>
                </a:solidFill>
              </a:rPr>
              <a:t>No gases are involved.</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rPr>
              <a:t>Phosphate (PO₄³⁻) is stored in sedimentary rock.</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rPr>
              <a:t>Saprobiotic bacteria decompose phosphorus compounds in excreta and dead organisms.</a:t>
            </a:r>
            <a:endParaRPr lang="en-US" sz="1300" dirty="0"/>
          </a:p>
          <a:p>
            <a:pPr indent="0" marL="0">
              <a:spcAft>
                <a:spcPts val="400"/>
              </a:spcAft>
              <a:buNone/>
            </a:pPr>
            <a:endParaRPr lang="en-US" sz="1300" dirty="0"/>
          </a:p>
          <a:p>
            <a:pPr indent="0" marL="0">
              <a:spcAft>
                <a:spcPts val="400"/>
              </a:spcAft>
              <a:buNone/>
            </a:pPr>
            <a:r>
              <a:rPr lang="en-US" sz="1300" dirty="0">
                <a:solidFill>
                  <a:schemeClr val="tx1"/>
                </a:solidFill>
              </a:rPr>
              <a:t>Squares = living; circles = non-living.</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A · FROM THE CLASS NOTES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Why phosphorus matters, and two definitions</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371600"/>
            <a:ext cx="5486400" cy="2103120"/>
          </a:xfrm>
          <a:prstGeom prst="roundRect">
            <a:avLst>
              <a:gd name="adj" fmla="val 5217"/>
            </a:avLst>
          </a:prstGeom>
          <a:solidFill>
            <a:schemeClr val="accent1"/>
          </a:solidFill>
          <a:ln w="12700">
            <a:solidFill>
              <a:schemeClr val="accent1"/>
            </a:solidFill>
            <a:prstDash val="solid"/>
          </a:ln>
        </p:spPr>
      </p:sp>
      <p:sp>
        <p:nvSpPr>
          <p:cNvPr id="6" name="Text 4"/>
          <p:cNvSpPr txBox="1"/>
          <p:nvPr/>
        </p:nvSpPr>
        <p:spPr>
          <a:xfrm>
            <a:off x="685800" y="1463040"/>
            <a:ext cx="5212080" cy="1920240"/>
          </a:xfrm>
          <a:prstGeom prst="rect">
            <a:avLst/>
          </a:prstGeom>
          <a:noFill/>
          <a:ln/>
        </p:spPr>
        <p:txBody>
          <a:bodyPr wrap="square" lIns="1016" tIns="1016" rIns="1016" bIns="1016" rtlCol="0" anchor="ctr"/>
          <a:lstStyle/>
          <a:p>
            <a:pPr indent="0" marL="0">
              <a:spcAft>
                <a:spcPts val="400"/>
              </a:spcAft>
              <a:buNone/>
            </a:pPr>
            <a:r>
              <a:rPr lang="en-US" sz="1500" dirty="0">
                <a:solidFill>
                  <a:schemeClr val="bg1"/>
                </a:solidFill>
                <a:latin typeface="Cambria" pitchFamily="34" charset="0"/>
                <a:ea typeface="Cambria" pitchFamily="34" charset="-122"/>
                <a:cs typeface="Cambria" pitchFamily="34" charset="-120"/>
              </a:rPr>
              <a:t>Phosphorus is a component of</a:t>
            </a:r>
            <a:endParaRPr lang="en-US" sz="1600" dirty="0"/>
          </a:p>
          <a:p>
            <a:pPr indent="0" marL="0">
              <a:spcAft>
                <a:spcPts val="400"/>
              </a:spcAft>
              <a:buNone/>
            </a:pPr>
            <a:r>
              <a:rPr lang="en-US" sz="2000" b="1" dirty="0">
                <a:solidFill>
                  <a:schemeClr val="bg1"/>
                </a:solidFill>
                <a:latin typeface="Cambria" pitchFamily="34" charset="0"/>
                <a:ea typeface="Cambria" pitchFamily="34" charset="-122"/>
                <a:cs typeface="Cambria" pitchFamily="34" charset="-120"/>
              </a:rPr>
              <a:t>ATP · phospholipids · nucleic acids</a:t>
            </a:r>
            <a:pPr indent="0" marL="0">
              <a:spcAft>
                <a:spcPts val="400"/>
              </a:spcAft>
              <a:buNone/>
            </a:pPr>
            <a:endParaRPr lang="en-US" sz="1600" dirty="0"/>
          </a:p>
          <a:p>
            <a:pPr indent="0" marL="0">
              <a:spcAft>
                <a:spcPts val="400"/>
              </a:spcAft>
              <a:buNone/>
            </a:pPr>
            <a:r>
              <a:rPr lang="en-US" sz="1400" dirty="0">
                <a:solidFill>
                  <a:schemeClr val="bg1"/>
                </a:solidFill>
                <a:latin typeface="Cambria" pitchFamily="34" charset="0"/>
                <a:ea typeface="Cambria" pitchFamily="34" charset="-122"/>
                <a:cs typeface="Cambria" pitchFamily="34" charset="-120"/>
              </a:rPr>
              <a:t>Life depends on it being constantly recycled.</a:t>
            </a:r>
            <a:endParaRPr lang="en-US" sz="1600" dirty="0"/>
          </a:p>
        </p:txBody>
      </p:sp>
      <p:sp>
        <p:nvSpPr>
          <p:cNvPr id="7" name="Text 5"/>
          <p:cNvSpPr txBox="1"/>
          <p:nvPr/>
        </p:nvSpPr>
        <p:spPr>
          <a:xfrm>
            <a:off x="548640" y="3657600"/>
            <a:ext cx="5486400" cy="182880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Phosphorus exists mostly as </a:t>
            </a:r>
            <a:pPr indent="0" marL="0">
              <a:spcAft>
                <a:spcPts val="400"/>
              </a:spcAft>
              <a:buNone/>
            </a:pPr>
            <a:r>
              <a:rPr lang="en-US" sz="1500" b="1" dirty="0">
                <a:solidFill>
                  <a:schemeClr val="tx1"/>
                </a:solidFill>
              </a:rPr>
              <a:t>phosphate ions (PO₄³⁻)</a:t>
            </a:r>
            <a:pPr indent="0" marL="0">
              <a:spcAft>
                <a:spcPts val="400"/>
              </a:spcAft>
              <a:buNone/>
            </a:pPr>
            <a:r>
              <a:rPr lang="en-US" sz="1500" dirty="0">
                <a:solidFill>
                  <a:schemeClr val="tx1"/>
                </a:solidFill>
              </a:rPr>
              <a:t> in sedimentary rock. </a:t>
            </a:r>
            <a:pPr indent="0" marL="0">
              <a:spcAft>
                <a:spcPts val="400"/>
              </a:spcAft>
              <a:buNone/>
            </a:pPr>
            <a:r>
              <a:rPr lang="en-US" sz="1500" b="1" dirty="0">
                <a:solidFill>
                  <a:schemeClr val="tx1"/>
                </a:solidFill>
              </a:rPr>
              <a:t>Weathering and erosion</a:t>
            </a:r>
            <a:pPr indent="0" marL="0">
              <a:spcAft>
                <a:spcPts val="400"/>
              </a:spcAft>
              <a:buNone/>
            </a:pPr>
            <a:r>
              <a:rPr lang="en-US" sz="1500" dirty="0">
                <a:solidFill>
                  <a:schemeClr val="tx1"/>
                </a:solidFill>
              </a:rPr>
              <a:t> help phosphate ions dissolve in water in lakes and rivers, so plants can </a:t>
            </a:r>
            <a:pPr indent="0" marL="0">
              <a:spcAft>
                <a:spcPts val="400"/>
              </a:spcAft>
              <a:buNone/>
            </a:pPr>
            <a:r>
              <a:rPr lang="en-US" sz="1500" b="1" dirty="0">
                <a:solidFill>
                  <a:schemeClr val="tx1"/>
                </a:solidFill>
              </a:rPr>
              <a:t>absorb</a:t>
            </a:r>
            <a:pPr indent="0" marL="0">
              <a:spcAft>
                <a:spcPts val="400"/>
              </a:spcAft>
              <a:buNone/>
            </a:pPr>
            <a:r>
              <a:rPr lang="en-US" sz="1500" dirty="0">
                <a:solidFill>
                  <a:schemeClr val="tx1"/>
                </a:solidFill>
              </a:rPr>
              <a:t> them and build them into their biomass.</a:t>
            </a:r>
            <a:endParaRPr lang="en-US" sz="1500" dirty="0"/>
          </a:p>
        </p:txBody>
      </p:sp>
      <p:sp>
        <p:nvSpPr>
          <p:cNvPr id="8" name="Shape 6"/>
          <p:cNvSpPr/>
          <p:nvPr/>
        </p:nvSpPr>
        <p:spPr>
          <a:xfrm>
            <a:off x="6263640" y="1371600"/>
            <a:ext cx="5394960" cy="2240280"/>
          </a:xfrm>
          <a:prstGeom prst="roundRect">
            <a:avLst>
              <a:gd name="adj" fmla="val 4898"/>
            </a:avLst>
          </a:prstGeom>
          <a:solidFill>
            <a:schemeClr val="bg1"/>
          </a:solidFill>
          <a:ln w="15875">
            <a:solidFill>
              <a:schemeClr val="accent1"/>
            </a:solidFill>
            <a:prstDash val="solid"/>
          </a:ln>
        </p:spPr>
      </p:sp>
      <p:sp>
        <p:nvSpPr>
          <p:cNvPr id="9" name="Text 7"/>
          <p:cNvSpPr txBox="1"/>
          <p:nvPr/>
        </p:nvSpPr>
        <p:spPr>
          <a:xfrm>
            <a:off x="6400800" y="1417320"/>
            <a:ext cx="5120640" cy="2148840"/>
          </a:xfrm>
          <a:prstGeom prst="rect">
            <a:avLst/>
          </a:prstGeom>
          <a:noFill/>
          <a:ln/>
        </p:spPr>
        <p:txBody>
          <a:bodyPr wrap="square" lIns="1016" tIns="1016" rIns="1016" bIns="1016" rtlCol="0" anchor="t"/>
          <a:lstStyle/>
          <a:p>
            <a:pPr indent="0" marL="0">
              <a:spcAft>
                <a:spcPts val="400"/>
              </a:spcAft>
              <a:buNone/>
            </a:pPr>
            <a:r>
              <a:rPr lang="en-US" sz="1400" b="1" dirty="0">
                <a:solidFill>
                  <a:schemeClr val="accent1"/>
                </a:solidFill>
              </a:rPr>
              <a:t>Erosion</a:t>
            </a:r>
            <a:endParaRPr lang="en-US" sz="1400" dirty="0"/>
          </a:p>
          <a:p>
            <a:pPr indent="0" marL="0">
              <a:spcAft>
                <a:spcPts val="400"/>
              </a:spcAft>
              <a:buNone/>
            </a:pPr>
            <a:r>
              <a:rPr lang="en-US" sz="1400" dirty="0">
                <a:solidFill>
                  <a:schemeClr val="tx1"/>
                </a:solidFill>
              </a:rPr>
              <a:t>Once rock has been weakened and broken up by weathering, erosion happens when rocks and sediments are picked up and moved to another place by ice, water, wind or gravity. There can also be chemical erosion.</a:t>
            </a:r>
            <a:endParaRPr lang="en-US" sz="1400" dirty="0"/>
          </a:p>
        </p:txBody>
      </p:sp>
      <p:sp>
        <p:nvSpPr>
          <p:cNvPr id="10" name="Shape 8"/>
          <p:cNvSpPr/>
          <p:nvPr/>
        </p:nvSpPr>
        <p:spPr>
          <a:xfrm>
            <a:off x="6263640" y="3749040"/>
            <a:ext cx="5394960" cy="2331720"/>
          </a:xfrm>
          <a:prstGeom prst="roundRect">
            <a:avLst>
              <a:gd name="adj" fmla="val 4706"/>
            </a:avLst>
          </a:prstGeom>
          <a:solidFill>
            <a:schemeClr val="bg1"/>
          </a:solidFill>
          <a:ln w="15875">
            <a:solidFill>
              <a:schemeClr val="accent1"/>
            </a:solidFill>
            <a:prstDash val="solid"/>
          </a:ln>
        </p:spPr>
      </p:sp>
      <p:sp>
        <p:nvSpPr>
          <p:cNvPr id="11" name="Text 9"/>
          <p:cNvSpPr txBox="1"/>
          <p:nvPr/>
        </p:nvSpPr>
        <p:spPr>
          <a:xfrm>
            <a:off x="6400800" y="3794760"/>
            <a:ext cx="5120640" cy="2240280"/>
          </a:xfrm>
          <a:prstGeom prst="rect">
            <a:avLst/>
          </a:prstGeom>
          <a:noFill/>
          <a:ln/>
        </p:spPr>
        <p:txBody>
          <a:bodyPr wrap="square" lIns="1016" tIns="1016" rIns="1016" bIns="1016" rtlCol="0" anchor="t"/>
          <a:lstStyle/>
          <a:p>
            <a:pPr indent="0" marL="0">
              <a:spcAft>
                <a:spcPts val="400"/>
              </a:spcAft>
              <a:buNone/>
            </a:pPr>
            <a:r>
              <a:rPr lang="en-US" sz="1400" b="1" dirty="0">
                <a:solidFill>
                  <a:schemeClr val="accent1"/>
                </a:solidFill>
              </a:rPr>
              <a:t>Deposition</a:t>
            </a:r>
            <a:endParaRPr lang="en-US" sz="1400" dirty="0"/>
          </a:p>
          <a:p>
            <a:pPr indent="0" marL="0">
              <a:spcAft>
                <a:spcPts val="400"/>
              </a:spcAft>
              <a:buNone/>
            </a:pPr>
            <a:r>
              <a:rPr lang="en-US" sz="1400" dirty="0">
                <a:solidFill>
                  <a:schemeClr val="tx1"/>
                </a:solidFill>
              </a:rPr>
              <a:t>The geological process in which sediments, soil and rocks are added to a landform. Eroded sediment is deposited when the wind, ice or water carrying it loses enough kinetic energy, building up layers of sediment.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B · FROM THE CLASS NOTES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role of mycorrhizae</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Text 3"/>
          <p:cNvSpPr txBox="1"/>
          <p:nvPr/>
        </p:nvSpPr>
        <p:spPr>
          <a:xfrm>
            <a:off x="548640" y="1371600"/>
            <a:ext cx="11064240" cy="457200"/>
          </a:xfrm>
          <a:prstGeom prst="rect">
            <a:avLst/>
          </a:prstGeom>
          <a:noFill/>
          <a:ln/>
        </p:spPr>
        <p:txBody>
          <a:bodyPr wrap="square" lIns="1016" tIns="1016" rIns="1016" bIns="1016" rtlCol="0" anchor="t"/>
          <a:lstStyle/>
          <a:p>
            <a:pPr indent="0" marL="0">
              <a:spcAft>
                <a:spcPts val="400"/>
              </a:spcAft>
              <a:buNone/>
            </a:pPr>
            <a:r>
              <a:rPr lang="en-US" sz="1600" b="1" dirty="0">
                <a:solidFill>
                  <a:schemeClr val="tx1"/>
                </a:solidFill>
              </a:rPr>
              <a:t>Mycorrhizae</a:t>
            </a:r>
            <a:pPr indent="0" marL="0">
              <a:spcAft>
                <a:spcPts val="400"/>
              </a:spcAft>
              <a:buNone/>
            </a:pPr>
            <a:r>
              <a:rPr lang="en-US" sz="1600" dirty="0">
                <a:solidFill>
                  <a:schemeClr val="tx1"/>
                </a:solidFill>
              </a:rPr>
              <a:t> are associations between specific types of </a:t>
            </a:r>
            <a:pPr indent="0" marL="0">
              <a:spcAft>
                <a:spcPts val="400"/>
              </a:spcAft>
              <a:buNone/>
            </a:pPr>
            <a:r>
              <a:rPr lang="en-US" sz="1600" b="1" dirty="0">
                <a:solidFill>
                  <a:schemeClr val="tx1"/>
                </a:solidFill>
              </a:rPr>
              <a:t>fungi</a:t>
            </a:r>
            <a:pPr indent="0" marL="0">
              <a:spcAft>
                <a:spcPts val="400"/>
              </a:spcAft>
              <a:buNone/>
            </a:pPr>
            <a:r>
              <a:rPr lang="en-US" sz="1600" dirty="0">
                <a:solidFill>
                  <a:schemeClr val="tx1"/>
                </a:solidFill>
              </a:rPr>
              <a:t> and the </a:t>
            </a:r>
            <a:pPr indent="0" marL="0">
              <a:spcAft>
                <a:spcPts val="400"/>
              </a:spcAft>
              <a:buNone/>
            </a:pPr>
            <a:r>
              <a:rPr lang="en-US" sz="1600" b="1" dirty="0">
                <a:solidFill>
                  <a:schemeClr val="tx1"/>
                </a:solidFill>
              </a:rPr>
              <a:t>root systems</a:t>
            </a:r>
            <a:pPr indent="0" marL="0">
              <a:spcAft>
                <a:spcPts val="400"/>
              </a:spcAft>
              <a:buNone/>
            </a:pPr>
            <a:r>
              <a:rPr lang="en-US" sz="1600" dirty="0">
                <a:solidFill>
                  <a:schemeClr val="tx1"/>
                </a:solidFill>
              </a:rPr>
              <a:t> of plants.</a:t>
            </a:r>
            <a:endParaRPr lang="en-US" sz="1600" dirty="0"/>
          </a:p>
        </p:txBody>
      </p:sp>
      <p:sp>
        <p:nvSpPr>
          <p:cNvPr id="6" name="Shape 4"/>
          <p:cNvSpPr/>
          <p:nvPr/>
        </p:nvSpPr>
        <p:spPr>
          <a:xfrm>
            <a:off x="548640" y="2011680"/>
            <a:ext cx="5669280" cy="685800"/>
          </a:xfrm>
          <a:prstGeom prst="roundRect">
            <a:avLst>
              <a:gd name="adj" fmla="val 16000"/>
            </a:avLst>
          </a:prstGeom>
          <a:solidFill>
            <a:schemeClr val="accent4"/>
          </a:solidFill>
          <a:ln w="12700">
            <a:solidFill>
              <a:schemeClr val="accent4"/>
            </a:solidFill>
            <a:prstDash val="solid"/>
          </a:ln>
        </p:spPr>
      </p:sp>
      <p:sp>
        <p:nvSpPr>
          <p:cNvPr id="7" name="Text 5"/>
          <p:cNvSpPr txBox="1"/>
          <p:nvPr/>
        </p:nvSpPr>
        <p:spPr>
          <a:xfrm>
            <a:off x="685800" y="2011680"/>
            <a:ext cx="5440680" cy="685800"/>
          </a:xfrm>
          <a:prstGeom prst="rect">
            <a:avLst/>
          </a:prstGeom>
          <a:noFill/>
          <a:ln/>
        </p:spPr>
        <p:txBody>
          <a:bodyPr wrap="square" lIns="1016" tIns="1016" rIns="1016" bIns="1016" rtlCol="0" anchor="ctr"/>
          <a:lstStyle/>
          <a:p>
            <a:pPr indent="0" marL="0">
              <a:spcAft>
                <a:spcPts val="400"/>
              </a:spcAft>
              <a:buNone/>
            </a:pPr>
            <a:r>
              <a:rPr lang="en-US" sz="1500" dirty="0">
                <a:solidFill>
                  <a:schemeClr val="tx1"/>
                </a:solidFill>
              </a:rPr>
              <a:t>a)  Increase the total surface area of the roots</a:t>
            </a:r>
            <a:endParaRPr lang="en-US" sz="1500" dirty="0"/>
          </a:p>
        </p:txBody>
      </p:sp>
      <p:sp>
        <p:nvSpPr>
          <p:cNvPr id="8" name="Shape 6"/>
          <p:cNvSpPr/>
          <p:nvPr/>
        </p:nvSpPr>
        <p:spPr>
          <a:xfrm>
            <a:off x="548640" y="2834640"/>
            <a:ext cx="5669280" cy="685800"/>
          </a:xfrm>
          <a:prstGeom prst="roundRect">
            <a:avLst>
              <a:gd name="adj" fmla="val 16000"/>
            </a:avLst>
          </a:prstGeom>
          <a:solidFill>
            <a:schemeClr val="accent4"/>
          </a:solidFill>
          <a:ln w="12700">
            <a:solidFill>
              <a:schemeClr val="accent4"/>
            </a:solidFill>
            <a:prstDash val="solid"/>
          </a:ln>
        </p:spPr>
      </p:sp>
      <p:sp>
        <p:nvSpPr>
          <p:cNvPr id="9" name="Text 7"/>
          <p:cNvSpPr txBox="1"/>
          <p:nvPr/>
        </p:nvSpPr>
        <p:spPr>
          <a:xfrm>
            <a:off x="685800" y="2834640"/>
            <a:ext cx="5440680" cy="685800"/>
          </a:xfrm>
          <a:prstGeom prst="rect">
            <a:avLst/>
          </a:prstGeom>
          <a:noFill/>
          <a:ln/>
        </p:spPr>
        <p:txBody>
          <a:bodyPr wrap="square" lIns="1016" tIns="1016" rIns="1016" bIns="1016" rtlCol="0" anchor="ctr"/>
          <a:lstStyle/>
          <a:p>
            <a:pPr indent="0" marL="0">
              <a:spcAft>
                <a:spcPts val="400"/>
              </a:spcAft>
              <a:buNone/>
            </a:pPr>
            <a:r>
              <a:rPr lang="en-US" sz="1500" dirty="0">
                <a:solidFill>
                  <a:schemeClr val="tx1"/>
                </a:solidFill>
              </a:rPr>
              <a:t>b)  Increase the absorption of water</a:t>
            </a:r>
            <a:endParaRPr lang="en-US" sz="1500" dirty="0"/>
          </a:p>
        </p:txBody>
      </p:sp>
      <p:sp>
        <p:nvSpPr>
          <p:cNvPr id="10" name="Shape 8"/>
          <p:cNvSpPr/>
          <p:nvPr/>
        </p:nvSpPr>
        <p:spPr>
          <a:xfrm>
            <a:off x="548640" y="3657600"/>
            <a:ext cx="5669280" cy="685800"/>
          </a:xfrm>
          <a:prstGeom prst="roundRect">
            <a:avLst>
              <a:gd name="adj" fmla="val 16000"/>
            </a:avLst>
          </a:prstGeom>
          <a:solidFill>
            <a:schemeClr val="accent4"/>
          </a:solidFill>
          <a:ln w="12700">
            <a:solidFill>
              <a:schemeClr val="accent4"/>
            </a:solidFill>
            <a:prstDash val="solid"/>
          </a:ln>
        </p:spPr>
      </p:sp>
      <p:sp>
        <p:nvSpPr>
          <p:cNvPr id="11" name="Text 9"/>
          <p:cNvSpPr txBox="1"/>
          <p:nvPr/>
        </p:nvSpPr>
        <p:spPr>
          <a:xfrm>
            <a:off x="685800" y="3657600"/>
            <a:ext cx="5440680" cy="685800"/>
          </a:xfrm>
          <a:prstGeom prst="rect">
            <a:avLst/>
          </a:prstGeom>
          <a:noFill/>
          <a:ln/>
        </p:spPr>
        <p:txBody>
          <a:bodyPr wrap="square" lIns="1016" tIns="1016" rIns="1016" bIns="1016" rtlCol="0" anchor="ctr"/>
          <a:lstStyle/>
          <a:p>
            <a:pPr indent="0" marL="0">
              <a:spcAft>
                <a:spcPts val="400"/>
              </a:spcAft>
              <a:buNone/>
            </a:pPr>
            <a:r>
              <a:rPr lang="en-US" sz="1500" dirty="0">
                <a:solidFill>
                  <a:schemeClr val="tx1"/>
                </a:solidFill>
              </a:rPr>
              <a:t>c)  Increase the absorption of mineral ions, e.g. phosphates and nitrates</a:t>
            </a:r>
            <a:endParaRPr lang="en-US" sz="1500" dirty="0"/>
          </a:p>
        </p:txBody>
      </p:sp>
      <p:sp>
        <p:nvSpPr>
          <p:cNvPr id="12" name="Text 10"/>
          <p:cNvSpPr txBox="1"/>
          <p:nvPr/>
        </p:nvSpPr>
        <p:spPr>
          <a:xfrm>
            <a:off x="548640" y="1783080"/>
            <a:ext cx="5486400" cy="274320"/>
          </a:xfrm>
          <a:prstGeom prst="rect">
            <a:avLst/>
          </a:prstGeom>
          <a:noFill/>
          <a:ln/>
        </p:spPr>
        <p:txBody>
          <a:bodyPr wrap="square" lIns="1016" tIns="1016" rIns="1016" bIns="1016" rtlCol="0" anchor="t"/>
          <a:lstStyle/>
          <a:p>
            <a:pPr indent="0" marL="0">
              <a:spcAft>
                <a:spcPts val="400"/>
              </a:spcAft>
              <a:buNone/>
            </a:pPr>
            <a:r>
              <a:rPr lang="en-US" sz="1200" b="1" dirty="0">
                <a:solidFill>
                  <a:schemeClr val="tx2"/>
                </a:solidFill>
              </a:rPr>
              <a:t>Benefits to the plant</a:t>
            </a:r>
            <a:endParaRPr lang="en-US" sz="1200" dirty="0"/>
          </a:p>
        </p:txBody>
      </p:sp>
      <p:sp>
        <p:nvSpPr>
          <p:cNvPr id="13" name="Shape 11"/>
          <p:cNvSpPr/>
          <p:nvPr/>
        </p:nvSpPr>
        <p:spPr>
          <a:xfrm>
            <a:off x="6492240" y="2011680"/>
            <a:ext cx="2286000" cy="1280160"/>
          </a:xfrm>
          <a:prstGeom prst="roundRect">
            <a:avLst>
              <a:gd name="adj" fmla="val 8571"/>
            </a:avLst>
          </a:prstGeom>
          <a:solidFill>
            <a:schemeClr val="accent1"/>
          </a:solidFill>
          <a:ln w="12700">
            <a:solidFill>
              <a:schemeClr val="accent1"/>
            </a:solidFill>
            <a:prstDash val="solid"/>
          </a:ln>
        </p:spPr>
      </p:sp>
      <p:sp>
        <p:nvSpPr>
          <p:cNvPr id="14" name="Text 12"/>
          <p:cNvSpPr txBox="1"/>
          <p:nvPr/>
        </p:nvSpPr>
        <p:spPr>
          <a:xfrm>
            <a:off x="6492240" y="2011680"/>
            <a:ext cx="2286000" cy="1280160"/>
          </a:xfrm>
          <a:prstGeom prst="rect">
            <a:avLst/>
          </a:prstGeom>
          <a:noFill/>
          <a:ln/>
        </p:spPr>
        <p:txBody>
          <a:bodyPr wrap="square" lIns="1016" tIns="1016" rIns="1016" bIns="1016" rtlCol="0" anchor="ctr"/>
          <a:lstStyle/>
          <a:p>
            <a:pPr algn="ctr" indent="0" marL="0">
              <a:spcAft>
                <a:spcPts val="400"/>
              </a:spcAft>
              <a:buNone/>
            </a:pPr>
            <a:r>
              <a:rPr lang="en-US" sz="2000" b="1" dirty="0">
                <a:solidFill>
                  <a:schemeClr val="bg1"/>
                </a:solidFill>
                <a:latin typeface="Cambria" pitchFamily="34" charset="0"/>
                <a:ea typeface="Cambria" pitchFamily="34" charset="-122"/>
                <a:cs typeface="Cambria" pitchFamily="34" charset="-120"/>
              </a:rPr>
              <a:t>Plant</a:t>
            </a:r>
            <a:endParaRPr lang="en-US" sz="2000" dirty="0"/>
          </a:p>
        </p:txBody>
      </p:sp>
      <p:sp>
        <p:nvSpPr>
          <p:cNvPr id="15" name="Shape 13"/>
          <p:cNvSpPr/>
          <p:nvPr/>
        </p:nvSpPr>
        <p:spPr>
          <a:xfrm>
            <a:off x="9372600" y="2011680"/>
            <a:ext cx="2286000" cy="1280160"/>
          </a:xfrm>
          <a:prstGeom prst="roundRect">
            <a:avLst>
              <a:gd name="adj" fmla="val 8571"/>
            </a:avLst>
          </a:prstGeom>
          <a:solidFill>
            <a:schemeClr val="accent2"/>
          </a:solidFill>
          <a:ln w="12700">
            <a:solidFill>
              <a:schemeClr val="accent2"/>
            </a:solidFill>
            <a:prstDash val="solid"/>
          </a:ln>
        </p:spPr>
      </p:sp>
      <p:sp>
        <p:nvSpPr>
          <p:cNvPr id="16" name="Text 14"/>
          <p:cNvSpPr txBox="1"/>
          <p:nvPr/>
        </p:nvSpPr>
        <p:spPr>
          <a:xfrm>
            <a:off x="9372600" y="2011680"/>
            <a:ext cx="2286000" cy="1280160"/>
          </a:xfrm>
          <a:prstGeom prst="rect">
            <a:avLst/>
          </a:prstGeom>
          <a:noFill/>
          <a:ln/>
        </p:spPr>
        <p:txBody>
          <a:bodyPr wrap="square" lIns="1016" tIns="1016" rIns="1016" bIns="1016" rtlCol="0" anchor="ctr"/>
          <a:lstStyle/>
          <a:p>
            <a:pPr algn="ctr" indent="0" marL="0">
              <a:spcAft>
                <a:spcPts val="400"/>
              </a:spcAft>
              <a:buNone/>
            </a:pPr>
            <a:r>
              <a:rPr lang="en-US" sz="2000" b="1" dirty="0">
                <a:solidFill>
                  <a:schemeClr val="tx1"/>
                </a:solidFill>
                <a:latin typeface="Cambria" pitchFamily="34" charset="0"/>
                <a:ea typeface="Cambria" pitchFamily="34" charset="-122"/>
                <a:cs typeface="Cambria" pitchFamily="34" charset="-120"/>
              </a:rPr>
              <a:t>Fungus</a:t>
            </a:r>
            <a:endParaRPr lang="en-US" sz="2000" dirty="0"/>
          </a:p>
        </p:txBody>
      </p:sp>
      <p:sp>
        <p:nvSpPr>
          <p:cNvPr id="17" name="Shape 15"/>
          <p:cNvSpPr/>
          <p:nvPr/>
        </p:nvSpPr>
        <p:spPr>
          <a:xfrm>
            <a:off x="8823960" y="2331720"/>
            <a:ext cx="502920" cy="914"/>
          </a:xfrm>
          <a:prstGeom prst="line">
            <a:avLst/>
          </a:prstGeom>
          <a:noFill/>
          <a:ln w="31750">
            <a:solidFill>
              <a:schemeClr val="tx1"/>
            </a:solidFill>
            <a:prstDash val="solid"/>
            <a:tailEnd type="triangle"/>
          </a:ln>
        </p:spPr>
      </p:sp>
      <p:sp>
        <p:nvSpPr>
          <p:cNvPr id="18" name="Shape 16"/>
          <p:cNvSpPr/>
          <p:nvPr/>
        </p:nvSpPr>
        <p:spPr>
          <a:xfrm flipH="1">
            <a:off x="8823960" y="2971800"/>
            <a:ext cx="502920" cy="914"/>
          </a:xfrm>
          <a:prstGeom prst="line">
            <a:avLst/>
          </a:prstGeom>
          <a:noFill/>
          <a:ln w="31750">
            <a:solidFill>
              <a:schemeClr val="tx1"/>
            </a:solidFill>
            <a:prstDash val="solid"/>
            <a:tailEnd type="triangle"/>
          </a:ln>
        </p:spPr>
      </p:sp>
      <p:sp>
        <p:nvSpPr>
          <p:cNvPr id="19" name="Text 17"/>
          <p:cNvSpPr txBox="1"/>
          <p:nvPr/>
        </p:nvSpPr>
        <p:spPr>
          <a:xfrm>
            <a:off x="6492240" y="3383280"/>
            <a:ext cx="5166360" cy="320040"/>
          </a:xfrm>
          <a:prstGeom prst="rect">
            <a:avLst/>
          </a:prstGeom>
          <a:noFill/>
          <a:ln/>
        </p:spPr>
        <p:txBody>
          <a:bodyPr wrap="square" lIns="1016" tIns="1016" rIns="1016" bIns="1016" rtlCol="0" anchor="t"/>
          <a:lstStyle/>
          <a:p>
            <a:pPr algn="ctr" indent="0" marL="0">
              <a:spcAft>
                <a:spcPts val="400"/>
              </a:spcAft>
              <a:buNone/>
            </a:pPr>
            <a:r>
              <a:rPr lang="en-US" sz="1300" dirty="0">
                <a:solidFill>
                  <a:schemeClr val="tx1"/>
                </a:solidFill>
              </a:rPr>
              <a:t>sucrose, amino acids →</a:t>
            </a:r>
            <a:endParaRPr lang="en-US" sz="1300" dirty="0"/>
          </a:p>
        </p:txBody>
      </p:sp>
      <p:sp>
        <p:nvSpPr>
          <p:cNvPr id="20" name="Text 18"/>
          <p:cNvSpPr txBox="1"/>
          <p:nvPr/>
        </p:nvSpPr>
        <p:spPr>
          <a:xfrm>
            <a:off x="6492240" y="3703320"/>
            <a:ext cx="5166360" cy="320040"/>
          </a:xfrm>
          <a:prstGeom prst="rect">
            <a:avLst/>
          </a:prstGeom>
          <a:noFill/>
          <a:ln/>
        </p:spPr>
        <p:txBody>
          <a:bodyPr wrap="square" lIns="1016" tIns="1016" rIns="1016" bIns="1016" rtlCol="0" anchor="t"/>
          <a:lstStyle/>
          <a:p>
            <a:pPr algn="ctr" indent="0" marL="0">
              <a:spcAft>
                <a:spcPts val="400"/>
              </a:spcAft>
              <a:buNone/>
            </a:pPr>
            <a:r>
              <a:rPr lang="en-US" sz="1300" dirty="0">
                <a:solidFill>
                  <a:schemeClr val="tx1"/>
                </a:solidFill>
              </a:rPr>
              <a:t>← water, mineral ions</a:t>
            </a:r>
            <a:endParaRPr lang="en-US" sz="1300" dirty="0"/>
          </a:p>
        </p:txBody>
      </p:sp>
      <p:sp>
        <p:nvSpPr>
          <p:cNvPr id="21" name="Shape 19"/>
          <p:cNvSpPr/>
          <p:nvPr/>
        </p:nvSpPr>
        <p:spPr>
          <a:xfrm>
            <a:off x="6492240" y="4206240"/>
            <a:ext cx="5166360" cy="1463040"/>
          </a:xfrm>
          <a:prstGeom prst="roundRect">
            <a:avLst>
              <a:gd name="adj" fmla="val 7500"/>
            </a:avLst>
          </a:prstGeom>
          <a:solidFill>
            <a:schemeClr val="accent4"/>
          </a:solidFill>
          <a:ln w="12700">
            <a:solidFill>
              <a:schemeClr val="accent4"/>
            </a:solidFill>
            <a:prstDash val="solid"/>
          </a:ln>
        </p:spPr>
      </p:sp>
      <p:sp>
        <p:nvSpPr>
          <p:cNvPr id="22" name="Text 20"/>
          <p:cNvSpPr txBox="1"/>
          <p:nvPr/>
        </p:nvSpPr>
        <p:spPr>
          <a:xfrm>
            <a:off x="6629400" y="4297680"/>
            <a:ext cx="4892040" cy="128016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MUTUALISTIC</a:t>
            </a:r>
            <a:endParaRPr lang="en-US" sz="1500" dirty="0"/>
          </a:p>
          <a:p>
            <a:pPr indent="0" marL="0">
              <a:spcAft>
                <a:spcPts val="400"/>
              </a:spcAft>
              <a:buNone/>
            </a:pPr>
            <a:r>
              <a:rPr lang="en-US" sz="1500" dirty="0">
                <a:solidFill>
                  <a:schemeClr val="tx1"/>
                </a:solidFill>
              </a:rPr>
              <a:t>Both benefit. The fungus can't photosynthesise, so it receives organic molecules from the plant, e.g. sucrose and amino acids.</a:t>
            </a:r>
            <a:endParaRPr lang="en-US" sz="1500" dirty="0"/>
          </a:p>
        </p:txBody>
      </p:sp>
      <p:sp>
        <p:nvSpPr>
          <p:cNvPr id="23" name="Shape 21"/>
          <p:cNvSpPr/>
          <p:nvPr/>
        </p:nvSpPr>
        <p:spPr>
          <a:xfrm>
            <a:off x="548640" y="4572000"/>
            <a:ext cx="5669280" cy="1097280"/>
          </a:xfrm>
          <a:prstGeom prst="roundRect">
            <a:avLst>
              <a:gd name="adj" fmla="val 10000"/>
            </a:avLst>
          </a:prstGeom>
          <a:solidFill>
            <a:schemeClr val="accent5"/>
          </a:solidFill>
          <a:ln w="12700">
            <a:solidFill>
              <a:schemeClr val="accent5"/>
            </a:solidFill>
            <a:prstDash val="solid"/>
          </a:ln>
        </p:spPr>
      </p:sp>
      <p:sp>
        <p:nvSpPr>
          <p:cNvPr id="24" name="Text 22"/>
          <p:cNvSpPr txBox="1"/>
          <p:nvPr/>
        </p:nvSpPr>
        <p:spPr>
          <a:xfrm>
            <a:off x="685800" y="4663440"/>
            <a:ext cx="5394960" cy="91440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IN THE NOTES' PICTURES</a:t>
            </a:r>
            <a:endParaRPr lang="en-US" sz="1500" dirty="0"/>
          </a:p>
          <a:p>
            <a:pPr indent="0" marL="0">
              <a:spcAft>
                <a:spcPts val="400"/>
              </a:spcAft>
              <a:buNone/>
            </a:pPr>
            <a:r>
              <a:rPr lang="en-US" sz="1500" dirty="0">
                <a:solidFill>
                  <a:schemeClr val="tx1"/>
                </a:solidFill>
              </a:rPr>
              <a:t>A plant with mycorrhizae has a much wider root network and grows bigger, with more fruit.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C · FROM THE CLASS NOTES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Why fertilisers are needed</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63040"/>
            <a:ext cx="2103120" cy="1737360"/>
          </a:xfrm>
          <a:prstGeom prst="roundRect">
            <a:avLst>
              <a:gd name="adj" fmla="val 6316"/>
            </a:avLst>
          </a:prstGeom>
          <a:solidFill>
            <a:schemeClr val="bg1"/>
          </a:solidFill>
          <a:ln w="15875">
            <a:solidFill>
              <a:schemeClr val="accent1"/>
            </a:solidFill>
            <a:prstDash val="solid"/>
          </a:ln>
        </p:spPr>
      </p:sp>
      <p:sp>
        <p:nvSpPr>
          <p:cNvPr id="6" name="Text 4"/>
          <p:cNvSpPr txBox="1"/>
          <p:nvPr/>
        </p:nvSpPr>
        <p:spPr>
          <a:xfrm>
            <a:off x="621792" y="1463040"/>
            <a:ext cx="1956816" cy="1737360"/>
          </a:xfrm>
          <a:prstGeom prst="rect">
            <a:avLst/>
          </a:prstGeom>
          <a:noFill/>
          <a:ln/>
        </p:spPr>
        <p:txBody>
          <a:bodyPr wrap="square" lIns="1016" tIns="1016" rIns="1016" bIns="1016" rtlCol="0" anchor="ctr"/>
          <a:lstStyle/>
          <a:p>
            <a:pPr algn="ctr" indent="0" marL="0">
              <a:spcAft>
                <a:spcPts val="400"/>
              </a:spcAft>
              <a:buNone/>
            </a:pPr>
            <a:r>
              <a:rPr lang="en-US" sz="1400" b="1" dirty="0">
                <a:solidFill>
                  <a:schemeClr val="tx1"/>
                </a:solidFill>
              </a:rPr>
              <a:t>Crops harvested</a:t>
            </a:r>
            <a:endParaRPr lang="en-US" sz="1400" dirty="0"/>
          </a:p>
          <a:p>
            <a:pPr algn="ctr" indent="0" marL="0">
              <a:spcAft>
                <a:spcPts val="400"/>
              </a:spcAft>
              <a:buNone/>
            </a:pPr>
            <a:r>
              <a:rPr lang="en-US" sz="1200" dirty="0">
                <a:solidFill>
                  <a:schemeClr val="tx1"/>
                </a:solidFill>
              </a:rPr>
              <a:t>and removed, so they don't decompose in the field</a:t>
            </a:r>
            <a:endParaRPr lang="en-US" sz="1400" dirty="0"/>
          </a:p>
        </p:txBody>
      </p:sp>
      <p:sp>
        <p:nvSpPr>
          <p:cNvPr id="7" name="Shape 5"/>
          <p:cNvSpPr/>
          <p:nvPr/>
        </p:nvSpPr>
        <p:spPr>
          <a:xfrm>
            <a:off x="2660904" y="2331720"/>
            <a:ext cx="137160" cy="914"/>
          </a:xfrm>
          <a:prstGeom prst="line">
            <a:avLst/>
          </a:prstGeom>
          <a:noFill/>
          <a:ln w="25400">
            <a:solidFill>
              <a:schemeClr val="tx2"/>
            </a:solidFill>
            <a:prstDash val="solid"/>
            <a:tailEnd type="triangle"/>
          </a:ln>
        </p:spPr>
      </p:sp>
      <p:sp>
        <p:nvSpPr>
          <p:cNvPr id="8" name="Shape 6"/>
          <p:cNvSpPr/>
          <p:nvPr/>
        </p:nvSpPr>
        <p:spPr>
          <a:xfrm>
            <a:off x="2807208" y="1463040"/>
            <a:ext cx="2103120" cy="1737360"/>
          </a:xfrm>
          <a:prstGeom prst="roundRect">
            <a:avLst>
              <a:gd name="adj" fmla="val 6316"/>
            </a:avLst>
          </a:prstGeom>
          <a:solidFill>
            <a:schemeClr val="bg1"/>
          </a:solidFill>
          <a:ln w="15875">
            <a:solidFill>
              <a:schemeClr val="accent1"/>
            </a:solidFill>
            <a:prstDash val="solid"/>
          </a:ln>
        </p:spPr>
      </p:sp>
      <p:sp>
        <p:nvSpPr>
          <p:cNvPr id="9" name="Text 7"/>
          <p:cNvSpPr txBox="1"/>
          <p:nvPr/>
        </p:nvSpPr>
        <p:spPr>
          <a:xfrm>
            <a:off x="2880360" y="1463040"/>
            <a:ext cx="1956816" cy="1737360"/>
          </a:xfrm>
          <a:prstGeom prst="rect">
            <a:avLst/>
          </a:prstGeom>
          <a:noFill/>
          <a:ln/>
        </p:spPr>
        <p:txBody>
          <a:bodyPr wrap="square" lIns="1016" tIns="1016" rIns="1016" bIns="1016" rtlCol="0" anchor="ctr"/>
          <a:lstStyle/>
          <a:p>
            <a:pPr algn="ctr" indent="0" marL="0">
              <a:spcAft>
                <a:spcPts val="400"/>
              </a:spcAft>
              <a:buNone/>
            </a:pPr>
            <a:r>
              <a:rPr lang="en-US" sz="1400" b="1" dirty="0">
                <a:solidFill>
                  <a:schemeClr val="tx1"/>
                </a:solidFill>
              </a:rPr>
              <a:t>Fewer ions</a:t>
            </a:r>
            <a:endParaRPr lang="en-US" sz="1400" dirty="0"/>
          </a:p>
          <a:p>
            <a:pPr algn="ctr" indent="0" marL="0">
              <a:spcAft>
                <a:spcPts val="400"/>
              </a:spcAft>
              <a:buNone/>
            </a:pPr>
            <a:r>
              <a:rPr lang="en-US" sz="1200" dirty="0">
                <a:solidFill>
                  <a:schemeClr val="tx1"/>
                </a:solidFill>
              </a:rPr>
              <a:t>returned to the soil</a:t>
            </a:r>
            <a:endParaRPr lang="en-US" sz="1400" dirty="0"/>
          </a:p>
        </p:txBody>
      </p:sp>
      <p:sp>
        <p:nvSpPr>
          <p:cNvPr id="10" name="Shape 8"/>
          <p:cNvSpPr/>
          <p:nvPr/>
        </p:nvSpPr>
        <p:spPr>
          <a:xfrm>
            <a:off x="4919472" y="2331720"/>
            <a:ext cx="137160" cy="914"/>
          </a:xfrm>
          <a:prstGeom prst="line">
            <a:avLst/>
          </a:prstGeom>
          <a:noFill/>
          <a:ln w="25400">
            <a:solidFill>
              <a:schemeClr val="tx2"/>
            </a:solidFill>
            <a:prstDash val="solid"/>
            <a:tailEnd type="triangle"/>
          </a:ln>
        </p:spPr>
      </p:sp>
      <p:sp>
        <p:nvSpPr>
          <p:cNvPr id="11" name="Shape 9"/>
          <p:cNvSpPr/>
          <p:nvPr/>
        </p:nvSpPr>
        <p:spPr>
          <a:xfrm>
            <a:off x="5065776" y="1463040"/>
            <a:ext cx="2103120" cy="1737360"/>
          </a:xfrm>
          <a:prstGeom prst="roundRect">
            <a:avLst>
              <a:gd name="adj" fmla="val 6316"/>
            </a:avLst>
          </a:prstGeom>
          <a:solidFill>
            <a:schemeClr val="bg1"/>
          </a:solidFill>
          <a:ln w="15875">
            <a:solidFill>
              <a:schemeClr val="accent1"/>
            </a:solidFill>
            <a:prstDash val="solid"/>
          </a:ln>
        </p:spPr>
      </p:sp>
      <p:sp>
        <p:nvSpPr>
          <p:cNvPr id="12" name="Text 10"/>
          <p:cNvSpPr txBox="1"/>
          <p:nvPr/>
        </p:nvSpPr>
        <p:spPr>
          <a:xfrm>
            <a:off x="5138928" y="1463040"/>
            <a:ext cx="1956816" cy="1737360"/>
          </a:xfrm>
          <a:prstGeom prst="rect">
            <a:avLst/>
          </a:prstGeom>
          <a:noFill/>
          <a:ln/>
        </p:spPr>
        <p:txBody>
          <a:bodyPr wrap="square" lIns="1016" tIns="1016" rIns="1016" bIns="1016" rtlCol="0" anchor="ctr"/>
          <a:lstStyle/>
          <a:p>
            <a:pPr algn="ctr" indent="0" marL="0">
              <a:spcAft>
                <a:spcPts val="400"/>
              </a:spcAft>
              <a:buNone/>
            </a:pPr>
            <a:r>
              <a:rPr lang="en-US" sz="1400" b="1" dirty="0">
                <a:solidFill>
                  <a:schemeClr val="tx1"/>
                </a:solidFill>
              </a:rPr>
              <a:t>Less protein and DNA</a:t>
            </a:r>
            <a:endParaRPr lang="en-US" sz="1400" dirty="0"/>
          </a:p>
          <a:p>
            <a:pPr algn="ctr" indent="0" marL="0">
              <a:spcAft>
                <a:spcPts val="400"/>
              </a:spcAft>
              <a:buNone/>
            </a:pPr>
            <a:r>
              <a:rPr lang="en-US" sz="1200" dirty="0">
                <a:solidFill>
                  <a:schemeClr val="tx1"/>
                </a:solidFill>
              </a:rPr>
              <a:t>N is needed for both, so plants grow more slowly</a:t>
            </a:r>
            <a:endParaRPr lang="en-US" sz="1400" dirty="0"/>
          </a:p>
        </p:txBody>
      </p:sp>
      <p:sp>
        <p:nvSpPr>
          <p:cNvPr id="13" name="Shape 11"/>
          <p:cNvSpPr/>
          <p:nvPr/>
        </p:nvSpPr>
        <p:spPr>
          <a:xfrm>
            <a:off x="7178040" y="2331720"/>
            <a:ext cx="137160" cy="914"/>
          </a:xfrm>
          <a:prstGeom prst="line">
            <a:avLst/>
          </a:prstGeom>
          <a:noFill/>
          <a:ln w="25400">
            <a:solidFill>
              <a:schemeClr val="tx2"/>
            </a:solidFill>
            <a:prstDash val="solid"/>
            <a:tailEnd type="triangle"/>
          </a:ln>
        </p:spPr>
      </p:sp>
      <p:sp>
        <p:nvSpPr>
          <p:cNvPr id="14" name="Shape 12"/>
          <p:cNvSpPr/>
          <p:nvPr/>
        </p:nvSpPr>
        <p:spPr>
          <a:xfrm>
            <a:off x="7324344" y="1463040"/>
            <a:ext cx="2103120" cy="1737360"/>
          </a:xfrm>
          <a:prstGeom prst="roundRect">
            <a:avLst>
              <a:gd name="adj" fmla="val 6316"/>
            </a:avLst>
          </a:prstGeom>
          <a:solidFill>
            <a:schemeClr val="bg1"/>
          </a:solidFill>
          <a:ln w="15875">
            <a:solidFill>
              <a:schemeClr val="accent1"/>
            </a:solidFill>
            <a:prstDash val="solid"/>
          </a:ln>
        </p:spPr>
      </p:sp>
      <p:sp>
        <p:nvSpPr>
          <p:cNvPr id="15" name="Text 13"/>
          <p:cNvSpPr txBox="1"/>
          <p:nvPr/>
        </p:nvSpPr>
        <p:spPr>
          <a:xfrm>
            <a:off x="7397496" y="1463040"/>
            <a:ext cx="1956816" cy="1737360"/>
          </a:xfrm>
          <a:prstGeom prst="rect">
            <a:avLst/>
          </a:prstGeom>
          <a:noFill/>
          <a:ln/>
        </p:spPr>
        <p:txBody>
          <a:bodyPr wrap="square" lIns="1016" tIns="1016" rIns="1016" bIns="1016" rtlCol="0" anchor="ctr"/>
          <a:lstStyle/>
          <a:p>
            <a:pPr algn="ctr" indent="0" marL="0">
              <a:spcAft>
                <a:spcPts val="400"/>
              </a:spcAft>
              <a:buNone/>
            </a:pPr>
            <a:r>
              <a:rPr lang="en-US" sz="1400" b="1" dirty="0">
                <a:solidFill>
                  <a:schemeClr val="tx1"/>
                </a:solidFill>
              </a:rPr>
              <a:t>Smaller leaf area</a:t>
            </a:r>
            <a:endParaRPr lang="en-US" sz="1400" dirty="0"/>
          </a:p>
          <a:p>
            <a:pPr algn="ctr" indent="0" marL="0">
              <a:spcAft>
                <a:spcPts val="400"/>
              </a:spcAft>
              <a:buNone/>
            </a:pPr>
            <a:r>
              <a:rPr lang="en-US" sz="1200" dirty="0">
                <a:solidFill>
                  <a:schemeClr val="tx1"/>
                </a:solidFill>
              </a:rPr>
              <a:t>less photosynthesis, lower productivity</a:t>
            </a:r>
            <a:endParaRPr lang="en-US" sz="1400" dirty="0"/>
          </a:p>
        </p:txBody>
      </p:sp>
      <p:sp>
        <p:nvSpPr>
          <p:cNvPr id="16" name="Shape 14"/>
          <p:cNvSpPr/>
          <p:nvPr/>
        </p:nvSpPr>
        <p:spPr>
          <a:xfrm>
            <a:off x="9436608" y="2331720"/>
            <a:ext cx="137160" cy="914"/>
          </a:xfrm>
          <a:prstGeom prst="line">
            <a:avLst/>
          </a:prstGeom>
          <a:noFill/>
          <a:ln w="25400">
            <a:solidFill>
              <a:schemeClr val="tx2"/>
            </a:solidFill>
            <a:prstDash val="solid"/>
            <a:tailEnd type="triangle"/>
          </a:ln>
        </p:spPr>
      </p:sp>
      <p:sp>
        <p:nvSpPr>
          <p:cNvPr id="17" name="Shape 15"/>
          <p:cNvSpPr/>
          <p:nvPr/>
        </p:nvSpPr>
        <p:spPr>
          <a:xfrm>
            <a:off x="9582912" y="1463040"/>
            <a:ext cx="2103120" cy="1737360"/>
          </a:xfrm>
          <a:prstGeom prst="roundRect">
            <a:avLst>
              <a:gd name="adj" fmla="val 6316"/>
            </a:avLst>
          </a:prstGeom>
          <a:solidFill>
            <a:schemeClr val="accent1"/>
          </a:solidFill>
          <a:ln w="15875">
            <a:solidFill>
              <a:schemeClr val="accent1"/>
            </a:solidFill>
            <a:prstDash val="solid"/>
          </a:ln>
        </p:spPr>
      </p:sp>
      <p:sp>
        <p:nvSpPr>
          <p:cNvPr id="18" name="Text 16"/>
          <p:cNvSpPr txBox="1"/>
          <p:nvPr/>
        </p:nvSpPr>
        <p:spPr>
          <a:xfrm>
            <a:off x="9656064" y="1463040"/>
            <a:ext cx="1956816" cy="1737360"/>
          </a:xfrm>
          <a:prstGeom prst="rect">
            <a:avLst/>
          </a:prstGeom>
          <a:noFill/>
          <a:ln/>
        </p:spPr>
        <p:txBody>
          <a:bodyPr wrap="square" lIns="1016" tIns="1016" rIns="1016" bIns="1016" rtlCol="0" anchor="ctr"/>
          <a:lstStyle/>
          <a:p>
            <a:pPr algn="ctr" indent="0" marL="0">
              <a:spcAft>
                <a:spcPts val="400"/>
              </a:spcAft>
              <a:buNone/>
            </a:pPr>
            <a:r>
              <a:rPr lang="en-US" sz="1400" b="1" dirty="0">
                <a:solidFill>
                  <a:schemeClr val="bg1"/>
                </a:solidFill>
              </a:rPr>
              <a:t>Fertilisers</a:t>
            </a:r>
            <a:endParaRPr lang="en-US" sz="1400" dirty="0"/>
          </a:p>
          <a:p>
            <a:pPr algn="ctr" indent="0" marL="0">
              <a:spcAft>
                <a:spcPts val="400"/>
              </a:spcAft>
              <a:buNone/>
            </a:pPr>
            <a:r>
              <a:rPr lang="en-US" sz="1200" dirty="0">
                <a:solidFill>
                  <a:schemeClr val="bg1"/>
                </a:solidFill>
              </a:rPr>
              <a:t>replace the lost ions</a:t>
            </a:r>
            <a:endParaRPr lang="en-US" sz="1400" dirty="0"/>
          </a:p>
        </p:txBody>
      </p:sp>
      <p:sp>
        <p:nvSpPr>
          <p:cNvPr id="19" name="Text 17"/>
          <p:cNvSpPr txBox="1"/>
          <p:nvPr/>
        </p:nvSpPr>
        <p:spPr>
          <a:xfrm>
            <a:off x="548640" y="3429000"/>
            <a:ext cx="6035040" cy="100584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In a natural ecosystem the ions are recycled. In agricultural ecosystems crops are harvested and removed, so there is less recycling of inorganic ions.</a:t>
            </a:r>
            <a:endParaRPr lang="en-US" sz="1500" dirty="0"/>
          </a:p>
        </p:txBody>
      </p:sp>
      <p:sp>
        <p:nvSpPr>
          <p:cNvPr id="20" name="Shape 18"/>
          <p:cNvSpPr/>
          <p:nvPr/>
        </p:nvSpPr>
        <p:spPr>
          <a:xfrm>
            <a:off x="548640" y="4572000"/>
            <a:ext cx="2926080" cy="1508760"/>
          </a:xfrm>
          <a:prstGeom prst="roundRect">
            <a:avLst>
              <a:gd name="adj" fmla="val 7273"/>
            </a:avLst>
          </a:prstGeom>
          <a:solidFill>
            <a:schemeClr val="accent4"/>
          </a:solidFill>
          <a:ln w="12700">
            <a:solidFill>
              <a:schemeClr val="accent4"/>
            </a:solidFill>
            <a:prstDash val="solid"/>
          </a:ln>
        </p:spPr>
      </p:sp>
      <p:sp>
        <p:nvSpPr>
          <p:cNvPr id="21" name="Text 19"/>
          <p:cNvSpPr txBox="1"/>
          <p:nvPr/>
        </p:nvSpPr>
        <p:spPr>
          <a:xfrm>
            <a:off x="685800" y="4617720"/>
            <a:ext cx="2651760" cy="1417320"/>
          </a:xfrm>
          <a:prstGeom prst="rect">
            <a:avLst/>
          </a:prstGeom>
          <a:noFill/>
          <a:ln/>
        </p:spPr>
        <p:txBody>
          <a:bodyPr wrap="square" lIns="1016" tIns="1016" rIns="1016" bIns="1016" rtlCol="0" anchor="ctr"/>
          <a:lstStyle/>
          <a:p>
            <a:pPr indent="0" marL="0">
              <a:spcAft>
                <a:spcPts val="400"/>
              </a:spcAft>
              <a:buNone/>
            </a:pPr>
            <a:r>
              <a:rPr lang="en-US" sz="1400" b="1" dirty="0">
                <a:solidFill>
                  <a:schemeClr val="tx1"/>
                </a:solidFill>
              </a:rPr>
              <a:t>Natural</a:t>
            </a:r>
            <a:endParaRPr lang="en-US" sz="1400" dirty="0"/>
          </a:p>
          <a:p>
            <a:pPr indent="0" marL="0">
              <a:spcAft>
                <a:spcPts val="400"/>
              </a:spcAft>
              <a:buNone/>
            </a:pPr>
            <a:r>
              <a:rPr lang="en-US" sz="1400" dirty="0">
                <a:solidFill>
                  <a:schemeClr val="tx1"/>
                </a:solidFill>
              </a:rPr>
              <a:t>waste materials such as manure</a:t>
            </a:r>
            <a:endParaRPr lang="en-US" sz="1400" dirty="0"/>
          </a:p>
        </p:txBody>
      </p:sp>
      <p:sp>
        <p:nvSpPr>
          <p:cNvPr id="22" name="Shape 20"/>
          <p:cNvSpPr/>
          <p:nvPr/>
        </p:nvSpPr>
        <p:spPr>
          <a:xfrm>
            <a:off x="3657600" y="4572000"/>
            <a:ext cx="2926080" cy="1508760"/>
          </a:xfrm>
          <a:prstGeom prst="roundRect">
            <a:avLst>
              <a:gd name="adj" fmla="val 7273"/>
            </a:avLst>
          </a:prstGeom>
          <a:solidFill>
            <a:schemeClr val="accent4"/>
          </a:solidFill>
          <a:ln w="12700">
            <a:solidFill>
              <a:schemeClr val="accent4"/>
            </a:solidFill>
            <a:prstDash val="solid"/>
          </a:ln>
        </p:spPr>
      </p:sp>
      <p:sp>
        <p:nvSpPr>
          <p:cNvPr id="23" name="Text 21"/>
          <p:cNvSpPr txBox="1"/>
          <p:nvPr/>
        </p:nvSpPr>
        <p:spPr>
          <a:xfrm>
            <a:off x="3794760" y="4617720"/>
            <a:ext cx="2651760" cy="1417320"/>
          </a:xfrm>
          <a:prstGeom prst="rect">
            <a:avLst/>
          </a:prstGeom>
          <a:noFill/>
          <a:ln/>
        </p:spPr>
        <p:txBody>
          <a:bodyPr wrap="square" lIns="1016" tIns="1016" rIns="1016" bIns="1016" rtlCol="0" anchor="ctr"/>
          <a:lstStyle/>
          <a:p>
            <a:pPr indent="0" marL="0">
              <a:spcAft>
                <a:spcPts val="400"/>
              </a:spcAft>
              <a:buNone/>
            </a:pPr>
            <a:r>
              <a:rPr lang="en-US" sz="1300" b="1" dirty="0">
                <a:solidFill>
                  <a:schemeClr val="tx1"/>
                </a:solidFill>
              </a:rPr>
              <a:t>Artificial</a:t>
            </a:r>
            <a:endParaRPr lang="en-US" sz="1300" dirty="0"/>
          </a:p>
          <a:p>
            <a:pPr indent="0" marL="0">
              <a:spcAft>
                <a:spcPts val="400"/>
              </a:spcAft>
              <a:buNone/>
            </a:pPr>
            <a:r>
              <a:rPr lang="en-US" sz="1300" dirty="0">
                <a:solidFill>
                  <a:schemeClr val="tx1"/>
                </a:solidFill>
              </a:rPr>
              <a:t>manufactured powders or pellets containing nitrates, phosphates and potassium ions</a:t>
            </a:r>
            <a:endParaRPr lang="en-US" sz="1300" dirty="0"/>
          </a:p>
        </p:txBody>
      </p:sp>
      <p:sp>
        <p:nvSpPr>
          <p:cNvPr id="24" name="Shape 22"/>
          <p:cNvSpPr/>
          <p:nvPr/>
        </p:nvSpPr>
        <p:spPr>
          <a:xfrm>
            <a:off x="6858000" y="3429000"/>
            <a:ext cx="4800600" cy="2651760"/>
          </a:xfrm>
          <a:prstGeom prst="roundRect">
            <a:avLst>
              <a:gd name="adj" fmla="val 4138"/>
            </a:avLst>
          </a:prstGeom>
          <a:solidFill>
            <a:schemeClr val="accent5"/>
          </a:solidFill>
          <a:ln w="12700">
            <a:solidFill>
              <a:schemeClr val="accent5"/>
            </a:solidFill>
            <a:prstDash val="solid"/>
          </a:ln>
        </p:spPr>
      </p:sp>
      <p:sp>
        <p:nvSpPr>
          <p:cNvPr id="25" name="Text 23"/>
          <p:cNvSpPr txBox="1"/>
          <p:nvPr/>
        </p:nvSpPr>
        <p:spPr>
          <a:xfrm>
            <a:off x="6995160" y="3520440"/>
            <a:ext cx="4526280" cy="246888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EXAMINER TIP (FROM THE NOTES)</a:t>
            </a:r>
            <a:endParaRPr lang="en-US" sz="1500" dirty="0"/>
          </a:p>
          <a:p>
            <a:pPr indent="0" marL="0">
              <a:spcAft>
                <a:spcPts val="400"/>
              </a:spcAft>
              <a:buNone/>
            </a:pPr>
            <a:r>
              <a:rPr lang="en-US" sz="1500" dirty="0">
                <a:solidFill>
                  <a:schemeClr val="tx1"/>
                </a:solidFill>
              </a:rPr>
              <a:t>Fertilisers commonly contain nitrates, phosphates and potassium ions. Know why plants need them and give example molecules: phosphorus is in DNA, RNA, ATP and the phospholipids that form all cell membranes.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C · FROM THE CLASS NOTES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environmental impact of fertilisers</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63040"/>
            <a:ext cx="5486400" cy="2011680"/>
          </a:xfrm>
          <a:prstGeom prst="roundRect">
            <a:avLst>
              <a:gd name="adj" fmla="val 5455"/>
            </a:avLst>
          </a:prstGeom>
          <a:solidFill>
            <a:schemeClr val="bg1"/>
          </a:solidFill>
          <a:ln w="15875">
            <a:solidFill>
              <a:schemeClr val="accent1"/>
            </a:solidFill>
            <a:prstDash val="solid"/>
          </a:ln>
        </p:spPr>
      </p:sp>
      <p:sp>
        <p:nvSpPr>
          <p:cNvPr id="6" name="Text 4"/>
          <p:cNvSpPr txBox="1"/>
          <p:nvPr/>
        </p:nvSpPr>
        <p:spPr>
          <a:xfrm>
            <a:off x="731520" y="1554480"/>
            <a:ext cx="5120640" cy="1828800"/>
          </a:xfrm>
          <a:prstGeom prst="rect">
            <a:avLst/>
          </a:prstGeom>
          <a:noFill/>
          <a:ln/>
        </p:spPr>
        <p:txBody>
          <a:bodyPr wrap="square" lIns="1016" tIns="1016" rIns="1016" bIns="1016" rtlCol="0" anchor="ctr"/>
          <a:lstStyle/>
          <a:p>
            <a:pPr indent="0" marL="0">
              <a:spcAft>
                <a:spcPts val="400"/>
              </a:spcAft>
              <a:buNone/>
            </a:pPr>
            <a:r>
              <a:rPr lang="en-US" sz="1800" b="1" dirty="0">
                <a:solidFill>
                  <a:schemeClr val="accent1"/>
                </a:solidFill>
              </a:rPr>
              <a:t>Reduced species diversity</a:t>
            </a:r>
            <a:endParaRPr lang="en-US" sz="1600" dirty="0"/>
          </a:p>
          <a:p>
            <a:pPr indent="0" marL="0">
              <a:spcAft>
                <a:spcPts val="400"/>
              </a:spcAft>
              <a:buNone/>
            </a:pPr>
            <a:r>
              <a:rPr lang="en-US" sz="1600" dirty="0">
                <a:solidFill>
                  <a:schemeClr val="tx1"/>
                </a:solidFill>
              </a:rPr>
              <a:t>Plants adapted to soils high in nitrate outcompete other species.</a:t>
            </a:r>
            <a:endParaRPr lang="en-US" sz="1600" dirty="0"/>
          </a:p>
        </p:txBody>
      </p:sp>
      <p:sp>
        <p:nvSpPr>
          <p:cNvPr id="7" name="Shape 5"/>
          <p:cNvSpPr/>
          <p:nvPr/>
        </p:nvSpPr>
        <p:spPr>
          <a:xfrm>
            <a:off x="6172200" y="1463040"/>
            <a:ext cx="5486400" cy="2011680"/>
          </a:xfrm>
          <a:prstGeom prst="roundRect">
            <a:avLst>
              <a:gd name="adj" fmla="val 5455"/>
            </a:avLst>
          </a:prstGeom>
          <a:solidFill>
            <a:schemeClr val="bg1"/>
          </a:solidFill>
          <a:ln w="15875">
            <a:solidFill>
              <a:schemeClr val="accent1"/>
            </a:solidFill>
            <a:prstDash val="solid"/>
          </a:ln>
        </p:spPr>
      </p:sp>
      <p:sp>
        <p:nvSpPr>
          <p:cNvPr id="8" name="Text 6"/>
          <p:cNvSpPr txBox="1"/>
          <p:nvPr/>
        </p:nvSpPr>
        <p:spPr>
          <a:xfrm>
            <a:off x="6355080" y="1554480"/>
            <a:ext cx="5120640" cy="1828800"/>
          </a:xfrm>
          <a:prstGeom prst="rect">
            <a:avLst/>
          </a:prstGeom>
          <a:noFill/>
          <a:ln/>
        </p:spPr>
        <p:txBody>
          <a:bodyPr wrap="square" lIns="1016" tIns="1016" rIns="1016" bIns="1016" rtlCol="0" anchor="ctr"/>
          <a:lstStyle/>
          <a:p>
            <a:pPr indent="0" marL="0">
              <a:spcAft>
                <a:spcPts val="400"/>
              </a:spcAft>
              <a:buNone/>
            </a:pPr>
            <a:r>
              <a:rPr lang="en-US" sz="1800" b="1" dirty="0">
                <a:solidFill>
                  <a:schemeClr val="accent1"/>
                </a:solidFill>
              </a:rPr>
              <a:t>Leaching</a:t>
            </a:r>
            <a:endParaRPr lang="en-US" sz="1500" dirty="0"/>
          </a:p>
          <a:p>
            <a:pPr indent="0" marL="0">
              <a:spcAft>
                <a:spcPts val="400"/>
              </a:spcAft>
              <a:buNone/>
            </a:pPr>
            <a:r>
              <a:rPr lang="en-US" sz="1500" dirty="0">
                <a:solidFill>
                  <a:schemeClr val="tx1"/>
                </a:solidFill>
              </a:rPr>
              <a:t>Artificial fertilisers put more ions onto the soil than plants take up. The ions dissolve in soil water and are washed into streams, rivers and lakes.</a:t>
            </a:r>
            <a:endParaRPr lang="en-US" sz="1500" dirty="0"/>
          </a:p>
        </p:txBody>
      </p:sp>
      <p:sp>
        <p:nvSpPr>
          <p:cNvPr id="9" name="Shape 7"/>
          <p:cNvSpPr/>
          <p:nvPr/>
        </p:nvSpPr>
        <p:spPr>
          <a:xfrm>
            <a:off x="548640" y="3840480"/>
            <a:ext cx="2606040" cy="868680"/>
          </a:xfrm>
          <a:prstGeom prst="roundRect">
            <a:avLst>
              <a:gd name="adj" fmla="val 12632"/>
            </a:avLst>
          </a:prstGeom>
          <a:solidFill>
            <a:schemeClr val="accent4"/>
          </a:solidFill>
          <a:ln w="12700">
            <a:solidFill>
              <a:schemeClr val="accent4"/>
            </a:solidFill>
            <a:prstDash val="solid"/>
          </a:ln>
        </p:spPr>
      </p:sp>
      <p:sp>
        <p:nvSpPr>
          <p:cNvPr id="10" name="Text 8"/>
          <p:cNvSpPr txBox="1"/>
          <p:nvPr/>
        </p:nvSpPr>
        <p:spPr>
          <a:xfrm>
            <a:off x="548640" y="3840480"/>
            <a:ext cx="2606040" cy="868680"/>
          </a:xfrm>
          <a:prstGeom prst="rect">
            <a:avLst/>
          </a:prstGeom>
          <a:noFill/>
          <a:ln/>
        </p:spPr>
        <p:txBody>
          <a:bodyPr wrap="square" lIns="1016" tIns="1016" rIns="1016" bIns="1016" rtlCol="0" anchor="ctr"/>
          <a:lstStyle/>
          <a:p>
            <a:pPr algn="ctr" indent="0" marL="0">
              <a:spcAft>
                <a:spcPts val="400"/>
              </a:spcAft>
              <a:buNone/>
            </a:pPr>
            <a:r>
              <a:rPr lang="en-US" sz="1500" b="1" dirty="0">
                <a:solidFill>
                  <a:schemeClr val="tx1"/>
                </a:solidFill>
              </a:rPr>
              <a:t>Too much fertiliser</a:t>
            </a:r>
            <a:endParaRPr lang="en-US" sz="1500" dirty="0"/>
          </a:p>
        </p:txBody>
      </p:sp>
      <p:sp>
        <p:nvSpPr>
          <p:cNvPr id="11" name="Shape 9"/>
          <p:cNvSpPr/>
          <p:nvPr/>
        </p:nvSpPr>
        <p:spPr>
          <a:xfrm>
            <a:off x="3172968" y="4270248"/>
            <a:ext cx="173736" cy="914"/>
          </a:xfrm>
          <a:prstGeom prst="line">
            <a:avLst/>
          </a:prstGeom>
          <a:noFill/>
          <a:ln w="25400">
            <a:solidFill>
              <a:schemeClr val="tx2"/>
            </a:solidFill>
            <a:prstDash val="solid"/>
            <a:tailEnd type="triangle"/>
          </a:ln>
        </p:spPr>
      </p:sp>
      <p:sp>
        <p:nvSpPr>
          <p:cNvPr id="12" name="Shape 10"/>
          <p:cNvSpPr/>
          <p:nvPr/>
        </p:nvSpPr>
        <p:spPr>
          <a:xfrm>
            <a:off x="3364992" y="3840480"/>
            <a:ext cx="2606040" cy="868680"/>
          </a:xfrm>
          <a:prstGeom prst="roundRect">
            <a:avLst>
              <a:gd name="adj" fmla="val 12632"/>
            </a:avLst>
          </a:prstGeom>
          <a:solidFill>
            <a:schemeClr val="accent4"/>
          </a:solidFill>
          <a:ln w="12700">
            <a:solidFill>
              <a:schemeClr val="accent4"/>
            </a:solidFill>
            <a:prstDash val="solid"/>
          </a:ln>
        </p:spPr>
      </p:sp>
      <p:sp>
        <p:nvSpPr>
          <p:cNvPr id="13" name="Text 11"/>
          <p:cNvSpPr txBox="1"/>
          <p:nvPr/>
        </p:nvSpPr>
        <p:spPr>
          <a:xfrm>
            <a:off x="3364992" y="3840480"/>
            <a:ext cx="2606040" cy="868680"/>
          </a:xfrm>
          <a:prstGeom prst="rect">
            <a:avLst/>
          </a:prstGeom>
          <a:noFill/>
          <a:ln/>
        </p:spPr>
        <p:txBody>
          <a:bodyPr wrap="square" lIns="1016" tIns="1016" rIns="1016" bIns="1016" rtlCol="0" anchor="ctr"/>
          <a:lstStyle/>
          <a:p>
            <a:pPr algn="ctr" indent="0" marL="0">
              <a:spcAft>
                <a:spcPts val="400"/>
              </a:spcAft>
              <a:buNone/>
            </a:pPr>
            <a:r>
              <a:rPr lang="en-US" sz="1500" b="1" dirty="0">
                <a:solidFill>
                  <a:schemeClr val="tx1"/>
                </a:solidFill>
              </a:rPr>
              <a:t>Ions dissolve in soil water</a:t>
            </a:r>
            <a:endParaRPr lang="en-US" sz="1500" dirty="0"/>
          </a:p>
        </p:txBody>
      </p:sp>
      <p:sp>
        <p:nvSpPr>
          <p:cNvPr id="14" name="Shape 12"/>
          <p:cNvSpPr/>
          <p:nvPr/>
        </p:nvSpPr>
        <p:spPr>
          <a:xfrm>
            <a:off x="5989320" y="4270248"/>
            <a:ext cx="173736" cy="914"/>
          </a:xfrm>
          <a:prstGeom prst="line">
            <a:avLst/>
          </a:prstGeom>
          <a:noFill/>
          <a:ln w="25400">
            <a:solidFill>
              <a:schemeClr val="tx2"/>
            </a:solidFill>
            <a:prstDash val="solid"/>
            <a:tailEnd type="triangle"/>
          </a:ln>
        </p:spPr>
      </p:sp>
      <p:sp>
        <p:nvSpPr>
          <p:cNvPr id="15" name="Shape 13"/>
          <p:cNvSpPr/>
          <p:nvPr/>
        </p:nvSpPr>
        <p:spPr>
          <a:xfrm>
            <a:off x="6181344" y="3840480"/>
            <a:ext cx="2606040" cy="868680"/>
          </a:xfrm>
          <a:prstGeom prst="roundRect">
            <a:avLst>
              <a:gd name="adj" fmla="val 12632"/>
            </a:avLst>
          </a:prstGeom>
          <a:solidFill>
            <a:schemeClr val="accent4"/>
          </a:solidFill>
          <a:ln w="12700">
            <a:solidFill>
              <a:schemeClr val="accent4"/>
            </a:solidFill>
            <a:prstDash val="solid"/>
          </a:ln>
        </p:spPr>
      </p:sp>
      <p:sp>
        <p:nvSpPr>
          <p:cNvPr id="16" name="Text 14"/>
          <p:cNvSpPr txBox="1"/>
          <p:nvPr/>
        </p:nvSpPr>
        <p:spPr>
          <a:xfrm>
            <a:off x="6181344" y="3840480"/>
            <a:ext cx="2606040" cy="868680"/>
          </a:xfrm>
          <a:prstGeom prst="rect">
            <a:avLst/>
          </a:prstGeom>
          <a:noFill/>
          <a:ln/>
        </p:spPr>
        <p:txBody>
          <a:bodyPr wrap="square" lIns="1016" tIns="1016" rIns="1016" bIns="1016" rtlCol="0" anchor="ctr"/>
          <a:lstStyle/>
          <a:p>
            <a:pPr algn="ctr" indent="0" marL="0">
              <a:spcAft>
                <a:spcPts val="400"/>
              </a:spcAft>
              <a:buNone/>
            </a:pPr>
            <a:r>
              <a:rPr lang="en-US" sz="1500" b="1" dirty="0">
                <a:solidFill>
                  <a:schemeClr val="tx1"/>
                </a:solidFill>
              </a:rPr>
              <a:t>Washed out of the soil</a:t>
            </a:r>
            <a:endParaRPr lang="en-US" sz="1500" dirty="0"/>
          </a:p>
        </p:txBody>
      </p:sp>
      <p:sp>
        <p:nvSpPr>
          <p:cNvPr id="17" name="Shape 15"/>
          <p:cNvSpPr/>
          <p:nvPr/>
        </p:nvSpPr>
        <p:spPr>
          <a:xfrm>
            <a:off x="8805672" y="4270248"/>
            <a:ext cx="173736" cy="914"/>
          </a:xfrm>
          <a:prstGeom prst="line">
            <a:avLst/>
          </a:prstGeom>
          <a:noFill/>
          <a:ln w="25400">
            <a:solidFill>
              <a:schemeClr val="tx2"/>
            </a:solidFill>
            <a:prstDash val="solid"/>
            <a:tailEnd type="triangle"/>
          </a:ln>
        </p:spPr>
      </p:sp>
      <p:sp>
        <p:nvSpPr>
          <p:cNvPr id="18" name="Shape 16"/>
          <p:cNvSpPr/>
          <p:nvPr/>
        </p:nvSpPr>
        <p:spPr>
          <a:xfrm>
            <a:off x="8997696" y="3840480"/>
            <a:ext cx="2606040" cy="868680"/>
          </a:xfrm>
          <a:prstGeom prst="roundRect">
            <a:avLst>
              <a:gd name="adj" fmla="val 12632"/>
            </a:avLst>
          </a:prstGeom>
          <a:solidFill>
            <a:schemeClr val="accent6"/>
          </a:solidFill>
          <a:ln w="12700">
            <a:solidFill>
              <a:schemeClr val="accent6"/>
            </a:solidFill>
            <a:prstDash val="solid"/>
          </a:ln>
        </p:spPr>
      </p:sp>
      <p:sp>
        <p:nvSpPr>
          <p:cNvPr id="19" name="Text 17"/>
          <p:cNvSpPr txBox="1"/>
          <p:nvPr/>
        </p:nvSpPr>
        <p:spPr>
          <a:xfrm>
            <a:off x="8997696" y="3840480"/>
            <a:ext cx="2606040" cy="868680"/>
          </a:xfrm>
          <a:prstGeom prst="rect">
            <a:avLst/>
          </a:prstGeom>
          <a:noFill/>
          <a:ln/>
        </p:spPr>
        <p:txBody>
          <a:bodyPr wrap="square" lIns="1016" tIns="1016" rIns="1016" bIns="1016" rtlCol="0" anchor="ctr"/>
          <a:lstStyle/>
          <a:p>
            <a:pPr algn="ctr" indent="0" marL="0">
              <a:spcAft>
                <a:spcPts val="400"/>
              </a:spcAft>
              <a:buNone/>
            </a:pPr>
            <a:r>
              <a:rPr lang="en-US" sz="1500" b="1" dirty="0">
                <a:solidFill>
                  <a:schemeClr val="tx1"/>
                </a:solidFill>
              </a:rPr>
              <a:t>Streams, rivers, lakes</a:t>
            </a:r>
            <a:endParaRPr lang="en-US" sz="1500" dirty="0"/>
          </a:p>
        </p:txBody>
      </p:sp>
      <p:sp>
        <p:nvSpPr>
          <p:cNvPr id="20" name="Shape 18"/>
          <p:cNvSpPr/>
          <p:nvPr/>
        </p:nvSpPr>
        <p:spPr>
          <a:xfrm>
            <a:off x="548640" y="4983480"/>
            <a:ext cx="11109960" cy="1097280"/>
          </a:xfrm>
          <a:prstGeom prst="roundRect">
            <a:avLst>
              <a:gd name="adj" fmla="val 10000"/>
            </a:avLst>
          </a:prstGeom>
          <a:solidFill>
            <a:schemeClr val="bg1"/>
          </a:solidFill>
          <a:ln w="12700">
            <a:solidFill>
              <a:schemeClr val="bg1"/>
            </a:solidFill>
            <a:prstDash val="solid"/>
          </a:ln>
        </p:spPr>
      </p:sp>
      <p:sp>
        <p:nvSpPr>
          <p:cNvPr id="21" name="Text 19"/>
          <p:cNvSpPr txBox="1"/>
          <p:nvPr/>
        </p:nvSpPr>
        <p:spPr>
          <a:xfrm>
            <a:off x="685800" y="5074920"/>
            <a:ext cx="10835640" cy="91440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STILL TO COME</a:t>
            </a:r>
            <a:endParaRPr lang="en-US" sz="1500" dirty="0"/>
          </a:p>
          <a:p>
            <a:pPr indent="0" marL="0">
              <a:spcAft>
                <a:spcPts val="400"/>
              </a:spcAft>
              <a:buNone/>
            </a:pPr>
            <a:r>
              <a:rPr lang="en-US" sz="1500" dirty="0">
                <a:solidFill>
                  <a:schemeClr val="tx1"/>
                </a:solidFill>
              </a:rPr>
              <a:t>What happens to those ions in the water (eutrophication) is on a page that hasn't been added yet.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CHECK · TRY FIRST, ANSWERS ON THE NEXT SLIDE</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Check your understanding</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371600"/>
            <a:ext cx="5486400" cy="1463040"/>
          </a:xfrm>
          <a:prstGeom prst="roundRect">
            <a:avLst>
              <a:gd name="adj" fmla="val 7500"/>
            </a:avLst>
          </a:prstGeom>
          <a:solidFill>
            <a:schemeClr val="bg1"/>
          </a:solidFill>
          <a:ln w="12700">
            <a:solidFill>
              <a:schemeClr val="bg1"/>
            </a:solidFill>
            <a:prstDash val="solid"/>
          </a:ln>
        </p:spPr>
      </p:sp>
      <p:sp>
        <p:nvSpPr>
          <p:cNvPr id="6" name="Shape 4"/>
          <p:cNvSpPr/>
          <p:nvPr/>
        </p:nvSpPr>
        <p:spPr>
          <a:xfrm>
            <a:off x="685800" y="1508760"/>
            <a:ext cx="1097280" cy="274320"/>
          </a:xfrm>
          <a:prstGeom prst="roundRect">
            <a:avLst>
              <a:gd name="adj" fmla="val 40000"/>
            </a:avLst>
          </a:prstGeom>
          <a:solidFill>
            <a:schemeClr val="accent4"/>
          </a:solidFill>
          <a:ln w="12700">
            <a:solidFill>
              <a:schemeClr val="accent4"/>
            </a:solidFill>
            <a:prstDash val="solid"/>
          </a:ln>
        </p:spPr>
      </p:sp>
      <p:sp>
        <p:nvSpPr>
          <p:cNvPr id="7" name="Text 5"/>
          <p:cNvSpPr txBox="1"/>
          <p:nvPr/>
        </p:nvSpPr>
        <p:spPr>
          <a:xfrm>
            <a:off x="685800" y="150876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8" name="Text 6"/>
          <p:cNvSpPr txBox="1"/>
          <p:nvPr/>
        </p:nvSpPr>
        <p:spPr>
          <a:xfrm>
            <a:off x="685800" y="1847088"/>
            <a:ext cx="5212080" cy="91440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1. What is the key difference between the phosphorus and nitrogen cycles?</a:t>
            </a:r>
            <a:endParaRPr lang="en-US" sz="1500" dirty="0"/>
          </a:p>
        </p:txBody>
      </p:sp>
      <p:sp>
        <p:nvSpPr>
          <p:cNvPr id="9" name="Shape 7"/>
          <p:cNvSpPr/>
          <p:nvPr/>
        </p:nvSpPr>
        <p:spPr>
          <a:xfrm>
            <a:off x="6172200" y="1371600"/>
            <a:ext cx="5486400" cy="1463040"/>
          </a:xfrm>
          <a:prstGeom prst="roundRect">
            <a:avLst>
              <a:gd name="adj" fmla="val 7500"/>
            </a:avLst>
          </a:prstGeom>
          <a:solidFill>
            <a:schemeClr val="bg1"/>
          </a:solidFill>
          <a:ln w="12700">
            <a:solidFill>
              <a:schemeClr val="bg1"/>
            </a:solidFill>
            <a:prstDash val="solid"/>
          </a:ln>
        </p:spPr>
      </p:sp>
      <p:sp>
        <p:nvSpPr>
          <p:cNvPr id="10" name="Shape 8"/>
          <p:cNvSpPr/>
          <p:nvPr/>
        </p:nvSpPr>
        <p:spPr>
          <a:xfrm>
            <a:off x="6309360" y="1508760"/>
            <a:ext cx="1097280" cy="274320"/>
          </a:xfrm>
          <a:prstGeom prst="roundRect">
            <a:avLst>
              <a:gd name="adj" fmla="val 40000"/>
            </a:avLst>
          </a:prstGeom>
          <a:solidFill>
            <a:schemeClr val="accent4"/>
          </a:solidFill>
          <a:ln w="12700">
            <a:solidFill>
              <a:schemeClr val="accent4"/>
            </a:solidFill>
            <a:prstDash val="solid"/>
          </a:ln>
        </p:spPr>
      </p:sp>
      <p:sp>
        <p:nvSpPr>
          <p:cNvPr id="11" name="Text 9"/>
          <p:cNvSpPr txBox="1"/>
          <p:nvPr/>
        </p:nvSpPr>
        <p:spPr>
          <a:xfrm>
            <a:off x="6309360" y="150876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12" name="Text 10"/>
          <p:cNvSpPr txBox="1"/>
          <p:nvPr/>
        </p:nvSpPr>
        <p:spPr>
          <a:xfrm>
            <a:off x="6309360" y="1847088"/>
            <a:ext cx="5212080" cy="91440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2. Which process releases phosphate ions from rocks into water?</a:t>
            </a:r>
            <a:endParaRPr lang="en-US" sz="1500" dirty="0"/>
          </a:p>
        </p:txBody>
      </p:sp>
      <p:sp>
        <p:nvSpPr>
          <p:cNvPr id="13" name="Shape 11"/>
          <p:cNvSpPr/>
          <p:nvPr/>
        </p:nvSpPr>
        <p:spPr>
          <a:xfrm>
            <a:off x="548640" y="2971800"/>
            <a:ext cx="5486400" cy="1463040"/>
          </a:xfrm>
          <a:prstGeom prst="roundRect">
            <a:avLst>
              <a:gd name="adj" fmla="val 7500"/>
            </a:avLst>
          </a:prstGeom>
          <a:solidFill>
            <a:schemeClr val="bg1"/>
          </a:solidFill>
          <a:ln w="12700">
            <a:solidFill>
              <a:schemeClr val="bg1"/>
            </a:solidFill>
            <a:prstDash val="solid"/>
          </a:ln>
        </p:spPr>
      </p:sp>
      <p:sp>
        <p:nvSpPr>
          <p:cNvPr id="14" name="Shape 12"/>
          <p:cNvSpPr/>
          <p:nvPr/>
        </p:nvSpPr>
        <p:spPr>
          <a:xfrm>
            <a:off x="685800" y="3108960"/>
            <a:ext cx="1097280" cy="274320"/>
          </a:xfrm>
          <a:prstGeom prst="roundRect">
            <a:avLst>
              <a:gd name="adj" fmla="val 40000"/>
            </a:avLst>
          </a:prstGeom>
          <a:solidFill>
            <a:schemeClr val="accent4"/>
          </a:solidFill>
          <a:ln w="12700">
            <a:solidFill>
              <a:schemeClr val="accent4"/>
            </a:solidFill>
            <a:prstDash val="solid"/>
          </a:ln>
        </p:spPr>
      </p:sp>
      <p:sp>
        <p:nvSpPr>
          <p:cNvPr id="15" name="Text 13"/>
          <p:cNvSpPr txBox="1"/>
          <p:nvPr/>
        </p:nvSpPr>
        <p:spPr>
          <a:xfrm>
            <a:off x="685800" y="310896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16" name="Text 14"/>
          <p:cNvSpPr txBox="1"/>
          <p:nvPr/>
        </p:nvSpPr>
        <p:spPr>
          <a:xfrm>
            <a:off x="685800" y="3447288"/>
            <a:ext cx="5212080" cy="91440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3. In a mycorrhizal association, what does the fungus receive from the plant?</a:t>
            </a:r>
            <a:endParaRPr lang="en-US" sz="1500" dirty="0"/>
          </a:p>
        </p:txBody>
      </p:sp>
      <p:sp>
        <p:nvSpPr>
          <p:cNvPr id="17" name="Shape 15"/>
          <p:cNvSpPr/>
          <p:nvPr/>
        </p:nvSpPr>
        <p:spPr>
          <a:xfrm>
            <a:off x="6172200" y="2971800"/>
            <a:ext cx="5486400" cy="1463040"/>
          </a:xfrm>
          <a:prstGeom prst="roundRect">
            <a:avLst>
              <a:gd name="adj" fmla="val 7500"/>
            </a:avLst>
          </a:prstGeom>
          <a:solidFill>
            <a:schemeClr val="bg1"/>
          </a:solidFill>
          <a:ln w="12700">
            <a:solidFill>
              <a:schemeClr val="bg1"/>
            </a:solidFill>
            <a:prstDash val="solid"/>
          </a:ln>
        </p:spPr>
      </p:sp>
      <p:sp>
        <p:nvSpPr>
          <p:cNvPr id="18" name="Shape 16"/>
          <p:cNvSpPr/>
          <p:nvPr/>
        </p:nvSpPr>
        <p:spPr>
          <a:xfrm>
            <a:off x="6309360" y="3108960"/>
            <a:ext cx="1097280" cy="274320"/>
          </a:xfrm>
          <a:prstGeom prst="roundRect">
            <a:avLst>
              <a:gd name="adj" fmla="val 40000"/>
            </a:avLst>
          </a:prstGeom>
          <a:solidFill>
            <a:schemeClr val="accent4"/>
          </a:solidFill>
          <a:ln w="12700">
            <a:solidFill>
              <a:schemeClr val="accent4"/>
            </a:solidFill>
            <a:prstDash val="solid"/>
          </a:ln>
        </p:spPr>
      </p:sp>
      <p:sp>
        <p:nvSpPr>
          <p:cNvPr id="19" name="Text 17"/>
          <p:cNvSpPr txBox="1"/>
          <p:nvPr/>
        </p:nvSpPr>
        <p:spPr>
          <a:xfrm>
            <a:off x="6309360" y="310896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20" name="Text 18"/>
          <p:cNvSpPr txBox="1"/>
          <p:nvPr/>
        </p:nvSpPr>
        <p:spPr>
          <a:xfrm>
            <a:off x="10469880" y="3081528"/>
            <a:ext cx="1051560" cy="320040"/>
          </a:xfrm>
          <a:prstGeom prst="rect">
            <a:avLst/>
          </a:prstGeom>
          <a:noFill/>
          <a:ln/>
        </p:spPr>
        <p:txBody>
          <a:bodyPr wrap="square" lIns="1016" tIns="1016" rIns="1016" bIns="1016" rtlCol="0" anchor="t"/>
          <a:lstStyle/>
          <a:p>
            <a:pPr algn="r" indent="0" marL="0">
              <a:spcAft>
                <a:spcPts val="400"/>
              </a:spcAft>
              <a:buNone/>
            </a:pPr>
            <a:r>
              <a:rPr lang="en-US" sz="1200" b="1" dirty="0">
                <a:solidFill>
                  <a:schemeClr val="tx2"/>
                </a:solidFill>
              </a:rPr>
              <a:t>[2 marks]</a:t>
            </a:r>
            <a:endParaRPr lang="en-US" sz="1200" dirty="0"/>
          </a:p>
        </p:txBody>
      </p:sp>
      <p:sp>
        <p:nvSpPr>
          <p:cNvPr id="21" name="Text 19"/>
          <p:cNvSpPr txBox="1"/>
          <p:nvPr/>
        </p:nvSpPr>
        <p:spPr>
          <a:xfrm>
            <a:off x="6309360" y="3447288"/>
            <a:ext cx="5212080" cy="91440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4. Explain how mycorrhizae increase the uptake of phosphate ions by a plant.</a:t>
            </a:r>
            <a:endParaRPr lang="en-US" sz="1500" dirty="0"/>
          </a:p>
        </p:txBody>
      </p:sp>
      <p:sp>
        <p:nvSpPr>
          <p:cNvPr id="22" name="Shape 20"/>
          <p:cNvSpPr/>
          <p:nvPr/>
        </p:nvSpPr>
        <p:spPr>
          <a:xfrm>
            <a:off x="548640" y="4572000"/>
            <a:ext cx="5486400" cy="1508760"/>
          </a:xfrm>
          <a:prstGeom prst="roundRect">
            <a:avLst>
              <a:gd name="adj" fmla="val 7273"/>
            </a:avLst>
          </a:prstGeom>
          <a:solidFill>
            <a:schemeClr val="bg1"/>
          </a:solidFill>
          <a:ln w="12700">
            <a:solidFill>
              <a:schemeClr val="bg1"/>
            </a:solidFill>
            <a:prstDash val="solid"/>
          </a:ln>
        </p:spPr>
      </p:sp>
      <p:sp>
        <p:nvSpPr>
          <p:cNvPr id="23" name="Shape 21"/>
          <p:cNvSpPr/>
          <p:nvPr/>
        </p:nvSpPr>
        <p:spPr>
          <a:xfrm>
            <a:off x="685800" y="4709160"/>
            <a:ext cx="1097280" cy="274320"/>
          </a:xfrm>
          <a:prstGeom prst="roundRect">
            <a:avLst>
              <a:gd name="adj" fmla="val 40000"/>
            </a:avLst>
          </a:prstGeom>
          <a:solidFill>
            <a:schemeClr val="accent4"/>
          </a:solidFill>
          <a:ln w="12700">
            <a:solidFill>
              <a:schemeClr val="accent4"/>
            </a:solidFill>
            <a:prstDash val="solid"/>
          </a:ln>
        </p:spPr>
      </p:sp>
      <p:sp>
        <p:nvSpPr>
          <p:cNvPr id="24" name="Text 22"/>
          <p:cNvSpPr txBox="1"/>
          <p:nvPr/>
        </p:nvSpPr>
        <p:spPr>
          <a:xfrm>
            <a:off x="685800" y="470916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25" name="Text 23"/>
          <p:cNvSpPr txBox="1"/>
          <p:nvPr/>
        </p:nvSpPr>
        <p:spPr>
          <a:xfrm>
            <a:off x="685800" y="5047488"/>
            <a:ext cx="5212080" cy="96012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5. What is leaching?</a:t>
            </a:r>
            <a:endParaRPr lang="en-US" sz="1500" dirty="0"/>
          </a:p>
        </p:txBody>
      </p:sp>
      <p:sp>
        <p:nvSpPr>
          <p:cNvPr id="26" name="Shape 24"/>
          <p:cNvSpPr/>
          <p:nvPr/>
        </p:nvSpPr>
        <p:spPr>
          <a:xfrm>
            <a:off x="6172200" y="4572000"/>
            <a:ext cx="5486400" cy="1508760"/>
          </a:xfrm>
          <a:prstGeom prst="roundRect">
            <a:avLst>
              <a:gd name="adj" fmla="val 7273"/>
            </a:avLst>
          </a:prstGeom>
          <a:solidFill>
            <a:schemeClr val="bg1"/>
          </a:solidFill>
          <a:ln w="12700">
            <a:solidFill>
              <a:schemeClr val="bg1"/>
            </a:solidFill>
            <a:prstDash val="solid"/>
          </a:ln>
        </p:spPr>
      </p:sp>
      <p:sp>
        <p:nvSpPr>
          <p:cNvPr id="27" name="Shape 25"/>
          <p:cNvSpPr/>
          <p:nvPr/>
        </p:nvSpPr>
        <p:spPr>
          <a:xfrm>
            <a:off x="6309360" y="4709160"/>
            <a:ext cx="1097280" cy="274320"/>
          </a:xfrm>
          <a:prstGeom prst="roundRect">
            <a:avLst>
              <a:gd name="adj" fmla="val 40000"/>
            </a:avLst>
          </a:prstGeom>
          <a:solidFill>
            <a:schemeClr val="accent4"/>
          </a:solidFill>
          <a:ln w="12700">
            <a:solidFill>
              <a:schemeClr val="accent4"/>
            </a:solidFill>
            <a:prstDash val="solid"/>
          </a:ln>
        </p:spPr>
      </p:sp>
      <p:sp>
        <p:nvSpPr>
          <p:cNvPr id="28" name="Text 26"/>
          <p:cNvSpPr txBox="1"/>
          <p:nvPr/>
        </p:nvSpPr>
        <p:spPr>
          <a:xfrm>
            <a:off x="6309360" y="470916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29" name="Text 27"/>
          <p:cNvSpPr txBox="1"/>
          <p:nvPr/>
        </p:nvSpPr>
        <p:spPr>
          <a:xfrm>
            <a:off x="6309360" y="5047488"/>
            <a:ext cx="5212080" cy="96012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6. Why can fertilisers reduce species diversity?</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CHECK · ANSWERS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Check: answers and why</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371600"/>
            <a:ext cx="5486400" cy="1463040"/>
          </a:xfrm>
          <a:prstGeom prst="roundRect">
            <a:avLst>
              <a:gd name="adj" fmla="val 7500"/>
            </a:avLst>
          </a:prstGeom>
          <a:solidFill>
            <a:schemeClr val="bg1"/>
          </a:solidFill>
          <a:ln w="12700">
            <a:solidFill>
              <a:schemeClr val="bg1"/>
            </a:solidFill>
            <a:prstDash val="solid"/>
          </a:ln>
        </p:spPr>
      </p:sp>
      <p:sp>
        <p:nvSpPr>
          <p:cNvPr id="6" name="Text 4"/>
          <p:cNvSpPr txBox="1"/>
          <p:nvPr/>
        </p:nvSpPr>
        <p:spPr>
          <a:xfrm>
            <a:off x="685800" y="1481328"/>
            <a:ext cx="5212080" cy="128016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1.  No gases in the phosphorus cycle</a:t>
            </a:r>
            <a:endParaRPr lang="en-US" sz="1500" dirty="0"/>
          </a:p>
          <a:p>
            <a:pPr indent="0" marL="0">
              <a:spcAft>
                <a:spcPts val="400"/>
              </a:spcAft>
              <a:buNone/>
            </a:pPr>
            <a:r>
              <a:rPr lang="en-US" sz="1500" dirty="0">
                <a:solidFill>
                  <a:schemeClr val="tx1"/>
                </a:solidFill>
              </a:rPr>
              <a:t>Phosphorus is stored in sedimentary rock, not the air.</a:t>
            </a:r>
            <a:endParaRPr lang="en-US" sz="1500" dirty="0"/>
          </a:p>
        </p:txBody>
      </p:sp>
      <p:sp>
        <p:nvSpPr>
          <p:cNvPr id="7" name="Shape 5"/>
          <p:cNvSpPr/>
          <p:nvPr/>
        </p:nvSpPr>
        <p:spPr>
          <a:xfrm>
            <a:off x="6172200" y="1371600"/>
            <a:ext cx="5486400" cy="1463040"/>
          </a:xfrm>
          <a:prstGeom prst="roundRect">
            <a:avLst>
              <a:gd name="adj" fmla="val 7500"/>
            </a:avLst>
          </a:prstGeom>
          <a:solidFill>
            <a:schemeClr val="bg1"/>
          </a:solidFill>
          <a:ln w="12700">
            <a:solidFill>
              <a:schemeClr val="bg1"/>
            </a:solidFill>
            <a:prstDash val="solid"/>
          </a:ln>
        </p:spPr>
      </p:sp>
      <p:sp>
        <p:nvSpPr>
          <p:cNvPr id="8" name="Text 6"/>
          <p:cNvSpPr txBox="1"/>
          <p:nvPr/>
        </p:nvSpPr>
        <p:spPr>
          <a:xfrm>
            <a:off x="6309360" y="1481328"/>
            <a:ext cx="5212080" cy="128016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2.  Weathering and erosion</a:t>
            </a:r>
            <a:endParaRPr lang="en-US" sz="1500" dirty="0"/>
          </a:p>
          <a:p>
            <a:pPr indent="0" marL="0">
              <a:spcAft>
                <a:spcPts val="400"/>
              </a:spcAft>
              <a:buNone/>
            </a:pPr>
            <a:r>
              <a:rPr lang="en-US" sz="1500" dirty="0">
                <a:solidFill>
                  <a:schemeClr val="tx1"/>
                </a:solidFill>
              </a:rPr>
              <a:t>Weathering breaks the rock up; erosion moves it so phosphate ions dissolve.</a:t>
            </a:r>
            <a:endParaRPr lang="en-US" sz="1500" dirty="0"/>
          </a:p>
        </p:txBody>
      </p:sp>
      <p:sp>
        <p:nvSpPr>
          <p:cNvPr id="9" name="Shape 7"/>
          <p:cNvSpPr/>
          <p:nvPr/>
        </p:nvSpPr>
        <p:spPr>
          <a:xfrm>
            <a:off x="548640" y="2971800"/>
            <a:ext cx="5486400" cy="1463040"/>
          </a:xfrm>
          <a:prstGeom prst="roundRect">
            <a:avLst>
              <a:gd name="adj" fmla="val 7500"/>
            </a:avLst>
          </a:prstGeom>
          <a:solidFill>
            <a:schemeClr val="bg1"/>
          </a:solidFill>
          <a:ln w="12700">
            <a:solidFill>
              <a:schemeClr val="bg1"/>
            </a:solidFill>
            <a:prstDash val="solid"/>
          </a:ln>
        </p:spPr>
      </p:sp>
      <p:sp>
        <p:nvSpPr>
          <p:cNvPr id="10" name="Text 8"/>
          <p:cNvSpPr txBox="1"/>
          <p:nvPr/>
        </p:nvSpPr>
        <p:spPr>
          <a:xfrm>
            <a:off x="685800" y="3081528"/>
            <a:ext cx="5212080" cy="128016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3.  Organic molecules</a:t>
            </a:r>
            <a:endParaRPr lang="en-US" sz="1500" dirty="0"/>
          </a:p>
          <a:p>
            <a:pPr indent="0" marL="0">
              <a:spcAft>
                <a:spcPts val="400"/>
              </a:spcAft>
              <a:buNone/>
            </a:pPr>
            <a:r>
              <a:rPr lang="en-US" sz="1500" dirty="0">
                <a:solidFill>
                  <a:schemeClr val="tx1"/>
                </a:solidFill>
              </a:rPr>
              <a:t>e.g. sucrose and amino acids. (Water and ions go the other way.)</a:t>
            </a:r>
            <a:endParaRPr lang="en-US" sz="1500" dirty="0"/>
          </a:p>
        </p:txBody>
      </p:sp>
      <p:sp>
        <p:nvSpPr>
          <p:cNvPr id="11" name="Shape 9"/>
          <p:cNvSpPr/>
          <p:nvPr/>
        </p:nvSpPr>
        <p:spPr>
          <a:xfrm>
            <a:off x="6172200" y="2971800"/>
            <a:ext cx="5486400" cy="1463040"/>
          </a:xfrm>
          <a:prstGeom prst="roundRect">
            <a:avLst>
              <a:gd name="adj" fmla="val 7500"/>
            </a:avLst>
          </a:prstGeom>
          <a:solidFill>
            <a:schemeClr val="bg1"/>
          </a:solidFill>
          <a:ln w="12700">
            <a:solidFill>
              <a:schemeClr val="bg1"/>
            </a:solidFill>
            <a:prstDash val="solid"/>
          </a:ln>
        </p:spPr>
      </p:sp>
      <p:sp>
        <p:nvSpPr>
          <p:cNvPr id="12" name="Text 10"/>
          <p:cNvSpPr txBox="1"/>
          <p:nvPr/>
        </p:nvSpPr>
        <p:spPr>
          <a:xfrm>
            <a:off x="6309360" y="3081528"/>
            <a:ext cx="5212080" cy="128016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4.  Model answer (2 marks)</a:t>
            </a:r>
            <a:endParaRPr lang="en-US" sz="1500" dirty="0"/>
          </a:p>
          <a:p>
            <a:pPr indent="0" marL="0">
              <a:spcAft>
                <a:spcPts val="400"/>
              </a:spcAft>
              <a:buNone/>
            </a:pPr>
            <a:r>
              <a:rPr lang="en-US" sz="1500" b="1" dirty="0">
                <a:solidFill>
                  <a:schemeClr val="tx1"/>
                </a:solidFill>
              </a:rPr>
              <a:t>✓ </a:t>
            </a:r>
            <a:pPr indent="0" marL="0">
              <a:spcAft>
                <a:spcPts val="400"/>
              </a:spcAft>
              <a:buNone/>
            </a:pPr>
            <a:r>
              <a:rPr lang="en-US" sz="1500" dirty="0">
                <a:solidFill>
                  <a:schemeClr val="tx1"/>
                </a:solidFill>
              </a:rPr>
              <a:t>The fungal network increases the root surface area.  </a:t>
            </a:r>
            <a:pPr indent="0" marL="0">
              <a:spcAft>
                <a:spcPts val="400"/>
              </a:spcAft>
              <a:buNone/>
            </a:pPr>
            <a:r>
              <a:rPr lang="en-US" sz="1500" b="1" dirty="0">
                <a:solidFill>
                  <a:schemeClr val="tx1"/>
                </a:solidFill>
              </a:rPr>
              <a:t>✓ </a:t>
            </a:r>
            <a:pPr indent="0" marL="0">
              <a:spcAft>
                <a:spcPts val="400"/>
              </a:spcAft>
              <a:buNone/>
            </a:pPr>
            <a:r>
              <a:rPr lang="en-US" sz="1500" dirty="0">
                <a:solidFill>
                  <a:schemeClr val="tx1"/>
                </a:solidFill>
              </a:rPr>
              <a:t>So more water and mineral ions (e.g. phosphate) are absorbed.</a:t>
            </a:r>
            <a:endParaRPr lang="en-US" sz="1500" dirty="0"/>
          </a:p>
        </p:txBody>
      </p:sp>
      <p:sp>
        <p:nvSpPr>
          <p:cNvPr id="13" name="Shape 11"/>
          <p:cNvSpPr/>
          <p:nvPr/>
        </p:nvSpPr>
        <p:spPr>
          <a:xfrm>
            <a:off x="548640" y="4572000"/>
            <a:ext cx="5486400" cy="1508760"/>
          </a:xfrm>
          <a:prstGeom prst="roundRect">
            <a:avLst>
              <a:gd name="adj" fmla="val 7273"/>
            </a:avLst>
          </a:prstGeom>
          <a:solidFill>
            <a:schemeClr val="bg1"/>
          </a:solidFill>
          <a:ln w="12700">
            <a:solidFill>
              <a:schemeClr val="bg1"/>
            </a:solidFill>
            <a:prstDash val="solid"/>
          </a:ln>
        </p:spPr>
      </p:sp>
      <p:sp>
        <p:nvSpPr>
          <p:cNvPr id="14" name="Text 12"/>
          <p:cNvSpPr txBox="1"/>
          <p:nvPr/>
        </p:nvSpPr>
        <p:spPr>
          <a:xfrm>
            <a:off x="685800" y="4681728"/>
            <a:ext cx="5212080" cy="132588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5.  Excess ions washed away</a:t>
            </a:r>
            <a:endParaRPr lang="en-US" sz="1500" dirty="0"/>
          </a:p>
          <a:p>
            <a:pPr indent="0" marL="0">
              <a:spcAft>
                <a:spcPts val="400"/>
              </a:spcAft>
              <a:buNone/>
            </a:pPr>
            <a:r>
              <a:rPr lang="en-US" sz="1500" dirty="0">
                <a:solidFill>
                  <a:schemeClr val="tx1"/>
                </a:solidFill>
              </a:rPr>
              <a:t>More ions than plants take up dissolve in soil water and are washed into streams, rivers and lakes.</a:t>
            </a:r>
            <a:endParaRPr lang="en-US" sz="1500" dirty="0"/>
          </a:p>
        </p:txBody>
      </p:sp>
      <p:sp>
        <p:nvSpPr>
          <p:cNvPr id="15" name="Shape 13"/>
          <p:cNvSpPr/>
          <p:nvPr/>
        </p:nvSpPr>
        <p:spPr>
          <a:xfrm>
            <a:off x="6172200" y="4572000"/>
            <a:ext cx="5486400" cy="1508760"/>
          </a:xfrm>
          <a:prstGeom prst="roundRect">
            <a:avLst>
              <a:gd name="adj" fmla="val 7273"/>
            </a:avLst>
          </a:prstGeom>
          <a:solidFill>
            <a:schemeClr val="bg1"/>
          </a:solidFill>
          <a:ln w="12700">
            <a:solidFill>
              <a:schemeClr val="bg1"/>
            </a:solidFill>
            <a:prstDash val="solid"/>
          </a:ln>
        </p:spPr>
      </p:sp>
      <p:sp>
        <p:nvSpPr>
          <p:cNvPr id="16" name="Text 14"/>
          <p:cNvSpPr txBox="1"/>
          <p:nvPr/>
        </p:nvSpPr>
        <p:spPr>
          <a:xfrm>
            <a:off x="6309360" y="4681728"/>
            <a:ext cx="5212080" cy="132588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6.  Competition</a:t>
            </a:r>
            <a:endParaRPr lang="en-US" sz="1500" dirty="0"/>
          </a:p>
          <a:p>
            <a:pPr indent="0" marL="0">
              <a:spcAft>
                <a:spcPts val="400"/>
              </a:spcAft>
              <a:buNone/>
            </a:pPr>
            <a:r>
              <a:rPr lang="en-US" sz="1500" dirty="0">
                <a:solidFill>
                  <a:schemeClr val="tx1"/>
                </a:solidFill>
              </a:rPr>
              <a:t>Plants adapted to high-nitrate soil outcompete other species.</a:t>
            </a:r>
            <a:endParaRPr lang="en-US" sz="1500" dirty="0"/>
          </a:p>
        </p:txBody>
      </p:sp>
      <p:sp>
        <p:nvSpPr>
          <p:cNvPr id="17" name="Text 15"/>
          <p:cNvSpPr txBox="1"/>
          <p:nvPr/>
        </p:nvSpPr>
        <p:spPr>
          <a:xfrm>
            <a:off x="8412480" y="6355080"/>
            <a:ext cx="265176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2" action="ppaction://hlinksldjump" tooltip="">
                  <a:extLst>
                    <a:ext uri="{A12FA001-AC4F-418D-AE19-62706E023703}">
                      <ahyp:hlinkClr xmlns:ahyp="http://schemas.microsoft.com/office/drawing/2018/hyperlinkcolor" val="tx"/>
                    </a:ext>
                  </a:extLst>
                </a:hlinkClick>
              </a:rPr>
              <a:t>Next: Section D →</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D · ORIGINAL EXAM QUESTION</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Exam practice</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371600"/>
            <a:ext cx="11109960" cy="1737360"/>
          </a:xfrm>
          <a:prstGeom prst="roundRect">
            <a:avLst>
              <a:gd name="adj" fmla="val 6316"/>
            </a:avLst>
          </a:prstGeom>
          <a:solidFill>
            <a:schemeClr val="bg1"/>
          </a:solidFill>
          <a:ln w="12700">
            <a:solidFill>
              <a:schemeClr val="bg1"/>
            </a:solidFill>
            <a:prstDash val="solid"/>
          </a:ln>
        </p:spPr>
      </p:sp>
      <p:sp>
        <p:nvSpPr>
          <p:cNvPr id="6" name="Shape 4"/>
          <p:cNvSpPr/>
          <p:nvPr/>
        </p:nvSpPr>
        <p:spPr>
          <a:xfrm>
            <a:off x="685800" y="1508760"/>
            <a:ext cx="1485900" cy="274320"/>
          </a:xfrm>
          <a:prstGeom prst="roundRect">
            <a:avLst>
              <a:gd name="adj" fmla="val 40000"/>
            </a:avLst>
          </a:prstGeom>
          <a:solidFill>
            <a:schemeClr val="accent2"/>
          </a:solidFill>
          <a:ln w="12700">
            <a:solidFill>
              <a:schemeClr val="accent2"/>
            </a:solidFill>
            <a:prstDash val="solid"/>
          </a:ln>
        </p:spPr>
      </p:sp>
      <p:sp>
        <p:nvSpPr>
          <p:cNvPr id="7" name="Text 5"/>
          <p:cNvSpPr txBox="1"/>
          <p:nvPr/>
        </p:nvSpPr>
        <p:spPr>
          <a:xfrm>
            <a:off x="685800" y="1508760"/>
            <a:ext cx="148590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ORIGINAL QUESTION</a:t>
            </a:r>
            <a:endParaRPr lang="en-US" sz="1000" dirty="0"/>
          </a:p>
        </p:txBody>
      </p:sp>
      <p:sp>
        <p:nvSpPr>
          <p:cNvPr id="8" name="Text 6"/>
          <p:cNvSpPr txBox="1"/>
          <p:nvPr/>
        </p:nvSpPr>
        <p:spPr>
          <a:xfrm>
            <a:off x="10469880" y="1481328"/>
            <a:ext cx="1051560" cy="320040"/>
          </a:xfrm>
          <a:prstGeom prst="rect">
            <a:avLst/>
          </a:prstGeom>
          <a:noFill/>
          <a:ln/>
        </p:spPr>
        <p:txBody>
          <a:bodyPr wrap="square" lIns="1016" tIns="1016" rIns="1016" bIns="1016" rtlCol="0" anchor="t"/>
          <a:lstStyle/>
          <a:p>
            <a:pPr algn="r" indent="0" marL="0">
              <a:spcAft>
                <a:spcPts val="400"/>
              </a:spcAft>
              <a:buNone/>
            </a:pPr>
            <a:r>
              <a:rPr lang="en-US" sz="1200" b="1" dirty="0">
                <a:solidFill>
                  <a:schemeClr val="tx2"/>
                </a:solidFill>
              </a:rPr>
              <a:t>(5)</a:t>
            </a:r>
            <a:endParaRPr lang="en-US" sz="1200" dirty="0"/>
          </a:p>
        </p:txBody>
      </p:sp>
      <p:sp>
        <p:nvSpPr>
          <p:cNvPr id="9" name="Text 7"/>
          <p:cNvSpPr txBox="1"/>
          <p:nvPr/>
        </p:nvSpPr>
        <p:spPr>
          <a:xfrm>
            <a:off x="685800" y="1847088"/>
            <a:ext cx="10835640" cy="118872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Describe how phosphorus in dead organisms is recycled so that it becomes available to plants again.</a:t>
            </a:r>
            <a:endParaRPr lang="en-US" sz="1500" dirty="0"/>
          </a:p>
        </p:txBody>
      </p:sp>
      <p:sp>
        <p:nvSpPr>
          <p:cNvPr id="10" name="Text 8"/>
          <p:cNvSpPr txBox="1"/>
          <p:nvPr/>
        </p:nvSpPr>
        <p:spPr>
          <a:xfrm>
            <a:off x="548640" y="3200400"/>
            <a:ext cx="11064240" cy="320040"/>
          </a:xfrm>
          <a:prstGeom prst="rect">
            <a:avLst/>
          </a:prstGeom>
          <a:noFill/>
          <a:ln/>
        </p:spPr>
        <p:txBody>
          <a:bodyPr wrap="square" lIns="1016" tIns="1016" rIns="1016" bIns="1016" rtlCol="0" anchor="t"/>
          <a:lstStyle/>
          <a:p>
            <a:pPr indent="0" marL="0">
              <a:spcAft>
                <a:spcPts val="400"/>
              </a:spcAft>
              <a:buNone/>
            </a:pPr>
            <a:r>
              <a:rPr lang="en-US" sz="1200" dirty="0">
                <a:solidFill>
                  <a:schemeClr val="tx2"/>
                </a:solidFill>
              </a:rPr>
              <a:t>The notes show only this question's mark scheme. The wording above is reconstructed to match it.</a:t>
            </a:r>
            <a:endParaRPr lang="en-US" sz="1200" dirty="0"/>
          </a:p>
        </p:txBody>
      </p:sp>
      <p:sp>
        <p:nvSpPr>
          <p:cNvPr id="11" name="Shape 9"/>
          <p:cNvSpPr/>
          <p:nvPr/>
        </p:nvSpPr>
        <p:spPr>
          <a:xfrm>
            <a:off x="548640" y="3657600"/>
            <a:ext cx="3566160" cy="1828800"/>
          </a:xfrm>
          <a:prstGeom prst="roundRect">
            <a:avLst>
              <a:gd name="adj" fmla="val 6000"/>
            </a:avLst>
          </a:prstGeom>
          <a:solidFill>
            <a:schemeClr val="accent5"/>
          </a:solidFill>
          <a:ln w="12700">
            <a:solidFill>
              <a:schemeClr val="accent5"/>
            </a:solidFill>
            <a:prstDash val="solid"/>
          </a:ln>
        </p:spPr>
      </p:sp>
      <p:sp>
        <p:nvSpPr>
          <p:cNvPr id="12" name="Text 10"/>
          <p:cNvSpPr txBox="1"/>
          <p:nvPr/>
        </p:nvSpPr>
        <p:spPr>
          <a:xfrm>
            <a:off x="685800" y="3749040"/>
            <a:ext cx="3291840" cy="164592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HINT 1</a:t>
            </a:r>
            <a:endParaRPr lang="en-US" sz="1500" dirty="0"/>
          </a:p>
          <a:p>
            <a:pPr indent="0" marL="0">
              <a:spcAft>
                <a:spcPts val="400"/>
              </a:spcAft>
              <a:buNone/>
            </a:pPr>
            <a:r>
              <a:rPr lang="en-US" sz="1500" dirty="0">
                <a:solidFill>
                  <a:schemeClr val="tx1"/>
                </a:solidFill>
              </a:rPr>
              <a:t>Which molecules in dead organisms contain phosphorus?</a:t>
            </a:r>
            <a:endParaRPr lang="en-US" sz="1500" dirty="0"/>
          </a:p>
        </p:txBody>
      </p:sp>
      <p:sp>
        <p:nvSpPr>
          <p:cNvPr id="13" name="Shape 11"/>
          <p:cNvSpPr/>
          <p:nvPr/>
        </p:nvSpPr>
        <p:spPr>
          <a:xfrm>
            <a:off x="4297680" y="3657600"/>
            <a:ext cx="3566160" cy="1828800"/>
          </a:xfrm>
          <a:prstGeom prst="roundRect">
            <a:avLst>
              <a:gd name="adj" fmla="val 6000"/>
            </a:avLst>
          </a:prstGeom>
          <a:solidFill>
            <a:schemeClr val="accent5"/>
          </a:solidFill>
          <a:ln w="12700">
            <a:solidFill>
              <a:schemeClr val="accent5"/>
            </a:solidFill>
            <a:prstDash val="solid"/>
          </a:ln>
        </p:spPr>
      </p:sp>
      <p:sp>
        <p:nvSpPr>
          <p:cNvPr id="14" name="Text 12"/>
          <p:cNvSpPr txBox="1"/>
          <p:nvPr/>
        </p:nvSpPr>
        <p:spPr>
          <a:xfrm>
            <a:off x="4434840" y="3749040"/>
            <a:ext cx="3291840" cy="164592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HINT 2</a:t>
            </a:r>
            <a:endParaRPr lang="en-US" sz="1500" dirty="0"/>
          </a:p>
          <a:p>
            <a:pPr indent="0" marL="0">
              <a:spcAft>
                <a:spcPts val="400"/>
              </a:spcAft>
              <a:buNone/>
            </a:pPr>
            <a:r>
              <a:rPr lang="en-US" sz="1500" dirty="0">
                <a:solidFill>
                  <a:schemeClr val="tx1"/>
                </a:solidFill>
              </a:rPr>
              <a:t>Who breaks them down? Where do the phosphate ions go next?</a:t>
            </a:r>
            <a:endParaRPr lang="en-US" sz="1500" dirty="0"/>
          </a:p>
        </p:txBody>
      </p:sp>
      <p:sp>
        <p:nvSpPr>
          <p:cNvPr id="15" name="Shape 13"/>
          <p:cNvSpPr/>
          <p:nvPr/>
        </p:nvSpPr>
        <p:spPr>
          <a:xfrm>
            <a:off x="8046720" y="3657600"/>
            <a:ext cx="3611880" cy="1828800"/>
          </a:xfrm>
          <a:prstGeom prst="roundRect">
            <a:avLst>
              <a:gd name="adj" fmla="val 6000"/>
            </a:avLst>
          </a:prstGeom>
          <a:solidFill>
            <a:schemeClr val="accent5"/>
          </a:solidFill>
          <a:ln w="12700">
            <a:solidFill>
              <a:schemeClr val="accent5"/>
            </a:solidFill>
            <a:prstDash val="solid"/>
          </a:ln>
        </p:spPr>
      </p:sp>
      <p:sp>
        <p:nvSpPr>
          <p:cNvPr id="16" name="Text 14"/>
          <p:cNvSpPr txBox="1"/>
          <p:nvPr/>
        </p:nvSpPr>
        <p:spPr>
          <a:xfrm>
            <a:off x="8183880" y="3749040"/>
            <a:ext cx="3337560" cy="1645920"/>
          </a:xfrm>
          <a:prstGeom prst="rect">
            <a:avLst/>
          </a:prstGeom>
          <a:noFill/>
          <a:ln/>
        </p:spPr>
        <p:txBody>
          <a:bodyPr wrap="square" lIns="1016" tIns="1016" rIns="1016" bIns="1016" rtlCol="0" anchor="t"/>
          <a:lstStyle/>
          <a:p>
            <a:pPr indent="0" marL="0">
              <a:spcAft>
                <a:spcPts val="400"/>
              </a:spcAft>
              <a:buNone/>
            </a:pPr>
            <a:r>
              <a:rPr lang="en-US" sz="1100" b="1" spc="100" kern="0" dirty="0">
                <a:solidFill>
                  <a:schemeClr val="tx1"/>
                </a:solidFill>
              </a:rPr>
              <a:t>HINT 3</a:t>
            </a:r>
            <a:endParaRPr lang="en-US" sz="1500" dirty="0"/>
          </a:p>
          <a:p>
            <a:pPr indent="0" marL="0">
              <a:spcAft>
                <a:spcPts val="400"/>
              </a:spcAft>
              <a:buNone/>
            </a:pPr>
            <a:r>
              <a:rPr lang="en-US" sz="1500" dirty="0">
                <a:solidFill>
                  <a:schemeClr val="tx1"/>
                </a:solidFill>
              </a:rPr>
              <a:t>Finish with rocks: how does phosphate get from rock back to plants?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D · ANSWER</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Mark scheme and model answer</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371600"/>
            <a:ext cx="5486400" cy="4709160"/>
          </a:xfrm>
          <a:prstGeom prst="roundRect">
            <a:avLst>
              <a:gd name="adj" fmla="val 2330"/>
            </a:avLst>
          </a:prstGeom>
          <a:solidFill>
            <a:schemeClr val="bg1"/>
          </a:solidFill>
          <a:ln w="12700">
            <a:solidFill>
              <a:schemeClr val="bg1"/>
            </a:solidFill>
            <a:prstDash val="solid"/>
          </a:ln>
        </p:spPr>
      </p:sp>
      <p:sp>
        <p:nvSpPr>
          <p:cNvPr id="6" name="Text 4"/>
          <p:cNvSpPr txBox="1"/>
          <p:nvPr/>
        </p:nvSpPr>
        <p:spPr>
          <a:xfrm>
            <a:off x="685800" y="1481328"/>
            <a:ext cx="5212080" cy="452628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Mark scheme (from the notes): 5 max</a:t>
            </a:r>
            <a:endParaRPr lang="en-US" sz="1500" dirty="0"/>
          </a:p>
          <a:p>
            <a:pPr indent="0" marL="0">
              <a:spcAft>
                <a:spcPts val="400"/>
              </a:spcAft>
              <a:buNone/>
            </a:pPr>
            <a:r>
              <a:rPr lang="en-US" sz="1400" dirty="0">
                <a:solidFill>
                  <a:schemeClr val="tx1"/>
                </a:solidFill>
              </a:rPr>
              <a:t>1. Phospholipids, RNA and DNA from dead organisms into phosphate ions;</a:t>
            </a:r>
            <a:endParaRPr lang="en-US" sz="1500" dirty="0"/>
          </a:p>
          <a:p>
            <a:pPr indent="0" marL="0">
              <a:spcAft>
                <a:spcPts val="400"/>
              </a:spcAft>
              <a:buNone/>
            </a:pPr>
            <a:r>
              <a:rPr lang="en-US" sz="1400" dirty="0">
                <a:solidFill>
                  <a:schemeClr val="tx1"/>
                </a:solidFill>
              </a:rPr>
              <a:t>2. Decomposed by saprobionts;</a:t>
            </a:r>
            <a:endParaRPr lang="en-US" sz="1500" dirty="0"/>
          </a:p>
          <a:p>
            <a:pPr indent="0" marL="0">
              <a:spcAft>
                <a:spcPts val="400"/>
              </a:spcAft>
              <a:buNone/>
            </a:pPr>
            <a:r>
              <a:rPr lang="en-US" sz="1400" dirty="0">
                <a:solidFill>
                  <a:schemeClr val="tx1"/>
                </a:solidFill>
              </a:rPr>
              <a:t>3. Phosphate ions also found in waste and remains, e.g. guano, bones and shells;</a:t>
            </a:r>
            <a:endParaRPr lang="en-US" sz="1500" dirty="0"/>
          </a:p>
          <a:p>
            <a:pPr indent="0" marL="0">
              <a:spcAft>
                <a:spcPts val="400"/>
              </a:spcAft>
              <a:buNone/>
            </a:pPr>
            <a:r>
              <a:rPr lang="en-US" sz="1400" dirty="0">
                <a:solidFill>
                  <a:schemeClr val="tx1"/>
                </a:solidFill>
              </a:rPr>
              <a:t>4. Phosphate ions transported by streams, rivers, lakes and oceans;</a:t>
            </a:r>
            <a:endParaRPr lang="en-US" sz="1500" dirty="0"/>
          </a:p>
          <a:p>
            <a:pPr indent="0" marL="0">
              <a:spcAft>
                <a:spcPts val="400"/>
              </a:spcAft>
              <a:buNone/>
            </a:pPr>
            <a:r>
              <a:rPr lang="en-US" sz="1400" dirty="0">
                <a:solidFill>
                  <a:schemeClr val="tx1"/>
                </a:solidFill>
              </a:rPr>
              <a:t>5. Form sedimentary rock;</a:t>
            </a:r>
            <a:endParaRPr lang="en-US" sz="1500" dirty="0"/>
          </a:p>
          <a:p>
            <a:pPr indent="0" marL="0">
              <a:spcAft>
                <a:spcPts val="400"/>
              </a:spcAft>
              <a:buNone/>
            </a:pPr>
            <a:r>
              <a:rPr lang="en-US" sz="1400" dirty="0">
                <a:solidFill>
                  <a:schemeClr val="tx1"/>
                </a:solidFill>
              </a:rPr>
              <a:t>6. Weathering and erosion of rocks helps phosphate ions dissolve in oceans, lakes and soils;</a:t>
            </a:r>
            <a:endParaRPr lang="en-US" sz="1500" dirty="0"/>
          </a:p>
          <a:p>
            <a:pPr indent="0" marL="0">
              <a:spcAft>
                <a:spcPts val="400"/>
              </a:spcAft>
              <a:buNone/>
            </a:pPr>
            <a:r>
              <a:rPr lang="en-US" sz="1400" dirty="0">
                <a:solidFill>
                  <a:schemeClr val="tx1"/>
                </a:solidFill>
              </a:rPr>
              <a:t>7. Phosphates become available for absorption by plants to incorporate into biomass;</a:t>
            </a:r>
            <a:endParaRPr lang="en-US" sz="1500" dirty="0"/>
          </a:p>
        </p:txBody>
      </p:sp>
      <p:sp>
        <p:nvSpPr>
          <p:cNvPr id="7" name="Shape 5"/>
          <p:cNvSpPr/>
          <p:nvPr/>
        </p:nvSpPr>
        <p:spPr>
          <a:xfrm>
            <a:off x="6172200" y="1371600"/>
            <a:ext cx="5486400" cy="4709160"/>
          </a:xfrm>
          <a:prstGeom prst="roundRect">
            <a:avLst>
              <a:gd name="adj" fmla="val 2330"/>
            </a:avLst>
          </a:prstGeom>
          <a:solidFill>
            <a:schemeClr val="bg1"/>
          </a:solidFill>
          <a:ln w="12700">
            <a:solidFill>
              <a:schemeClr val="bg1"/>
            </a:solidFill>
            <a:prstDash val="solid"/>
          </a:ln>
        </p:spPr>
      </p:sp>
      <p:sp>
        <p:nvSpPr>
          <p:cNvPr id="8" name="Text 6"/>
          <p:cNvSpPr txBox="1"/>
          <p:nvPr/>
        </p:nvSpPr>
        <p:spPr>
          <a:xfrm>
            <a:off x="6309360" y="1481328"/>
            <a:ext cx="5212080" cy="452628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Model answer</a:t>
            </a:r>
            <a:endParaRPr lang="en-US" sz="1500" dirty="0"/>
          </a:p>
          <a:p>
            <a:pPr indent="0" marL="0">
              <a:spcAft>
                <a:spcPts val="400"/>
              </a:spcAft>
              <a:buNone/>
            </a:pPr>
            <a:r>
              <a:rPr lang="en-US" sz="1500" dirty="0">
                <a:solidFill>
                  <a:schemeClr val="tx1"/>
                </a:solidFill>
              </a:rPr>
              <a:t>Saprobionts decompose phospholipids, DNA and RNA in dead organisms, releasing phosphate ions. Phosphate is also found in wastes and remains such as guano, bones and shells. Phosphate ions are carried by streams and rivers into lakes and oceans, where they form sedimentary rock. Weathering and erosion of the rock help phosphate ions dissolve in oceans, lakes and soils, where plants absorb them and incorporate them into biomass.
</a:t>
            </a:r>
            <a:pPr indent="0" marL="0">
              <a:spcAft>
                <a:spcPts val="400"/>
              </a:spcAft>
              <a:buNone/>
            </a:pPr>
            <a:r>
              <a:rPr lang="en-US" sz="1500" b="1" dirty="0">
                <a:solidFill>
                  <a:schemeClr val="tx1"/>
                </a:solidFill>
              </a:rPr>
              <a:t>Tip: </a:t>
            </a:r>
            <a:pPr indent="0" marL="0">
              <a:spcAft>
                <a:spcPts val="400"/>
              </a:spcAft>
              <a:buNone/>
            </a:pPr>
            <a:r>
              <a:rPr lang="en-US" sz="1500" dirty="0">
                <a:solidFill>
                  <a:schemeClr val="tx1"/>
                </a:solidFill>
              </a:rPr>
              <a:t>follow the cycle in order. Each arrow is a mark.</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D · MORE PRACTICE</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More practice</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371600"/>
            <a:ext cx="11109960" cy="1554480"/>
          </a:xfrm>
          <a:prstGeom prst="roundRect">
            <a:avLst>
              <a:gd name="adj" fmla="val 7059"/>
            </a:avLst>
          </a:prstGeom>
          <a:solidFill>
            <a:schemeClr val="bg1"/>
          </a:solidFill>
          <a:ln w="12700">
            <a:solidFill>
              <a:schemeClr val="bg1"/>
            </a:solidFill>
            <a:prstDash val="solid"/>
          </a:ln>
        </p:spPr>
      </p:sp>
      <p:sp>
        <p:nvSpPr>
          <p:cNvPr id="6" name="Shape 4"/>
          <p:cNvSpPr/>
          <p:nvPr/>
        </p:nvSpPr>
        <p:spPr>
          <a:xfrm>
            <a:off x="685800" y="1508760"/>
            <a:ext cx="1097280" cy="274320"/>
          </a:xfrm>
          <a:prstGeom prst="roundRect">
            <a:avLst>
              <a:gd name="adj" fmla="val 40000"/>
            </a:avLst>
          </a:prstGeom>
          <a:solidFill>
            <a:schemeClr val="accent4"/>
          </a:solidFill>
          <a:ln w="12700">
            <a:solidFill>
              <a:schemeClr val="accent4"/>
            </a:solidFill>
            <a:prstDash val="solid"/>
          </a:ln>
        </p:spPr>
      </p:sp>
      <p:sp>
        <p:nvSpPr>
          <p:cNvPr id="7" name="Text 5"/>
          <p:cNvSpPr txBox="1"/>
          <p:nvPr/>
        </p:nvSpPr>
        <p:spPr>
          <a:xfrm>
            <a:off x="685800" y="150876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8" name="Text 6"/>
          <p:cNvSpPr txBox="1"/>
          <p:nvPr/>
        </p:nvSpPr>
        <p:spPr>
          <a:xfrm>
            <a:off x="10469880" y="1481328"/>
            <a:ext cx="1051560" cy="320040"/>
          </a:xfrm>
          <a:prstGeom prst="rect">
            <a:avLst/>
          </a:prstGeom>
          <a:noFill/>
          <a:ln/>
        </p:spPr>
        <p:txBody>
          <a:bodyPr wrap="square" lIns="1016" tIns="1016" rIns="1016" bIns="1016" rtlCol="0" anchor="t"/>
          <a:lstStyle/>
          <a:p>
            <a:pPr algn="r" indent="0" marL="0">
              <a:spcAft>
                <a:spcPts val="400"/>
              </a:spcAft>
              <a:buNone/>
            </a:pPr>
            <a:r>
              <a:rPr lang="en-US" sz="1200" b="1" dirty="0">
                <a:solidFill>
                  <a:schemeClr val="tx2"/>
                </a:solidFill>
              </a:rPr>
              <a:t>[3 marks]</a:t>
            </a:r>
            <a:endParaRPr lang="en-US" sz="1200" dirty="0"/>
          </a:p>
        </p:txBody>
      </p:sp>
      <p:sp>
        <p:nvSpPr>
          <p:cNvPr id="9" name="Text 7"/>
          <p:cNvSpPr txBox="1"/>
          <p:nvPr/>
        </p:nvSpPr>
        <p:spPr>
          <a:xfrm>
            <a:off x="685800" y="1847088"/>
            <a:ext cx="10835640" cy="100584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1. Explain why farmers add fertilisers containing nitrates to fields of crops.</a:t>
            </a:r>
            <a:endParaRPr lang="en-US" sz="1500" dirty="0"/>
          </a:p>
        </p:txBody>
      </p:sp>
      <p:sp>
        <p:nvSpPr>
          <p:cNvPr id="10" name="Shape 8"/>
          <p:cNvSpPr/>
          <p:nvPr/>
        </p:nvSpPr>
        <p:spPr>
          <a:xfrm>
            <a:off x="548640" y="3063240"/>
            <a:ext cx="11109960" cy="3017520"/>
          </a:xfrm>
          <a:prstGeom prst="roundRect">
            <a:avLst>
              <a:gd name="adj" fmla="val 3636"/>
            </a:avLst>
          </a:prstGeom>
          <a:solidFill>
            <a:schemeClr val="bg1"/>
          </a:solidFill>
          <a:ln w="12700">
            <a:solidFill>
              <a:schemeClr val="bg1"/>
            </a:solidFill>
            <a:prstDash val="solid"/>
          </a:ln>
        </p:spPr>
      </p:sp>
      <p:sp>
        <p:nvSpPr>
          <p:cNvPr id="11" name="Shape 9"/>
          <p:cNvSpPr/>
          <p:nvPr/>
        </p:nvSpPr>
        <p:spPr>
          <a:xfrm>
            <a:off x="685800" y="3200400"/>
            <a:ext cx="1097280" cy="274320"/>
          </a:xfrm>
          <a:prstGeom prst="roundRect">
            <a:avLst>
              <a:gd name="adj" fmla="val 40000"/>
            </a:avLst>
          </a:prstGeom>
          <a:solidFill>
            <a:schemeClr val="accent4"/>
          </a:solidFill>
          <a:ln w="12700">
            <a:solidFill>
              <a:schemeClr val="accent4"/>
            </a:solidFill>
            <a:prstDash val="solid"/>
          </a:ln>
        </p:spPr>
      </p:sp>
      <p:sp>
        <p:nvSpPr>
          <p:cNvPr id="12" name="Text 10"/>
          <p:cNvSpPr txBox="1"/>
          <p:nvPr/>
        </p:nvSpPr>
        <p:spPr>
          <a:xfrm>
            <a:off x="685800" y="3200400"/>
            <a:ext cx="1097280" cy="274320"/>
          </a:xfrm>
          <a:prstGeom prst="rect">
            <a:avLst/>
          </a:prstGeom>
          <a:noFill/>
          <a:ln/>
        </p:spPr>
        <p:txBody>
          <a:bodyPr wrap="square" lIns="0" tIns="0" rIns="0" bIns="0" rtlCol="0" anchor="ctr"/>
          <a:lstStyle/>
          <a:p>
            <a:pPr algn="ctr" indent="0" marL="0">
              <a:spcAft>
                <a:spcPts val="400"/>
              </a:spcAft>
              <a:buNone/>
            </a:pPr>
            <a:r>
              <a:rPr lang="en-US" sz="1000" b="1" spc="100" kern="0" dirty="0">
                <a:solidFill>
                  <a:schemeClr val="tx1"/>
                </a:solidFill>
              </a:rPr>
              <a:t>NEW QUESTION</a:t>
            </a:r>
            <a:endParaRPr lang="en-US" sz="1000" dirty="0"/>
          </a:p>
        </p:txBody>
      </p:sp>
      <p:sp>
        <p:nvSpPr>
          <p:cNvPr id="13" name="Text 11"/>
          <p:cNvSpPr txBox="1"/>
          <p:nvPr/>
        </p:nvSpPr>
        <p:spPr>
          <a:xfrm>
            <a:off x="685800" y="3538728"/>
            <a:ext cx="10835640" cy="2468880"/>
          </a:xfrm>
          <a:prstGeom prst="rect">
            <a:avLst/>
          </a:prstGeom>
          <a:noFill/>
          <a:ln/>
        </p:spPr>
        <p:txBody>
          <a:bodyPr wrap="square" lIns="1016" tIns="1016" rIns="1016" bIns="1016" rtlCol="0" anchor="t"/>
          <a:lstStyle/>
          <a:p>
            <a:pPr indent="0" marL="0">
              <a:spcAft>
                <a:spcPts val="400"/>
              </a:spcAft>
              <a:buNone/>
            </a:pPr>
            <a:r>
              <a:rPr lang="en-US" sz="1500" dirty="0">
                <a:solidFill>
                  <a:schemeClr val="tx1"/>
                </a:solidFill>
              </a:rPr>
              <a:t>2. Match each description to a process: weathering and erosion / absorption / decomposition / sedimentation / leaching</a:t>
            </a:r>
            <a:endParaRPr lang="en-US" sz="1500" dirty="0"/>
          </a:p>
          <a:p>
            <a:pPr indent="0" marL="0">
              <a:spcAft>
                <a:spcPts val="400"/>
              </a:spcAft>
              <a:buNone/>
            </a:pPr>
            <a:endParaRPr lang="en-US" sz="1500" dirty="0"/>
          </a:p>
          <a:p>
            <a:pPr indent="0" marL="0">
              <a:spcAft>
                <a:spcPts val="400"/>
              </a:spcAft>
              <a:buNone/>
            </a:pPr>
            <a:r>
              <a:rPr lang="en-US" sz="1500" dirty="0">
                <a:solidFill>
                  <a:schemeClr val="tx1"/>
                </a:solidFill>
              </a:rPr>
              <a:t>a) Phosphate ions move from rock into lakes</a:t>
            </a:r>
            <a:endParaRPr lang="en-US" sz="1500" dirty="0"/>
          </a:p>
          <a:p>
            <a:pPr indent="0" marL="0">
              <a:spcAft>
                <a:spcPts val="400"/>
              </a:spcAft>
              <a:buNone/>
            </a:pPr>
            <a:r>
              <a:rPr lang="en-US" sz="1500" dirty="0">
                <a:solidFill>
                  <a:schemeClr val="tx1"/>
                </a:solidFill>
              </a:rPr>
              <a:t>b) Plants take phosphate into their biomass</a:t>
            </a:r>
            <a:endParaRPr lang="en-US" sz="1500" dirty="0"/>
          </a:p>
          <a:p>
            <a:pPr indent="0" marL="0">
              <a:spcAft>
                <a:spcPts val="400"/>
              </a:spcAft>
              <a:buNone/>
            </a:pPr>
            <a:r>
              <a:rPr lang="en-US" sz="1500" dirty="0">
                <a:solidFill>
                  <a:schemeClr val="tx1"/>
                </a:solidFill>
              </a:rPr>
              <a:t>c) Saprobionts break down DNA in a dead animal</a:t>
            </a:r>
            <a:endParaRPr lang="en-US" sz="1500" dirty="0"/>
          </a:p>
          <a:p>
            <a:pPr indent="0" marL="0">
              <a:spcAft>
                <a:spcPts val="400"/>
              </a:spcAft>
              <a:buNone/>
            </a:pPr>
            <a:r>
              <a:rPr lang="en-US" sz="1500" dirty="0">
                <a:solidFill>
                  <a:schemeClr val="tx1"/>
                </a:solidFill>
              </a:rPr>
              <a:t>d) Dissolved phosphate forms new rock</a:t>
            </a:r>
            <a:endParaRPr lang="en-US" sz="1500" dirty="0"/>
          </a:p>
          <a:p>
            <a:pPr indent="0" marL="0">
              <a:spcAft>
                <a:spcPts val="400"/>
              </a:spcAft>
              <a:buNone/>
            </a:pPr>
            <a:r>
              <a:rPr lang="en-US" sz="1500" dirty="0">
                <a:solidFill>
                  <a:schemeClr val="tx1"/>
                </a:solidFill>
              </a:rPr>
              <a:t>e) Excess fertiliser ions washed into rivers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SECTION D · ANSWERS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More practice: answers</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371600"/>
            <a:ext cx="5486400" cy="4709160"/>
          </a:xfrm>
          <a:prstGeom prst="roundRect">
            <a:avLst>
              <a:gd name="adj" fmla="val 2330"/>
            </a:avLst>
          </a:prstGeom>
          <a:solidFill>
            <a:schemeClr val="bg1"/>
          </a:solidFill>
          <a:ln w="12700">
            <a:solidFill>
              <a:schemeClr val="bg1"/>
            </a:solidFill>
            <a:prstDash val="solid"/>
          </a:ln>
        </p:spPr>
      </p:sp>
      <p:sp>
        <p:nvSpPr>
          <p:cNvPr id="6" name="Text 4"/>
          <p:cNvSpPr txBox="1"/>
          <p:nvPr/>
        </p:nvSpPr>
        <p:spPr>
          <a:xfrm>
            <a:off x="685800" y="1481328"/>
            <a:ext cx="5212080" cy="452628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1.  Model answer (3 marks)</a:t>
            </a:r>
            <a:endParaRPr lang="en-US" sz="1500" dirty="0"/>
          </a:p>
          <a:p>
            <a:pPr indent="0" marL="0">
              <a:spcAft>
                <a:spcPts val="400"/>
              </a:spcAft>
              <a:buNone/>
            </a:pPr>
            <a:r>
              <a:rPr lang="en-US" sz="1500" b="1" dirty="0">
                <a:solidFill>
                  <a:schemeClr val="tx1"/>
                </a:solidFill>
              </a:rPr>
              <a:t>✓ </a:t>
            </a:r>
            <a:pPr indent="0" marL="0">
              <a:spcAft>
                <a:spcPts val="400"/>
              </a:spcAft>
              <a:buNone/>
            </a:pPr>
            <a:r>
              <a:rPr lang="en-US" sz="1500" dirty="0">
                <a:solidFill>
                  <a:schemeClr val="tx1"/>
                </a:solidFill>
              </a:rPr>
              <a:t>Crops are harvested and removed, so they don't decompose and fewer ions return to the soil.</a:t>
            </a:r>
            <a:endParaRPr lang="en-US" sz="1500" dirty="0"/>
          </a:p>
          <a:p>
            <a:pPr indent="0" marL="0">
              <a:spcAft>
                <a:spcPts val="400"/>
              </a:spcAft>
              <a:buNone/>
            </a:pPr>
            <a:r>
              <a:rPr lang="en-US" sz="1500" b="1" dirty="0">
                <a:solidFill>
                  <a:schemeClr val="tx1"/>
                </a:solidFill>
              </a:rPr>
              <a:t>✓ </a:t>
            </a:r>
            <a:pPr indent="0" marL="0">
              <a:spcAft>
                <a:spcPts val="400"/>
              </a:spcAft>
              <a:buNone/>
            </a:pPr>
            <a:r>
              <a:rPr lang="en-US" sz="1500" dirty="0">
                <a:solidFill>
                  <a:schemeClr val="tx1"/>
                </a:solidFill>
              </a:rPr>
              <a:t>Nitrogen is needed to make proteins and DNA, for growth.</a:t>
            </a:r>
            <a:endParaRPr lang="en-US" sz="1500" dirty="0"/>
          </a:p>
          <a:p>
            <a:pPr indent="0" marL="0">
              <a:spcAft>
                <a:spcPts val="400"/>
              </a:spcAft>
              <a:buNone/>
            </a:pPr>
            <a:r>
              <a:rPr lang="en-US" sz="1500" b="1" dirty="0">
                <a:solidFill>
                  <a:schemeClr val="tx1"/>
                </a:solidFill>
              </a:rPr>
              <a:t>✓ </a:t>
            </a:r>
            <a:pPr indent="0" marL="0">
              <a:spcAft>
                <a:spcPts val="400"/>
              </a:spcAft>
              <a:buNone/>
            </a:pPr>
            <a:r>
              <a:rPr lang="en-US" sz="1500" dirty="0">
                <a:solidFill>
                  <a:schemeClr val="tx1"/>
                </a:solidFill>
              </a:rPr>
              <a:t>Faster growth gives a greater leaf area, so more photosynthesis and higher productivity.</a:t>
            </a:r>
            <a:endParaRPr lang="en-US" sz="1500" dirty="0"/>
          </a:p>
        </p:txBody>
      </p:sp>
      <p:sp>
        <p:nvSpPr>
          <p:cNvPr id="7" name="Shape 5"/>
          <p:cNvSpPr/>
          <p:nvPr/>
        </p:nvSpPr>
        <p:spPr>
          <a:xfrm>
            <a:off x="6172200" y="1371600"/>
            <a:ext cx="5486400" cy="4709160"/>
          </a:xfrm>
          <a:prstGeom prst="roundRect">
            <a:avLst>
              <a:gd name="adj" fmla="val 2330"/>
            </a:avLst>
          </a:prstGeom>
          <a:solidFill>
            <a:schemeClr val="bg1"/>
          </a:solidFill>
          <a:ln w="12700">
            <a:solidFill>
              <a:schemeClr val="bg1"/>
            </a:solidFill>
            <a:prstDash val="solid"/>
          </a:ln>
        </p:spPr>
      </p:sp>
      <p:sp>
        <p:nvSpPr>
          <p:cNvPr id="8" name="Text 6"/>
          <p:cNvSpPr txBox="1"/>
          <p:nvPr/>
        </p:nvSpPr>
        <p:spPr>
          <a:xfrm>
            <a:off x="6309360" y="1481328"/>
            <a:ext cx="5212080" cy="452628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2.  Matches</a:t>
            </a:r>
            <a:endParaRPr lang="en-US" sz="1500" dirty="0"/>
          </a:p>
          <a:p>
            <a:pPr indent="0" marL="0">
              <a:spcAft>
                <a:spcPts val="400"/>
              </a:spcAft>
              <a:buNone/>
            </a:pPr>
            <a:r>
              <a:rPr lang="en-US" sz="1500" b="1" dirty="0">
                <a:solidFill>
                  <a:schemeClr val="tx1"/>
                </a:solidFill>
              </a:rPr>
              <a:t>a) </a:t>
            </a:r>
            <a:pPr indent="0" marL="0">
              <a:spcAft>
                <a:spcPts val="400"/>
              </a:spcAft>
              <a:buNone/>
            </a:pPr>
            <a:r>
              <a:rPr lang="en-US" sz="1500" dirty="0">
                <a:solidFill>
                  <a:schemeClr val="tx1"/>
                </a:solidFill>
              </a:rPr>
              <a:t>weathering and erosion</a:t>
            </a:r>
            <a:endParaRPr lang="en-US" sz="1500" dirty="0"/>
          </a:p>
          <a:p>
            <a:pPr indent="0" marL="0">
              <a:spcAft>
                <a:spcPts val="400"/>
              </a:spcAft>
              <a:buNone/>
            </a:pPr>
            <a:r>
              <a:rPr lang="en-US" sz="1500" b="1" dirty="0">
                <a:solidFill>
                  <a:schemeClr val="tx1"/>
                </a:solidFill>
              </a:rPr>
              <a:t>b) </a:t>
            </a:r>
            <a:pPr indent="0" marL="0">
              <a:spcAft>
                <a:spcPts val="400"/>
              </a:spcAft>
              <a:buNone/>
            </a:pPr>
            <a:r>
              <a:rPr lang="en-US" sz="1500" dirty="0">
                <a:solidFill>
                  <a:schemeClr val="tx1"/>
                </a:solidFill>
              </a:rPr>
              <a:t>absorption</a:t>
            </a:r>
            <a:endParaRPr lang="en-US" sz="1500" dirty="0"/>
          </a:p>
          <a:p>
            <a:pPr indent="0" marL="0">
              <a:spcAft>
                <a:spcPts val="400"/>
              </a:spcAft>
              <a:buNone/>
            </a:pPr>
            <a:r>
              <a:rPr lang="en-US" sz="1500" b="1" dirty="0">
                <a:solidFill>
                  <a:schemeClr val="tx1"/>
                </a:solidFill>
              </a:rPr>
              <a:t>c) </a:t>
            </a:r>
            <a:pPr indent="0" marL="0">
              <a:spcAft>
                <a:spcPts val="400"/>
              </a:spcAft>
              <a:buNone/>
            </a:pPr>
            <a:r>
              <a:rPr lang="en-US" sz="1500" dirty="0">
                <a:solidFill>
                  <a:schemeClr val="tx1"/>
                </a:solidFill>
              </a:rPr>
              <a:t>decomposition</a:t>
            </a:r>
            <a:endParaRPr lang="en-US" sz="1500" dirty="0"/>
          </a:p>
          <a:p>
            <a:pPr indent="0" marL="0">
              <a:spcAft>
                <a:spcPts val="400"/>
              </a:spcAft>
              <a:buNone/>
            </a:pPr>
            <a:r>
              <a:rPr lang="en-US" sz="1500" b="1" dirty="0">
                <a:solidFill>
                  <a:schemeClr val="tx1"/>
                </a:solidFill>
              </a:rPr>
              <a:t>d) </a:t>
            </a:r>
            <a:pPr indent="0" marL="0">
              <a:spcAft>
                <a:spcPts val="400"/>
              </a:spcAft>
              <a:buNone/>
            </a:pPr>
            <a:r>
              <a:rPr lang="en-US" sz="1500" dirty="0">
                <a:solidFill>
                  <a:schemeClr val="tx1"/>
                </a:solidFill>
              </a:rPr>
              <a:t>sedimentation</a:t>
            </a:r>
            <a:endParaRPr lang="en-US" sz="1500" dirty="0"/>
          </a:p>
          <a:p>
            <a:pPr indent="0" marL="0">
              <a:spcAft>
                <a:spcPts val="400"/>
              </a:spcAft>
              <a:buNone/>
            </a:pPr>
            <a:r>
              <a:rPr lang="en-US" sz="1500" b="1" dirty="0">
                <a:solidFill>
                  <a:schemeClr val="tx1"/>
                </a:solidFill>
              </a:rPr>
              <a:t>e) </a:t>
            </a:r>
            <a:pPr indent="0" marL="0">
              <a:spcAft>
                <a:spcPts val="400"/>
              </a:spcAft>
              <a:buNone/>
            </a:pPr>
            <a:r>
              <a:rPr lang="en-US" sz="1500" dirty="0">
                <a:solidFill>
                  <a:schemeClr val="tx1"/>
                </a:solidFill>
              </a:rPr>
              <a:t>leaching</a:t>
            </a:r>
            <a:endParaRPr lang="en-US" sz="1500" dirty="0"/>
          </a:p>
        </p:txBody>
      </p:sp>
      <p:sp>
        <p:nvSpPr>
          <p:cNvPr id="9" name="Text 7"/>
          <p:cNvSpPr txBox="1"/>
          <p:nvPr/>
        </p:nvSpPr>
        <p:spPr>
          <a:xfrm>
            <a:off x="8412480" y="6355080"/>
            <a:ext cx="265176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2" action="ppaction://hlinksldjump" tooltip="">
                  <a:extLst>
                    <a:ext uri="{A12FA001-AC4F-418D-AE19-62706E023703}">
                      <ahyp:hlinkClr xmlns:ahyp="http://schemas.microsoft.com/office/drawing/2018/hyperlinkcolor" val="tx"/>
                    </a:ext>
                  </a:extLst>
                </a:hlinkClick>
              </a:rPr>
              <a:t>Next: Summary →</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SUMMARY</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Everything on one slide</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371600"/>
            <a:ext cx="2743200" cy="685800"/>
          </a:xfrm>
          <a:prstGeom prst="roundRect">
            <a:avLst>
              <a:gd name="adj" fmla="val 16000"/>
            </a:avLst>
          </a:prstGeom>
          <a:solidFill>
            <a:schemeClr val="accent1"/>
          </a:solidFill>
          <a:ln w="12700">
            <a:solidFill>
              <a:schemeClr val="accent1"/>
            </a:solidFill>
            <a:prstDash val="solid"/>
          </a:ln>
        </p:spPr>
      </p:sp>
      <p:sp>
        <p:nvSpPr>
          <p:cNvPr id="6" name="Text 4"/>
          <p:cNvSpPr txBox="1"/>
          <p:nvPr/>
        </p:nvSpPr>
        <p:spPr>
          <a:xfrm>
            <a:off x="548640" y="1371600"/>
            <a:ext cx="2743200" cy="685800"/>
          </a:xfrm>
          <a:prstGeom prst="rect">
            <a:avLst/>
          </a:prstGeom>
          <a:noFill/>
          <a:ln/>
        </p:spPr>
        <p:txBody>
          <a:bodyPr wrap="square" lIns="0" tIns="0" rIns="0" bIns="0" rtlCol="0" anchor="ctr"/>
          <a:lstStyle/>
          <a:p>
            <a:pPr algn="ctr" indent="0" marL="0">
              <a:spcAft>
                <a:spcPts val="400"/>
              </a:spcAft>
              <a:buNone/>
            </a:pPr>
            <a:r>
              <a:rPr lang="en-US" sz="1700" b="1" dirty="0">
                <a:solidFill>
                  <a:schemeClr val="bg1"/>
                </a:solidFill>
                <a:latin typeface="Cambria" pitchFamily="34" charset="0"/>
                <a:ea typeface="Cambria" pitchFamily="34" charset="-122"/>
                <a:cs typeface="Cambria" pitchFamily="34" charset="-120"/>
              </a:rPr>
              <a:t>Phosphorus</a:t>
            </a:r>
            <a:endParaRPr lang="en-US" sz="1700" dirty="0"/>
          </a:p>
        </p:txBody>
      </p:sp>
      <p:sp>
        <p:nvSpPr>
          <p:cNvPr id="7" name="Text 5"/>
          <p:cNvSpPr txBox="1"/>
          <p:nvPr/>
        </p:nvSpPr>
        <p:spPr>
          <a:xfrm>
            <a:off x="3474720" y="1371600"/>
            <a:ext cx="8138160" cy="685800"/>
          </a:xfrm>
          <a:prstGeom prst="rect">
            <a:avLst/>
          </a:prstGeom>
          <a:noFill/>
          <a:ln/>
        </p:spPr>
        <p:txBody>
          <a:bodyPr wrap="square" lIns="1016" tIns="1016" rIns="1016" bIns="1016" rtlCol="0" anchor="ctr"/>
          <a:lstStyle/>
          <a:p>
            <a:pPr indent="0" marL="0">
              <a:spcAft>
                <a:spcPts val="400"/>
              </a:spcAft>
              <a:buNone/>
            </a:pPr>
            <a:r>
              <a:rPr lang="en-US" sz="1500" dirty="0">
                <a:solidFill>
                  <a:schemeClr val="tx1"/>
                </a:solidFill>
              </a:rPr>
              <a:t>In ATP, phospholipids and nucleic acids. No gases in the cycle.</a:t>
            </a:r>
            <a:endParaRPr lang="en-US" sz="1500" dirty="0"/>
          </a:p>
        </p:txBody>
      </p:sp>
      <p:sp>
        <p:nvSpPr>
          <p:cNvPr id="8" name="Shape 6"/>
          <p:cNvSpPr/>
          <p:nvPr/>
        </p:nvSpPr>
        <p:spPr>
          <a:xfrm>
            <a:off x="548640" y="2167128"/>
            <a:ext cx="2743200" cy="685800"/>
          </a:xfrm>
          <a:prstGeom prst="roundRect">
            <a:avLst>
              <a:gd name="adj" fmla="val 16000"/>
            </a:avLst>
          </a:prstGeom>
          <a:solidFill>
            <a:schemeClr val="accent4"/>
          </a:solidFill>
          <a:ln w="12700">
            <a:solidFill>
              <a:schemeClr val="accent4"/>
            </a:solidFill>
            <a:prstDash val="solid"/>
          </a:ln>
        </p:spPr>
      </p:sp>
      <p:sp>
        <p:nvSpPr>
          <p:cNvPr id="9" name="Text 7"/>
          <p:cNvSpPr txBox="1"/>
          <p:nvPr/>
        </p:nvSpPr>
        <p:spPr>
          <a:xfrm>
            <a:off x="548640" y="2167128"/>
            <a:ext cx="2743200" cy="685800"/>
          </a:xfrm>
          <a:prstGeom prst="rect">
            <a:avLst/>
          </a:prstGeom>
          <a:noFill/>
          <a:ln/>
        </p:spPr>
        <p:txBody>
          <a:bodyPr wrap="square" lIns="0" tIns="0" rIns="0" bIns="0" rtlCol="0" anchor="ctr"/>
          <a:lstStyle/>
          <a:p>
            <a:pPr algn="ctr" indent="0" marL="0">
              <a:spcAft>
                <a:spcPts val="400"/>
              </a:spcAft>
              <a:buNone/>
            </a:pPr>
            <a:r>
              <a:rPr lang="en-US" sz="1700" b="1" dirty="0">
                <a:solidFill>
                  <a:schemeClr val="tx1"/>
                </a:solidFill>
                <a:latin typeface="Cambria" pitchFamily="34" charset="0"/>
                <a:ea typeface="Cambria" pitchFamily="34" charset="-122"/>
                <a:cs typeface="Cambria" pitchFamily="34" charset="-120"/>
              </a:rPr>
              <a:t>Rock → water</a:t>
            </a:r>
            <a:endParaRPr lang="en-US" sz="1700" dirty="0"/>
          </a:p>
        </p:txBody>
      </p:sp>
      <p:sp>
        <p:nvSpPr>
          <p:cNvPr id="10" name="Text 8"/>
          <p:cNvSpPr txBox="1"/>
          <p:nvPr/>
        </p:nvSpPr>
        <p:spPr>
          <a:xfrm>
            <a:off x="3474720" y="2167128"/>
            <a:ext cx="8138160" cy="685800"/>
          </a:xfrm>
          <a:prstGeom prst="rect">
            <a:avLst/>
          </a:prstGeom>
          <a:noFill/>
          <a:ln/>
        </p:spPr>
        <p:txBody>
          <a:bodyPr wrap="square" lIns="1016" tIns="1016" rIns="1016" bIns="1016" rtlCol="0" anchor="ctr"/>
          <a:lstStyle/>
          <a:p>
            <a:pPr indent="0" marL="0">
              <a:spcAft>
                <a:spcPts val="400"/>
              </a:spcAft>
              <a:buNone/>
            </a:pPr>
            <a:r>
              <a:rPr lang="en-US" sz="1500" dirty="0">
                <a:solidFill>
                  <a:schemeClr val="tx1"/>
                </a:solidFill>
              </a:rPr>
              <a:t>Weathering and erosion dissolve phosphate; plants absorb it; animals feed.</a:t>
            </a:r>
            <a:endParaRPr lang="en-US" sz="1500" dirty="0"/>
          </a:p>
        </p:txBody>
      </p:sp>
      <p:sp>
        <p:nvSpPr>
          <p:cNvPr id="11" name="Shape 9"/>
          <p:cNvSpPr/>
          <p:nvPr/>
        </p:nvSpPr>
        <p:spPr>
          <a:xfrm>
            <a:off x="548640" y="2962656"/>
            <a:ext cx="2743200" cy="685800"/>
          </a:xfrm>
          <a:prstGeom prst="roundRect">
            <a:avLst>
              <a:gd name="adj" fmla="val 16000"/>
            </a:avLst>
          </a:prstGeom>
          <a:solidFill>
            <a:schemeClr val="accent1"/>
          </a:solidFill>
          <a:ln w="12700">
            <a:solidFill>
              <a:schemeClr val="accent1"/>
            </a:solidFill>
            <a:prstDash val="solid"/>
          </a:ln>
        </p:spPr>
      </p:sp>
      <p:sp>
        <p:nvSpPr>
          <p:cNvPr id="12" name="Text 10"/>
          <p:cNvSpPr txBox="1"/>
          <p:nvPr/>
        </p:nvSpPr>
        <p:spPr>
          <a:xfrm>
            <a:off x="548640" y="2962656"/>
            <a:ext cx="2743200" cy="685800"/>
          </a:xfrm>
          <a:prstGeom prst="rect">
            <a:avLst/>
          </a:prstGeom>
          <a:noFill/>
          <a:ln/>
        </p:spPr>
        <p:txBody>
          <a:bodyPr wrap="square" lIns="0" tIns="0" rIns="0" bIns="0" rtlCol="0" anchor="ctr"/>
          <a:lstStyle/>
          <a:p>
            <a:pPr algn="ctr" indent="0" marL="0">
              <a:spcAft>
                <a:spcPts val="400"/>
              </a:spcAft>
              <a:buNone/>
            </a:pPr>
            <a:r>
              <a:rPr lang="en-US" sz="1700" b="1" dirty="0">
                <a:solidFill>
                  <a:schemeClr val="bg1"/>
                </a:solidFill>
                <a:latin typeface="Cambria" pitchFamily="34" charset="0"/>
                <a:ea typeface="Cambria" pitchFamily="34" charset="-122"/>
                <a:cs typeface="Cambria" pitchFamily="34" charset="-120"/>
              </a:rPr>
              <a:t>Back again</a:t>
            </a:r>
            <a:endParaRPr lang="en-US" sz="1700" dirty="0"/>
          </a:p>
        </p:txBody>
      </p:sp>
      <p:sp>
        <p:nvSpPr>
          <p:cNvPr id="13" name="Text 11"/>
          <p:cNvSpPr txBox="1"/>
          <p:nvPr/>
        </p:nvSpPr>
        <p:spPr>
          <a:xfrm>
            <a:off x="3474720" y="2962656"/>
            <a:ext cx="8138160" cy="685800"/>
          </a:xfrm>
          <a:prstGeom prst="rect">
            <a:avLst/>
          </a:prstGeom>
          <a:noFill/>
          <a:ln/>
        </p:spPr>
        <p:txBody>
          <a:bodyPr wrap="square" lIns="1016" tIns="1016" rIns="1016" bIns="1016" rtlCol="0" anchor="ctr"/>
          <a:lstStyle/>
          <a:p>
            <a:pPr indent="0" marL="0">
              <a:spcAft>
                <a:spcPts val="400"/>
              </a:spcAft>
              <a:buNone/>
            </a:pPr>
            <a:r>
              <a:rPr lang="en-US" sz="1500" dirty="0">
                <a:solidFill>
                  <a:schemeClr val="tx1"/>
                </a:solidFill>
              </a:rPr>
              <a:t>Saprobiotic bacteria decompose; remains are eroded or deposited as rock.</a:t>
            </a:r>
            <a:endParaRPr lang="en-US" sz="1500" dirty="0"/>
          </a:p>
        </p:txBody>
      </p:sp>
      <p:sp>
        <p:nvSpPr>
          <p:cNvPr id="14" name="Shape 12"/>
          <p:cNvSpPr/>
          <p:nvPr/>
        </p:nvSpPr>
        <p:spPr>
          <a:xfrm>
            <a:off x="548640" y="3758184"/>
            <a:ext cx="2743200" cy="685800"/>
          </a:xfrm>
          <a:prstGeom prst="roundRect">
            <a:avLst>
              <a:gd name="adj" fmla="val 16000"/>
            </a:avLst>
          </a:prstGeom>
          <a:solidFill>
            <a:schemeClr val="accent4"/>
          </a:solidFill>
          <a:ln w="12700">
            <a:solidFill>
              <a:schemeClr val="accent4"/>
            </a:solidFill>
            <a:prstDash val="solid"/>
          </a:ln>
        </p:spPr>
      </p:sp>
      <p:sp>
        <p:nvSpPr>
          <p:cNvPr id="15" name="Text 13"/>
          <p:cNvSpPr txBox="1"/>
          <p:nvPr/>
        </p:nvSpPr>
        <p:spPr>
          <a:xfrm>
            <a:off x="548640" y="3758184"/>
            <a:ext cx="2743200" cy="685800"/>
          </a:xfrm>
          <a:prstGeom prst="rect">
            <a:avLst/>
          </a:prstGeom>
          <a:noFill/>
          <a:ln/>
        </p:spPr>
        <p:txBody>
          <a:bodyPr wrap="square" lIns="0" tIns="0" rIns="0" bIns="0" rtlCol="0" anchor="ctr"/>
          <a:lstStyle/>
          <a:p>
            <a:pPr algn="ctr" indent="0" marL="0">
              <a:spcAft>
                <a:spcPts val="400"/>
              </a:spcAft>
              <a:buNone/>
            </a:pPr>
            <a:r>
              <a:rPr lang="en-US" sz="1700" b="1" dirty="0">
                <a:solidFill>
                  <a:schemeClr val="tx1"/>
                </a:solidFill>
                <a:latin typeface="Cambria" pitchFamily="34" charset="0"/>
                <a:ea typeface="Cambria" pitchFamily="34" charset="-122"/>
                <a:cs typeface="Cambria" pitchFamily="34" charset="-120"/>
              </a:rPr>
              <a:t>Mycorrhizae</a:t>
            </a:r>
            <a:endParaRPr lang="en-US" sz="1700" dirty="0"/>
          </a:p>
        </p:txBody>
      </p:sp>
      <p:sp>
        <p:nvSpPr>
          <p:cNvPr id="16" name="Text 14"/>
          <p:cNvSpPr txBox="1"/>
          <p:nvPr/>
        </p:nvSpPr>
        <p:spPr>
          <a:xfrm>
            <a:off x="3474720" y="3758184"/>
            <a:ext cx="8138160" cy="685800"/>
          </a:xfrm>
          <a:prstGeom prst="rect">
            <a:avLst/>
          </a:prstGeom>
          <a:noFill/>
          <a:ln/>
        </p:spPr>
        <p:txBody>
          <a:bodyPr wrap="square" lIns="1016" tIns="1016" rIns="1016" bIns="1016" rtlCol="0" anchor="ctr"/>
          <a:lstStyle/>
          <a:p>
            <a:pPr indent="0" marL="0">
              <a:spcAft>
                <a:spcPts val="400"/>
              </a:spcAft>
              <a:buNone/>
            </a:pPr>
            <a:r>
              <a:rPr lang="en-US" sz="1500" dirty="0">
                <a:solidFill>
                  <a:schemeClr val="tx1"/>
                </a:solidFill>
              </a:rPr>
              <a:t>Fungi + roots: bigger surface area, more water and ions. Mutualistic.</a:t>
            </a:r>
            <a:endParaRPr lang="en-US" sz="1500" dirty="0"/>
          </a:p>
        </p:txBody>
      </p:sp>
      <p:sp>
        <p:nvSpPr>
          <p:cNvPr id="17" name="Shape 15"/>
          <p:cNvSpPr/>
          <p:nvPr/>
        </p:nvSpPr>
        <p:spPr>
          <a:xfrm>
            <a:off x="548640" y="4553712"/>
            <a:ext cx="2743200" cy="685800"/>
          </a:xfrm>
          <a:prstGeom prst="roundRect">
            <a:avLst>
              <a:gd name="adj" fmla="val 16000"/>
            </a:avLst>
          </a:prstGeom>
          <a:solidFill>
            <a:schemeClr val="accent1"/>
          </a:solidFill>
          <a:ln w="12700">
            <a:solidFill>
              <a:schemeClr val="accent1"/>
            </a:solidFill>
            <a:prstDash val="solid"/>
          </a:ln>
        </p:spPr>
      </p:sp>
      <p:sp>
        <p:nvSpPr>
          <p:cNvPr id="18" name="Text 16"/>
          <p:cNvSpPr txBox="1"/>
          <p:nvPr/>
        </p:nvSpPr>
        <p:spPr>
          <a:xfrm>
            <a:off x="548640" y="4553712"/>
            <a:ext cx="2743200" cy="685800"/>
          </a:xfrm>
          <a:prstGeom prst="rect">
            <a:avLst/>
          </a:prstGeom>
          <a:noFill/>
          <a:ln/>
        </p:spPr>
        <p:txBody>
          <a:bodyPr wrap="square" lIns="0" tIns="0" rIns="0" bIns="0" rtlCol="0" anchor="ctr"/>
          <a:lstStyle/>
          <a:p>
            <a:pPr algn="ctr" indent="0" marL="0">
              <a:spcAft>
                <a:spcPts val="400"/>
              </a:spcAft>
              <a:buNone/>
            </a:pPr>
            <a:r>
              <a:rPr lang="en-US" sz="1700" b="1" dirty="0">
                <a:solidFill>
                  <a:schemeClr val="bg1"/>
                </a:solidFill>
                <a:latin typeface="Cambria" pitchFamily="34" charset="0"/>
                <a:ea typeface="Cambria" pitchFamily="34" charset="-122"/>
                <a:cs typeface="Cambria" pitchFamily="34" charset="-120"/>
              </a:rPr>
              <a:t>Fertilisers</a:t>
            </a:r>
            <a:endParaRPr lang="en-US" sz="1700" dirty="0"/>
          </a:p>
        </p:txBody>
      </p:sp>
      <p:sp>
        <p:nvSpPr>
          <p:cNvPr id="19" name="Text 17"/>
          <p:cNvSpPr txBox="1"/>
          <p:nvPr/>
        </p:nvSpPr>
        <p:spPr>
          <a:xfrm>
            <a:off x="3474720" y="4553712"/>
            <a:ext cx="8138160" cy="685800"/>
          </a:xfrm>
          <a:prstGeom prst="rect">
            <a:avLst/>
          </a:prstGeom>
          <a:noFill/>
          <a:ln/>
        </p:spPr>
        <p:txBody>
          <a:bodyPr wrap="square" lIns="1016" tIns="1016" rIns="1016" bIns="1016" rtlCol="0" anchor="ctr"/>
          <a:lstStyle/>
          <a:p>
            <a:pPr indent="0" marL="0">
              <a:spcAft>
                <a:spcPts val="400"/>
              </a:spcAft>
              <a:buNone/>
            </a:pPr>
            <a:r>
              <a:rPr lang="en-US" sz="1500" dirty="0">
                <a:solidFill>
                  <a:schemeClr val="tx1"/>
                </a:solidFill>
              </a:rPr>
              <a:t>Replace ions lost when crops are harvested. Natural (manure) or artificial.</a:t>
            </a:r>
            <a:endParaRPr lang="en-US" sz="1500" dirty="0"/>
          </a:p>
        </p:txBody>
      </p:sp>
      <p:sp>
        <p:nvSpPr>
          <p:cNvPr id="20" name="Shape 18"/>
          <p:cNvSpPr/>
          <p:nvPr/>
        </p:nvSpPr>
        <p:spPr>
          <a:xfrm>
            <a:off x="548640" y="5349240"/>
            <a:ext cx="2743200" cy="685800"/>
          </a:xfrm>
          <a:prstGeom prst="roundRect">
            <a:avLst>
              <a:gd name="adj" fmla="val 16000"/>
            </a:avLst>
          </a:prstGeom>
          <a:solidFill>
            <a:schemeClr val="accent4"/>
          </a:solidFill>
          <a:ln w="12700">
            <a:solidFill>
              <a:schemeClr val="accent4"/>
            </a:solidFill>
            <a:prstDash val="solid"/>
          </a:ln>
        </p:spPr>
      </p:sp>
      <p:sp>
        <p:nvSpPr>
          <p:cNvPr id="21" name="Text 19"/>
          <p:cNvSpPr txBox="1"/>
          <p:nvPr/>
        </p:nvSpPr>
        <p:spPr>
          <a:xfrm>
            <a:off x="548640" y="5349240"/>
            <a:ext cx="2743200" cy="685800"/>
          </a:xfrm>
          <a:prstGeom prst="rect">
            <a:avLst/>
          </a:prstGeom>
          <a:noFill/>
          <a:ln/>
        </p:spPr>
        <p:txBody>
          <a:bodyPr wrap="square" lIns="0" tIns="0" rIns="0" bIns="0" rtlCol="0" anchor="ctr"/>
          <a:lstStyle/>
          <a:p>
            <a:pPr algn="ctr" indent="0" marL="0">
              <a:spcAft>
                <a:spcPts val="400"/>
              </a:spcAft>
              <a:buNone/>
            </a:pPr>
            <a:r>
              <a:rPr lang="en-US" sz="1700" b="1" dirty="0">
                <a:solidFill>
                  <a:schemeClr val="tx1"/>
                </a:solidFill>
                <a:latin typeface="Cambria" pitchFamily="34" charset="0"/>
                <a:ea typeface="Cambria" pitchFamily="34" charset="-122"/>
                <a:cs typeface="Cambria" pitchFamily="34" charset="-120"/>
              </a:rPr>
              <a:t>Impact</a:t>
            </a:r>
            <a:endParaRPr lang="en-US" sz="1700" dirty="0"/>
          </a:p>
        </p:txBody>
      </p:sp>
      <p:sp>
        <p:nvSpPr>
          <p:cNvPr id="22" name="Text 20"/>
          <p:cNvSpPr txBox="1"/>
          <p:nvPr/>
        </p:nvSpPr>
        <p:spPr>
          <a:xfrm>
            <a:off x="3474720" y="5349240"/>
            <a:ext cx="8138160" cy="685800"/>
          </a:xfrm>
          <a:prstGeom prst="rect">
            <a:avLst/>
          </a:prstGeom>
          <a:noFill/>
          <a:ln/>
        </p:spPr>
        <p:txBody>
          <a:bodyPr wrap="square" lIns="1016" tIns="1016" rIns="1016" bIns="1016" rtlCol="0" anchor="ctr"/>
          <a:lstStyle/>
          <a:p>
            <a:pPr indent="0" marL="0">
              <a:spcAft>
                <a:spcPts val="400"/>
              </a:spcAft>
              <a:buNone/>
            </a:pPr>
            <a:r>
              <a:rPr lang="en-US" sz="1500" dirty="0">
                <a:solidFill>
                  <a:schemeClr val="tx1"/>
                </a:solidFill>
              </a:rPr>
              <a:t>Reduced species diversity; leaching of excess ions into rivers and lakes.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FINAL QUIZ · NEW QUESTIONS · ANSWERS ON THE NEXT SLIDE</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Final quiz</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40680" cy="1463040"/>
          </a:xfrm>
          <a:prstGeom prst="roundRect">
            <a:avLst>
              <a:gd name="adj" fmla="val 7500"/>
            </a:avLst>
          </a:prstGeom>
          <a:solidFill>
            <a:schemeClr val="bg1"/>
          </a:solidFill>
          <a:ln w="12700">
            <a:solidFill>
              <a:schemeClr val="bg1"/>
            </a:solidFill>
            <a:prstDash val="solid"/>
          </a:ln>
        </p:spPr>
      </p:sp>
      <p:sp>
        <p:nvSpPr>
          <p:cNvPr id="6" name="Text 4"/>
          <p:cNvSpPr txBox="1"/>
          <p:nvPr/>
        </p:nvSpPr>
        <p:spPr>
          <a:xfrm>
            <a:off x="658368" y="1472184"/>
            <a:ext cx="5212080" cy="1371600"/>
          </a:xfrm>
          <a:prstGeom prst="rect">
            <a:avLst/>
          </a:prstGeom>
          <a:noFill/>
          <a:ln/>
        </p:spPr>
        <p:txBody>
          <a:bodyPr wrap="square" lIns="1016" tIns="1016" rIns="1016" bIns="1016" rtlCol="0" anchor="t"/>
          <a:lstStyle/>
          <a:p>
            <a:pPr indent="0" marL="0">
              <a:spcAft>
                <a:spcPts val="400"/>
              </a:spcAft>
              <a:buNone/>
            </a:pPr>
            <a:r>
              <a:rPr lang="en-US" sz="1300" b="1" dirty="0">
                <a:solidFill>
                  <a:schemeClr val="tx1"/>
                </a:solidFill>
              </a:rPr>
              <a:t>1. Which contains phosphorus?</a:t>
            </a:r>
            <a:endParaRPr lang="en-US" sz="1300" dirty="0"/>
          </a:p>
          <a:p>
            <a:pPr indent="0" marL="0">
              <a:spcAft>
                <a:spcPts val="400"/>
              </a:spcAft>
              <a:buNone/>
            </a:pPr>
            <a:r>
              <a:rPr lang="en-US" sz="1300" dirty="0">
                <a:solidFill>
                  <a:schemeClr val="tx1"/>
                </a:solidFill>
              </a:rPr>
              <a:t>A  glucose     B  starch     C  phospholipids</a:t>
            </a:r>
            <a:endParaRPr lang="en-US" sz="1300" dirty="0"/>
          </a:p>
        </p:txBody>
      </p:sp>
      <p:sp>
        <p:nvSpPr>
          <p:cNvPr id="7" name="Shape 5"/>
          <p:cNvSpPr/>
          <p:nvPr/>
        </p:nvSpPr>
        <p:spPr>
          <a:xfrm>
            <a:off x="6172200" y="1417320"/>
            <a:ext cx="5440680" cy="1463040"/>
          </a:xfrm>
          <a:prstGeom prst="roundRect">
            <a:avLst>
              <a:gd name="adj" fmla="val 7500"/>
            </a:avLst>
          </a:prstGeom>
          <a:solidFill>
            <a:schemeClr val="bg1"/>
          </a:solidFill>
          <a:ln w="12700">
            <a:solidFill>
              <a:schemeClr val="bg1"/>
            </a:solidFill>
            <a:prstDash val="solid"/>
          </a:ln>
        </p:spPr>
      </p:sp>
      <p:sp>
        <p:nvSpPr>
          <p:cNvPr id="8" name="Text 6"/>
          <p:cNvSpPr txBox="1"/>
          <p:nvPr/>
        </p:nvSpPr>
        <p:spPr>
          <a:xfrm>
            <a:off x="6281928" y="1472184"/>
            <a:ext cx="5212080" cy="1371600"/>
          </a:xfrm>
          <a:prstGeom prst="rect">
            <a:avLst/>
          </a:prstGeom>
          <a:noFill/>
          <a:ln/>
        </p:spPr>
        <p:txBody>
          <a:bodyPr wrap="square" lIns="1016" tIns="1016" rIns="1016" bIns="1016" rtlCol="0" anchor="t"/>
          <a:lstStyle/>
          <a:p>
            <a:pPr indent="0" marL="0">
              <a:spcAft>
                <a:spcPts val="400"/>
              </a:spcAft>
              <a:buNone/>
            </a:pPr>
            <a:r>
              <a:rPr lang="en-US" sz="1300" b="1" dirty="0">
                <a:solidFill>
                  <a:schemeClr val="tx1"/>
                </a:solidFill>
              </a:rPr>
              <a:t>2. Guano, bones and shells are…</a:t>
            </a:r>
            <a:endParaRPr lang="en-US" sz="1300" dirty="0"/>
          </a:p>
          <a:p>
            <a:pPr indent="0" marL="0">
              <a:spcAft>
                <a:spcPts val="400"/>
              </a:spcAft>
              <a:buNone/>
            </a:pPr>
            <a:r>
              <a:rPr lang="en-US" sz="1300" dirty="0">
                <a:solidFill>
                  <a:schemeClr val="tx1"/>
                </a:solidFill>
              </a:rPr>
              <a:t>A  sedimentary rock</a:t>
            </a:r>
            <a:endParaRPr lang="en-US" sz="1300" dirty="0"/>
          </a:p>
          <a:p>
            <a:pPr indent="0" marL="0">
              <a:spcAft>
                <a:spcPts val="400"/>
              </a:spcAft>
              <a:buNone/>
            </a:pPr>
            <a:r>
              <a:rPr lang="en-US" sz="1300" dirty="0">
                <a:solidFill>
                  <a:schemeClr val="tx1"/>
                </a:solidFill>
              </a:rPr>
              <a:t>B  wastes and remains containing phosphate</a:t>
            </a:r>
            <a:endParaRPr lang="en-US" sz="1300" dirty="0"/>
          </a:p>
          <a:p>
            <a:pPr indent="0" marL="0">
              <a:spcAft>
                <a:spcPts val="400"/>
              </a:spcAft>
              <a:buNone/>
            </a:pPr>
            <a:r>
              <a:rPr lang="en-US" sz="1300" dirty="0">
                <a:solidFill>
                  <a:schemeClr val="tx1"/>
                </a:solidFill>
              </a:rPr>
              <a:t>C  artificial fertilisers</a:t>
            </a:r>
            <a:endParaRPr lang="en-US" sz="1300" dirty="0"/>
          </a:p>
        </p:txBody>
      </p:sp>
      <p:sp>
        <p:nvSpPr>
          <p:cNvPr id="9" name="Shape 7"/>
          <p:cNvSpPr/>
          <p:nvPr/>
        </p:nvSpPr>
        <p:spPr>
          <a:xfrm>
            <a:off x="548640" y="2990088"/>
            <a:ext cx="5440680" cy="1463040"/>
          </a:xfrm>
          <a:prstGeom prst="roundRect">
            <a:avLst>
              <a:gd name="adj" fmla="val 7500"/>
            </a:avLst>
          </a:prstGeom>
          <a:solidFill>
            <a:schemeClr val="bg1"/>
          </a:solidFill>
          <a:ln w="12700">
            <a:solidFill>
              <a:schemeClr val="bg1"/>
            </a:solidFill>
            <a:prstDash val="solid"/>
          </a:ln>
        </p:spPr>
      </p:sp>
      <p:sp>
        <p:nvSpPr>
          <p:cNvPr id="10" name="Text 8"/>
          <p:cNvSpPr txBox="1"/>
          <p:nvPr/>
        </p:nvSpPr>
        <p:spPr>
          <a:xfrm>
            <a:off x="658368" y="3044952"/>
            <a:ext cx="5212080" cy="1371600"/>
          </a:xfrm>
          <a:prstGeom prst="rect">
            <a:avLst/>
          </a:prstGeom>
          <a:noFill/>
          <a:ln/>
        </p:spPr>
        <p:txBody>
          <a:bodyPr wrap="square" lIns="1016" tIns="1016" rIns="1016" bIns="1016" rtlCol="0" anchor="t"/>
          <a:lstStyle/>
          <a:p>
            <a:pPr indent="0" marL="0">
              <a:spcAft>
                <a:spcPts val="400"/>
              </a:spcAft>
              <a:buNone/>
            </a:pPr>
            <a:r>
              <a:rPr lang="en-US" sz="1300" b="1" dirty="0">
                <a:solidFill>
                  <a:schemeClr val="tx1"/>
                </a:solidFill>
              </a:rPr>
              <a:t>3. The plant–mycorrhizae relationship is…</a:t>
            </a:r>
            <a:endParaRPr lang="en-US" sz="1300" dirty="0"/>
          </a:p>
          <a:p>
            <a:pPr indent="0" marL="0">
              <a:spcAft>
                <a:spcPts val="400"/>
              </a:spcAft>
              <a:buNone/>
            </a:pPr>
            <a:r>
              <a:rPr lang="en-US" sz="1300" dirty="0">
                <a:solidFill>
                  <a:schemeClr val="tx1"/>
                </a:solidFill>
              </a:rPr>
              <a:t>A  mutualistic   B  parasitic   C  competitive</a:t>
            </a:r>
            <a:endParaRPr lang="en-US" sz="1300" dirty="0"/>
          </a:p>
        </p:txBody>
      </p:sp>
      <p:sp>
        <p:nvSpPr>
          <p:cNvPr id="11" name="Shape 9"/>
          <p:cNvSpPr/>
          <p:nvPr/>
        </p:nvSpPr>
        <p:spPr>
          <a:xfrm>
            <a:off x="6172200" y="2990088"/>
            <a:ext cx="5440680" cy="1463040"/>
          </a:xfrm>
          <a:prstGeom prst="roundRect">
            <a:avLst>
              <a:gd name="adj" fmla="val 7500"/>
            </a:avLst>
          </a:prstGeom>
          <a:solidFill>
            <a:schemeClr val="bg1"/>
          </a:solidFill>
          <a:ln w="12700">
            <a:solidFill>
              <a:schemeClr val="bg1"/>
            </a:solidFill>
            <a:prstDash val="solid"/>
          </a:ln>
        </p:spPr>
      </p:sp>
      <p:sp>
        <p:nvSpPr>
          <p:cNvPr id="12" name="Text 10"/>
          <p:cNvSpPr txBox="1"/>
          <p:nvPr/>
        </p:nvSpPr>
        <p:spPr>
          <a:xfrm>
            <a:off x="6281928" y="3044952"/>
            <a:ext cx="5212080" cy="1371600"/>
          </a:xfrm>
          <a:prstGeom prst="rect">
            <a:avLst/>
          </a:prstGeom>
          <a:noFill/>
          <a:ln/>
        </p:spPr>
        <p:txBody>
          <a:bodyPr wrap="square" lIns="1016" tIns="1016" rIns="1016" bIns="1016" rtlCol="0" anchor="t"/>
          <a:lstStyle/>
          <a:p>
            <a:pPr indent="0" marL="0">
              <a:spcAft>
                <a:spcPts val="400"/>
              </a:spcAft>
              <a:buNone/>
            </a:pPr>
            <a:r>
              <a:rPr lang="en-US" sz="1300" b="1" dirty="0">
                <a:solidFill>
                  <a:schemeClr val="tx1"/>
                </a:solidFill>
              </a:rPr>
              <a:t>4. Which is a natural fertiliser?</a:t>
            </a:r>
            <a:endParaRPr lang="en-US" sz="1300" dirty="0"/>
          </a:p>
          <a:p>
            <a:pPr indent="0" marL="0">
              <a:spcAft>
                <a:spcPts val="400"/>
              </a:spcAft>
              <a:buNone/>
            </a:pPr>
            <a:r>
              <a:rPr lang="en-US" sz="1300" dirty="0">
                <a:solidFill>
                  <a:schemeClr val="tx1"/>
                </a:solidFill>
              </a:rPr>
              <a:t>A  nitrate pellets   B  potassium powder   C  manure</a:t>
            </a:r>
            <a:endParaRPr lang="en-US" sz="1300" dirty="0"/>
          </a:p>
        </p:txBody>
      </p:sp>
      <p:sp>
        <p:nvSpPr>
          <p:cNvPr id="13" name="Shape 11"/>
          <p:cNvSpPr/>
          <p:nvPr/>
        </p:nvSpPr>
        <p:spPr>
          <a:xfrm>
            <a:off x="548640" y="4562856"/>
            <a:ext cx="5440680" cy="1463040"/>
          </a:xfrm>
          <a:prstGeom prst="roundRect">
            <a:avLst>
              <a:gd name="adj" fmla="val 7500"/>
            </a:avLst>
          </a:prstGeom>
          <a:solidFill>
            <a:schemeClr val="bg1"/>
          </a:solidFill>
          <a:ln w="12700">
            <a:solidFill>
              <a:schemeClr val="bg1"/>
            </a:solidFill>
            <a:prstDash val="solid"/>
          </a:ln>
        </p:spPr>
      </p:sp>
      <p:sp>
        <p:nvSpPr>
          <p:cNvPr id="14" name="Text 12"/>
          <p:cNvSpPr txBox="1"/>
          <p:nvPr/>
        </p:nvSpPr>
        <p:spPr>
          <a:xfrm>
            <a:off x="658368" y="4617720"/>
            <a:ext cx="5212080" cy="1371600"/>
          </a:xfrm>
          <a:prstGeom prst="rect">
            <a:avLst/>
          </a:prstGeom>
          <a:noFill/>
          <a:ln/>
        </p:spPr>
        <p:txBody>
          <a:bodyPr wrap="square" lIns="1016" tIns="1016" rIns="1016" bIns="1016" rtlCol="0" anchor="t"/>
          <a:lstStyle/>
          <a:p>
            <a:pPr indent="0" marL="0">
              <a:spcAft>
                <a:spcPts val="400"/>
              </a:spcAft>
              <a:buNone/>
            </a:pPr>
            <a:r>
              <a:rPr lang="en-US" sz="1300" b="1" dirty="0">
                <a:solidFill>
                  <a:schemeClr val="tx1"/>
                </a:solidFill>
              </a:rPr>
              <a:t>5. Leaching happens because…</a:t>
            </a:r>
            <a:endParaRPr lang="en-US" sz="1300" dirty="0"/>
          </a:p>
          <a:p>
            <a:pPr indent="0" marL="0">
              <a:spcAft>
                <a:spcPts val="400"/>
              </a:spcAft>
              <a:buNone/>
            </a:pPr>
            <a:r>
              <a:rPr lang="en-US" sz="1300" dirty="0">
                <a:solidFill>
                  <a:schemeClr val="tx1"/>
                </a:solidFill>
              </a:rPr>
              <a:t>A  saprobionts decompose crops</a:t>
            </a:r>
            <a:endParaRPr lang="en-US" sz="1300" dirty="0"/>
          </a:p>
          <a:p>
            <a:pPr indent="0" marL="0">
              <a:spcAft>
                <a:spcPts val="400"/>
              </a:spcAft>
              <a:buNone/>
            </a:pPr>
            <a:r>
              <a:rPr lang="en-US" sz="1300" dirty="0">
                <a:solidFill>
                  <a:schemeClr val="tx1"/>
                </a:solidFill>
              </a:rPr>
              <a:t>B  more ions are applied than plants take up</a:t>
            </a:r>
            <a:endParaRPr lang="en-US" sz="1300" dirty="0"/>
          </a:p>
          <a:p>
            <a:pPr indent="0" marL="0">
              <a:spcAft>
                <a:spcPts val="400"/>
              </a:spcAft>
              <a:buNone/>
            </a:pPr>
            <a:r>
              <a:rPr lang="en-US" sz="1300" dirty="0">
                <a:solidFill>
                  <a:schemeClr val="tx1"/>
                </a:solidFill>
              </a:rPr>
              <a:t>C  mycorrhizae absorb too many ions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FINAL QUIZ · ANSWERS</a:t>
            </a:r>
            <a:endParaRPr lang="en-US" sz="1200" dirty="0"/>
          </a:p>
        </p:txBody>
      </p:sp>
      <p:sp>
        <p:nvSpPr>
          <p:cNvPr id="3" name="Text 0"/>
          <p:cNvSpPr/>
          <p:nvPr>
            <p:ph idx="101" type="title" hasCustomPrompt="1"/>
          </p:nvPr>
        </p:nvSpPr>
        <p:spPr>
          <a:xfrm>
            <a:off x="548640" y="566928"/>
            <a:ext cx="9509760" cy="73152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Final quiz: answers</a:t>
            </a:r>
            <a:endParaRPr lang="en-US" sz="3200" dirty="0"/>
          </a:p>
        </p:txBody>
      </p:sp>
      <p:sp>
        <p:nvSpPr>
          <p:cNvPr id="4" name="nav-map"/>
          <p:cNvSpPr txBox="1"/>
          <p:nvPr/>
        </p:nvSpPr>
        <p:spPr>
          <a:xfrm>
            <a:off x="10469880" y="274320"/>
            <a:ext cx="1188720" cy="320040"/>
          </a:xfrm>
          <a:prstGeom prst="rect">
            <a:avLst/>
          </a:prstGeom>
          <a:noFill/>
          <a:ln/>
        </p:spPr>
        <p:txBody>
          <a:bodyPr wrap="square" lIns="0" tIns="0" rIns="0" bIns="0" rtlCol="0" anchor="ctr"/>
          <a:lstStyle/>
          <a:p>
            <a:pPr algn="r" indent="0" marL="0">
              <a:buNone/>
            </a:pPr>
            <a:r>
              <a:rPr lang="en-US" sz="1200" u="sng" dirty="0">
                <a:solidFill>
                  <a:schemeClr val="accent1"/>
                </a:solidFill>
                <a:hlinkClick r:id="rId1" action="ppaction://hlinksldjump" tooltip="Back to lesson map">
                  <a:extLst>
                    <a:ext uri="{A12FA001-AC4F-418D-AE19-62706E023703}">
                      <ahyp:hlinkClr xmlns:ahyp="http://schemas.microsoft.com/office/drawing/2018/hyperlinkcolor" val="tx"/>
                    </a:ext>
                  </a:extLst>
                </a:hlinkClick>
              </a:rPr>
              <a:t>Lesson map</a:t>
            </a:r>
            <a:endParaRPr lang="en-US" sz="1200" dirty="0"/>
          </a:p>
        </p:txBody>
      </p:sp>
      <p:sp>
        <p:nvSpPr>
          <p:cNvPr id="5" name="Shape 3"/>
          <p:cNvSpPr/>
          <p:nvPr/>
        </p:nvSpPr>
        <p:spPr>
          <a:xfrm>
            <a:off x="548640" y="1417320"/>
            <a:ext cx="5440680" cy="1188720"/>
          </a:xfrm>
          <a:prstGeom prst="roundRect">
            <a:avLst>
              <a:gd name="adj" fmla="val 9231"/>
            </a:avLst>
          </a:prstGeom>
          <a:solidFill>
            <a:schemeClr val="bg1"/>
          </a:solidFill>
          <a:ln w="12700">
            <a:solidFill>
              <a:schemeClr val="bg1"/>
            </a:solidFill>
            <a:prstDash val="solid"/>
          </a:ln>
        </p:spPr>
      </p:sp>
      <p:sp>
        <p:nvSpPr>
          <p:cNvPr id="6" name="Text 4"/>
          <p:cNvSpPr txBox="1"/>
          <p:nvPr/>
        </p:nvSpPr>
        <p:spPr>
          <a:xfrm>
            <a:off x="685800" y="1527048"/>
            <a:ext cx="5166360" cy="1005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1. C: phospholipids</a:t>
            </a:r>
            <a:endParaRPr lang="en-US" sz="1500" dirty="0"/>
          </a:p>
          <a:p>
            <a:pPr indent="0" marL="0">
              <a:spcAft>
                <a:spcPts val="400"/>
              </a:spcAft>
              <a:buNone/>
            </a:pPr>
            <a:r>
              <a:rPr lang="en-US" sz="1500" dirty="0">
                <a:solidFill>
                  <a:schemeClr val="tx1"/>
                </a:solidFill>
              </a:rPr>
              <a:t>Glucose and starch are only C, H and O.</a:t>
            </a:r>
            <a:endParaRPr lang="en-US" sz="1500" dirty="0"/>
          </a:p>
        </p:txBody>
      </p:sp>
      <p:sp>
        <p:nvSpPr>
          <p:cNvPr id="7" name="Shape 5"/>
          <p:cNvSpPr/>
          <p:nvPr/>
        </p:nvSpPr>
        <p:spPr>
          <a:xfrm>
            <a:off x="6172200" y="1417320"/>
            <a:ext cx="5440680" cy="1188720"/>
          </a:xfrm>
          <a:prstGeom prst="roundRect">
            <a:avLst>
              <a:gd name="adj" fmla="val 9231"/>
            </a:avLst>
          </a:prstGeom>
          <a:solidFill>
            <a:schemeClr val="bg1"/>
          </a:solidFill>
          <a:ln w="12700">
            <a:solidFill>
              <a:schemeClr val="bg1"/>
            </a:solidFill>
            <a:prstDash val="solid"/>
          </a:ln>
        </p:spPr>
      </p:sp>
      <p:sp>
        <p:nvSpPr>
          <p:cNvPr id="8" name="Text 6"/>
          <p:cNvSpPr txBox="1"/>
          <p:nvPr/>
        </p:nvSpPr>
        <p:spPr>
          <a:xfrm>
            <a:off x="6309360" y="1527048"/>
            <a:ext cx="5166360" cy="1005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2. B</a:t>
            </a:r>
            <a:endParaRPr lang="en-US" sz="1500" dirty="0"/>
          </a:p>
          <a:p>
            <a:pPr indent="0" marL="0">
              <a:spcAft>
                <a:spcPts val="400"/>
              </a:spcAft>
              <a:buNone/>
            </a:pPr>
            <a:r>
              <a:rPr lang="en-US" sz="1500" dirty="0">
                <a:solidFill>
                  <a:schemeClr val="tx1"/>
                </a:solidFill>
              </a:rPr>
              <a:t>Wastes and remains containing phosphate.</a:t>
            </a:r>
            <a:endParaRPr lang="en-US" sz="1500" dirty="0"/>
          </a:p>
        </p:txBody>
      </p:sp>
      <p:sp>
        <p:nvSpPr>
          <p:cNvPr id="9" name="Shape 7"/>
          <p:cNvSpPr/>
          <p:nvPr/>
        </p:nvSpPr>
        <p:spPr>
          <a:xfrm>
            <a:off x="548640" y="2743200"/>
            <a:ext cx="5440680" cy="1188720"/>
          </a:xfrm>
          <a:prstGeom prst="roundRect">
            <a:avLst>
              <a:gd name="adj" fmla="val 9231"/>
            </a:avLst>
          </a:prstGeom>
          <a:solidFill>
            <a:schemeClr val="bg1"/>
          </a:solidFill>
          <a:ln w="12700">
            <a:solidFill>
              <a:schemeClr val="bg1"/>
            </a:solidFill>
            <a:prstDash val="solid"/>
          </a:ln>
        </p:spPr>
      </p:sp>
      <p:sp>
        <p:nvSpPr>
          <p:cNvPr id="10" name="Text 8"/>
          <p:cNvSpPr txBox="1"/>
          <p:nvPr/>
        </p:nvSpPr>
        <p:spPr>
          <a:xfrm>
            <a:off x="685800" y="2852928"/>
            <a:ext cx="5166360" cy="1005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3. A: mutualistic</a:t>
            </a:r>
            <a:endParaRPr lang="en-US" sz="1500" dirty="0"/>
          </a:p>
          <a:p>
            <a:pPr indent="0" marL="0">
              <a:spcAft>
                <a:spcPts val="400"/>
              </a:spcAft>
              <a:buNone/>
            </a:pPr>
            <a:r>
              <a:rPr lang="en-US" sz="1500" dirty="0">
                <a:solidFill>
                  <a:schemeClr val="tx1"/>
                </a:solidFill>
              </a:rPr>
              <a:t>Both the plant and the fungus benefit.</a:t>
            </a:r>
            <a:endParaRPr lang="en-US" sz="1500" dirty="0"/>
          </a:p>
        </p:txBody>
      </p:sp>
      <p:sp>
        <p:nvSpPr>
          <p:cNvPr id="11" name="Shape 9"/>
          <p:cNvSpPr/>
          <p:nvPr/>
        </p:nvSpPr>
        <p:spPr>
          <a:xfrm>
            <a:off x="6172200" y="2743200"/>
            <a:ext cx="5440680" cy="1188720"/>
          </a:xfrm>
          <a:prstGeom prst="roundRect">
            <a:avLst>
              <a:gd name="adj" fmla="val 9231"/>
            </a:avLst>
          </a:prstGeom>
          <a:solidFill>
            <a:schemeClr val="bg1"/>
          </a:solidFill>
          <a:ln w="12700">
            <a:solidFill>
              <a:schemeClr val="bg1"/>
            </a:solidFill>
            <a:prstDash val="solid"/>
          </a:ln>
        </p:spPr>
      </p:sp>
      <p:sp>
        <p:nvSpPr>
          <p:cNvPr id="12" name="Text 10"/>
          <p:cNvSpPr txBox="1"/>
          <p:nvPr/>
        </p:nvSpPr>
        <p:spPr>
          <a:xfrm>
            <a:off x="6309360" y="2852928"/>
            <a:ext cx="5166360" cy="1005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4. C: manure</a:t>
            </a:r>
            <a:endParaRPr lang="en-US" sz="1500" dirty="0"/>
          </a:p>
          <a:p>
            <a:pPr indent="0" marL="0">
              <a:spcAft>
                <a:spcPts val="400"/>
              </a:spcAft>
              <a:buNone/>
            </a:pPr>
            <a:r>
              <a:rPr lang="en-US" sz="1500" dirty="0">
                <a:solidFill>
                  <a:schemeClr val="tx1"/>
                </a:solidFill>
              </a:rPr>
              <a:t>Pellets and powders are artificial.</a:t>
            </a:r>
            <a:endParaRPr lang="en-US" sz="1500" dirty="0"/>
          </a:p>
        </p:txBody>
      </p:sp>
      <p:sp>
        <p:nvSpPr>
          <p:cNvPr id="13" name="Shape 11"/>
          <p:cNvSpPr/>
          <p:nvPr/>
        </p:nvSpPr>
        <p:spPr>
          <a:xfrm>
            <a:off x="548640" y="4069080"/>
            <a:ext cx="5440680" cy="1188720"/>
          </a:xfrm>
          <a:prstGeom prst="roundRect">
            <a:avLst>
              <a:gd name="adj" fmla="val 9231"/>
            </a:avLst>
          </a:prstGeom>
          <a:solidFill>
            <a:schemeClr val="bg1"/>
          </a:solidFill>
          <a:ln w="12700">
            <a:solidFill>
              <a:schemeClr val="bg1"/>
            </a:solidFill>
            <a:prstDash val="solid"/>
          </a:ln>
        </p:spPr>
      </p:sp>
      <p:sp>
        <p:nvSpPr>
          <p:cNvPr id="14" name="Text 12"/>
          <p:cNvSpPr txBox="1"/>
          <p:nvPr/>
        </p:nvSpPr>
        <p:spPr>
          <a:xfrm>
            <a:off x="685800" y="4178808"/>
            <a:ext cx="5166360" cy="1005840"/>
          </a:xfrm>
          <a:prstGeom prst="rect">
            <a:avLst/>
          </a:prstGeom>
          <a:noFill/>
          <a:ln/>
        </p:spPr>
        <p:txBody>
          <a:bodyPr wrap="square" lIns="1016" tIns="1016" rIns="1016" bIns="1016" rtlCol="0" anchor="t"/>
          <a:lstStyle/>
          <a:p>
            <a:pPr indent="0" marL="0">
              <a:spcAft>
                <a:spcPts val="400"/>
              </a:spcAft>
              <a:buNone/>
            </a:pPr>
            <a:r>
              <a:rPr lang="en-US" sz="1500" b="1" dirty="0">
                <a:solidFill>
                  <a:schemeClr val="accent1"/>
                </a:solidFill>
              </a:rPr>
              <a:t>5. B</a:t>
            </a:r>
            <a:endParaRPr lang="en-US" sz="1500" dirty="0"/>
          </a:p>
          <a:p>
            <a:pPr indent="0" marL="0">
              <a:spcAft>
                <a:spcPts val="400"/>
              </a:spcAft>
              <a:buNone/>
            </a:pPr>
            <a:r>
              <a:rPr lang="en-US" sz="1500" dirty="0">
                <a:solidFill>
                  <a:schemeClr val="tx1"/>
                </a:solidFill>
              </a:rPr>
              <a:t>Ions plants don't take up dissolve and are washed away.</a:t>
            </a:r>
            <a:endParaRPr lang="en-US" sz="1500" dirty="0"/>
          </a:p>
        </p:txBody>
      </p:sp>
      <p:sp>
        <p:nvSpPr>
          <p:cNvPr id="15" name="Text 13"/>
          <p:cNvSpPr txBox="1"/>
          <p:nvPr/>
        </p:nvSpPr>
        <p:spPr>
          <a:xfrm>
            <a:off x="6172200" y="4206240"/>
            <a:ext cx="5486400" cy="457200"/>
          </a:xfrm>
          <a:prstGeom prst="rect">
            <a:avLst/>
          </a:prstGeom>
          <a:noFill/>
          <a:ln/>
        </p:spPr>
        <p:txBody>
          <a:bodyPr wrap="square" lIns="1016" tIns="1016" rIns="1016" bIns="1016" rtlCol="0" anchor="t"/>
          <a:lstStyle/>
          <a:p>
            <a:pPr indent="0" marL="0">
              <a:spcAft>
                <a:spcPts val="400"/>
              </a:spcAft>
              <a:buNone/>
            </a:pPr>
            <a:r>
              <a:rPr lang="en-US" sz="1600" u="sng" dirty="0">
                <a:solidFill>
                  <a:schemeClr val="accent1"/>
                </a:solidFill>
                <a:hlinkClick r:id="rId2" action="ppaction://hlinksldjump" tooltip="">
                  <a:extLst>
                    <a:ext uri="{A12FA001-AC4F-418D-AE19-62706E023703}">
                      <ahyp:hlinkClr xmlns:ahyp="http://schemas.microsoft.com/office/drawing/2018/hyperlinkcolor" val="tx"/>
                    </a:ext>
                  </a:extLst>
                </a:hlinkClick>
              </a:rPr>
              <a:t>Back to the lesson map</a:t>
            </a:r>
            <a:pPr indent="0" marL="0">
              <a:spcAft>
                <a:spcPts val="400"/>
              </a:spcAft>
              <a:buNone/>
            </a:pPr>
            <a:r>
              <a:rPr lang="en-US" sz="1600" dirty="0">
                <a:solidFill>
                  <a:schemeClr val="accent1"/>
                </a:solidFill>
              </a:rPr>
              <a:t>  ·  Well done for finishing.</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Energy Flow">
  <a:themeElements>
    <a:clrScheme name="Energy Flow">
      <a:dk1>
        <a:srgbClr val="16241D"/>
      </a:dk1>
      <a:lt1>
        <a:srgbClr val="FFFFFF"/>
      </a:lt1>
      <a:dk2>
        <a:srgbClr val="4D5E55"/>
      </a:dk2>
      <a:lt2>
        <a:srgbClr val="F5F8F5"/>
      </a:lt2>
      <a:accent1>
        <a:srgbClr val="1F6B4E"/>
      </a:accent1>
      <a:accent2>
        <a:srgbClr val="F6C453"/>
      </a:accent2>
      <a:accent3>
        <a:srgbClr val="A93A22"/>
      </a:accent3>
      <a:accent4>
        <a:srgbClr val="E3F0E9"/>
      </a:accent4>
      <a:accent5>
        <a:srgbClr val="FDF2D9"/>
      </a:accent5>
      <a:accent6>
        <a:srgbClr val="FBE7E1"/>
      </a:accent6>
      <a:hlink>
        <a:srgbClr val="1F6B4E"/>
      </a:hlink>
      <a:folHlink>
        <a:srgbClr val="4D5E55"/>
      </a:folHlink>
    </a:clrScheme>
    <a:fontScheme name="Energy Flo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Phosphorus cycle, mycorrhizae and fertilisers</dc:title>
  <dc:subject>AQA A-level Biology: energy and ecosystems</dc:subject>
  <dc:creator>Lesson pack</dc:creator>
  <cp:lastModifiedBy>Lesson pack</cp:lastModifiedBy>
  <cp:revision>1</cp:revision>
  <dcterms:created xsi:type="dcterms:W3CDTF">2026-10-19T13:46:26Z</dcterms:created>
  <dcterms:modified xsi:type="dcterms:W3CDTF">2026-10-19T13:46:26Z</dcterms:modified>
</cp:coreProperties>
</file>