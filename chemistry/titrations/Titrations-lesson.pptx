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a7dc72be-43b8-4206-fae8-f9b46a885448}">
          <p14:sldIdLst>
            <p14:sldId id="256"/>
            <p14:sldId id="257"/>
          </p14:sldIdLst>
        </p14:section>
        <p14:section name="A · Titration method" id="{c77409c1-77da-9a50-f4ac-7cb4bf9adb64}">
          <p14:sldIdLst>
            <p14:sldId id="258"/>
            <p14:sldId id="259"/>
            <p14:sldId id="260"/>
            <p14:sldId id="261"/>
            <p14:sldId id="262"/>
          </p14:sldIdLst>
        </p14:section>
        <p14:section name="B · pH curves" id="{081572d4-2a34-8736-0cae-c36bbddd05be}">
          <p14:sldIdLst>
            <p14:sldId id="263"/>
            <p14:sldId id="264"/>
            <p14:sldId id="265"/>
            <p14:sldId id="266"/>
          </p14:sldIdLst>
        </p14:section>
        <p14:section name="C · Indicators" id="{e12b26ca-f1f7-0946-cf8b-3eecf64edc06}">
          <p14:sldIdLst>
            <p14:sldId id="267"/>
            <p14:sldId id="268"/>
            <p14:sldId id="269"/>
            <p14:sldId id="270"/>
          </p14:sldIdLst>
        </p14:section>
        <p14:section name="D · Calculations" id="{fa0a93f9-4698-fb7f-32ff-05b42f02dc39}">
          <p14:sldIdLst>
            <p14:sldId id="271"/>
            <p14:sldId id="272"/>
            <p14:sldId id="273"/>
            <p14:sldId id="274"/>
            <p14:sldId id="275"/>
          </p14:sldIdLst>
        </p14:section>
        <p14:section name="E · Exam questions" id="{6f76196c-b674-166b-3921-d51fb486b2d8}">
          <p14:sldIdLst>
            <p14:sldId id="276"/>
            <p14:sldId id="277"/>
            <p14:sldId id="278"/>
            <p14:sldId id="279"/>
          </p14:sldIdLst>
        </p14:section>
        <p14:section name="Summary &amp; quiz" id="{4bfb75af-caea-d813-1665-7bd95cdbfc39}">
          <p14:sldIdLst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ECK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8.xml"/><Relationship Id="rId4" Type="http://schemas.openxmlformats.org/officeDocument/2006/relationships/slide" Target="slide12.xml"/><Relationship Id="rId5" Type="http://schemas.openxmlformats.org/officeDocument/2006/relationships/slide" Target="slide16.xml"/><Relationship Id="rId6" Type="http://schemas.openxmlformats.org/officeDocument/2006/relationships/slide" Target="slide21.xml"/><Relationship Id="rId7" Type="http://schemas.openxmlformats.org/officeDocument/2006/relationships/slide" Target="slide25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8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6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1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5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AQA A-LEVEL CHEMISTRY · 3.1.12 ACIDS AND BASES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694944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Titrations, pH curves and indicators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65836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A self-paced lesson in 5 short sections. Learn one idea, try the check, then take a break whenever you need to.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069080"/>
            <a:ext cx="6583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160520"/>
            <a:ext cx="62179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How to use this deck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526280"/>
            <a:ext cx="62179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Yellow slides are questions. Try them before moving on.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Blue-tint slides are the answers, with each step explained.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"Lesson map" (top right) jumps to any section.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curve is worked out from real equilibrium maths.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1188720"/>
            <a:ext cx="3840480" cy="292608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3730752"/>
            <a:ext cx="33832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90688" y="363931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138160" y="3380667"/>
            <a:ext cx="33832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90688" y="328922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38160" y="3030583"/>
            <a:ext cx="33832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0688" y="2939143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2680498"/>
            <a:ext cx="33832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90688" y="258905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38160" y="2330414"/>
            <a:ext cx="33832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0688" y="223897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38160" y="1980329"/>
            <a:ext cx="33832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90688" y="1888889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38160" y="1630245"/>
            <a:ext cx="33832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153880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38160" y="1280160"/>
            <a:ext cx="33832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90688" y="11887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37581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631936" y="37581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308592" y="37581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985248" y="37581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661904" y="37581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37581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39136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base added / cm³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38160" y="1980329"/>
            <a:ext cx="3383280" cy="297572"/>
          </a:xfrm>
          <a:prstGeom prst="rect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58400" y="1971185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chemeClr val="tx1"/>
                </a:solidFill>
              </a:rPr>
              <a:t>phenolphthalein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38160" y="2505456"/>
            <a:ext cx="33832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9829800" y="1280160"/>
            <a:ext cx="0" cy="2450592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1280160"/>
            <a:ext cx="3383280" cy="2450592"/>
          </a:xfrm>
          <a:custGeom>
            <a:avLst/>
            <a:gdLst/>
            <a:ahLst/>
            <a:cxnLst/>
            <a:rect l="l" t="t" r="r" b="b"/>
            <a:pathLst>
              <a:path w="3383280" h="2450592">
                <a:moveTo>
                  <a:pt x="0" y="1946448"/>
                </a:moveTo>
                <a:lnTo>
                  <a:pt x="33833" y="1892090"/>
                </a:lnTo>
                <a:lnTo>
                  <a:pt x="67666" y="1852426"/>
                </a:lnTo>
                <a:lnTo>
                  <a:pt x="101498" y="1823853"/>
                </a:lnTo>
                <a:lnTo>
                  <a:pt x="135331" y="1801854"/>
                </a:lnTo>
                <a:lnTo>
                  <a:pt x="169164" y="1783955"/>
                </a:lnTo>
                <a:lnTo>
                  <a:pt x="202997" y="1768798"/>
                </a:lnTo>
                <a:lnTo>
                  <a:pt x="236830" y="1755586"/>
                </a:lnTo>
                <a:lnTo>
                  <a:pt x="270662" y="1743814"/>
                </a:lnTo>
                <a:lnTo>
                  <a:pt x="304495" y="1733145"/>
                </a:lnTo>
                <a:lnTo>
                  <a:pt x="338328" y="1723343"/>
                </a:lnTo>
                <a:lnTo>
                  <a:pt x="372161" y="1714236"/>
                </a:lnTo>
                <a:lnTo>
                  <a:pt x="405994" y="1705696"/>
                </a:lnTo>
                <a:lnTo>
                  <a:pt x="439826" y="1697622"/>
                </a:lnTo>
                <a:lnTo>
                  <a:pt x="473659" y="1689936"/>
                </a:lnTo>
                <a:lnTo>
                  <a:pt x="507492" y="1682574"/>
                </a:lnTo>
                <a:lnTo>
                  <a:pt x="541325" y="1675485"/>
                </a:lnTo>
                <a:lnTo>
                  <a:pt x="575158" y="1668625"/>
                </a:lnTo>
                <a:lnTo>
                  <a:pt x="608990" y="1661955"/>
                </a:lnTo>
                <a:lnTo>
                  <a:pt x="642823" y="1655443"/>
                </a:lnTo>
                <a:lnTo>
                  <a:pt x="676656" y="1649062"/>
                </a:lnTo>
                <a:lnTo>
                  <a:pt x="710489" y="1642785"/>
                </a:lnTo>
                <a:lnTo>
                  <a:pt x="744322" y="1636589"/>
                </a:lnTo>
                <a:lnTo>
                  <a:pt x="778154" y="1630453"/>
                </a:lnTo>
                <a:lnTo>
                  <a:pt x="811987" y="1624355"/>
                </a:lnTo>
                <a:lnTo>
                  <a:pt x="845820" y="1618275"/>
                </a:lnTo>
                <a:lnTo>
                  <a:pt x="879653" y="1612196"/>
                </a:lnTo>
                <a:lnTo>
                  <a:pt x="913486" y="1606096"/>
                </a:lnTo>
                <a:lnTo>
                  <a:pt x="947318" y="1599956"/>
                </a:lnTo>
                <a:lnTo>
                  <a:pt x="981151" y="1593756"/>
                </a:lnTo>
                <a:lnTo>
                  <a:pt x="1014984" y="1587473"/>
                </a:lnTo>
                <a:lnTo>
                  <a:pt x="1048817" y="1581084"/>
                </a:lnTo>
                <a:lnTo>
                  <a:pt x="1082650" y="1574563"/>
                </a:lnTo>
                <a:lnTo>
                  <a:pt x="1116482" y="1567881"/>
                </a:lnTo>
                <a:lnTo>
                  <a:pt x="1150315" y="1561005"/>
                </a:lnTo>
                <a:lnTo>
                  <a:pt x="1184148" y="1553898"/>
                </a:lnTo>
                <a:lnTo>
                  <a:pt x="1217981" y="1546513"/>
                </a:lnTo>
                <a:lnTo>
                  <a:pt x="1251814" y="1538799"/>
                </a:lnTo>
                <a:lnTo>
                  <a:pt x="1285646" y="1530688"/>
                </a:lnTo>
                <a:lnTo>
                  <a:pt x="1319479" y="1522101"/>
                </a:lnTo>
                <a:lnTo>
                  <a:pt x="1353312" y="1512932"/>
                </a:lnTo>
                <a:lnTo>
                  <a:pt x="1387145" y="1503047"/>
                </a:lnTo>
                <a:lnTo>
                  <a:pt x="1420978" y="1492262"/>
                </a:lnTo>
                <a:lnTo>
                  <a:pt x="1454810" y="1480324"/>
                </a:lnTo>
                <a:lnTo>
                  <a:pt x="1488643" y="1466859"/>
                </a:lnTo>
                <a:lnTo>
                  <a:pt x="1522476" y="1451292"/>
                </a:lnTo>
                <a:lnTo>
                  <a:pt x="1556309" y="1432658"/>
                </a:lnTo>
                <a:lnTo>
                  <a:pt x="1590142" y="1409155"/>
                </a:lnTo>
                <a:lnTo>
                  <a:pt x="1593525" y="1406416"/>
                </a:lnTo>
                <a:lnTo>
                  <a:pt x="1596908" y="1403588"/>
                </a:lnTo>
                <a:lnTo>
                  <a:pt x="1600291" y="1400662"/>
                </a:lnTo>
                <a:lnTo>
                  <a:pt x="1603675" y="1397633"/>
                </a:lnTo>
                <a:lnTo>
                  <a:pt x="1607058" y="1394491"/>
                </a:lnTo>
                <a:lnTo>
                  <a:pt x="1610441" y="1391228"/>
                </a:lnTo>
                <a:lnTo>
                  <a:pt x="1613825" y="1387833"/>
                </a:lnTo>
                <a:lnTo>
                  <a:pt x="1617208" y="1384295"/>
                </a:lnTo>
                <a:lnTo>
                  <a:pt x="1620591" y="1380600"/>
                </a:lnTo>
                <a:lnTo>
                  <a:pt x="1623974" y="1376732"/>
                </a:lnTo>
                <a:lnTo>
                  <a:pt x="1627358" y="1372675"/>
                </a:lnTo>
                <a:lnTo>
                  <a:pt x="1630741" y="1368407"/>
                </a:lnTo>
                <a:lnTo>
                  <a:pt x="1634124" y="1363905"/>
                </a:lnTo>
                <a:lnTo>
                  <a:pt x="1637508" y="1359139"/>
                </a:lnTo>
                <a:lnTo>
                  <a:pt x="1640891" y="1354076"/>
                </a:lnTo>
                <a:lnTo>
                  <a:pt x="1644274" y="1348675"/>
                </a:lnTo>
                <a:lnTo>
                  <a:pt x="1647657" y="1342885"/>
                </a:lnTo>
                <a:lnTo>
                  <a:pt x="1651041" y="1336645"/>
                </a:lnTo>
                <a:lnTo>
                  <a:pt x="1654424" y="1329875"/>
                </a:lnTo>
                <a:lnTo>
                  <a:pt x="1657807" y="1322474"/>
                </a:lnTo>
                <a:lnTo>
                  <a:pt x="1661190" y="1314311"/>
                </a:lnTo>
                <a:lnTo>
                  <a:pt x="1664574" y="1305203"/>
                </a:lnTo>
                <a:lnTo>
                  <a:pt x="1667957" y="1294899"/>
                </a:lnTo>
                <a:lnTo>
                  <a:pt x="1671340" y="1283028"/>
                </a:lnTo>
                <a:lnTo>
                  <a:pt x="1674724" y="1269017"/>
                </a:lnTo>
                <a:lnTo>
                  <a:pt x="1678107" y="1251905"/>
                </a:lnTo>
                <a:lnTo>
                  <a:pt x="1681490" y="1229893"/>
                </a:lnTo>
                <a:lnTo>
                  <a:pt x="1684873" y="1198946"/>
                </a:lnTo>
                <a:lnTo>
                  <a:pt x="1688257" y="1146262"/>
                </a:lnTo>
                <a:lnTo>
                  <a:pt x="1691640" y="923036"/>
                </a:lnTo>
                <a:lnTo>
                  <a:pt x="1695023" y="700030"/>
                </a:lnTo>
                <a:lnTo>
                  <a:pt x="1698407" y="647574"/>
                </a:lnTo>
                <a:lnTo>
                  <a:pt x="1701790" y="616856"/>
                </a:lnTo>
                <a:lnTo>
                  <a:pt x="1705173" y="595073"/>
                </a:lnTo>
                <a:lnTo>
                  <a:pt x="1708556" y="578190"/>
                </a:lnTo>
                <a:lnTo>
                  <a:pt x="1711940" y="564408"/>
                </a:lnTo>
                <a:lnTo>
                  <a:pt x="1715323" y="552767"/>
                </a:lnTo>
                <a:lnTo>
                  <a:pt x="1718706" y="542693"/>
                </a:lnTo>
                <a:lnTo>
                  <a:pt x="1722090" y="533815"/>
                </a:lnTo>
                <a:lnTo>
                  <a:pt x="1725473" y="525881"/>
                </a:lnTo>
                <a:lnTo>
                  <a:pt x="1728856" y="518711"/>
                </a:lnTo>
                <a:lnTo>
                  <a:pt x="1732239" y="512172"/>
                </a:lnTo>
                <a:lnTo>
                  <a:pt x="1735623" y="506163"/>
                </a:lnTo>
                <a:lnTo>
                  <a:pt x="1739006" y="500604"/>
                </a:lnTo>
                <a:lnTo>
                  <a:pt x="1742389" y="495434"/>
                </a:lnTo>
                <a:lnTo>
                  <a:pt x="1745772" y="490603"/>
                </a:lnTo>
                <a:lnTo>
                  <a:pt x="1749156" y="486069"/>
                </a:lnTo>
                <a:lnTo>
                  <a:pt x="1752539" y="481799"/>
                </a:lnTo>
                <a:lnTo>
                  <a:pt x="1755922" y="477763"/>
                </a:lnTo>
                <a:lnTo>
                  <a:pt x="1759306" y="473939"/>
                </a:lnTo>
                <a:lnTo>
                  <a:pt x="1762689" y="470304"/>
                </a:lnTo>
                <a:lnTo>
                  <a:pt x="1766072" y="466842"/>
                </a:lnTo>
                <a:lnTo>
                  <a:pt x="1769455" y="463537"/>
                </a:lnTo>
                <a:lnTo>
                  <a:pt x="1772839" y="460376"/>
                </a:lnTo>
                <a:lnTo>
                  <a:pt x="1776222" y="457347"/>
                </a:lnTo>
                <a:lnTo>
                  <a:pt x="1779605" y="454440"/>
                </a:lnTo>
                <a:lnTo>
                  <a:pt x="1782989" y="451645"/>
                </a:lnTo>
                <a:lnTo>
                  <a:pt x="1786372" y="448954"/>
                </a:lnTo>
                <a:lnTo>
                  <a:pt x="1789755" y="446361"/>
                </a:lnTo>
                <a:lnTo>
                  <a:pt x="1793138" y="443857"/>
                </a:lnTo>
                <a:lnTo>
                  <a:pt x="1796522" y="441438"/>
                </a:lnTo>
                <a:lnTo>
                  <a:pt x="1799905" y="439099"/>
                </a:lnTo>
                <a:lnTo>
                  <a:pt x="1803288" y="436833"/>
                </a:lnTo>
                <a:lnTo>
                  <a:pt x="1806672" y="434637"/>
                </a:lnTo>
                <a:lnTo>
                  <a:pt x="1810055" y="432507"/>
                </a:lnTo>
                <a:lnTo>
                  <a:pt x="1813438" y="430439"/>
                </a:lnTo>
                <a:lnTo>
                  <a:pt x="1816821" y="428429"/>
                </a:lnTo>
                <a:lnTo>
                  <a:pt x="1820205" y="426475"/>
                </a:lnTo>
                <a:lnTo>
                  <a:pt x="1823588" y="424574"/>
                </a:lnTo>
                <a:lnTo>
                  <a:pt x="1826971" y="422722"/>
                </a:lnTo>
                <a:lnTo>
                  <a:pt x="1860804" y="406486"/>
                </a:lnTo>
                <a:lnTo>
                  <a:pt x="1894637" y="393347"/>
                </a:lnTo>
                <a:lnTo>
                  <a:pt x="1928470" y="382342"/>
                </a:lnTo>
                <a:lnTo>
                  <a:pt x="1962302" y="372898"/>
                </a:lnTo>
                <a:lnTo>
                  <a:pt x="1996135" y="364645"/>
                </a:lnTo>
                <a:lnTo>
                  <a:pt x="2029968" y="357330"/>
                </a:lnTo>
                <a:lnTo>
                  <a:pt x="2063801" y="350773"/>
                </a:lnTo>
                <a:lnTo>
                  <a:pt x="2097634" y="344840"/>
                </a:lnTo>
                <a:lnTo>
                  <a:pt x="2131466" y="339431"/>
                </a:lnTo>
                <a:lnTo>
                  <a:pt x="2165299" y="334467"/>
                </a:lnTo>
                <a:lnTo>
                  <a:pt x="2199132" y="329886"/>
                </a:lnTo>
                <a:lnTo>
                  <a:pt x="2232965" y="325638"/>
                </a:lnTo>
                <a:lnTo>
                  <a:pt x="2266798" y="321682"/>
                </a:lnTo>
                <a:lnTo>
                  <a:pt x="2300630" y="317983"/>
                </a:lnTo>
                <a:lnTo>
                  <a:pt x="2334463" y="314515"/>
                </a:lnTo>
                <a:lnTo>
                  <a:pt x="2368296" y="311252"/>
                </a:lnTo>
                <a:lnTo>
                  <a:pt x="2402129" y="308174"/>
                </a:lnTo>
                <a:lnTo>
                  <a:pt x="2435962" y="305263"/>
                </a:lnTo>
                <a:lnTo>
                  <a:pt x="2469794" y="302504"/>
                </a:lnTo>
                <a:lnTo>
                  <a:pt x="2503627" y="299884"/>
                </a:lnTo>
                <a:lnTo>
                  <a:pt x="2537460" y="297392"/>
                </a:lnTo>
                <a:lnTo>
                  <a:pt x="2571293" y="295016"/>
                </a:lnTo>
                <a:lnTo>
                  <a:pt x="2605126" y="292748"/>
                </a:lnTo>
                <a:lnTo>
                  <a:pt x="2638958" y="290579"/>
                </a:lnTo>
                <a:lnTo>
                  <a:pt x="2672791" y="288503"/>
                </a:lnTo>
                <a:lnTo>
                  <a:pt x="2706624" y="286513"/>
                </a:lnTo>
                <a:lnTo>
                  <a:pt x="2740457" y="284603"/>
                </a:lnTo>
                <a:lnTo>
                  <a:pt x="2774290" y="282767"/>
                </a:lnTo>
                <a:lnTo>
                  <a:pt x="2808122" y="281002"/>
                </a:lnTo>
                <a:lnTo>
                  <a:pt x="2841955" y="279302"/>
                </a:lnTo>
                <a:lnTo>
                  <a:pt x="2875788" y="277664"/>
                </a:lnTo>
                <a:lnTo>
                  <a:pt x="2909621" y="276083"/>
                </a:lnTo>
                <a:lnTo>
                  <a:pt x="2943454" y="274557"/>
                </a:lnTo>
                <a:lnTo>
                  <a:pt x="2977286" y="273083"/>
                </a:lnTo>
                <a:lnTo>
                  <a:pt x="3011119" y="271657"/>
                </a:lnTo>
                <a:lnTo>
                  <a:pt x="3044952" y="270277"/>
                </a:lnTo>
                <a:lnTo>
                  <a:pt x="3078785" y="268941"/>
                </a:lnTo>
                <a:lnTo>
                  <a:pt x="3112618" y="267646"/>
                </a:lnTo>
                <a:lnTo>
                  <a:pt x="3146450" y="266391"/>
                </a:lnTo>
                <a:lnTo>
                  <a:pt x="3180283" y="265173"/>
                </a:lnTo>
                <a:lnTo>
                  <a:pt x="3214116" y="263991"/>
                </a:lnTo>
                <a:lnTo>
                  <a:pt x="3247949" y="262843"/>
                </a:lnTo>
                <a:lnTo>
                  <a:pt x="3281782" y="261727"/>
                </a:lnTo>
                <a:lnTo>
                  <a:pt x="3315614" y="260642"/>
                </a:lnTo>
                <a:lnTo>
                  <a:pt x="3349447" y="259586"/>
                </a:lnTo>
                <a:lnTo>
                  <a:pt x="3383280" y="258559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Weak acid + strong base, with phenolphthalein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LESSON 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short sections, then a summary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103120" cy="292608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9144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Titration method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Standard solutions, steps, pH meter.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88920" y="1463040"/>
            <a:ext cx="2103120" cy="292608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1554480"/>
            <a:ext cx="9144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pH curves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The four shapes; start, end, equivalence.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1463040"/>
            <a:ext cx="2103120" cy="292608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66360" y="1554480"/>
            <a:ext cx="9144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Indicators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End point vs equivalence; choosing one.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69480" y="1463040"/>
            <a:ext cx="2103120" cy="292608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1554480"/>
            <a:ext cx="9144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Calculations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4 steps, ratios, linking to pH.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509760" y="1463040"/>
            <a:ext cx="2103120" cy="292608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46920" y="1554480"/>
            <a:ext cx="9144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964692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Exam questions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46920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The three questions from the notes.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64692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57200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645152"/>
            <a:ext cx="106070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Then: </a:t>
            </a:r>
            <a:pPr indent="0" marL="0">
              <a:spcAft>
                <a:spcPts val="400"/>
              </a:spcAft>
              <a:buNone/>
            </a:pPr>
            <a:r>
              <a:rPr lang="en-US" sz="1500" u="sng" dirty="0">
                <a:solidFill>
                  <a:schemeClr val="tx1"/>
                </a:solidFill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Summary and final quiz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 ·   About 4–6 minutes per section, with breaks whenever you like.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5394960"/>
            <a:ext cx="1069848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Spotted in the notes: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worked example (p26) says the titre is 24.0 cm³ but calculates with 25.0 cm³ (as the graph shows). 25.0 is intended, so 0.276 mol dm⁻³ is right. See Section 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A · FROM THE CLASS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Acid–base titrations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0350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titration finds the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concentration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of a solution, e.g. an acid, by reacting it with an alkali in the presence of an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indicator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603504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377440"/>
            <a:ext cx="56692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Standard solution: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its exact concentration is known. So if a precise volume is measured out, its moles can be calculated (n = c × V).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603504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23360"/>
            <a:ext cx="576072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WHY A WHITE TILE?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It makes the indicator's colour change easier to see.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966960" y="1371600"/>
            <a:ext cx="0" cy="420624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0" y="5577840"/>
            <a:ext cx="1005840" cy="109728"/>
          </a:xfrm>
          <a:prstGeom prst="rect">
            <a:avLst/>
          </a:prstGeom>
          <a:solidFill>
            <a:srgbClr val="C9D3DB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237744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1371600"/>
            <a:ext cx="219456" cy="24688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79408" y="2103120"/>
            <a:ext cx="182880" cy="171907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70848" y="3840480"/>
            <a:ext cx="0" cy="3200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9640" y="4251960"/>
            <a:ext cx="1051560" cy="1097280"/>
          </a:xfrm>
          <a:prstGeom prst="trapezoid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5349240"/>
            <a:ext cx="1508760" cy="1371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6903720" y="1828800"/>
            <a:ext cx="548640" cy="329184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burette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acid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stand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0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conical flask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4681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(alkali)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0" y="5166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white tile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5212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pipette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A · FROM THE CLASS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steps in a titration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1371600"/>
            <a:ext cx="69494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371600"/>
            <a:ext cx="672084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Fill a burette: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with the acid.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1560" y="2240280"/>
            <a:ext cx="69494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2240280"/>
            <a:ext cx="672084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Pipette 25 cm³: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of the alkali standard solution into a conical flask.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51560" y="3108960"/>
            <a:ext cx="69494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3108960"/>
            <a:ext cx="672084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Add indicator: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few drops of a suitable indicator to the alkali.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51560" y="3977640"/>
            <a:ext cx="69494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88720" y="3977640"/>
            <a:ext cx="672084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Add acid slowly: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swirling constantly. Stop as soon as the indicator changes colour. Record the volume.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51560" y="4846320"/>
            <a:ext cx="69494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88720" y="4846320"/>
            <a:ext cx="672084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Repeat: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until two results are within 0.1 cm³ (concordant). Their mean is the average titre.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29600" y="1371600"/>
            <a:ext cx="3429000" cy="2148840"/>
          </a:xfrm>
          <a:prstGeom prst="roundRect">
            <a:avLst>
              <a:gd name="adj" fmla="val 510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66760" y="1463040"/>
            <a:ext cx="3154680" cy="1965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THEN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Once you have an average titre, use it to calculate the unknown concentration (Section D).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0" y="3657600"/>
            <a:ext cx="3429000" cy="2057400"/>
          </a:xfrm>
          <a:prstGeom prst="roundRect">
            <a:avLst>
              <a:gd name="adj" fmla="val 5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66760" y="3749040"/>
            <a:ext cx="315468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NOTE ON THE NOTES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Step 1 calls the acid "known" and step 2 calls the alkali the standard. In practice only one is known: the other is what you're finding.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A · FROM THE CLASS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alternative: a pH meter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7665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Measure how pH changes as base is added to acid (handwritten note: call it a pH meter, "not probe").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676656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Measure the pH of the acid and record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Add 1 cm³ of the base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Stir the mixture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Measure the pH and record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Repeat until the base is in excess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Add base in smaller increments near the end point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71600"/>
          <a:ext cx="39776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34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Vol NaOH added to HCl (cm³)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pH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1.03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1.09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1.14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1.21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680960" y="3291840"/>
            <a:ext cx="39776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Plot volume of base (x-axis) against pH (y-axis).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937760"/>
            <a:ext cx="11109960" cy="1143000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029200"/>
            <a:ext cx="1083564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EXAM POINT · CALIBRATE THE PH METER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After storage it may not read accurately. Place it in a solution of known pH and adjust the meter accordingly.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A · TRY FIRST, ANSWERS ON THE NEXT SLIDE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92808"/>
            <a:ext cx="52120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What is a standard solution?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 A solution with a pH of 7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  A solution whose exact concentration is known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 The acid in the burette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469880" y="152704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[1 mark]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892808"/>
            <a:ext cx="52120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Titres: rough 25.40, run 1 24.90, run 2 24.35, run 3 24.45 cm³. Calculate the average titre.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10996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88620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469880" y="385876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[2 marks]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224528"/>
            <a:ext cx="10835640" cy="1783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3. Explain why, and how, a pH meter is calibrated before use.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A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A: answers and why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52120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 B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Knowing its exact concentration lets you calculate moles from a measured volume.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527048"/>
            <a:ext cx="52120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 24.40 cm³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Step 1: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ignore the rough titre.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Step 2: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concordant runs (within 0.10 cm³): 24.35 and 24.45.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Step 3: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(24.35 + 24.45) ÷ 2 = 24.40 cm³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10996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858768"/>
            <a:ext cx="1083564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 Model answer (2 marks)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✓ Why: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after storage the meter may not give an accurate reading.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✓ How: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place it in a solution of known pH (a buffer) and adjust the meter to read that value.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6355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Section B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B · FROM THE CLASS NOTES (p24)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shapes of pH curve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5760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3167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a  Strong acid + strong base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319272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32278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3093285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00184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2867297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77585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641310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54987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2415322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32388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2189335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09789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1963347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187190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1737360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1645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29184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35021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base added / cm³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" y="2528316"/>
            <a:ext cx="32004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514600" y="1737360"/>
            <a:ext cx="0" cy="1581912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1737360"/>
            <a:ext cx="3200400" cy="1581912"/>
          </a:xfrm>
          <a:custGeom>
            <a:avLst/>
            <a:gdLst/>
            <a:ahLst/>
            <a:cxnLst/>
            <a:rect l="l" t="t" r="r" b="b"/>
            <a:pathLst>
              <a:path w="3200400" h="1581912">
                <a:moveTo>
                  <a:pt x="0" y="1468918"/>
                </a:moveTo>
                <a:lnTo>
                  <a:pt x="32004" y="1466955"/>
                </a:lnTo>
                <a:lnTo>
                  <a:pt x="64008" y="1464990"/>
                </a:lnTo>
                <a:lnTo>
                  <a:pt x="96012" y="1463022"/>
                </a:lnTo>
                <a:lnTo>
                  <a:pt x="128016" y="1461050"/>
                </a:lnTo>
                <a:lnTo>
                  <a:pt x="160020" y="1459071"/>
                </a:lnTo>
                <a:lnTo>
                  <a:pt x="192024" y="1457084"/>
                </a:lnTo>
                <a:lnTo>
                  <a:pt x="224028" y="1455087"/>
                </a:lnTo>
                <a:lnTo>
                  <a:pt x="256032" y="1453079"/>
                </a:lnTo>
                <a:lnTo>
                  <a:pt x="288036" y="1451058"/>
                </a:lnTo>
                <a:lnTo>
                  <a:pt x="320040" y="1449021"/>
                </a:lnTo>
                <a:lnTo>
                  <a:pt x="352044" y="1446968"/>
                </a:lnTo>
                <a:lnTo>
                  <a:pt x="384048" y="1444895"/>
                </a:lnTo>
                <a:lnTo>
                  <a:pt x="416052" y="1442801"/>
                </a:lnTo>
                <a:lnTo>
                  <a:pt x="448056" y="1440684"/>
                </a:lnTo>
                <a:lnTo>
                  <a:pt x="480060" y="1438540"/>
                </a:lnTo>
                <a:lnTo>
                  <a:pt x="512064" y="1436369"/>
                </a:lnTo>
                <a:lnTo>
                  <a:pt x="544068" y="1434166"/>
                </a:lnTo>
                <a:lnTo>
                  <a:pt x="576072" y="1431929"/>
                </a:lnTo>
                <a:lnTo>
                  <a:pt x="608076" y="1429654"/>
                </a:lnTo>
                <a:lnTo>
                  <a:pt x="640080" y="1427339"/>
                </a:lnTo>
                <a:lnTo>
                  <a:pt x="672084" y="1424980"/>
                </a:lnTo>
                <a:lnTo>
                  <a:pt x="704088" y="1422571"/>
                </a:lnTo>
                <a:lnTo>
                  <a:pt x="736092" y="1420110"/>
                </a:lnTo>
                <a:lnTo>
                  <a:pt x="768096" y="1417590"/>
                </a:lnTo>
                <a:lnTo>
                  <a:pt x="800100" y="1415007"/>
                </a:lnTo>
                <a:lnTo>
                  <a:pt x="832104" y="1412353"/>
                </a:lnTo>
                <a:lnTo>
                  <a:pt x="864108" y="1409623"/>
                </a:lnTo>
                <a:lnTo>
                  <a:pt x="896112" y="1406809"/>
                </a:lnTo>
                <a:lnTo>
                  <a:pt x="928116" y="1403901"/>
                </a:lnTo>
                <a:lnTo>
                  <a:pt x="960120" y="1400889"/>
                </a:lnTo>
                <a:lnTo>
                  <a:pt x="992124" y="1397763"/>
                </a:lnTo>
                <a:lnTo>
                  <a:pt x="1024128" y="1394507"/>
                </a:lnTo>
                <a:lnTo>
                  <a:pt x="1056132" y="1391108"/>
                </a:lnTo>
                <a:lnTo>
                  <a:pt x="1088136" y="1387545"/>
                </a:lnTo>
                <a:lnTo>
                  <a:pt x="1120140" y="1383797"/>
                </a:lnTo>
                <a:lnTo>
                  <a:pt x="1152144" y="1379837"/>
                </a:lnTo>
                <a:lnTo>
                  <a:pt x="1184148" y="1375633"/>
                </a:lnTo>
                <a:lnTo>
                  <a:pt x="1216152" y="1371145"/>
                </a:lnTo>
                <a:lnTo>
                  <a:pt x="1248156" y="1366320"/>
                </a:lnTo>
                <a:lnTo>
                  <a:pt x="1280160" y="1361095"/>
                </a:lnTo>
                <a:lnTo>
                  <a:pt x="1312164" y="1355382"/>
                </a:lnTo>
                <a:lnTo>
                  <a:pt x="1344168" y="1349066"/>
                </a:lnTo>
                <a:lnTo>
                  <a:pt x="1376172" y="1341983"/>
                </a:lnTo>
                <a:lnTo>
                  <a:pt x="1408176" y="1333893"/>
                </a:lnTo>
                <a:lnTo>
                  <a:pt x="1440180" y="1324427"/>
                </a:lnTo>
                <a:lnTo>
                  <a:pt x="1472184" y="1312963"/>
                </a:lnTo>
                <a:lnTo>
                  <a:pt x="1504188" y="1298337"/>
                </a:lnTo>
                <a:lnTo>
                  <a:pt x="1507388" y="1296623"/>
                </a:lnTo>
                <a:lnTo>
                  <a:pt x="1510589" y="1294851"/>
                </a:lnTo>
                <a:lnTo>
                  <a:pt x="1513789" y="1293015"/>
                </a:lnTo>
                <a:lnTo>
                  <a:pt x="1516990" y="1291113"/>
                </a:lnTo>
                <a:lnTo>
                  <a:pt x="1520190" y="1289138"/>
                </a:lnTo>
                <a:lnTo>
                  <a:pt x="1523390" y="1287084"/>
                </a:lnTo>
                <a:lnTo>
                  <a:pt x="1526591" y="1284946"/>
                </a:lnTo>
                <a:lnTo>
                  <a:pt x="1529791" y="1282714"/>
                </a:lnTo>
                <a:lnTo>
                  <a:pt x="1532992" y="1280381"/>
                </a:lnTo>
                <a:lnTo>
                  <a:pt x="1536192" y="1277937"/>
                </a:lnTo>
                <a:lnTo>
                  <a:pt x="1539392" y="1275370"/>
                </a:lnTo>
                <a:lnTo>
                  <a:pt x="1542593" y="1272666"/>
                </a:lnTo>
                <a:lnTo>
                  <a:pt x="1545793" y="1269812"/>
                </a:lnTo>
                <a:lnTo>
                  <a:pt x="1548994" y="1266787"/>
                </a:lnTo>
                <a:lnTo>
                  <a:pt x="1552194" y="1263570"/>
                </a:lnTo>
                <a:lnTo>
                  <a:pt x="1555394" y="1260134"/>
                </a:lnTo>
                <a:lnTo>
                  <a:pt x="1558595" y="1256448"/>
                </a:lnTo>
                <a:lnTo>
                  <a:pt x="1561795" y="1252470"/>
                </a:lnTo>
                <a:lnTo>
                  <a:pt x="1564996" y="1248151"/>
                </a:lnTo>
                <a:lnTo>
                  <a:pt x="1568196" y="1243424"/>
                </a:lnTo>
                <a:lnTo>
                  <a:pt x="1571396" y="1238204"/>
                </a:lnTo>
                <a:lnTo>
                  <a:pt x="1574597" y="1232375"/>
                </a:lnTo>
                <a:lnTo>
                  <a:pt x="1577797" y="1225773"/>
                </a:lnTo>
                <a:lnTo>
                  <a:pt x="1580998" y="1218159"/>
                </a:lnTo>
                <a:lnTo>
                  <a:pt x="1584198" y="1209162"/>
                </a:lnTo>
                <a:lnTo>
                  <a:pt x="1587398" y="1198163"/>
                </a:lnTo>
                <a:lnTo>
                  <a:pt x="1590599" y="1183996"/>
                </a:lnTo>
                <a:lnTo>
                  <a:pt x="1593799" y="1164050"/>
                </a:lnTo>
                <a:lnTo>
                  <a:pt x="1597000" y="1129986"/>
                </a:lnTo>
                <a:lnTo>
                  <a:pt x="1600200" y="790956"/>
                </a:lnTo>
                <a:lnTo>
                  <a:pt x="1603400" y="452024"/>
                </a:lnTo>
                <a:lnTo>
                  <a:pt x="1606601" y="418058"/>
                </a:lnTo>
                <a:lnTo>
                  <a:pt x="1609801" y="398210"/>
                </a:lnTo>
                <a:lnTo>
                  <a:pt x="1613002" y="384142"/>
                </a:lnTo>
                <a:lnTo>
                  <a:pt x="1616202" y="373240"/>
                </a:lnTo>
                <a:lnTo>
                  <a:pt x="1619402" y="364342"/>
                </a:lnTo>
                <a:lnTo>
                  <a:pt x="1622603" y="356826"/>
                </a:lnTo>
                <a:lnTo>
                  <a:pt x="1625803" y="350322"/>
                </a:lnTo>
                <a:lnTo>
                  <a:pt x="1629004" y="344591"/>
                </a:lnTo>
                <a:lnTo>
                  <a:pt x="1632204" y="339469"/>
                </a:lnTo>
                <a:lnTo>
                  <a:pt x="1635404" y="334841"/>
                </a:lnTo>
                <a:lnTo>
                  <a:pt x="1638605" y="330620"/>
                </a:lnTo>
                <a:lnTo>
                  <a:pt x="1641805" y="326740"/>
                </a:lnTo>
                <a:lnTo>
                  <a:pt x="1645006" y="323152"/>
                </a:lnTo>
                <a:lnTo>
                  <a:pt x="1648206" y="319815"/>
                </a:lnTo>
                <a:lnTo>
                  <a:pt x="1651406" y="316696"/>
                </a:lnTo>
                <a:lnTo>
                  <a:pt x="1654607" y="313769"/>
                </a:lnTo>
                <a:lnTo>
                  <a:pt x="1657807" y="311012"/>
                </a:lnTo>
                <a:lnTo>
                  <a:pt x="1661008" y="308407"/>
                </a:lnTo>
                <a:lnTo>
                  <a:pt x="1664208" y="305938"/>
                </a:lnTo>
                <a:lnTo>
                  <a:pt x="1667408" y="303592"/>
                </a:lnTo>
                <a:lnTo>
                  <a:pt x="1670609" y="301357"/>
                </a:lnTo>
                <a:lnTo>
                  <a:pt x="1673809" y="299224"/>
                </a:lnTo>
                <a:lnTo>
                  <a:pt x="1677010" y="297183"/>
                </a:lnTo>
                <a:lnTo>
                  <a:pt x="1680210" y="295228"/>
                </a:lnTo>
                <a:lnTo>
                  <a:pt x="1683410" y="293351"/>
                </a:lnTo>
                <a:lnTo>
                  <a:pt x="1686611" y="291547"/>
                </a:lnTo>
                <a:lnTo>
                  <a:pt x="1689811" y="289810"/>
                </a:lnTo>
                <a:lnTo>
                  <a:pt x="1693012" y="288136"/>
                </a:lnTo>
                <a:lnTo>
                  <a:pt x="1696212" y="286520"/>
                </a:lnTo>
                <a:lnTo>
                  <a:pt x="1699412" y="284959"/>
                </a:lnTo>
                <a:lnTo>
                  <a:pt x="1702613" y="283448"/>
                </a:lnTo>
                <a:lnTo>
                  <a:pt x="1705813" y="281986"/>
                </a:lnTo>
                <a:lnTo>
                  <a:pt x="1709014" y="280568"/>
                </a:lnTo>
                <a:lnTo>
                  <a:pt x="1712214" y="279193"/>
                </a:lnTo>
                <a:lnTo>
                  <a:pt x="1715414" y="277858"/>
                </a:lnTo>
                <a:lnTo>
                  <a:pt x="1718615" y="276561"/>
                </a:lnTo>
                <a:lnTo>
                  <a:pt x="1721815" y="275299"/>
                </a:lnTo>
                <a:lnTo>
                  <a:pt x="1725016" y="274072"/>
                </a:lnTo>
                <a:lnTo>
                  <a:pt x="1728216" y="272877"/>
                </a:lnTo>
                <a:lnTo>
                  <a:pt x="1760220" y="262396"/>
                </a:lnTo>
                <a:lnTo>
                  <a:pt x="1792224" y="253914"/>
                </a:lnTo>
                <a:lnTo>
                  <a:pt x="1824228" y="246811"/>
                </a:lnTo>
                <a:lnTo>
                  <a:pt x="1856232" y="240714"/>
                </a:lnTo>
                <a:lnTo>
                  <a:pt x="1888236" y="235387"/>
                </a:lnTo>
                <a:lnTo>
                  <a:pt x="1920240" y="230665"/>
                </a:lnTo>
                <a:lnTo>
                  <a:pt x="1952244" y="226432"/>
                </a:lnTo>
                <a:lnTo>
                  <a:pt x="1984248" y="222602"/>
                </a:lnTo>
                <a:lnTo>
                  <a:pt x="2016252" y="219110"/>
                </a:lnTo>
                <a:lnTo>
                  <a:pt x="2048256" y="215906"/>
                </a:lnTo>
                <a:lnTo>
                  <a:pt x="2080260" y="212949"/>
                </a:lnTo>
                <a:lnTo>
                  <a:pt x="2112264" y="210207"/>
                </a:lnTo>
                <a:lnTo>
                  <a:pt x="2144268" y="207653"/>
                </a:lnTo>
                <a:lnTo>
                  <a:pt x="2176272" y="205265"/>
                </a:lnTo>
                <a:lnTo>
                  <a:pt x="2208276" y="203026"/>
                </a:lnTo>
                <a:lnTo>
                  <a:pt x="2240280" y="200920"/>
                </a:lnTo>
                <a:lnTo>
                  <a:pt x="2272284" y="198933"/>
                </a:lnTo>
                <a:lnTo>
                  <a:pt x="2304288" y="197054"/>
                </a:lnTo>
                <a:lnTo>
                  <a:pt x="2336292" y="195273"/>
                </a:lnTo>
                <a:lnTo>
                  <a:pt x="2368296" y="193582"/>
                </a:lnTo>
                <a:lnTo>
                  <a:pt x="2400300" y="191973"/>
                </a:lnTo>
                <a:lnTo>
                  <a:pt x="2432304" y="190439"/>
                </a:lnTo>
                <a:lnTo>
                  <a:pt x="2464308" y="188975"/>
                </a:lnTo>
                <a:lnTo>
                  <a:pt x="2496312" y="187575"/>
                </a:lnTo>
                <a:lnTo>
                  <a:pt x="2528316" y="186235"/>
                </a:lnTo>
                <a:lnTo>
                  <a:pt x="2560320" y="184951"/>
                </a:lnTo>
                <a:lnTo>
                  <a:pt x="2592324" y="183718"/>
                </a:lnTo>
                <a:lnTo>
                  <a:pt x="2624328" y="182533"/>
                </a:lnTo>
                <a:lnTo>
                  <a:pt x="2656332" y="181393"/>
                </a:lnTo>
                <a:lnTo>
                  <a:pt x="2688336" y="180296"/>
                </a:lnTo>
                <a:lnTo>
                  <a:pt x="2720340" y="179238"/>
                </a:lnTo>
                <a:lnTo>
                  <a:pt x="2752344" y="178218"/>
                </a:lnTo>
                <a:lnTo>
                  <a:pt x="2784348" y="177233"/>
                </a:lnTo>
                <a:lnTo>
                  <a:pt x="2816352" y="176281"/>
                </a:lnTo>
                <a:lnTo>
                  <a:pt x="2848356" y="175361"/>
                </a:lnTo>
                <a:lnTo>
                  <a:pt x="2880360" y="174470"/>
                </a:lnTo>
                <a:lnTo>
                  <a:pt x="2912364" y="173608"/>
                </a:lnTo>
                <a:lnTo>
                  <a:pt x="2944368" y="172772"/>
                </a:lnTo>
                <a:lnTo>
                  <a:pt x="2976372" y="171961"/>
                </a:lnTo>
                <a:lnTo>
                  <a:pt x="3008376" y="171175"/>
                </a:lnTo>
                <a:lnTo>
                  <a:pt x="3040380" y="170412"/>
                </a:lnTo>
                <a:lnTo>
                  <a:pt x="3072384" y="169671"/>
                </a:lnTo>
                <a:lnTo>
                  <a:pt x="3104388" y="168950"/>
                </a:lnTo>
                <a:lnTo>
                  <a:pt x="3136392" y="168250"/>
                </a:lnTo>
                <a:lnTo>
                  <a:pt x="3168396" y="167569"/>
                </a:lnTo>
                <a:lnTo>
                  <a:pt x="3200400" y="166905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1645920"/>
            <a:ext cx="365760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00600" y="13167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b  Strong acid + weak base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3319272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53128" y="32278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3093285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453128" y="300184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2867297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53128" y="277585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2641310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453128" y="254987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00600" y="2415322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53128" y="232388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2189335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453128" y="209789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00600" y="1963347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453128" y="187190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00600" y="1737360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453128" y="1645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461772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525780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589788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653796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717804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781812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4800600" y="35021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base added / cm³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00600" y="2528316"/>
            <a:ext cx="32004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6400800" y="1737360"/>
            <a:ext cx="0" cy="1581912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1737360"/>
            <a:ext cx="3200400" cy="1581912"/>
          </a:xfrm>
          <a:custGeom>
            <a:avLst/>
            <a:gdLst/>
            <a:ahLst/>
            <a:cxnLst/>
            <a:rect l="l" t="t" r="r" b="b"/>
            <a:pathLst>
              <a:path w="3200400" h="1581912">
                <a:moveTo>
                  <a:pt x="0" y="1468918"/>
                </a:moveTo>
                <a:lnTo>
                  <a:pt x="32004" y="1466955"/>
                </a:lnTo>
                <a:lnTo>
                  <a:pt x="64008" y="1464990"/>
                </a:lnTo>
                <a:lnTo>
                  <a:pt x="96012" y="1463022"/>
                </a:lnTo>
                <a:lnTo>
                  <a:pt x="128016" y="1461050"/>
                </a:lnTo>
                <a:lnTo>
                  <a:pt x="160020" y="1459071"/>
                </a:lnTo>
                <a:lnTo>
                  <a:pt x="192024" y="1457084"/>
                </a:lnTo>
                <a:lnTo>
                  <a:pt x="224028" y="1455087"/>
                </a:lnTo>
                <a:lnTo>
                  <a:pt x="256032" y="1453079"/>
                </a:lnTo>
                <a:lnTo>
                  <a:pt x="288036" y="1451058"/>
                </a:lnTo>
                <a:lnTo>
                  <a:pt x="320040" y="1449021"/>
                </a:lnTo>
                <a:lnTo>
                  <a:pt x="352044" y="1446968"/>
                </a:lnTo>
                <a:lnTo>
                  <a:pt x="384048" y="1444895"/>
                </a:lnTo>
                <a:lnTo>
                  <a:pt x="416052" y="1442801"/>
                </a:lnTo>
                <a:lnTo>
                  <a:pt x="448056" y="1440684"/>
                </a:lnTo>
                <a:lnTo>
                  <a:pt x="480060" y="1438540"/>
                </a:lnTo>
                <a:lnTo>
                  <a:pt x="512064" y="1436369"/>
                </a:lnTo>
                <a:lnTo>
                  <a:pt x="544068" y="1434166"/>
                </a:lnTo>
                <a:lnTo>
                  <a:pt x="576072" y="1431929"/>
                </a:lnTo>
                <a:lnTo>
                  <a:pt x="608076" y="1429654"/>
                </a:lnTo>
                <a:lnTo>
                  <a:pt x="640080" y="1427339"/>
                </a:lnTo>
                <a:lnTo>
                  <a:pt x="672084" y="1424980"/>
                </a:lnTo>
                <a:lnTo>
                  <a:pt x="704088" y="1422571"/>
                </a:lnTo>
                <a:lnTo>
                  <a:pt x="736092" y="1420110"/>
                </a:lnTo>
                <a:lnTo>
                  <a:pt x="768096" y="1417590"/>
                </a:lnTo>
                <a:lnTo>
                  <a:pt x="800100" y="1415007"/>
                </a:lnTo>
                <a:lnTo>
                  <a:pt x="832104" y="1412353"/>
                </a:lnTo>
                <a:lnTo>
                  <a:pt x="864108" y="1409623"/>
                </a:lnTo>
                <a:lnTo>
                  <a:pt x="896112" y="1406809"/>
                </a:lnTo>
                <a:lnTo>
                  <a:pt x="928116" y="1403901"/>
                </a:lnTo>
                <a:lnTo>
                  <a:pt x="960120" y="1400889"/>
                </a:lnTo>
                <a:lnTo>
                  <a:pt x="992124" y="1397763"/>
                </a:lnTo>
                <a:lnTo>
                  <a:pt x="1024128" y="1394507"/>
                </a:lnTo>
                <a:lnTo>
                  <a:pt x="1056132" y="1391108"/>
                </a:lnTo>
                <a:lnTo>
                  <a:pt x="1088136" y="1387545"/>
                </a:lnTo>
                <a:lnTo>
                  <a:pt x="1120140" y="1383797"/>
                </a:lnTo>
                <a:lnTo>
                  <a:pt x="1152144" y="1379837"/>
                </a:lnTo>
                <a:lnTo>
                  <a:pt x="1184148" y="1375633"/>
                </a:lnTo>
                <a:lnTo>
                  <a:pt x="1216152" y="1371145"/>
                </a:lnTo>
                <a:lnTo>
                  <a:pt x="1248156" y="1366320"/>
                </a:lnTo>
                <a:lnTo>
                  <a:pt x="1280160" y="1361095"/>
                </a:lnTo>
                <a:lnTo>
                  <a:pt x="1312164" y="1355382"/>
                </a:lnTo>
                <a:lnTo>
                  <a:pt x="1344168" y="1349066"/>
                </a:lnTo>
                <a:lnTo>
                  <a:pt x="1376172" y="1341983"/>
                </a:lnTo>
                <a:lnTo>
                  <a:pt x="1408176" y="1333893"/>
                </a:lnTo>
                <a:lnTo>
                  <a:pt x="1440180" y="1324427"/>
                </a:lnTo>
                <a:lnTo>
                  <a:pt x="1472184" y="1312963"/>
                </a:lnTo>
                <a:lnTo>
                  <a:pt x="1504188" y="1298337"/>
                </a:lnTo>
                <a:lnTo>
                  <a:pt x="1507388" y="1296623"/>
                </a:lnTo>
                <a:lnTo>
                  <a:pt x="1510589" y="1294851"/>
                </a:lnTo>
                <a:lnTo>
                  <a:pt x="1513789" y="1293016"/>
                </a:lnTo>
                <a:lnTo>
                  <a:pt x="1516990" y="1291113"/>
                </a:lnTo>
                <a:lnTo>
                  <a:pt x="1520190" y="1289138"/>
                </a:lnTo>
                <a:lnTo>
                  <a:pt x="1523390" y="1287085"/>
                </a:lnTo>
                <a:lnTo>
                  <a:pt x="1526591" y="1284946"/>
                </a:lnTo>
                <a:lnTo>
                  <a:pt x="1529791" y="1282714"/>
                </a:lnTo>
                <a:lnTo>
                  <a:pt x="1532992" y="1280381"/>
                </a:lnTo>
                <a:lnTo>
                  <a:pt x="1536192" y="1277937"/>
                </a:lnTo>
                <a:lnTo>
                  <a:pt x="1539392" y="1275370"/>
                </a:lnTo>
                <a:lnTo>
                  <a:pt x="1542593" y="1272667"/>
                </a:lnTo>
                <a:lnTo>
                  <a:pt x="1545793" y="1269812"/>
                </a:lnTo>
                <a:lnTo>
                  <a:pt x="1548994" y="1266787"/>
                </a:lnTo>
                <a:lnTo>
                  <a:pt x="1552194" y="1263570"/>
                </a:lnTo>
                <a:lnTo>
                  <a:pt x="1555394" y="1260135"/>
                </a:lnTo>
                <a:lnTo>
                  <a:pt x="1558595" y="1256449"/>
                </a:lnTo>
                <a:lnTo>
                  <a:pt x="1561795" y="1252471"/>
                </a:lnTo>
                <a:lnTo>
                  <a:pt x="1564996" y="1248152"/>
                </a:lnTo>
                <a:lnTo>
                  <a:pt x="1568196" y="1243425"/>
                </a:lnTo>
                <a:lnTo>
                  <a:pt x="1571396" y="1238206"/>
                </a:lnTo>
                <a:lnTo>
                  <a:pt x="1574597" y="1232377"/>
                </a:lnTo>
                <a:lnTo>
                  <a:pt x="1577797" y="1225775"/>
                </a:lnTo>
                <a:lnTo>
                  <a:pt x="1580998" y="1218162"/>
                </a:lnTo>
                <a:lnTo>
                  <a:pt x="1584198" y="1209168"/>
                </a:lnTo>
                <a:lnTo>
                  <a:pt x="1587398" y="1198171"/>
                </a:lnTo>
                <a:lnTo>
                  <a:pt x="1590599" y="1184011"/>
                </a:lnTo>
                <a:lnTo>
                  <a:pt x="1593799" y="1164084"/>
                </a:lnTo>
                <a:lnTo>
                  <a:pt x="1597000" y="1130122"/>
                </a:lnTo>
                <a:lnTo>
                  <a:pt x="1600200" y="985520"/>
                </a:lnTo>
                <a:lnTo>
                  <a:pt x="1603400" y="840973"/>
                </a:lnTo>
                <a:lnTo>
                  <a:pt x="1606601" y="807060"/>
                </a:lnTo>
                <a:lnTo>
                  <a:pt x="1609801" y="787182"/>
                </a:lnTo>
                <a:lnTo>
                  <a:pt x="1613002" y="773071"/>
                </a:lnTo>
                <a:lnTo>
                  <a:pt x="1616202" y="762124"/>
                </a:lnTo>
                <a:lnTo>
                  <a:pt x="1619402" y="753179"/>
                </a:lnTo>
                <a:lnTo>
                  <a:pt x="1622603" y="745615"/>
                </a:lnTo>
                <a:lnTo>
                  <a:pt x="1625803" y="739063"/>
                </a:lnTo>
                <a:lnTo>
                  <a:pt x="1629004" y="733284"/>
                </a:lnTo>
                <a:lnTo>
                  <a:pt x="1632204" y="728114"/>
                </a:lnTo>
                <a:lnTo>
                  <a:pt x="1635404" y="723437"/>
                </a:lnTo>
                <a:lnTo>
                  <a:pt x="1638605" y="719168"/>
                </a:lnTo>
                <a:lnTo>
                  <a:pt x="1641805" y="715240"/>
                </a:lnTo>
                <a:lnTo>
                  <a:pt x="1645006" y="711603"/>
                </a:lnTo>
                <a:lnTo>
                  <a:pt x="1648206" y="708218"/>
                </a:lnTo>
                <a:lnTo>
                  <a:pt x="1651406" y="705051"/>
                </a:lnTo>
                <a:lnTo>
                  <a:pt x="1654607" y="702076"/>
                </a:lnTo>
                <a:lnTo>
                  <a:pt x="1657807" y="699271"/>
                </a:lnTo>
                <a:lnTo>
                  <a:pt x="1661008" y="696618"/>
                </a:lnTo>
                <a:lnTo>
                  <a:pt x="1664208" y="694101"/>
                </a:lnTo>
                <a:lnTo>
                  <a:pt x="1667408" y="691707"/>
                </a:lnTo>
                <a:lnTo>
                  <a:pt x="1670609" y="689424"/>
                </a:lnTo>
                <a:lnTo>
                  <a:pt x="1673809" y="687243"/>
                </a:lnTo>
                <a:lnTo>
                  <a:pt x="1677010" y="685155"/>
                </a:lnTo>
                <a:lnTo>
                  <a:pt x="1680210" y="683151"/>
                </a:lnTo>
                <a:lnTo>
                  <a:pt x="1683410" y="681227"/>
                </a:lnTo>
                <a:lnTo>
                  <a:pt x="1686611" y="679375"/>
                </a:lnTo>
                <a:lnTo>
                  <a:pt x="1689811" y="677590"/>
                </a:lnTo>
                <a:lnTo>
                  <a:pt x="1693012" y="675868"/>
                </a:lnTo>
                <a:lnTo>
                  <a:pt x="1696212" y="674205"/>
                </a:lnTo>
                <a:lnTo>
                  <a:pt x="1699412" y="672596"/>
                </a:lnTo>
                <a:lnTo>
                  <a:pt x="1702613" y="671038"/>
                </a:lnTo>
                <a:lnTo>
                  <a:pt x="1705813" y="669528"/>
                </a:lnTo>
                <a:lnTo>
                  <a:pt x="1709014" y="668063"/>
                </a:lnTo>
                <a:lnTo>
                  <a:pt x="1712214" y="666640"/>
                </a:lnTo>
                <a:lnTo>
                  <a:pt x="1715414" y="665258"/>
                </a:lnTo>
                <a:lnTo>
                  <a:pt x="1718615" y="663914"/>
                </a:lnTo>
                <a:lnTo>
                  <a:pt x="1721815" y="662605"/>
                </a:lnTo>
                <a:lnTo>
                  <a:pt x="1725016" y="661330"/>
                </a:lnTo>
                <a:lnTo>
                  <a:pt x="1728216" y="660088"/>
                </a:lnTo>
                <a:lnTo>
                  <a:pt x="1760220" y="649138"/>
                </a:lnTo>
                <a:lnTo>
                  <a:pt x="1792224" y="640192"/>
                </a:lnTo>
                <a:lnTo>
                  <a:pt x="1824228" y="632628"/>
                </a:lnTo>
                <a:lnTo>
                  <a:pt x="1856232" y="626076"/>
                </a:lnTo>
                <a:lnTo>
                  <a:pt x="1888236" y="620297"/>
                </a:lnTo>
                <a:lnTo>
                  <a:pt x="1920240" y="615127"/>
                </a:lnTo>
                <a:lnTo>
                  <a:pt x="1952244" y="610450"/>
                </a:lnTo>
                <a:lnTo>
                  <a:pt x="1984248" y="606181"/>
                </a:lnTo>
                <a:lnTo>
                  <a:pt x="2016252" y="602254"/>
                </a:lnTo>
                <a:lnTo>
                  <a:pt x="2048256" y="598618"/>
                </a:lnTo>
                <a:lnTo>
                  <a:pt x="2080260" y="595233"/>
                </a:lnTo>
                <a:lnTo>
                  <a:pt x="2112264" y="592066"/>
                </a:lnTo>
                <a:lnTo>
                  <a:pt x="2144268" y="589092"/>
                </a:lnTo>
                <a:lnTo>
                  <a:pt x="2176272" y="586288"/>
                </a:lnTo>
                <a:lnTo>
                  <a:pt x="2208276" y="583635"/>
                </a:lnTo>
                <a:lnTo>
                  <a:pt x="2240280" y="581119"/>
                </a:lnTo>
                <a:lnTo>
                  <a:pt x="2272284" y="578725"/>
                </a:lnTo>
                <a:lnTo>
                  <a:pt x="2304288" y="576443"/>
                </a:lnTo>
                <a:lnTo>
                  <a:pt x="2336292" y="574262"/>
                </a:lnTo>
                <a:lnTo>
                  <a:pt x="2368296" y="572175"/>
                </a:lnTo>
                <a:lnTo>
                  <a:pt x="2400300" y="570172"/>
                </a:lnTo>
                <a:lnTo>
                  <a:pt x="2432304" y="568248"/>
                </a:lnTo>
                <a:lnTo>
                  <a:pt x="2464308" y="566397"/>
                </a:lnTo>
                <a:lnTo>
                  <a:pt x="2496312" y="564613"/>
                </a:lnTo>
                <a:lnTo>
                  <a:pt x="2528316" y="562892"/>
                </a:lnTo>
                <a:lnTo>
                  <a:pt x="2560320" y="561229"/>
                </a:lnTo>
                <a:lnTo>
                  <a:pt x="2592324" y="559620"/>
                </a:lnTo>
                <a:lnTo>
                  <a:pt x="2624328" y="558063"/>
                </a:lnTo>
                <a:lnTo>
                  <a:pt x="2656332" y="556554"/>
                </a:lnTo>
                <a:lnTo>
                  <a:pt x="2688336" y="555090"/>
                </a:lnTo>
                <a:lnTo>
                  <a:pt x="2720340" y="553668"/>
                </a:lnTo>
                <a:lnTo>
                  <a:pt x="2752344" y="552286"/>
                </a:lnTo>
                <a:lnTo>
                  <a:pt x="2784348" y="550942"/>
                </a:lnTo>
                <a:lnTo>
                  <a:pt x="2816352" y="549635"/>
                </a:lnTo>
                <a:lnTo>
                  <a:pt x="2848356" y="548361"/>
                </a:lnTo>
                <a:lnTo>
                  <a:pt x="2880360" y="547119"/>
                </a:lnTo>
                <a:lnTo>
                  <a:pt x="2912364" y="545908"/>
                </a:lnTo>
                <a:lnTo>
                  <a:pt x="2944368" y="544726"/>
                </a:lnTo>
                <a:lnTo>
                  <a:pt x="2976372" y="543573"/>
                </a:lnTo>
                <a:lnTo>
                  <a:pt x="3008376" y="542445"/>
                </a:lnTo>
                <a:lnTo>
                  <a:pt x="3040380" y="541343"/>
                </a:lnTo>
                <a:lnTo>
                  <a:pt x="3072384" y="540266"/>
                </a:lnTo>
                <a:lnTo>
                  <a:pt x="3104388" y="539211"/>
                </a:lnTo>
                <a:lnTo>
                  <a:pt x="3136392" y="538179"/>
                </a:lnTo>
                <a:lnTo>
                  <a:pt x="3168396" y="537168"/>
                </a:lnTo>
                <a:lnTo>
                  <a:pt x="3200400" y="536177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4069080"/>
            <a:ext cx="365760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14400" y="37398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c  Weak acid + weak base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14400" y="5742432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66928" y="56509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14400" y="5516445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66928" y="542500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14400" y="5290457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66928" y="519901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14400" y="5064470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66928" y="497303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914400" y="4838482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66928" y="474704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14400" y="4612495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66928" y="452105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14400" y="4386507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66928" y="429506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14400" y="4160520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566928" y="406908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731520" y="57698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1371600" y="57698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2011680" y="57698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2651760" y="57698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3291840" y="57698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3931920" y="57698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914400" y="59253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base added / cm³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914400" y="4951476"/>
            <a:ext cx="32004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2514600" y="4160520"/>
            <a:ext cx="0" cy="1581912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14400" y="4160520"/>
            <a:ext cx="3200400" cy="1581912"/>
          </a:xfrm>
          <a:custGeom>
            <a:avLst/>
            <a:gdLst/>
            <a:ahLst/>
            <a:cxnLst/>
            <a:rect l="l" t="t" r="r" b="b"/>
            <a:pathLst>
              <a:path w="3200400" h="1581912">
                <a:moveTo>
                  <a:pt x="0" y="1256476"/>
                </a:moveTo>
                <a:lnTo>
                  <a:pt x="32004" y="1221387"/>
                </a:lnTo>
                <a:lnTo>
                  <a:pt x="64008" y="1195783"/>
                </a:lnTo>
                <a:lnTo>
                  <a:pt x="96012" y="1177338"/>
                </a:lnTo>
                <a:lnTo>
                  <a:pt x="128016" y="1163138"/>
                </a:lnTo>
                <a:lnTo>
                  <a:pt x="160020" y="1151583"/>
                </a:lnTo>
                <a:lnTo>
                  <a:pt x="192024" y="1141799"/>
                </a:lnTo>
                <a:lnTo>
                  <a:pt x="224028" y="1133271"/>
                </a:lnTo>
                <a:lnTo>
                  <a:pt x="256032" y="1125671"/>
                </a:lnTo>
                <a:lnTo>
                  <a:pt x="288036" y="1118784"/>
                </a:lnTo>
                <a:lnTo>
                  <a:pt x="320040" y="1112457"/>
                </a:lnTo>
                <a:lnTo>
                  <a:pt x="352044" y="1106578"/>
                </a:lnTo>
                <a:lnTo>
                  <a:pt x="384048" y="1101065"/>
                </a:lnTo>
                <a:lnTo>
                  <a:pt x="416052" y="1095854"/>
                </a:lnTo>
                <a:lnTo>
                  <a:pt x="448056" y="1090892"/>
                </a:lnTo>
                <a:lnTo>
                  <a:pt x="480060" y="1086140"/>
                </a:lnTo>
                <a:lnTo>
                  <a:pt x="512064" y="1081564"/>
                </a:lnTo>
                <a:lnTo>
                  <a:pt x="544068" y="1077136"/>
                </a:lnTo>
                <a:lnTo>
                  <a:pt x="576072" y="1072830"/>
                </a:lnTo>
                <a:lnTo>
                  <a:pt x="608076" y="1068627"/>
                </a:lnTo>
                <a:lnTo>
                  <a:pt x="640080" y="1064508"/>
                </a:lnTo>
                <a:lnTo>
                  <a:pt x="672084" y="1060457"/>
                </a:lnTo>
                <a:lnTo>
                  <a:pt x="704088" y="1056457"/>
                </a:lnTo>
                <a:lnTo>
                  <a:pt x="736092" y="1052496"/>
                </a:lnTo>
                <a:lnTo>
                  <a:pt x="768096" y="1048560"/>
                </a:lnTo>
                <a:lnTo>
                  <a:pt x="800100" y="1044636"/>
                </a:lnTo>
                <a:lnTo>
                  <a:pt x="832104" y="1040712"/>
                </a:lnTo>
                <a:lnTo>
                  <a:pt x="864108" y="1036775"/>
                </a:lnTo>
                <a:lnTo>
                  <a:pt x="896112" y="1032812"/>
                </a:lnTo>
                <a:lnTo>
                  <a:pt x="928116" y="1028810"/>
                </a:lnTo>
                <a:lnTo>
                  <a:pt x="960120" y="1024755"/>
                </a:lnTo>
                <a:lnTo>
                  <a:pt x="992124" y="1020632"/>
                </a:lnTo>
                <a:lnTo>
                  <a:pt x="1024128" y="1016423"/>
                </a:lnTo>
                <a:lnTo>
                  <a:pt x="1056132" y="1012111"/>
                </a:lnTo>
                <a:lnTo>
                  <a:pt x="1088136" y="1007674"/>
                </a:lnTo>
                <a:lnTo>
                  <a:pt x="1120140" y="1003088"/>
                </a:lnTo>
                <a:lnTo>
                  <a:pt x="1152144" y="998323"/>
                </a:lnTo>
                <a:lnTo>
                  <a:pt x="1184148" y="993346"/>
                </a:lnTo>
                <a:lnTo>
                  <a:pt x="1216152" y="988114"/>
                </a:lnTo>
                <a:lnTo>
                  <a:pt x="1248156" y="982575"/>
                </a:lnTo>
                <a:lnTo>
                  <a:pt x="1280160" y="976663"/>
                </a:lnTo>
                <a:lnTo>
                  <a:pt x="1312164" y="970290"/>
                </a:lnTo>
                <a:lnTo>
                  <a:pt x="1344168" y="963340"/>
                </a:lnTo>
                <a:lnTo>
                  <a:pt x="1376172" y="955650"/>
                </a:lnTo>
                <a:lnTo>
                  <a:pt x="1408176" y="946985"/>
                </a:lnTo>
                <a:lnTo>
                  <a:pt x="1440180" y="936980"/>
                </a:lnTo>
                <a:lnTo>
                  <a:pt x="1472184" y="925034"/>
                </a:lnTo>
                <a:lnTo>
                  <a:pt x="1504188" y="910041"/>
                </a:lnTo>
                <a:lnTo>
                  <a:pt x="1507388" y="908302"/>
                </a:lnTo>
                <a:lnTo>
                  <a:pt x="1510589" y="906507"/>
                </a:lnTo>
                <a:lnTo>
                  <a:pt x="1513789" y="904654"/>
                </a:lnTo>
                <a:lnTo>
                  <a:pt x="1516990" y="902738"/>
                </a:lnTo>
                <a:lnTo>
                  <a:pt x="1520190" y="900754"/>
                </a:lnTo>
                <a:lnTo>
                  <a:pt x="1523390" y="898697"/>
                </a:lnTo>
                <a:lnTo>
                  <a:pt x="1526591" y="896562"/>
                </a:lnTo>
                <a:lnTo>
                  <a:pt x="1529791" y="894341"/>
                </a:lnTo>
                <a:lnTo>
                  <a:pt x="1532992" y="892029"/>
                </a:lnTo>
                <a:lnTo>
                  <a:pt x="1536192" y="889616"/>
                </a:lnTo>
                <a:lnTo>
                  <a:pt x="1539392" y="887094"/>
                </a:lnTo>
                <a:lnTo>
                  <a:pt x="1542593" y="884451"/>
                </a:lnTo>
                <a:lnTo>
                  <a:pt x="1545793" y="881677"/>
                </a:lnTo>
                <a:lnTo>
                  <a:pt x="1548994" y="878758"/>
                </a:lnTo>
                <a:lnTo>
                  <a:pt x="1552194" y="875677"/>
                </a:lnTo>
                <a:lnTo>
                  <a:pt x="1555394" y="872417"/>
                </a:lnTo>
                <a:lnTo>
                  <a:pt x="1558595" y="868956"/>
                </a:lnTo>
                <a:lnTo>
                  <a:pt x="1561795" y="865271"/>
                </a:lnTo>
                <a:lnTo>
                  <a:pt x="1564996" y="861332"/>
                </a:lnTo>
                <a:lnTo>
                  <a:pt x="1568196" y="857106"/>
                </a:lnTo>
                <a:lnTo>
                  <a:pt x="1571396" y="852554"/>
                </a:lnTo>
                <a:lnTo>
                  <a:pt x="1574597" y="847632"/>
                </a:lnTo>
                <a:lnTo>
                  <a:pt x="1577797" y="842290"/>
                </a:lnTo>
                <a:lnTo>
                  <a:pt x="1580998" y="836473"/>
                </a:lnTo>
                <a:lnTo>
                  <a:pt x="1584198" y="830129"/>
                </a:lnTo>
                <a:lnTo>
                  <a:pt x="1587398" y="823213"/>
                </a:lnTo>
                <a:lnTo>
                  <a:pt x="1590599" y="815709"/>
                </a:lnTo>
                <a:lnTo>
                  <a:pt x="1593799" y="807650"/>
                </a:lnTo>
                <a:lnTo>
                  <a:pt x="1597000" y="799148"/>
                </a:lnTo>
                <a:lnTo>
                  <a:pt x="1600200" y="790405"/>
                </a:lnTo>
                <a:lnTo>
                  <a:pt x="1603400" y="781679"/>
                </a:lnTo>
                <a:lnTo>
                  <a:pt x="1606601" y="773226"/>
                </a:lnTo>
                <a:lnTo>
                  <a:pt x="1609801" y="765241"/>
                </a:lnTo>
                <a:lnTo>
                  <a:pt x="1613002" y="757826"/>
                </a:lnTo>
                <a:lnTo>
                  <a:pt x="1616202" y="751009"/>
                </a:lnTo>
                <a:lnTo>
                  <a:pt x="1619402" y="744770"/>
                </a:lnTo>
                <a:lnTo>
                  <a:pt x="1622603" y="739060"/>
                </a:lnTo>
                <a:lnTo>
                  <a:pt x="1625803" y="733826"/>
                </a:lnTo>
                <a:lnTo>
                  <a:pt x="1629004" y="729013"/>
                </a:lnTo>
                <a:lnTo>
                  <a:pt x="1632204" y="724570"/>
                </a:lnTo>
                <a:lnTo>
                  <a:pt x="1635404" y="720451"/>
                </a:lnTo>
                <a:lnTo>
                  <a:pt x="1638605" y="716620"/>
                </a:lnTo>
                <a:lnTo>
                  <a:pt x="1641805" y="713041"/>
                </a:lnTo>
                <a:lnTo>
                  <a:pt x="1645006" y="709687"/>
                </a:lnTo>
                <a:lnTo>
                  <a:pt x="1648206" y="706534"/>
                </a:lnTo>
                <a:lnTo>
                  <a:pt x="1651406" y="703559"/>
                </a:lnTo>
                <a:lnTo>
                  <a:pt x="1654607" y="700745"/>
                </a:lnTo>
                <a:lnTo>
                  <a:pt x="1657807" y="698077"/>
                </a:lnTo>
                <a:lnTo>
                  <a:pt x="1661008" y="695540"/>
                </a:lnTo>
                <a:lnTo>
                  <a:pt x="1664208" y="693124"/>
                </a:lnTo>
                <a:lnTo>
                  <a:pt x="1667408" y="690816"/>
                </a:lnTo>
                <a:lnTo>
                  <a:pt x="1670609" y="688609"/>
                </a:lnTo>
                <a:lnTo>
                  <a:pt x="1673809" y="686494"/>
                </a:lnTo>
                <a:lnTo>
                  <a:pt x="1677010" y="684464"/>
                </a:lnTo>
                <a:lnTo>
                  <a:pt x="1680210" y="682513"/>
                </a:lnTo>
                <a:lnTo>
                  <a:pt x="1683410" y="680635"/>
                </a:lnTo>
                <a:lnTo>
                  <a:pt x="1686611" y="678824"/>
                </a:lnTo>
                <a:lnTo>
                  <a:pt x="1689811" y="677077"/>
                </a:lnTo>
                <a:lnTo>
                  <a:pt x="1693012" y="675388"/>
                </a:lnTo>
                <a:lnTo>
                  <a:pt x="1696212" y="673755"/>
                </a:lnTo>
                <a:lnTo>
                  <a:pt x="1699412" y="672173"/>
                </a:lnTo>
                <a:lnTo>
                  <a:pt x="1702613" y="670640"/>
                </a:lnTo>
                <a:lnTo>
                  <a:pt x="1705813" y="669153"/>
                </a:lnTo>
                <a:lnTo>
                  <a:pt x="1709014" y="667709"/>
                </a:lnTo>
                <a:lnTo>
                  <a:pt x="1712214" y="666306"/>
                </a:lnTo>
                <a:lnTo>
                  <a:pt x="1715414" y="664941"/>
                </a:lnTo>
                <a:lnTo>
                  <a:pt x="1718615" y="663613"/>
                </a:lnTo>
                <a:lnTo>
                  <a:pt x="1721815" y="662319"/>
                </a:lnTo>
                <a:lnTo>
                  <a:pt x="1725016" y="661058"/>
                </a:lnTo>
                <a:lnTo>
                  <a:pt x="1728216" y="659829"/>
                </a:lnTo>
                <a:lnTo>
                  <a:pt x="1760220" y="648969"/>
                </a:lnTo>
                <a:lnTo>
                  <a:pt x="1792224" y="640072"/>
                </a:lnTo>
                <a:lnTo>
                  <a:pt x="1824228" y="632538"/>
                </a:lnTo>
                <a:lnTo>
                  <a:pt x="1856232" y="626006"/>
                </a:lnTo>
                <a:lnTo>
                  <a:pt x="1888236" y="620240"/>
                </a:lnTo>
                <a:lnTo>
                  <a:pt x="1920240" y="615080"/>
                </a:lnTo>
                <a:lnTo>
                  <a:pt x="1952244" y="610411"/>
                </a:lnTo>
                <a:lnTo>
                  <a:pt x="1984248" y="606148"/>
                </a:lnTo>
                <a:lnTo>
                  <a:pt x="2016252" y="602225"/>
                </a:lnTo>
                <a:lnTo>
                  <a:pt x="2048256" y="598593"/>
                </a:lnTo>
                <a:lnTo>
                  <a:pt x="2080260" y="595210"/>
                </a:lnTo>
                <a:lnTo>
                  <a:pt x="2112264" y="592046"/>
                </a:lnTo>
                <a:lnTo>
                  <a:pt x="2144268" y="589074"/>
                </a:lnTo>
                <a:lnTo>
                  <a:pt x="2176272" y="586271"/>
                </a:lnTo>
                <a:lnTo>
                  <a:pt x="2208276" y="583620"/>
                </a:lnTo>
                <a:lnTo>
                  <a:pt x="2240280" y="581105"/>
                </a:lnTo>
                <a:lnTo>
                  <a:pt x="2272284" y="578713"/>
                </a:lnTo>
                <a:lnTo>
                  <a:pt x="2304288" y="576431"/>
                </a:lnTo>
                <a:lnTo>
                  <a:pt x="2336292" y="574252"/>
                </a:lnTo>
                <a:lnTo>
                  <a:pt x="2368296" y="572165"/>
                </a:lnTo>
                <a:lnTo>
                  <a:pt x="2400300" y="570163"/>
                </a:lnTo>
                <a:lnTo>
                  <a:pt x="2432304" y="568239"/>
                </a:lnTo>
                <a:lnTo>
                  <a:pt x="2464308" y="566389"/>
                </a:lnTo>
                <a:lnTo>
                  <a:pt x="2496312" y="564605"/>
                </a:lnTo>
                <a:lnTo>
                  <a:pt x="2528316" y="562884"/>
                </a:lnTo>
                <a:lnTo>
                  <a:pt x="2560320" y="561222"/>
                </a:lnTo>
                <a:lnTo>
                  <a:pt x="2592324" y="559614"/>
                </a:lnTo>
                <a:lnTo>
                  <a:pt x="2624328" y="558057"/>
                </a:lnTo>
                <a:lnTo>
                  <a:pt x="2656332" y="556548"/>
                </a:lnTo>
                <a:lnTo>
                  <a:pt x="2688336" y="555084"/>
                </a:lnTo>
                <a:lnTo>
                  <a:pt x="2720340" y="553662"/>
                </a:lnTo>
                <a:lnTo>
                  <a:pt x="2752344" y="552281"/>
                </a:lnTo>
                <a:lnTo>
                  <a:pt x="2784348" y="550938"/>
                </a:lnTo>
                <a:lnTo>
                  <a:pt x="2816352" y="549630"/>
                </a:lnTo>
                <a:lnTo>
                  <a:pt x="2848356" y="548356"/>
                </a:lnTo>
                <a:lnTo>
                  <a:pt x="2880360" y="547115"/>
                </a:lnTo>
                <a:lnTo>
                  <a:pt x="2912364" y="545904"/>
                </a:lnTo>
                <a:lnTo>
                  <a:pt x="2944368" y="544722"/>
                </a:lnTo>
                <a:lnTo>
                  <a:pt x="2976372" y="543569"/>
                </a:lnTo>
                <a:lnTo>
                  <a:pt x="3008376" y="542442"/>
                </a:lnTo>
                <a:lnTo>
                  <a:pt x="3040380" y="541340"/>
                </a:lnTo>
                <a:lnTo>
                  <a:pt x="3072384" y="540262"/>
                </a:lnTo>
                <a:lnTo>
                  <a:pt x="3104388" y="539208"/>
                </a:lnTo>
                <a:lnTo>
                  <a:pt x="3136392" y="538176"/>
                </a:lnTo>
                <a:lnTo>
                  <a:pt x="3168396" y="537165"/>
                </a:lnTo>
                <a:lnTo>
                  <a:pt x="3200400" y="536174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434840" y="4069080"/>
            <a:ext cx="365760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800600" y="37398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d  Weak acid + strong base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4800600" y="5742432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453128" y="56509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800600" y="5516445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453128" y="542500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800600" y="5290457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453128" y="519901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800600" y="5064470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453128" y="497303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800600" y="4838482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4453128" y="474704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800600" y="4612495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453128" y="452105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800600" y="4386507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4453128" y="429506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800600" y="4160520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4453128" y="406908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107" name="Text 105"/>
          <p:cNvSpPr txBox="1"/>
          <p:nvPr/>
        </p:nvSpPr>
        <p:spPr>
          <a:xfrm>
            <a:off x="4617720" y="57698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108" name="Text 106"/>
          <p:cNvSpPr txBox="1"/>
          <p:nvPr/>
        </p:nvSpPr>
        <p:spPr>
          <a:xfrm>
            <a:off x="5257800" y="57698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109" name="Text 107"/>
          <p:cNvSpPr txBox="1"/>
          <p:nvPr/>
        </p:nvSpPr>
        <p:spPr>
          <a:xfrm>
            <a:off x="5897880" y="57698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110" name="Text 108"/>
          <p:cNvSpPr txBox="1"/>
          <p:nvPr/>
        </p:nvSpPr>
        <p:spPr>
          <a:xfrm>
            <a:off x="6537960" y="57698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111" name="Text 109"/>
          <p:cNvSpPr txBox="1"/>
          <p:nvPr/>
        </p:nvSpPr>
        <p:spPr>
          <a:xfrm>
            <a:off x="7178040" y="57698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112" name="Text 110"/>
          <p:cNvSpPr txBox="1"/>
          <p:nvPr/>
        </p:nvSpPr>
        <p:spPr>
          <a:xfrm>
            <a:off x="7818120" y="57698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113" name="Text 111"/>
          <p:cNvSpPr txBox="1"/>
          <p:nvPr/>
        </p:nvSpPr>
        <p:spPr>
          <a:xfrm>
            <a:off x="4800600" y="59253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base added / cm³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4800600" y="4951476"/>
            <a:ext cx="32004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>
            <a:off x="6400800" y="4160520"/>
            <a:ext cx="0" cy="1581912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800600" y="4160520"/>
            <a:ext cx="3200400" cy="1581912"/>
          </a:xfrm>
          <a:custGeom>
            <a:avLst/>
            <a:gdLst/>
            <a:ahLst/>
            <a:cxnLst/>
            <a:rect l="l" t="t" r="r" b="b"/>
            <a:pathLst>
              <a:path w="3200400" h="1581912">
                <a:moveTo>
                  <a:pt x="0" y="1256476"/>
                </a:moveTo>
                <a:lnTo>
                  <a:pt x="32004" y="1221387"/>
                </a:lnTo>
                <a:lnTo>
                  <a:pt x="64008" y="1195783"/>
                </a:lnTo>
                <a:lnTo>
                  <a:pt x="96012" y="1177338"/>
                </a:lnTo>
                <a:lnTo>
                  <a:pt x="128016" y="1163137"/>
                </a:lnTo>
                <a:lnTo>
                  <a:pt x="160020" y="1151583"/>
                </a:lnTo>
                <a:lnTo>
                  <a:pt x="192024" y="1141799"/>
                </a:lnTo>
                <a:lnTo>
                  <a:pt x="224028" y="1133270"/>
                </a:lnTo>
                <a:lnTo>
                  <a:pt x="256032" y="1125671"/>
                </a:lnTo>
                <a:lnTo>
                  <a:pt x="288036" y="1118784"/>
                </a:lnTo>
                <a:lnTo>
                  <a:pt x="320040" y="1112456"/>
                </a:lnTo>
                <a:lnTo>
                  <a:pt x="352044" y="1106578"/>
                </a:lnTo>
                <a:lnTo>
                  <a:pt x="384048" y="1101065"/>
                </a:lnTo>
                <a:lnTo>
                  <a:pt x="416052" y="1095853"/>
                </a:lnTo>
                <a:lnTo>
                  <a:pt x="448056" y="1090891"/>
                </a:lnTo>
                <a:lnTo>
                  <a:pt x="480060" y="1086140"/>
                </a:lnTo>
                <a:lnTo>
                  <a:pt x="512064" y="1081563"/>
                </a:lnTo>
                <a:lnTo>
                  <a:pt x="544068" y="1077134"/>
                </a:lnTo>
                <a:lnTo>
                  <a:pt x="576072" y="1072829"/>
                </a:lnTo>
                <a:lnTo>
                  <a:pt x="608076" y="1068626"/>
                </a:lnTo>
                <a:lnTo>
                  <a:pt x="640080" y="1064507"/>
                </a:lnTo>
                <a:lnTo>
                  <a:pt x="672084" y="1060455"/>
                </a:lnTo>
                <a:lnTo>
                  <a:pt x="704088" y="1056455"/>
                </a:lnTo>
                <a:lnTo>
                  <a:pt x="736092" y="1052494"/>
                </a:lnTo>
                <a:lnTo>
                  <a:pt x="768096" y="1048557"/>
                </a:lnTo>
                <a:lnTo>
                  <a:pt x="800100" y="1044633"/>
                </a:lnTo>
                <a:lnTo>
                  <a:pt x="832104" y="1040708"/>
                </a:lnTo>
                <a:lnTo>
                  <a:pt x="864108" y="1036771"/>
                </a:lnTo>
                <a:lnTo>
                  <a:pt x="896112" y="1032807"/>
                </a:lnTo>
                <a:lnTo>
                  <a:pt x="928116" y="1028805"/>
                </a:lnTo>
                <a:lnTo>
                  <a:pt x="960120" y="1024749"/>
                </a:lnTo>
                <a:lnTo>
                  <a:pt x="992124" y="1020625"/>
                </a:lnTo>
                <a:lnTo>
                  <a:pt x="1024128" y="1016416"/>
                </a:lnTo>
                <a:lnTo>
                  <a:pt x="1056132" y="1012102"/>
                </a:lnTo>
                <a:lnTo>
                  <a:pt x="1088136" y="1007664"/>
                </a:lnTo>
                <a:lnTo>
                  <a:pt x="1120140" y="1003076"/>
                </a:lnTo>
                <a:lnTo>
                  <a:pt x="1152144" y="998309"/>
                </a:lnTo>
                <a:lnTo>
                  <a:pt x="1184148" y="993329"/>
                </a:lnTo>
                <a:lnTo>
                  <a:pt x="1216152" y="988094"/>
                </a:lnTo>
                <a:lnTo>
                  <a:pt x="1248156" y="982550"/>
                </a:lnTo>
                <a:lnTo>
                  <a:pt x="1280160" y="976632"/>
                </a:lnTo>
                <a:lnTo>
                  <a:pt x="1312164" y="970250"/>
                </a:lnTo>
                <a:lnTo>
                  <a:pt x="1344168" y="963289"/>
                </a:lnTo>
                <a:lnTo>
                  <a:pt x="1376172" y="955582"/>
                </a:lnTo>
                <a:lnTo>
                  <a:pt x="1408176" y="946890"/>
                </a:lnTo>
                <a:lnTo>
                  <a:pt x="1440180" y="936841"/>
                </a:lnTo>
                <a:lnTo>
                  <a:pt x="1472184" y="924813"/>
                </a:lnTo>
                <a:lnTo>
                  <a:pt x="1504188" y="909641"/>
                </a:lnTo>
                <a:lnTo>
                  <a:pt x="1507388" y="907873"/>
                </a:lnTo>
                <a:lnTo>
                  <a:pt x="1510589" y="906047"/>
                </a:lnTo>
                <a:lnTo>
                  <a:pt x="1513789" y="904159"/>
                </a:lnTo>
                <a:lnTo>
                  <a:pt x="1516990" y="902203"/>
                </a:lnTo>
                <a:lnTo>
                  <a:pt x="1520190" y="900175"/>
                </a:lnTo>
                <a:lnTo>
                  <a:pt x="1523390" y="898069"/>
                </a:lnTo>
                <a:lnTo>
                  <a:pt x="1526591" y="895877"/>
                </a:lnTo>
                <a:lnTo>
                  <a:pt x="1529791" y="893593"/>
                </a:lnTo>
                <a:lnTo>
                  <a:pt x="1532992" y="891208"/>
                </a:lnTo>
                <a:lnTo>
                  <a:pt x="1536192" y="888712"/>
                </a:lnTo>
                <a:lnTo>
                  <a:pt x="1539392" y="886092"/>
                </a:lnTo>
                <a:lnTo>
                  <a:pt x="1542593" y="883337"/>
                </a:lnTo>
                <a:lnTo>
                  <a:pt x="1545793" y="880431"/>
                </a:lnTo>
                <a:lnTo>
                  <a:pt x="1548994" y="877355"/>
                </a:lnTo>
                <a:lnTo>
                  <a:pt x="1552194" y="874086"/>
                </a:lnTo>
                <a:lnTo>
                  <a:pt x="1555394" y="870600"/>
                </a:lnTo>
                <a:lnTo>
                  <a:pt x="1558595" y="866862"/>
                </a:lnTo>
                <a:lnTo>
                  <a:pt x="1561795" y="862834"/>
                </a:lnTo>
                <a:lnTo>
                  <a:pt x="1564996" y="858464"/>
                </a:lnTo>
                <a:lnTo>
                  <a:pt x="1568196" y="853687"/>
                </a:lnTo>
                <a:lnTo>
                  <a:pt x="1571396" y="848417"/>
                </a:lnTo>
                <a:lnTo>
                  <a:pt x="1574597" y="842538"/>
                </a:lnTo>
                <a:lnTo>
                  <a:pt x="1577797" y="835886"/>
                </a:lnTo>
                <a:lnTo>
                  <a:pt x="1580998" y="828223"/>
                </a:lnTo>
                <a:lnTo>
                  <a:pt x="1584198" y="819179"/>
                </a:lnTo>
                <a:lnTo>
                  <a:pt x="1587398" y="808133"/>
                </a:lnTo>
                <a:lnTo>
                  <a:pt x="1590599" y="793923"/>
                </a:lnTo>
                <a:lnTo>
                  <a:pt x="1593799" y="773947"/>
                </a:lnTo>
                <a:lnTo>
                  <a:pt x="1597000" y="739938"/>
                </a:lnTo>
                <a:lnTo>
                  <a:pt x="1600200" y="595840"/>
                </a:lnTo>
                <a:lnTo>
                  <a:pt x="1603400" y="451885"/>
                </a:lnTo>
                <a:lnTo>
                  <a:pt x="1606601" y="418024"/>
                </a:lnTo>
                <a:lnTo>
                  <a:pt x="1609801" y="398195"/>
                </a:lnTo>
                <a:lnTo>
                  <a:pt x="1613002" y="384133"/>
                </a:lnTo>
                <a:lnTo>
                  <a:pt x="1616202" y="373235"/>
                </a:lnTo>
                <a:lnTo>
                  <a:pt x="1619402" y="364338"/>
                </a:lnTo>
                <a:lnTo>
                  <a:pt x="1622603" y="356824"/>
                </a:lnTo>
                <a:lnTo>
                  <a:pt x="1625803" y="350320"/>
                </a:lnTo>
                <a:lnTo>
                  <a:pt x="1629004" y="344589"/>
                </a:lnTo>
                <a:lnTo>
                  <a:pt x="1632204" y="339468"/>
                </a:lnTo>
                <a:lnTo>
                  <a:pt x="1635404" y="334840"/>
                </a:lnTo>
                <a:lnTo>
                  <a:pt x="1638605" y="330619"/>
                </a:lnTo>
                <a:lnTo>
                  <a:pt x="1641805" y="326739"/>
                </a:lnTo>
                <a:lnTo>
                  <a:pt x="1645006" y="323151"/>
                </a:lnTo>
                <a:lnTo>
                  <a:pt x="1648206" y="319814"/>
                </a:lnTo>
                <a:lnTo>
                  <a:pt x="1651406" y="316695"/>
                </a:lnTo>
                <a:lnTo>
                  <a:pt x="1654607" y="313769"/>
                </a:lnTo>
                <a:lnTo>
                  <a:pt x="1657807" y="311012"/>
                </a:lnTo>
                <a:lnTo>
                  <a:pt x="1661008" y="308407"/>
                </a:lnTo>
                <a:lnTo>
                  <a:pt x="1664208" y="305938"/>
                </a:lnTo>
                <a:lnTo>
                  <a:pt x="1667408" y="303592"/>
                </a:lnTo>
                <a:lnTo>
                  <a:pt x="1670609" y="301357"/>
                </a:lnTo>
                <a:lnTo>
                  <a:pt x="1673809" y="299224"/>
                </a:lnTo>
                <a:lnTo>
                  <a:pt x="1677010" y="297183"/>
                </a:lnTo>
                <a:lnTo>
                  <a:pt x="1680210" y="295228"/>
                </a:lnTo>
                <a:lnTo>
                  <a:pt x="1683410" y="293351"/>
                </a:lnTo>
                <a:lnTo>
                  <a:pt x="1686611" y="291547"/>
                </a:lnTo>
                <a:lnTo>
                  <a:pt x="1689811" y="289810"/>
                </a:lnTo>
                <a:lnTo>
                  <a:pt x="1693012" y="288136"/>
                </a:lnTo>
                <a:lnTo>
                  <a:pt x="1696212" y="286520"/>
                </a:lnTo>
                <a:lnTo>
                  <a:pt x="1699412" y="284958"/>
                </a:lnTo>
                <a:lnTo>
                  <a:pt x="1702613" y="283448"/>
                </a:lnTo>
                <a:lnTo>
                  <a:pt x="1705813" y="281985"/>
                </a:lnTo>
                <a:lnTo>
                  <a:pt x="1709014" y="280568"/>
                </a:lnTo>
                <a:lnTo>
                  <a:pt x="1712214" y="279193"/>
                </a:lnTo>
                <a:lnTo>
                  <a:pt x="1715414" y="277858"/>
                </a:lnTo>
                <a:lnTo>
                  <a:pt x="1718615" y="276561"/>
                </a:lnTo>
                <a:lnTo>
                  <a:pt x="1721815" y="275299"/>
                </a:lnTo>
                <a:lnTo>
                  <a:pt x="1725016" y="274072"/>
                </a:lnTo>
                <a:lnTo>
                  <a:pt x="1728216" y="272877"/>
                </a:lnTo>
                <a:lnTo>
                  <a:pt x="1760220" y="262396"/>
                </a:lnTo>
                <a:lnTo>
                  <a:pt x="1792224" y="253914"/>
                </a:lnTo>
                <a:lnTo>
                  <a:pt x="1824228" y="246811"/>
                </a:lnTo>
                <a:lnTo>
                  <a:pt x="1856232" y="240714"/>
                </a:lnTo>
                <a:lnTo>
                  <a:pt x="1888236" y="235387"/>
                </a:lnTo>
                <a:lnTo>
                  <a:pt x="1920240" y="230665"/>
                </a:lnTo>
                <a:lnTo>
                  <a:pt x="1952244" y="226432"/>
                </a:lnTo>
                <a:lnTo>
                  <a:pt x="1984248" y="222602"/>
                </a:lnTo>
                <a:lnTo>
                  <a:pt x="2016252" y="219110"/>
                </a:lnTo>
                <a:lnTo>
                  <a:pt x="2048256" y="215906"/>
                </a:lnTo>
                <a:lnTo>
                  <a:pt x="2080260" y="212949"/>
                </a:lnTo>
                <a:lnTo>
                  <a:pt x="2112264" y="210206"/>
                </a:lnTo>
                <a:lnTo>
                  <a:pt x="2144268" y="207653"/>
                </a:lnTo>
                <a:lnTo>
                  <a:pt x="2176272" y="205265"/>
                </a:lnTo>
                <a:lnTo>
                  <a:pt x="2208276" y="203026"/>
                </a:lnTo>
                <a:lnTo>
                  <a:pt x="2240280" y="200920"/>
                </a:lnTo>
                <a:lnTo>
                  <a:pt x="2272284" y="198933"/>
                </a:lnTo>
                <a:lnTo>
                  <a:pt x="2304288" y="197054"/>
                </a:lnTo>
                <a:lnTo>
                  <a:pt x="2336292" y="195273"/>
                </a:lnTo>
                <a:lnTo>
                  <a:pt x="2368296" y="193582"/>
                </a:lnTo>
                <a:lnTo>
                  <a:pt x="2400300" y="191973"/>
                </a:lnTo>
                <a:lnTo>
                  <a:pt x="2432304" y="190439"/>
                </a:lnTo>
                <a:lnTo>
                  <a:pt x="2464308" y="188975"/>
                </a:lnTo>
                <a:lnTo>
                  <a:pt x="2496312" y="187575"/>
                </a:lnTo>
                <a:lnTo>
                  <a:pt x="2528316" y="186235"/>
                </a:lnTo>
                <a:lnTo>
                  <a:pt x="2560320" y="184951"/>
                </a:lnTo>
                <a:lnTo>
                  <a:pt x="2592324" y="183718"/>
                </a:lnTo>
                <a:lnTo>
                  <a:pt x="2624328" y="182533"/>
                </a:lnTo>
                <a:lnTo>
                  <a:pt x="2656332" y="181393"/>
                </a:lnTo>
                <a:lnTo>
                  <a:pt x="2688336" y="180296"/>
                </a:lnTo>
                <a:lnTo>
                  <a:pt x="2720340" y="179238"/>
                </a:lnTo>
                <a:lnTo>
                  <a:pt x="2752344" y="178218"/>
                </a:lnTo>
                <a:lnTo>
                  <a:pt x="2784348" y="177233"/>
                </a:lnTo>
                <a:lnTo>
                  <a:pt x="2816352" y="176281"/>
                </a:lnTo>
                <a:lnTo>
                  <a:pt x="2848356" y="175361"/>
                </a:lnTo>
                <a:lnTo>
                  <a:pt x="2880360" y="174470"/>
                </a:lnTo>
                <a:lnTo>
                  <a:pt x="2912364" y="173608"/>
                </a:lnTo>
                <a:lnTo>
                  <a:pt x="2944368" y="172772"/>
                </a:lnTo>
                <a:lnTo>
                  <a:pt x="2976372" y="171961"/>
                </a:lnTo>
                <a:lnTo>
                  <a:pt x="3008376" y="171175"/>
                </a:lnTo>
                <a:lnTo>
                  <a:pt x="3040380" y="170412"/>
                </a:lnTo>
                <a:lnTo>
                  <a:pt x="3072384" y="169671"/>
                </a:lnTo>
                <a:lnTo>
                  <a:pt x="3104388" y="168950"/>
                </a:lnTo>
                <a:lnTo>
                  <a:pt x="3136392" y="168250"/>
                </a:lnTo>
                <a:lnTo>
                  <a:pt x="3168396" y="167569"/>
                </a:lnTo>
                <a:lnTo>
                  <a:pt x="3200400" y="166905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458200" y="1371600"/>
            <a:ext cx="3200400" cy="4709160"/>
          </a:xfrm>
          <a:prstGeom prst="roundRect">
            <a:avLst>
              <a:gd name="adj" fmla="val 3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8595360" y="1463040"/>
            <a:ext cx="292608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All four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25.0 cm³ of 0.100 mol dm⁻³ acid; 0.100 mol dm⁻³ base added.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Handwritten notes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Strong + strong: the vertical section is where the equivalence point is.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Weak + weak: NO vertical section.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Weak acid + strong base: the early flat part is where a buffer solution forms.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B · FROM THE CLASS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 about pH curves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377440" cy="676656"/>
          </a:xfrm>
          <a:prstGeom prst="roundRect">
            <a:avLst>
              <a:gd name="adj" fmla="val 162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Not linear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371600"/>
            <a:ext cx="466344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Flat sections: base barely changes pH. Vertical sections: a tiny amount of base causes a big change.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57984"/>
            <a:ext cx="2377440" cy="676656"/>
          </a:xfrm>
          <a:prstGeom prst="roundRect">
            <a:avLst>
              <a:gd name="adj" fmla="val 1621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5798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Start = acid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157984"/>
            <a:ext cx="466344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Strong acid starts ~pH 1; weak acid ~pH 3.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2377440" cy="676656"/>
          </a:xfrm>
          <a:prstGeom prst="roundRect">
            <a:avLst>
              <a:gd name="adj" fmla="val 162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4436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End = base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944368"/>
            <a:ext cx="466344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Strong base ends ~pH 13; weak base ~pH 9.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2377440" cy="676656"/>
          </a:xfrm>
          <a:prstGeom prst="roundRect">
            <a:avLst>
              <a:gd name="adj" fmla="val 1621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73075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Equivalence point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3730752"/>
            <a:ext cx="466344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Mid-point of the vertical section. Its volume is the average titre.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517136"/>
            <a:ext cx="2377440" cy="676656"/>
          </a:xfrm>
          <a:prstGeom prst="roundRect">
            <a:avLst>
              <a:gd name="adj" fmla="val 162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51713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Indicator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4517136"/>
            <a:ext cx="466344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vertical section's length decides which indicator works.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0" y="1645920"/>
            <a:ext cx="361188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131673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Reading backwards: acid added to base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0" y="3639312"/>
            <a:ext cx="31546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65008" y="35478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412480" y="3367605"/>
            <a:ext cx="31546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65008" y="327616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412480" y="3095897"/>
            <a:ext cx="31546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65008" y="300445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412480" y="2824190"/>
            <a:ext cx="31546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65008" y="273275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412480" y="2552482"/>
            <a:ext cx="31546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65008" y="246104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412480" y="2280775"/>
            <a:ext cx="31546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65008" y="218933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412480" y="2009067"/>
            <a:ext cx="31546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65008" y="191762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412480" y="1737360"/>
            <a:ext cx="31546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65008" y="1645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36667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860536" y="36667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9491472" y="36667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0122408" y="36667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753344" y="36667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384280" y="36667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8412480" y="38221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acid added / cm³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412480" y="2688336"/>
            <a:ext cx="31546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9989820" y="1737360"/>
            <a:ext cx="0" cy="1901952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12480" y="1737360"/>
            <a:ext cx="3154680" cy="1901952"/>
          </a:xfrm>
          <a:custGeom>
            <a:avLst/>
            <a:gdLst/>
            <a:ahLst/>
            <a:cxnLst/>
            <a:rect l="l" t="t" r="r" b="b"/>
            <a:pathLst>
              <a:path w="3154680" h="1901952">
                <a:moveTo>
                  <a:pt x="0" y="135854"/>
                </a:moveTo>
                <a:lnTo>
                  <a:pt x="31547" y="138214"/>
                </a:lnTo>
                <a:lnTo>
                  <a:pt x="63094" y="140576"/>
                </a:lnTo>
                <a:lnTo>
                  <a:pt x="94640" y="142942"/>
                </a:lnTo>
                <a:lnTo>
                  <a:pt x="126187" y="145314"/>
                </a:lnTo>
                <a:lnTo>
                  <a:pt x="157734" y="147693"/>
                </a:lnTo>
                <a:lnTo>
                  <a:pt x="189281" y="150082"/>
                </a:lnTo>
                <a:lnTo>
                  <a:pt x="220828" y="152483"/>
                </a:lnTo>
                <a:lnTo>
                  <a:pt x="252374" y="154898"/>
                </a:lnTo>
                <a:lnTo>
                  <a:pt x="283921" y="157328"/>
                </a:lnTo>
                <a:lnTo>
                  <a:pt x="315468" y="159776"/>
                </a:lnTo>
                <a:lnTo>
                  <a:pt x="347015" y="162245"/>
                </a:lnTo>
                <a:lnTo>
                  <a:pt x="378562" y="164737"/>
                </a:lnTo>
                <a:lnTo>
                  <a:pt x="410108" y="167255"/>
                </a:lnTo>
                <a:lnTo>
                  <a:pt x="441655" y="169800"/>
                </a:lnTo>
                <a:lnTo>
                  <a:pt x="473202" y="172377"/>
                </a:lnTo>
                <a:lnTo>
                  <a:pt x="504749" y="174988"/>
                </a:lnTo>
                <a:lnTo>
                  <a:pt x="536296" y="177637"/>
                </a:lnTo>
                <a:lnTo>
                  <a:pt x="567842" y="180327"/>
                </a:lnTo>
                <a:lnTo>
                  <a:pt x="599389" y="183061"/>
                </a:lnTo>
                <a:lnTo>
                  <a:pt x="630936" y="185845"/>
                </a:lnTo>
                <a:lnTo>
                  <a:pt x="662483" y="188682"/>
                </a:lnTo>
                <a:lnTo>
                  <a:pt x="694030" y="191577"/>
                </a:lnTo>
                <a:lnTo>
                  <a:pt x="725576" y="194537"/>
                </a:lnTo>
                <a:lnTo>
                  <a:pt x="757123" y="197566"/>
                </a:lnTo>
                <a:lnTo>
                  <a:pt x="788670" y="200672"/>
                </a:lnTo>
                <a:lnTo>
                  <a:pt x="820217" y="203862"/>
                </a:lnTo>
                <a:lnTo>
                  <a:pt x="851764" y="207145"/>
                </a:lnTo>
                <a:lnTo>
                  <a:pt x="883310" y="210529"/>
                </a:lnTo>
                <a:lnTo>
                  <a:pt x="914857" y="214025"/>
                </a:lnTo>
                <a:lnTo>
                  <a:pt x="946404" y="217646"/>
                </a:lnTo>
                <a:lnTo>
                  <a:pt x="977951" y="221405"/>
                </a:lnTo>
                <a:lnTo>
                  <a:pt x="1009498" y="225319"/>
                </a:lnTo>
                <a:lnTo>
                  <a:pt x="1041044" y="229407"/>
                </a:lnTo>
                <a:lnTo>
                  <a:pt x="1072591" y="233690"/>
                </a:lnTo>
                <a:lnTo>
                  <a:pt x="1104138" y="238196"/>
                </a:lnTo>
                <a:lnTo>
                  <a:pt x="1135685" y="242957"/>
                </a:lnTo>
                <a:lnTo>
                  <a:pt x="1167232" y="248011"/>
                </a:lnTo>
                <a:lnTo>
                  <a:pt x="1198778" y="253408"/>
                </a:lnTo>
                <a:lnTo>
                  <a:pt x="1230325" y="259209"/>
                </a:lnTo>
                <a:lnTo>
                  <a:pt x="1261872" y="265491"/>
                </a:lnTo>
                <a:lnTo>
                  <a:pt x="1293419" y="272359"/>
                </a:lnTo>
                <a:lnTo>
                  <a:pt x="1324966" y="279953"/>
                </a:lnTo>
                <a:lnTo>
                  <a:pt x="1356512" y="288470"/>
                </a:lnTo>
                <a:lnTo>
                  <a:pt x="1388059" y="298196"/>
                </a:lnTo>
                <a:lnTo>
                  <a:pt x="1419606" y="309577"/>
                </a:lnTo>
                <a:lnTo>
                  <a:pt x="1451153" y="323361"/>
                </a:lnTo>
                <a:lnTo>
                  <a:pt x="1482700" y="340945"/>
                </a:lnTo>
                <a:lnTo>
                  <a:pt x="1485854" y="343006"/>
                </a:lnTo>
                <a:lnTo>
                  <a:pt x="1489009" y="345137"/>
                </a:lnTo>
                <a:lnTo>
                  <a:pt x="1492164" y="347344"/>
                </a:lnTo>
                <a:lnTo>
                  <a:pt x="1495318" y="349631"/>
                </a:lnTo>
                <a:lnTo>
                  <a:pt x="1498473" y="352006"/>
                </a:lnTo>
                <a:lnTo>
                  <a:pt x="1501628" y="354475"/>
                </a:lnTo>
                <a:lnTo>
                  <a:pt x="1504782" y="357046"/>
                </a:lnTo>
                <a:lnTo>
                  <a:pt x="1507937" y="359729"/>
                </a:lnTo>
                <a:lnTo>
                  <a:pt x="1511092" y="362534"/>
                </a:lnTo>
                <a:lnTo>
                  <a:pt x="1514246" y="365473"/>
                </a:lnTo>
                <a:lnTo>
                  <a:pt x="1517401" y="368560"/>
                </a:lnTo>
                <a:lnTo>
                  <a:pt x="1520556" y="371810"/>
                </a:lnTo>
                <a:lnTo>
                  <a:pt x="1523710" y="375242"/>
                </a:lnTo>
                <a:lnTo>
                  <a:pt x="1526865" y="378879"/>
                </a:lnTo>
                <a:lnTo>
                  <a:pt x="1530020" y="382747"/>
                </a:lnTo>
                <a:lnTo>
                  <a:pt x="1533174" y="386877"/>
                </a:lnTo>
                <a:lnTo>
                  <a:pt x="1536329" y="391309"/>
                </a:lnTo>
                <a:lnTo>
                  <a:pt x="1539484" y="396092"/>
                </a:lnTo>
                <a:lnTo>
                  <a:pt x="1542639" y="401285"/>
                </a:lnTo>
                <a:lnTo>
                  <a:pt x="1545793" y="406968"/>
                </a:lnTo>
                <a:lnTo>
                  <a:pt x="1548948" y="413244"/>
                </a:lnTo>
                <a:lnTo>
                  <a:pt x="1552103" y="420253"/>
                </a:lnTo>
                <a:lnTo>
                  <a:pt x="1555257" y="428191"/>
                </a:lnTo>
                <a:lnTo>
                  <a:pt x="1558412" y="437345"/>
                </a:lnTo>
                <a:lnTo>
                  <a:pt x="1561567" y="448161"/>
                </a:lnTo>
                <a:lnTo>
                  <a:pt x="1564721" y="461386"/>
                </a:lnTo>
                <a:lnTo>
                  <a:pt x="1567876" y="478419"/>
                </a:lnTo>
                <a:lnTo>
                  <a:pt x="1571031" y="502401"/>
                </a:lnTo>
                <a:lnTo>
                  <a:pt x="1574185" y="543356"/>
                </a:lnTo>
                <a:lnTo>
                  <a:pt x="1577340" y="950976"/>
                </a:lnTo>
                <a:lnTo>
                  <a:pt x="1580495" y="1358478"/>
                </a:lnTo>
                <a:lnTo>
                  <a:pt x="1583649" y="1399315"/>
                </a:lnTo>
                <a:lnTo>
                  <a:pt x="1586804" y="1423179"/>
                </a:lnTo>
                <a:lnTo>
                  <a:pt x="1589959" y="1440094"/>
                </a:lnTo>
                <a:lnTo>
                  <a:pt x="1593113" y="1453201"/>
                </a:lnTo>
                <a:lnTo>
                  <a:pt x="1596268" y="1463899"/>
                </a:lnTo>
                <a:lnTo>
                  <a:pt x="1599423" y="1472935"/>
                </a:lnTo>
                <a:lnTo>
                  <a:pt x="1602577" y="1480755"/>
                </a:lnTo>
                <a:lnTo>
                  <a:pt x="1605732" y="1487646"/>
                </a:lnTo>
                <a:lnTo>
                  <a:pt x="1608887" y="1493804"/>
                </a:lnTo>
                <a:lnTo>
                  <a:pt x="1612041" y="1499369"/>
                </a:lnTo>
                <a:lnTo>
                  <a:pt x="1615196" y="1504444"/>
                </a:lnTo>
                <a:lnTo>
                  <a:pt x="1618351" y="1509108"/>
                </a:lnTo>
                <a:lnTo>
                  <a:pt x="1621506" y="1513423"/>
                </a:lnTo>
                <a:lnTo>
                  <a:pt x="1624660" y="1517435"/>
                </a:lnTo>
                <a:lnTo>
                  <a:pt x="1627815" y="1521185"/>
                </a:lnTo>
                <a:lnTo>
                  <a:pt x="1630970" y="1524704"/>
                </a:lnTo>
                <a:lnTo>
                  <a:pt x="1634124" y="1528018"/>
                </a:lnTo>
                <a:lnTo>
                  <a:pt x="1637279" y="1531150"/>
                </a:lnTo>
                <a:lnTo>
                  <a:pt x="1640434" y="1534119"/>
                </a:lnTo>
                <a:lnTo>
                  <a:pt x="1643588" y="1536939"/>
                </a:lnTo>
                <a:lnTo>
                  <a:pt x="1646743" y="1539626"/>
                </a:lnTo>
                <a:lnTo>
                  <a:pt x="1649898" y="1542191"/>
                </a:lnTo>
                <a:lnTo>
                  <a:pt x="1653052" y="1544645"/>
                </a:lnTo>
                <a:lnTo>
                  <a:pt x="1656207" y="1546996"/>
                </a:lnTo>
                <a:lnTo>
                  <a:pt x="1659362" y="1549252"/>
                </a:lnTo>
                <a:lnTo>
                  <a:pt x="1662516" y="1551421"/>
                </a:lnTo>
                <a:lnTo>
                  <a:pt x="1665671" y="1553510"/>
                </a:lnTo>
                <a:lnTo>
                  <a:pt x="1668826" y="1555523"/>
                </a:lnTo>
                <a:lnTo>
                  <a:pt x="1671980" y="1557466"/>
                </a:lnTo>
                <a:lnTo>
                  <a:pt x="1675135" y="1559343"/>
                </a:lnTo>
                <a:lnTo>
                  <a:pt x="1678290" y="1561159"/>
                </a:lnTo>
                <a:lnTo>
                  <a:pt x="1681444" y="1562917"/>
                </a:lnTo>
                <a:lnTo>
                  <a:pt x="1684599" y="1564622"/>
                </a:lnTo>
                <a:lnTo>
                  <a:pt x="1687754" y="1566275"/>
                </a:lnTo>
                <a:lnTo>
                  <a:pt x="1690908" y="1567880"/>
                </a:lnTo>
                <a:lnTo>
                  <a:pt x="1694063" y="1569440"/>
                </a:lnTo>
                <a:lnTo>
                  <a:pt x="1697218" y="1570956"/>
                </a:lnTo>
                <a:lnTo>
                  <a:pt x="1700373" y="1572432"/>
                </a:lnTo>
                <a:lnTo>
                  <a:pt x="1703527" y="1573869"/>
                </a:lnTo>
                <a:lnTo>
                  <a:pt x="1735074" y="1586470"/>
                </a:lnTo>
                <a:lnTo>
                  <a:pt x="1766621" y="1596668"/>
                </a:lnTo>
                <a:lnTo>
                  <a:pt x="1798168" y="1605209"/>
                </a:lnTo>
                <a:lnTo>
                  <a:pt x="1829714" y="1612538"/>
                </a:lnTo>
                <a:lnTo>
                  <a:pt x="1861261" y="1618944"/>
                </a:lnTo>
                <a:lnTo>
                  <a:pt x="1892808" y="1624621"/>
                </a:lnTo>
                <a:lnTo>
                  <a:pt x="1924355" y="1629711"/>
                </a:lnTo>
                <a:lnTo>
                  <a:pt x="1955902" y="1634315"/>
                </a:lnTo>
                <a:lnTo>
                  <a:pt x="1987448" y="1638513"/>
                </a:lnTo>
                <a:lnTo>
                  <a:pt x="2018995" y="1642366"/>
                </a:lnTo>
                <a:lnTo>
                  <a:pt x="2050542" y="1645921"/>
                </a:lnTo>
                <a:lnTo>
                  <a:pt x="2082089" y="1649218"/>
                </a:lnTo>
                <a:lnTo>
                  <a:pt x="2113636" y="1652289"/>
                </a:lnTo>
                <a:lnTo>
                  <a:pt x="2145182" y="1655159"/>
                </a:lnTo>
                <a:lnTo>
                  <a:pt x="2176729" y="1657851"/>
                </a:lnTo>
                <a:lnTo>
                  <a:pt x="2208276" y="1660384"/>
                </a:lnTo>
                <a:lnTo>
                  <a:pt x="2239823" y="1662773"/>
                </a:lnTo>
                <a:lnTo>
                  <a:pt x="2271370" y="1665032"/>
                </a:lnTo>
                <a:lnTo>
                  <a:pt x="2302916" y="1667173"/>
                </a:lnTo>
                <a:lnTo>
                  <a:pt x="2334463" y="1669206"/>
                </a:lnTo>
                <a:lnTo>
                  <a:pt x="2366010" y="1671141"/>
                </a:lnTo>
                <a:lnTo>
                  <a:pt x="2397557" y="1672985"/>
                </a:lnTo>
                <a:lnTo>
                  <a:pt x="2429104" y="1674745"/>
                </a:lnTo>
                <a:lnTo>
                  <a:pt x="2460650" y="1676428"/>
                </a:lnTo>
                <a:lnTo>
                  <a:pt x="2492197" y="1678039"/>
                </a:lnTo>
                <a:lnTo>
                  <a:pt x="2523744" y="1679584"/>
                </a:lnTo>
                <a:lnTo>
                  <a:pt x="2555291" y="1681066"/>
                </a:lnTo>
                <a:lnTo>
                  <a:pt x="2586838" y="1682491"/>
                </a:lnTo>
                <a:lnTo>
                  <a:pt x="2618384" y="1683861"/>
                </a:lnTo>
                <a:lnTo>
                  <a:pt x="2649931" y="1685180"/>
                </a:lnTo>
                <a:lnTo>
                  <a:pt x="2681478" y="1686452"/>
                </a:lnTo>
                <a:lnTo>
                  <a:pt x="2713025" y="1687679"/>
                </a:lnTo>
                <a:lnTo>
                  <a:pt x="2744572" y="1688863"/>
                </a:lnTo>
                <a:lnTo>
                  <a:pt x="2776118" y="1690007"/>
                </a:lnTo>
                <a:lnTo>
                  <a:pt x="2807665" y="1691114"/>
                </a:lnTo>
                <a:lnTo>
                  <a:pt x="2839212" y="1692185"/>
                </a:lnTo>
                <a:lnTo>
                  <a:pt x="2870759" y="1693222"/>
                </a:lnTo>
                <a:lnTo>
                  <a:pt x="2902306" y="1694226"/>
                </a:lnTo>
                <a:lnTo>
                  <a:pt x="2933852" y="1695201"/>
                </a:lnTo>
                <a:lnTo>
                  <a:pt x="2965399" y="1696146"/>
                </a:lnTo>
                <a:lnTo>
                  <a:pt x="2996946" y="1697063"/>
                </a:lnTo>
                <a:lnTo>
                  <a:pt x="3028493" y="1697955"/>
                </a:lnTo>
                <a:lnTo>
                  <a:pt x="3060040" y="1698821"/>
                </a:lnTo>
                <a:lnTo>
                  <a:pt x="3091586" y="1699663"/>
                </a:lnTo>
                <a:lnTo>
                  <a:pt x="3123133" y="1700482"/>
                </a:lnTo>
                <a:lnTo>
                  <a:pt x="3154680" y="1701280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46720" y="4343400"/>
            <a:ext cx="3611880" cy="1737360"/>
          </a:xfrm>
          <a:prstGeom prst="roundRect">
            <a:avLst>
              <a:gd name="adj" fmla="val 631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183880" y="4434840"/>
            <a:ext cx="333756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IF THE PH FALLS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Acid is being added to a base. The start shows the base (~13 strong, ~11 weak); the end shows the acid.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B · TRY FIRST, ANSWERS ON THE NEXT SLIDE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92808"/>
            <a:ext cx="52120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Base is added to an acid. The curve starts at pH 2.9 and ends at pH 12.5. Which pair is it?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 Strong acid + strong base   B  Strong acid + weak base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 Weak acid + strong base   D  Weak acid + weak base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0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892808"/>
            <a:ext cx="52120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What does the vertical section of a pH curve show?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 A very small volume of base causes a large change in pH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  Adding base has very little effect on pH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 The solution is exactly pH 7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10996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0690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407408"/>
            <a:ext cx="1083564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3. For weak acid + strong base, the equivalence point is at about…   A  pH 7.0   B  pH 8.7   C  pH 5.3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B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B: answers and why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52120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 C: weak acid + strong base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Starting ~3 means a weak acid (a strong acid starts ~1). Ending ~13 means a strong base (a weak base ends ~9).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527048"/>
            <a:ext cx="52120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 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Near equivalence a drop or two of base changes the pH enormously. B describes the flat parts. The equivalence point isn't always pH 7.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10996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041648"/>
            <a:ext cx="10835640" cy="1965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 B: about pH 8.7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Only strong acid + strong base reaches equivalence at pH 7. With a weak acid + strong base the salt formed is slightly alkaline, so equivalence is above 7.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6355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Section C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C · FROM THE CLASS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Indicators: two key terms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521208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Equivalence point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Exactly enough acid has been added to neutralise the base (or vice versa). Mid-point of the vertical section.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486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80360"/>
            <a:ext cx="52120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End point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exact volume needed to make an indicator change colour.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5486400" cy="2011680"/>
          </a:xfrm>
          <a:prstGeom prst="roundRect">
            <a:avLst>
              <a:gd name="adj" fmla="val 545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160520"/>
            <a:ext cx="52120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CHOOSE AN INDICATOR SO THEY HAPPEN TOGETHER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"Neutral" here means exactly neutralised, which isn't always pH 7. A suitable indicator changes colour somewhere on the vertical section.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0080"/>
                <a:gridCol w="169164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Indicator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pKa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Colour change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≈ pH range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Methyl orange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3.7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red → yellow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3.1–4.4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Bromophenol blue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4.0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yellow → blue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3.0–4.6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Methyl red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5.1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red → yellow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4.4–6.2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Bromothymol blue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7.0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yellow → blue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6.0–7.6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Phenolphthalein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9.3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colourless → red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8.3–10.0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263640" y="3977640"/>
            <a:ext cx="53949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pKa and colours from the notes; ranges approximate (read from the notes' chart).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C · FROM THE CLASS NOTES (p28–29)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indicator? The four verdicts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36245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Strong acid – strong base: BOTH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319272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32278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3099816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00837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2880360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788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660904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56946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2441448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3500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2221992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13055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2002536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191109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1783080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169164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728216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724912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721608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18304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71500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350215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base added / cm³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" y="2836469"/>
            <a:ext cx="4983480" cy="142646"/>
          </a:xfrm>
          <a:prstGeom prst="rect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34840" y="2827325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chemeClr val="tx1"/>
                </a:solidFill>
              </a:rPr>
              <a:t>methyl orange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4400" y="2221992"/>
            <a:ext cx="4983480" cy="186538"/>
          </a:xfrm>
          <a:prstGeom prst="rect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34840" y="22128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chemeClr val="tx1"/>
                </a:solidFill>
              </a:rPr>
              <a:t>phenolphthalein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14400" y="2551176"/>
            <a:ext cx="49834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406140" y="1783080"/>
            <a:ext cx="0" cy="1536192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1783080"/>
            <a:ext cx="4983480" cy="1536192"/>
          </a:xfrm>
          <a:custGeom>
            <a:avLst/>
            <a:gdLst/>
            <a:ahLst/>
            <a:cxnLst/>
            <a:rect l="l" t="t" r="r" b="b"/>
            <a:pathLst>
              <a:path w="4983480" h="1536192">
                <a:moveTo>
                  <a:pt x="0" y="1426464"/>
                </a:moveTo>
                <a:lnTo>
                  <a:pt x="49835" y="1424558"/>
                </a:lnTo>
                <a:lnTo>
                  <a:pt x="99670" y="1422650"/>
                </a:lnTo>
                <a:lnTo>
                  <a:pt x="149504" y="1420739"/>
                </a:lnTo>
                <a:lnTo>
                  <a:pt x="199339" y="1418823"/>
                </a:lnTo>
                <a:lnTo>
                  <a:pt x="249174" y="1416901"/>
                </a:lnTo>
                <a:lnTo>
                  <a:pt x="299009" y="1414972"/>
                </a:lnTo>
                <a:lnTo>
                  <a:pt x="348844" y="1413033"/>
                </a:lnTo>
                <a:lnTo>
                  <a:pt x="398678" y="1411082"/>
                </a:lnTo>
                <a:lnTo>
                  <a:pt x="448513" y="1409119"/>
                </a:lnTo>
                <a:lnTo>
                  <a:pt x="498348" y="1407142"/>
                </a:lnTo>
                <a:lnTo>
                  <a:pt x="548183" y="1405148"/>
                </a:lnTo>
                <a:lnTo>
                  <a:pt x="598018" y="1403135"/>
                </a:lnTo>
                <a:lnTo>
                  <a:pt x="647852" y="1401102"/>
                </a:lnTo>
                <a:lnTo>
                  <a:pt x="697687" y="1399045"/>
                </a:lnTo>
                <a:lnTo>
                  <a:pt x="747522" y="1396964"/>
                </a:lnTo>
                <a:lnTo>
                  <a:pt x="797357" y="1394855"/>
                </a:lnTo>
                <a:lnTo>
                  <a:pt x="847192" y="1392716"/>
                </a:lnTo>
                <a:lnTo>
                  <a:pt x="897026" y="1390544"/>
                </a:lnTo>
                <a:lnTo>
                  <a:pt x="946861" y="1388335"/>
                </a:lnTo>
                <a:lnTo>
                  <a:pt x="996696" y="1386087"/>
                </a:lnTo>
                <a:lnTo>
                  <a:pt x="1046531" y="1383795"/>
                </a:lnTo>
                <a:lnTo>
                  <a:pt x="1096366" y="1381456"/>
                </a:lnTo>
                <a:lnTo>
                  <a:pt x="1146200" y="1379066"/>
                </a:lnTo>
                <a:lnTo>
                  <a:pt x="1196035" y="1376619"/>
                </a:lnTo>
                <a:lnTo>
                  <a:pt x="1245870" y="1374110"/>
                </a:lnTo>
                <a:lnTo>
                  <a:pt x="1295705" y="1371534"/>
                </a:lnTo>
                <a:lnTo>
                  <a:pt x="1345540" y="1368883"/>
                </a:lnTo>
                <a:lnTo>
                  <a:pt x="1395374" y="1366150"/>
                </a:lnTo>
                <a:lnTo>
                  <a:pt x="1445209" y="1363326"/>
                </a:lnTo>
                <a:lnTo>
                  <a:pt x="1495044" y="1360401"/>
                </a:lnTo>
                <a:lnTo>
                  <a:pt x="1544879" y="1357365"/>
                </a:lnTo>
                <a:lnTo>
                  <a:pt x="1594714" y="1354204"/>
                </a:lnTo>
                <a:lnTo>
                  <a:pt x="1644548" y="1350902"/>
                </a:lnTo>
                <a:lnTo>
                  <a:pt x="1694383" y="1347442"/>
                </a:lnTo>
                <a:lnTo>
                  <a:pt x="1744218" y="1343803"/>
                </a:lnTo>
                <a:lnTo>
                  <a:pt x="1794053" y="1339958"/>
                </a:lnTo>
                <a:lnTo>
                  <a:pt x="1843888" y="1335875"/>
                </a:lnTo>
                <a:lnTo>
                  <a:pt x="1893722" y="1331516"/>
                </a:lnTo>
                <a:lnTo>
                  <a:pt x="1943557" y="1326831"/>
                </a:lnTo>
                <a:lnTo>
                  <a:pt x="1993392" y="1321757"/>
                </a:lnTo>
                <a:lnTo>
                  <a:pt x="2043227" y="1316209"/>
                </a:lnTo>
                <a:lnTo>
                  <a:pt x="2093062" y="1310076"/>
                </a:lnTo>
                <a:lnTo>
                  <a:pt x="2142896" y="1303197"/>
                </a:lnTo>
                <a:lnTo>
                  <a:pt x="2192731" y="1295342"/>
                </a:lnTo>
                <a:lnTo>
                  <a:pt x="2242566" y="1286149"/>
                </a:lnTo>
                <a:lnTo>
                  <a:pt x="2292401" y="1275016"/>
                </a:lnTo>
                <a:lnTo>
                  <a:pt x="2342236" y="1260813"/>
                </a:lnTo>
                <a:lnTo>
                  <a:pt x="2347219" y="1259148"/>
                </a:lnTo>
                <a:lnTo>
                  <a:pt x="2352203" y="1257427"/>
                </a:lnTo>
                <a:lnTo>
                  <a:pt x="2357186" y="1255645"/>
                </a:lnTo>
                <a:lnTo>
                  <a:pt x="2362170" y="1253798"/>
                </a:lnTo>
                <a:lnTo>
                  <a:pt x="2367153" y="1251880"/>
                </a:lnTo>
                <a:lnTo>
                  <a:pt x="2372136" y="1249885"/>
                </a:lnTo>
                <a:lnTo>
                  <a:pt x="2377120" y="1247809"/>
                </a:lnTo>
                <a:lnTo>
                  <a:pt x="2382103" y="1245641"/>
                </a:lnTo>
                <a:lnTo>
                  <a:pt x="2387087" y="1243376"/>
                </a:lnTo>
                <a:lnTo>
                  <a:pt x="2392070" y="1241002"/>
                </a:lnTo>
                <a:lnTo>
                  <a:pt x="2397054" y="1238509"/>
                </a:lnTo>
                <a:lnTo>
                  <a:pt x="2402037" y="1235884"/>
                </a:lnTo>
                <a:lnTo>
                  <a:pt x="2407021" y="1233112"/>
                </a:lnTo>
                <a:lnTo>
                  <a:pt x="2412004" y="1230174"/>
                </a:lnTo>
                <a:lnTo>
                  <a:pt x="2416988" y="1227050"/>
                </a:lnTo>
                <a:lnTo>
                  <a:pt x="2421971" y="1223714"/>
                </a:lnTo>
                <a:lnTo>
                  <a:pt x="2426955" y="1220134"/>
                </a:lnTo>
                <a:lnTo>
                  <a:pt x="2431938" y="1216272"/>
                </a:lnTo>
                <a:lnTo>
                  <a:pt x="2436922" y="1212077"/>
                </a:lnTo>
                <a:lnTo>
                  <a:pt x="2441905" y="1207487"/>
                </a:lnTo>
                <a:lnTo>
                  <a:pt x="2446889" y="1202418"/>
                </a:lnTo>
                <a:lnTo>
                  <a:pt x="2451872" y="1196757"/>
                </a:lnTo>
                <a:lnTo>
                  <a:pt x="2456856" y="1190346"/>
                </a:lnTo>
                <a:lnTo>
                  <a:pt x="2461839" y="1182952"/>
                </a:lnTo>
                <a:lnTo>
                  <a:pt x="2466823" y="1174215"/>
                </a:lnTo>
                <a:lnTo>
                  <a:pt x="2471806" y="1163534"/>
                </a:lnTo>
                <a:lnTo>
                  <a:pt x="2476790" y="1149777"/>
                </a:lnTo>
                <a:lnTo>
                  <a:pt x="2481773" y="1130407"/>
                </a:lnTo>
                <a:lnTo>
                  <a:pt x="2486757" y="1097328"/>
                </a:lnTo>
                <a:lnTo>
                  <a:pt x="2491740" y="768096"/>
                </a:lnTo>
                <a:lnTo>
                  <a:pt x="2496723" y="438960"/>
                </a:lnTo>
                <a:lnTo>
                  <a:pt x="2501707" y="405976"/>
                </a:lnTo>
                <a:lnTo>
                  <a:pt x="2506690" y="386701"/>
                </a:lnTo>
                <a:lnTo>
                  <a:pt x="2511674" y="373039"/>
                </a:lnTo>
                <a:lnTo>
                  <a:pt x="2516657" y="362453"/>
                </a:lnTo>
                <a:lnTo>
                  <a:pt x="2521641" y="353812"/>
                </a:lnTo>
                <a:lnTo>
                  <a:pt x="2526624" y="346513"/>
                </a:lnTo>
                <a:lnTo>
                  <a:pt x="2531608" y="340197"/>
                </a:lnTo>
                <a:lnTo>
                  <a:pt x="2536591" y="334632"/>
                </a:lnTo>
                <a:lnTo>
                  <a:pt x="2541575" y="329658"/>
                </a:lnTo>
                <a:lnTo>
                  <a:pt x="2546558" y="325163"/>
                </a:lnTo>
                <a:lnTo>
                  <a:pt x="2551542" y="321064"/>
                </a:lnTo>
                <a:lnTo>
                  <a:pt x="2556525" y="317297"/>
                </a:lnTo>
                <a:lnTo>
                  <a:pt x="2561509" y="313812"/>
                </a:lnTo>
                <a:lnTo>
                  <a:pt x="2566492" y="310571"/>
                </a:lnTo>
                <a:lnTo>
                  <a:pt x="2571476" y="307543"/>
                </a:lnTo>
                <a:lnTo>
                  <a:pt x="2576459" y="304701"/>
                </a:lnTo>
                <a:lnTo>
                  <a:pt x="2581443" y="302024"/>
                </a:lnTo>
                <a:lnTo>
                  <a:pt x="2586426" y="299494"/>
                </a:lnTo>
                <a:lnTo>
                  <a:pt x="2591410" y="297096"/>
                </a:lnTo>
                <a:lnTo>
                  <a:pt x="2596393" y="294818"/>
                </a:lnTo>
                <a:lnTo>
                  <a:pt x="2601377" y="292648"/>
                </a:lnTo>
                <a:lnTo>
                  <a:pt x="2606360" y="290576"/>
                </a:lnTo>
                <a:lnTo>
                  <a:pt x="2611344" y="288594"/>
                </a:lnTo>
                <a:lnTo>
                  <a:pt x="2616327" y="286696"/>
                </a:lnTo>
                <a:lnTo>
                  <a:pt x="2621310" y="284873"/>
                </a:lnTo>
                <a:lnTo>
                  <a:pt x="2626294" y="283121"/>
                </a:lnTo>
                <a:lnTo>
                  <a:pt x="2631277" y="281434"/>
                </a:lnTo>
                <a:lnTo>
                  <a:pt x="2636261" y="279808"/>
                </a:lnTo>
                <a:lnTo>
                  <a:pt x="2641244" y="278239"/>
                </a:lnTo>
                <a:lnTo>
                  <a:pt x="2646228" y="276723"/>
                </a:lnTo>
                <a:lnTo>
                  <a:pt x="2651211" y="275256"/>
                </a:lnTo>
                <a:lnTo>
                  <a:pt x="2656195" y="273836"/>
                </a:lnTo>
                <a:lnTo>
                  <a:pt x="2661178" y="272459"/>
                </a:lnTo>
                <a:lnTo>
                  <a:pt x="2666162" y="271124"/>
                </a:lnTo>
                <a:lnTo>
                  <a:pt x="2671145" y="269827"/>
                </a:lnTo>
                <a:lnTo>
                  <a:pt x="2676129" y="268568"/>
                </a:lnTo>
                <a:lnTo>
                  <a:pt x="2681112" y="267343"/>
                </a:lnTo>
                <a:lnTo>
                  <a:pt x="2686096" y="266151"/>
                </a:lnTo>
                <a:lnTo>
                  <a:pt x="2691079" y="264990"/>
                </a:lnTo>
                <a:lnTo>
                  <a:pt x="2740914" y="254812"/>
                </a:lnTo>
                <a:lnTo>
                  <a:pt x="2790749" y="246576"/>
                </a:lnTo>
                <a:lnTo>
                  <a:pt x="2840584" y="239677"/>
                </a:lnTo>
                <a:lnTo>
                  <a:pt x="2890418" y="233757"/>
                </a:lnTo>
                <a:lnTo>
                  <a:pt x="2940253" y="228584"/>
                </a:lnTo>
                <a:lnTo>
                  <a:pt x="2990088" y="223998"/>
                </a:lnTo>
                <a:lnTo>
                  <a:pt x="3039923" y="219887"/>
                </a:lnTo>
                <a:lnTo>
                  <a:pt x="3089758" y="216168"/>
                </a:lnTo>
                <a:lnTo>
                  <a:pt x="3139592" y="212777"/>
                </a:lnTo>
                <a:lnTo>
                  <a:pt x="3189427" y="209666"/>
                </a:lnTo>
                <a:lnTo>
                  <a:pt x="3239262" y="206794"/>
                </a:lnTo>
                <a:lnTo>
                  <a:pt x="3289097" y="204131"/>
                </a:lnTo>
                <a:lnTo>
                  <a:pt x="3338932" y="201651"/>
                </a:lnTo>
                <a:lnTo>
                  <a:pt x="3388766" y="199333"/>
                </a:lnTo>
                <a:lnTo>
                  <a:pt x="3438601" y="197159"/>
                </a:lnTo>
                <a:lnTo>
                  <a:pt x="3488436" y="195113"/>
                </a:lnTo>
                <a:lnTo>
                  <a:pt x="3538271" y="193183"/>
                </a:lnTo>
                <a:lnTo>
                  <a:pt x="3588106" y="191359"/>
                </a:lnTo>
                <a:lnTo>
                  <a:pt x="3637940" y="189629"/>
                </a:lnTo>
                <a:lnTo>
                  <a:pt x="3687775" y="187987"/>
                </a:lnTo>
                <a:lnTo>
                  <a:pt x="3737610" y="186425"/>
                </a:lnTo>
                <a:lnTo>
                  <a:pt x="3787445" y="184935"/>
                </a:lnTo>
                <a:lnTo>
                  <a:pt x="3837280" y="183513"/>
                </a:lnTo>
                <a:lnTo>
                  <a:pt x="3887114" y="182154"/>
                </a:lnTo>
                <a:lnTo>
                  <a:pt x="3936949" y="180853"/>
                </a:lnTo>
                <a:lnTo>
                  <a:pt x="3986784" y="179605"/>
                </a:lnTo>
                <a:lnTo>
                  <a:pt x="4036619" y="178408"/>
                </a:lnTo>
                <a:lnTo>
                  <a:pt x="4086454" y="177257"/>
                </a:lnTo>
                <a:lnTo>
                  <a:pt x="4136288" y="176150"/>
                </a:lnTo>
                <a:lnTo>
                  <a:pt x="4186123" y="175085"/>
                </a:lnTo>
                <a:lnTo>
                  <a:pt x="4235958" y="174058"/>
                </a:lnTo>
                <a:lnTo>
                  <a:pt x="4285793" y="173067"/>
                </a:lnTo>
                <a:lnTo>
                  <a:pt x="4335628" y="172110"/>
                </a:lnTo>
                <a:lnTo>
                  <a:pt x="4385462" y="171186"/>
                </a:lnTo>
                <a:lnTo>
                  <a:pt x="4435297" y="170292"/>
                </a:lnTo>
                <a:lnTo>
                  <a:pt x="4485132" y="169427"/>
                </a:lnTo>
                <a:lnTo>
                  <a:pt x="4534967" y="168590"/>
                </a:lnTo>
                <a:lnTo>
                  <a:pt x="4584802" y="167778"/>
                </a:lnTo>
                <a:lnTo>
                  <a:pt x="4634636" y="166991"/>
                </a:lnTo>
                <a:lnTo>
                  <a:pt x="4684471" y="166228"/>
                </a:lnTo>
                <a:lnTo>
                  <a:pt x="4734306" y="165487"/>
                </a:lnTo>
                <a:lnTo>
                  <a:pt x="4784141" y="164767"/>
                </a:lnTo>
                <a:lnTo>
                  <a:pt x="4833976" y="164067"/>
                </a:lnTo>
                <a:lnTo>
                  <a:pt x="4883810" y="163387"/>
                </a:lnTo>
                <a:lnTo>
                  <a:pt x="4933645" y="162726"/>
                </a:lnTo>
                <a:lnTo>
                  <a:pt x="4983480" y="162082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16916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37960" y="136245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Weak acid – strong base: phenolphthalein only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37960" y="3319272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90488" y="32278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37960" y="3099816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90488" y="300837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37960" y="2880360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90488" y="2788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37960" y="2660904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90488" y="256946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37960" y="2441448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190488" y="23500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37960" y="2221992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190488" y="213055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537960" y="2002536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190488" y="191109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37960" y="1783080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190488" y="169164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635508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7351776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8348472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9345168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10341864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1133856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6537960" y="350215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base added / cm³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537960" y="2836469"/>
            <a:ext cx="4983480" cy="142646"/>
          </a:xfrm>
          <a:prstGeom prst="rect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058400" y="2827325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chemeClr val="tx1"/>
                </a:solidFill>
              </a:rPr>
              <a:t>methyl orange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537960" y="2221992"/>
            <a:ext cx="4983480" cy="186538"/>
          </a:xfrm>
          <a:prstGeom prst="rect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058400" y="22128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chemeClr val="tx1"/>
                </a:solidFill>
              </a:rPr>
              <a:t>phenolphthalein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537960" y="2551176"/>
            <a:ext cx="49834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9029700" y="1783080"/>
            <a:ext cx="0" cy="1536192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37960" y="1783080"/>
            <a:ext cx="4983480" cy="1536192"/>
          </a:xfrm>
          <a:custGeom>
            <a:avLst/>
            <a:gdLst/>
            <a:ahLst/>
            <a:cxnLst/>
            <a:rect l="l" t="t" r="r" b="b"/>
            <a:pathLst>
              <a:path w="4983480" h="1536192">
                <a:moveTo>
                  <a:pt x="0" y="1220162"/>
                </a:moveTo>
                <a:lnTo>
                  <a:pt x="49835" y="1186086"/>
                </a:lnTo>
                <a:lnTo>
                  <a:pt x="99670" y="1161222"/>
                </a:lnTo>
                <a:lnTo>
                  <a:pt x="149504" y="1143311"/>
                </a:lnTo>
                <a:lnTo>
                  <a:pt x="199339" y="1129521"/>
                </a:lnTo>
                <a:lnTo>
                  <a:pt x="249174" y="1118300"/>
                </a:lnTo>
                <a:lnTo>
                  <a:pt x="299009" y="1108799"/>
                </a:lnTo>
                <a:lnTo>
                  <a:pt x="348844" y="1100517"/>
                </a:lnTo>
                <a:lnTo>
                  <a:pt x="398678" y="1093137"/>
                </a:lnTo>
                <a:lnTo>
                  <a:pt x="448513" y="1086449"/>
                </a:lnTo>
                <a:lnTo>
                  <a:pt x="498348" y="1080305"/>
                </a:lnTo>
                <a:lnTo>
                  <a:pt x="548183" y="1074596"/>
                </a:lnTo>
                <a:lnTo>
                  <a:pt x="598018" y="1069242"/>
                </a:lnTo>
                <a:lnTo>
                  <a:pt x="647852" y="1064181"/>
                </a:lnTo>
                <a:lnTo>
                  <a:pt x="697687" y="1059363"/>
                </a:lnTo>
                <a:lnTo>
                  <a:pt x="747522" y="1054748"/>
                </a:lnTo>
                <a:lnTo>
                  <a:pt x="797357" y="1050304"/>
                </a:lnTo>
                <a:lnTo>
                  <a:pt x="847192" y="1046003"/>
                </a:lnTo>
                <a:lnTo>
                  <a:pt x="897026" y="1041822"/>
                </a:lnTo>
                <a:lnTo>
                  <a:pt x="946861" y="1037741"/>
                </a:lnTo>
                <a:lnTo>
                  <a:pt x="996696" y="1033740"/>
                </a:lnTo>
                <a:lnTo>
                  <a:pt x="1046531" y="1029806"/>
                </a:lnTo>
                <a:lnTo>
                  <a:pt x="1096366" y="1025922"/>
                </a:lnTo>
                <a:lnTo>
                  <a:pt x="1146200" y="1022075"/>
                </a:lnTo>
                <a:lnTo>
                  <a:pt x="1196035" y="1018252"/>
                </a:lnTo>
                <a:lnTo>
                  <a:pt x="1245870" y="1014441"/>
                </a:lnTo>
                <a:lnTo>
                  <a:pt x="1295705" y="1010630"/>
                </a:lnTo>
                <a:lnTo>
                  <a:pt x="1345540" y="1006806"/>
                </a:lnTo>
                <a:lnTo>
                  <a:pt x="1395374" y="1002958"/>
                </a:lnTo>
                <a:lnTo>
                  <a:pt x="1445209" y="999071"/>
                </a:lnTo>
                <a:lnTo>
                  <a:pt x="1495044" y="995132"/>
                </a:lnTo>
                <a:lnTo>
                  <a:pt x="1544879" y="991127"/>
                </a:lnTo>
                <a:lnTo>
                  <a:pt x="1594714" y="987040"/>
                </a:lnTo>
                <a:lnTo>
                  <a:pt x="1644548" y="982851"/>
                </a:lnTo>
                <a:lnTo>
                  <a:pt x="1694383" y="978541"/>
                </a:lnTo>
                <a:lnTo>
                  <a:pt x="1744218" y="974085"/>
                </a:lnTo>
                <a:lnTo>
                  <a:pt x="1794053" y="969456"/>
                </a:lnTo>
                <a:lnTo>
                  <a:pt x="1843888" y="964620"/>
                </a:lnTo>
                <a:lnTo>
                  <a:pt x="1893722" y="959536"/>
                </a:lnTo>
                <a:lnTo>
                  <a:pt x="1943557" y="954153"/>
                </a:lnTo>
                <a:lnTo>
                  <a:pt x="1993392" y="948405"/>
                </a:lnTo>
                <a:lnTo>
                  <a:pt x="2043227" y="942209"/>
                </a:lnTo>
                <a:lnTo>
                  <a:pt x="2093062" y="935448"/>
                </a:lnTo>
                <a:lnTo>
                  <a:pt x="2142896" y="927964"/>
                </a:lnTo>
                <a:lnTo>
                  <a:pt x="2192731" y="919523"/>
                </a:lnTo>
                <a:lnTo>
                  <a:pt x="2242566" y="909765"/>
                </a:lnTo>
                <a:lnTo>
                  <a:pt x="2292401" y="898084"/>
                </a:lnTo>
                <a:lnTo>
                  <a:pt x="2342236" y="883351"/>
                </a:lnTo>
                <a:lnTo>
                  <a:pt x="2347219" y="881634"/>
                </a:lnTo>
                <a:lnTo>
                  <a:pt x="2352203" y="879861"/>
                </a:lnTo>
                <a:lnTo>
                  <a:pt x="2357186" y="878027"/>
                </a:lnTo>
                <a:lnTo>
                  <a:pt x="2362170" y="876128"/>
                </a:lnTo>
                <a:lnTo>
                  <a:pt x="2367153" y="874159"/>
                </a:lnTo>
                <a:lnTo>
                  <a:pt x="2372136" y="872113"/>
                </a:lnTo>
                <a:lnTo>
                  <a:pt x="2377120" y="869985"/>
                </a:lnTo>
                <a:lnTo>
                  <a:pt x="2382103" y="867767"/>
                </a:lnTo>
                <a:lnTo>
                  <a:pt x="2387087" y="865451"/>
                </a:lnTo>
                <a:lnTo>
                  <a:pt x="2392070" y="863026"/>
                </a:lnTo>
                <a:lnTo>
                  <a:pt x="2397054" y="860483"/>
                </a:lnTo>
                <a:lnTo>
                  <a:pt x="2402037" y="857807"/>
                </a:lnTo>
                <a:lnTo>
                  <a:pt x="2407021" y="854985"/>
                </a:lnTo>
                <a:lnTo>
                  <a:pt x="2412004" y="851997"/>
                </a:lnTo>
                <a:lnTo>
                  <a:pt x="2416988" y="848824"/>
                </a:lnTo>
                <a:lnTo>
                  <a:pt x="2421971" y="845438"/>
                </a:lnTo>
                <a:lnTo>
                  <a:pt x="2426955" y="841809"/>
                </a:lnTo>
                <a:lnTo>
                  <a:pt x="2431938" y="837897"/>
                </a:lnTo>
                <a:lnTo>
                  <a:pt x="2436922" y="833653"/>
                </a:lnTo>
                <a:lnTo>
                  <a:pt x="2441905" y="829014"/>
                </a:lnTo>
                <a:lnTo>
                  <a:pt x="2446889" y="823896"/>
                </a:lnTo>
                <a:lnTo>
                  <a:pt x="2451872" y="818187"/>
                </a:lnTo>
                <a:lnTo>
                  <a:pt x="2456856" y="811727"/>
                </a:lnTo>
                <a:lnTo>
                  <a:pt x="2461839" y="804286"/>
                </a:lnTo>
                <a:lnTo>
                  <a:pt x="2466823" y="795503"/>
                </a:lnTo>
                <a:lnTo>
                  <a:pt x="2471806" y="784776"/>
                </a:lnTo>
                <a:lnTo>
                  <a:pt x="2476790" y="770977"/>
                </a:lnTo>
                <a:lnTo>
                  <a:pt x="2481773" y="751578"/>
                </a:lnTo>
                <a:lnTo>
                  <a:pt x="2486757" y="718552"/>
                </a:lnTo>
                <a:lnTo>
                  <a:pt x="2491740" y="578620"/>
                </a:lnTo>
                <a:lnTo>
                  <a:pt x="2496723" y="438825"/>
                </a:lnTo>
                <a:lnTo>
                  <a:pt x="2501707" y="405942"/>
                </a:lnTo>
                <a:lnTo>
                  <a:pt x="2506690" y="386686"/>
                </a:lnTo>
                <a:lnTo>
                  <a:pt x="2511674" y="373031"/>
                </a:lnTo>
                <a:lnTo>
                  <a:pt x="2516657" y="362448"/>
                </a:lnTo>
                <a:lnTo>
                  <a:pt x="2521641" y="353808"/>
                </a:lnTo>
                <a:lnTo>
                  <a:pt x="2526624" y="346511"/>
                </a:lnTo>
                <a:lnTo>
                  <a:pt x="2531608" y="340195"/>
                </a:lnTo>
                <a:lnTo>
                  <a:pt x="2536591" y="334630"/>
                </a:lnTo>
                <a:lnTo>
                  <a:pt x="2541575" y="329657"/>
                </a:lnTo>
                <a:lnTo>
                  <a:pt x="2546558" y="325162"/>
                </a:lnTo>
                <a:lnTo>
                  <a:pt x="2551542" y="321063"/>
                </a:lnTo>
                <a:lnTo>
                  <a:pt x="2556525" y="317296"/>
                </a:lnTo>
                <a:lnTo>
                  <a:pt x="2561509" y="313811"/>
                </a:lnTo>
                <a:lnTo>
                  <a:pt x="2566492" y="310571"/>
                </a:lnTo>
                <a:lnTo>
                  <a:pt x="2571476" y="307542"/>
                </a:lnTo>
                <a:lnTo>
                  <a:pt x="2576459" y="304700"/>
                </a:lnTo>
                <a:lnTo>
                  <a:pt x="2581443" y="302023"/>
                </a:lnTo>
                <a:lnTo>
                  <a:pt x="2586426" y="299493"/>
                </a:lnTo>
                <a:lnTo>
                  <a:pt x="2591410" y="297096"/>
                </a:lnTo>
                <a:lnTo>
                  <a:pt x="2596393" y="294818"/>
                </a:lnTo>
                <a:lnTo>
                  <a:pt x="2601377" y="292647"/>
                </a:lnTo>
                <a:lnTo>
                  <a:pt x="2606360" y="290576"/>
                </a:lnTo>
                <a:lnTo>
                  <a:pt x="2611344" y="288594"/>
                </a:lnTo>
                <a:lnTo>
                  <a:pt x="2616327" y="286695"/>
                </a:lnTo>
                <a:lnTo>
                  <a:pt x="2621310" y="284873"/>
                </a:lnTo>
                <a:lnTo>
                  <a:pt x="2626294" y="283121"/>
                </a:lnTo>
                <a:lnTo>
                  <a:pt x="2631277" y="281434"/>
                </a:lnTo>
                <a:lnTo>
                  <a:pt x="2636261" y="279808"/>
                </a:lnTo>
                <a:lnTo>
                  <a:pt x="2641244" y="278239"/>
                </a:lnTo>
                <a:lnTo>
                  <a:pt x="2646228" y="276723"/>
                </a:lnTo>
                <a:lnTo>
                  <a:pt x="2651211" y="275256"/>
                </a:lnTo>
                <a:lnTo>
                  <a:pt x="2656195" y="273836"/>
                </a:lnTo>
                <a:lnTo>
                  <a:pt x="2661178" y="272459"/>
                </a:lnTo>
                <a:lnTo>
                  <a:pt x="2666162" y="271124"/>
                </a:lnTo>
                <a:lnTo>
                  <a:pt x="2671145" y="269827"/>
                </a:lnTo>
                <a:lnTo>
                  <a:pt x="2676129" y="268568"/>
                </a:lnTo>
                <a:lnTo>
                  <a:pt x="2681112" y="267343"/>
                </a:lnTo>
                <a:lnTo>
                  <a:pt x="2686096" y="266151"/>
                </a:lnTo>
                <a:lnTo>
                  <a:pt x="2691079" y="264990"/>
                </a:lnTo>
                <a:lnTo>
                  <a:pt x="2740914" y="254812"/>
                </a:lnTo>
                <a:lnTo>
                  <a:pt x="2790749" y="246576"/>
                </a:lnTo>
                <a:lnTo>
                  <a:pt x="2840584" y="239677"/>
                </a:lnTo>
                <a:lnTo>
                  <a:pt x="2890418" y="233757"/>
                </a:lnTo>
                <a:lnTo>
                  <a:pt x="2940253" y="228584"/>
                </a:lnTo>
                <a:lnTo>
                  <a:pt x="2990088" y="223998"/>
                </a:lnTo>
                <a:lnTo>
                  <a:pt x="3039923" y="219887"/>
                </a:lnTo>
                <a:lnTo>
                  <a:pt x="3089758" y="216168"/>
                </a:lnTo>
                <a:lnTo>
                  <a:pt x="3139592" y="212777"/>
                </a:lnTo>
                <a:lnTo>
                  <a:pt x="3189427" y="209666"/>
                </a:lnTo>
                <a:lnTo>
                  <a:pt x="3239262" y="206794"/>
                </a:lnTo>
                <a:lnTo>
                  <a:pt x="3289097" y="204131"/>
                </a:lnTo>
                <a:lnTo>
                  <a:pt x="3338932" y="201651"/>
                </a:lnTo>
                <a:lnTo>
                  <a:pt x="3388766" y="199333"/>
                </a:lnTo>
                <a:lnTo>
                  <a:pt x="3438601" y="197159"/>
                </a:lnTo>
                <a:lnTo>
                  <a:pt x="3488436" y="195113"/>
                </a:lnTo>
                <a:lnTo>
                  <a:pt x="3538271" y="193183"/>
                </a:lnTo>
                <a:lnTo>
                  <a:pt x="3588106" y="191359"/>
                </a:lnTo>
                <a:lnTo>
                  <a:pt x="3637940" y="189629"/>
                </a:lnTo>
                <a:lnTo>
                  <a:pt x="3687775" y="187987"/>
                </a:lnTo>
                <a:lnTo>
                  <a:pt x="3737610" y="186425"/>
                </a:lnTo>
                <a:lnTo>
                  <a:pt x="3787445" y="184935"/>
                </a:lnTo>
                <a:lnTo>
                  <a:pt x="3837280" y="183513"/>
                </a:lnTo>
                <a:lnTo>
                  <a:pt x="3887114" y="182154"/>
                </a:lnTo>
                <a:lnTo>
                  <a:pt x="3936949" y="180853"/>
                </a:lnTo>
                <a:lnTo>
                  <a:pt x="3986784" y="179605"/>
                </a:lnTo>
                <a:lnTo>
                  <a:pt x="4036619" y="178408"/>
                </a:lnTo>
                <a:lnTo>
                  <a:pt x="4086454" y="177257"/>
                </a:lnTo>
                <a:lnTo>
                  <a:pt x="4136288" y="176150"/>
                </a:lnTo>
                <a:lnTo>
                  <a:pt x="4186123" y="175085"/>
                </a:lnTo>
                <a:lnTo>
                  <a:pt x="4235958" y="174058"/>
                </a:lnTo>
                <a:lnTo>
                  <a:pt x="4285793" y="173067"/>
                </a:lnTo>
                <a:lnTo>
                  <a:pt x="4335628" y="172110"/>
                </a:lnTo>
                <a:lnTo>
                  <a:pt x="4385462" y="171186"/>
                </a:lnTo>
                <a:lnTo>
                  <a:pt x="4435297" y="170292"/>
                </a:lnTo>
                <a:lnTo>
                  <a:pt x="4485132" y="169427"/>
                </a:lnTo>
                <a:lnTo>
                  <a:pt x="4534967" y="168590"/>
                </a:lnTo>
                <a:lnTo>
                  <a:pt x="4584802" y="167778"/>
                </a:lnTo>
                <a:lnTo>
                  <a:pt x="4634636" y="166991"/>
                </a:lnTo>
                <a:lnTo>
                  <a:pt x="4684471" y="166228"/>
                </a:lnTo>
                <a:lnTo>
                  <a:pt x="4734306" y="165487"/>
                </a:lnTo>
                <a:lnTo>
                  <a:pt x="4784141" y="164767"/>
                </a:lnTo>
                <a:lnTo>
                  <a:pt x="4833976" y="164067"/>
                </a:lnTo>
                <a:lnTo>
                  <a:pt x="4883810" y="163387"/>
                </a:lnTo>
                <a:lnTo>
                  <a:pt x="4933645" y="162726"/>
                </a:lnTo>
                <a:lnTo>
                  <a:pt x="4983480" y="162082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640" y="406908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14400" y="373989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Strong acid – weak base: methyl orange only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914400" y="5696712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66928" y="56052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14400" y="5477256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66928" y="538581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14400" y="5257800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66928" y="51663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14400" y="5038344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566928" y="494690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14400" y="4818888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566928" y="472744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14400" y="4599432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66928" y="45079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14400" y="4379976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66928" y="428853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14400" y="4160520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66928" y="406908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87" name="Text 85"/>
          <p:cNvSpPr txBox="1"/>
          <p:nvPr/>
        </p:nvSpPr>
        <p:spPr>
          <a:xfrm>
            <a:off x="731520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88" name="Text 86"/>
          <p:cNvSpPr txBox="1"/>
          <p:nvPr/>
        </p:nvSpPr>
        <p:spPr>
          <a:xfrm>
            <a:off x="1728216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2724912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90" name="Text 88"/>
          <p:cNvSpPr txBox="1"/>
          <p:nvPr/>
        </p:nvSpPr>
        <p:spPr>
          <a:xfrm>
            <a:off x="3721608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91" name="Text 89"/>
          <p:cNvSpPr txBox="1"/>
          <p:nvPr/>
        </p:nvSpPr>
        <p:spPr>
          <a:xfrm>
            <a:off x="4718304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92" name="Text 90"/>
          <p:cNvSpPr txBox="1"/>
          <p:nvPr/>
        </p:nvSpPr>
        <p:spPr>
          <a:xfrm>
            <a:off x="5715000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914400" y="587959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base added / cm³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14400" y="5213909"/>
            <a:ext cx="4983480" cy="142646"/>
          </a:xfrm>
          <a:prstGeom prst="rect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434840" y="5204765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chemeClr val="tx1"/>
                </a:solidFill>
              </a:rPr>
              <a:t>methyl orange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14400" y="4599432"/>
            <a:ext cx="4983480" cy="186538"/>
          </a:xfrm>
          <a:prstGeom prst="rect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4434840" y="45902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chemeClr val="tx1"/>
                </a:solidFill>
              </a:rPr>
              <a:t>phenolphthalein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914400" y="4928616"/>
            <a:ext cx="49834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>
            <a:off x="3406140" y="4160520"/>
            <a:ext cx="0" cy="1536192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14400" y="4160520"/>
            <a:ext cx="4983480" cy="1536192"/>
          </a:xfrm>
          <a:custGeom>
            <a:avLst/>
            <a:gdLst/>
            <a:ahLst/>
            <a:cxnLst/>
            <a:rect l="l" t="t" r="r" b="b"/>
            <a:pathLst>
              <a:path w="4983480" h="1536192">
                <a:moveTo>
                  <a:pt x="0" y="1426464"/>
                </a:moveTo>
                <a:lnTo>
                  <a:pt x="49835" y="1424558"/>
                </a:lnTo>
                <a:lnTo>
                  <a:pt x="99670" y="1422650"/>
                </a:lnTo>
                <a:lnTo>
                  <a:pt x="149504" y="1420739"/>
                </a:lnTo>
                <a:lnTo>
                  <a:pt x="199339" y="1418823"/>
                </a:lnTo>
                <a:lnTo>
                  <a:pt x="249174" y="1416901"/>
                </a:lnTo>
                <a:lnTo>
                  <a:pt x="299009" y="1414972"/>
                </a:lnTo>
                <a:lnTo>
                  <a:pt x="348844" y="1413033"/>
                </a:lnTo>
                <a:lnTo>
                  <a:pt x="398678" y="1411082"/>
                </a:lnTo>
                <a:lnTo>
                  <a:pt x="448513" y="1409119"/>
                </a:lnTo>
                <a:lnTo>
                  <a:pt x="498348" y="1407142"/>
                </a:lnTo>
                <a:lnTo>
                  <a:pt x="548183" y="1405148"/>
                </a:lnTo>
                <a:lnTo>
                  <a:pt x="598018" y="1403135"/>
                </a:lnTo>
                <a:lnTo>
                  <a:pt x="647852" y="1401102"/>
                </a:lnTo>
                <a:lnTo>
                  <a:pt x="697687" y="1399045"/>
                </a:lnTo>
                <a:lnTo>
                  <a:pt x="747522" y="1396964"/>
                </a:lnTo>
                <a:lnTo>
                  <a:pt x="797357" y="1394855"/>
                </a:lnTo>
                <a:lnTo>
                  <a:pt x="847192" y="1392716"/>
                </a:lnTo>
                <a:lnTo>
                  <a:pt x="897026" y="1390544"/>
                </a:lnTo>
                <a:lnTo>
                  <a:pt x="946861" y="1388335"/>
                </a:lnTo>
                <a:lnTo>
                  <a:pt x="996696" y="1386087"/>
                </a:lnTo>
                <a:lnTo>
                  <a:pt x="1046531" y="1383795"/>
                </a:lnTo>
                <a:lnTo>
                  <a:pt x="1096366" y="1381456"/>
                </a:lnTo>
                <a:lnTo>
                  <a:pt x="1146200" y="1379066"/>
                </a:lnTo>
                <a:lnTo>
                  <a:pt x="1196035" y="1376619"/>
                </a:lnTo>
                <a:lnTo>
                  <a:pt x="1245870" y="1374110"/>
                </a:lnTo>
                <a:lnTo>
                  <a:pt x="1295705" y="1371534"/>
                </a:lnTo>
                <a:lnTo>
                  <a:pt x="1345540" y="1368883"/>
                </a:lnTo>
                <a:lnTo>
                  <a:pt x="1395374" y="1366150"/>
                </a:lnTo>
                <a:lnTo>
                  <a:pt x="1445209" y="1363326"/>
                </a:lnTo>
                <a:lnTo>
                  <a:pt x="1495044" y="1360401"/>
                </a:lnTo>
                <a:lnTo>
                  <a:pt x="1544879" y="1357365"/>
                </a:lnTo>
                <a:lnTo>
                  <a:pt x="1594714" y="1354204"/>
                </a:lnTo>
                <a:lnTo>
                  <a:pt x="1644548" y="1350902"/>
                </a:lnTo>
                <a:lnTo>
                  <a:pt x="1694383" y="1347442"/>
                </a:lnTo>
                <a:lnTo>
                  <a:pt x="1744218" y="1343803"/>
                </a:lnTo>
                <a:lnTo>
                  <a:pt x="1794053" y="1339958"/>
                </a:lnTo>
                <a:lnTo>
                  <a:pt x="1843888" y="1335875"/>
                </a:lnTo>
                <a:lnTo>
                  <a:pt x="1893722" y="1331516"/>
                </a:lnTo>
                <a:lnTo>
                  <a:pt x="1943557" y="1326831"/>
                </a:lnTo>
                <a:lnTo>
                  <a:pt x="1993392" y="1321757"/>
                </a:lnTo>
                <a:lnTo>
                  <a:pt x="2043227" y="1316209"/>
                </a:lnTo>
                <a:lnTo>
                  <a:pt x="2093062" y="1310076"/>
                </a:lnTo>
                <a:lnTo>
                  <a:pt x="2142896" y="1303197"/>
                </a:lnTo>
                <a:lnTo>
                  <a:pt x="2192731" y="1295342"/>
                </a:lnTo>
                <a:lnTo>
                  <a:pt x="2242566" y="1286149"/>
                </a:lnTo>
                <a:lnTo>
                  <a:pt x="2292401" y="1275016"/>
                </a:lnTo>
                <a:lnTo>
                  <a:pt x="2342236" y="1260813"/>
                </a:lnTo>
                <a:lnTo>
                  <a:pt x="2347219" y="1259149"/>
                </a:lnTo>
                <a:lnTo>
                  <a:pt x="2352203" y="1257427"/>
                </a:lnTo>
                <a:lnTo>
                  <a:pt x="2357186" y="1255645"/>
                </a:lnTo>
                <a:lnTo>
                  <a:pt x="2362170" y="1253798"/>
                </a:lnTo>
                <a:lnTo>
                  <a:pt x="2367153" y="1251880"/>
                </a:lnTo>
                <a:lnTo>
                  <a:pt x="2372136" y="1249886"/>
                </a:lnTo>
                <a:lnTo>
                  <a:pt x="2377120" y="1247809"/>
                </a:lnTo>
                <a:lnTo>
                  <a:pt x="2382103" y="1245642"/>
                </a:lnTo>
                <a:lnTo>
                  <a:pt x="2387087" y="1243376"/>
                </a:lnTo>
                <a:lnTo>
                  <a:pt x="2392070" y="1241002"/>
                </a:lnTo>
                <a:lnTo>
                  <a:pt x="2397054" y="1238510"/>
                </a:lnTo>
                <a:lnTo>
                  <a:pt x="2402037" y="1235885"/>
                </a:lnTo>
                <a:lnTo>
                  <a:pt x="2407021" y="1233112"/>
                </a:lnTo>
                <a:lnTo>
                  <a:pt x="2412004" y="1230175"/>
                </a:lnTo>
                <a:lnTo>
                  <a:pt x="2416988" y="1227051"/>
                </a:lnTo>
                <a:lnTo>
                  <a:pt x="2421971" y="1223715"/>
                </a:lnTo>
                <a:lnTo>
                  <a:pt x="2426955" y="1220135"/>
                </a:lnTo>
                <a:lnTo>
                  <a:pt x="2431938" y="1216273"/>
                </a:lnTo>
                <a:lnTo>
                  <a:pt x="2436922" y="1212078"/>
                </a:lnTo>
                <a:lnTo>
                  <a:pt x="2441905" y="1207488"/>
                </a:lnTo>
                <a:lnTo>
                  <a:pt x="2446889" y="1202420"/>
                </a:lnTo>
                <a:lnTo>
                  <a:pt x="2451872" y="1196759"/>
                </a:lnTo>
                <a:lnTo>
                  <a:pt x="2456856" y="1190348"/>
                </a:lnTo>
                <a:lnTo>
                  <a:pt x="2461839" y="1182955"/>
                </a:lnTo>
                <a:lnTo>
                  <a:pt x="2466823" y="1174221"/>
                </a:lnTo>
                <a:lnTo>
                  <a:pt x="2471806" y="1163542"/>
                </a:lnTo>
                <a:lnTo>
                  <a:pt x="2476790" y="1149791"/>
                </a:lnTo>
                <a:lnTo>
                  <a:pt x="2481773" y="1130440"/>
                </a:lnTo>
                <a:lnTo>
                  <a:pt x="2486757" y="1097459"/>
                </a:lnTo>
                <a:lnTo>
                  <a:pt x="2491740" y="957037"/>
                </a:lnTo>
                <a:lnTo>
                  <a:pt x="2496723" y="816667"/>
                </a:lnTo>
                <a:lnTo>
                  <a:pt x="2501707" y="783735"/>
                </a:lnTo>
                <a:lnTo>
                  <a:pt x="2506690" y="764431"/>
                </a:lnTo>
                <a:lnTo>
                  <a:pt x="2511674" y="750728"/>
                </a:lnTo>
                <a:lnTo>
                  <a:pt x="2516657" y="740097"/>
                </a:lnTo>
                <a:lnTo>
                  <a:pt x="2521641" y="731411"/>
                </a:lnTo>
                <a:lnTo>
                  <a:pt x="2526624" y="724066"/>
                </a:lnTo>
                <a:lnTo>
                  <a:pt x="2531608" y="717703"/>
                </a:lnTo>
                <a:lnTo>
                  <a:pt x="2536591" y="712091"/>
                </a:lnTo>
                <a:lnTo>
                  <a:pt x="2541575" y="707070"/>
                </a:lnTo>
                <a:lnTo>
                  <a:pt x="2546558" y="702529"/>
                </a:lnTo>
                <a:lnTo>
                  <a:pt x="2551542" y="698382"/>
                </a:lnTo>
                <a:lnTo>
                  <a:pt x="2556525" y="694568"/>
                </a:lnTo>
                <a:lnTo>
                  <a:pt x="2561509" y="691037"/>
                </a:lnTo>
                <a:lnTo>
                  <a:pt x="2566492" y="687749"/>
                </a:lnTo>
                <a:lnTo>
                  <a:pt x="2571476" y="684674"/>
                </a:lnTo>
                <a:lnTo>
                  <a:pt x="2576459" y="681785"/>
                </a:lnTo>
                <a:lnTo>
                  <a:pt x="2581443" y="679061"/>
                </a:lnTo>
                <a:lnTo>
                  <a:pt x="2586426" y="676485"/>
                </a:lnTo>
                <a:lnTo>
                  <a:pt x="2591410" y="674040"/>
                </a:lnTo>
                <a:lnTo>
                  <a:pt x="2596393" y="671715"/>
                </a:lnTo>
                <a:lnTo>
                  <a:pt x="2601377" y="669499"/>
                </a:lnTo>
                <a:lnTo>
                  <a:pt x="2606360" y="667380"/>
                </a:lnTo>
                <a:lnTo>
                  <a:pt x="2611344" y="665352"/>
                </a:lnTo>
                <a:lnTo>
                  <a:pt x="2616327" y="663407"/>
                </a:lnTo>
                <a:lnTo>
                  <a:pt x="2621310" y="661538"/>
                </a:lnTo>
                <a:lnTo>
                  <a:pt x="2626294" y="659740"/>
                </a:lnTo>
                <a:lnTo>
                  <a:pt x="2631277" y="658007"/>
                </a:lnTo>
                <a:lnTo>
                  <a:pt x="2636261" y="656335"/>
                </a:lnTo>
                <a:lnTo>
                  <a:pt x="2641244" y="654719"/>
                </a:lnTo>
                <a:lnTo>
                  <a:pt x="2646228" y="653157"/>
                </a:lnTo>
                <a:lnTo>
                  <a:pt x="2651211" y="651644"/>
                </a:lnTo>
                <a:lnTo>
                  <a:pt x="2656195" y="650177"/>
                </a:lnTo>
                <a:lnTo>
                  <a:pt x="2661178" y="648755"/>
                </a:lnTo>
                <a:lnTo>
                  <a:pt x="2666162" y="647373"/>
                </a:lnTo>
                <a:lnTo>
                  <a:pt x="2671145" y="646031"/>
                </a:lnTo>
                <a:lnTo>
                  <a:pt x="2676129" y="644725"/>
                </a:lnTo>
                <a:lnTo>
                  <a:pt x="2681112" y="643455"/>
                </a:lnTo>
                <a:lnTo>
                  <a:pt x="2686096" y="642217"/>
                </a:lnTo>
                <a:lnTo>
                  <a:pt x="2691079" y="641010"/>
                </a:lnTo>
                <a:lnTo>
                  <a:pt x="2740914" y="630377"/>
                </a:lnTo>
                <a:lnTo>
                  <a:pt x="2790749" y="621689"/>
                </a:lnTo>
                <a:lnTo>
                  <a:pt x="2840584" y="614344"/>
                </a:lnTo>
                <a:lnTo>
                  <a:pt x="2890418" y="607981"/>
                </a:lnTo>
                <a:lnTo>
                  <a:pt x="2940253" y="602369"/>
                </a:lnTo>
                <a:lnTo>
                  <a:pt x="2990088" y="597349"/>
                </a:lnTo>
                <a:lnTo>
                  <a:pt x="3039923" y="592807"/>
                </a:lnTo>
                <a:lnTo>
                  <a:pt x="3089758" y="588661"/>
                </a:lnTo>
                <a:lnTo>
                  <a:pt x="3139592" y="584848"/>
                </a:lnTo>
                <a:lnTo>
                  <a:pt x="3189427" y="581317"/>
                </a:lnTo>
                <a:lnTo>
                  <a:pt x="3239262" y="578030"/>
                </a:lnTo>
                <a:lnTo>
                  <a:pt x="3289097" y="574955"/>
                </a:lnTo>
                <a:lnTo>
                  <a:pt x="3338932" y="572066"/>
                </a:lnTo>
                <a:lnTo>
                  <a:pt x="3388766" y="569343"/>
                </a:lnTo>
                <a:lnTo>
                  <a:pt x="3438601" y="566767"/>
                </a:lnTo>
                <a:lnTo>
                  <a:pt x="3488436" y="564323"/>
                </a:lnTo>
                <a:lnTo>
                  <a:pt x="3538271" y="561999"/>
                </a:lnTo>
                <a:lnTo>
                  <a:pt x="3588106" y="559783"/>
                </a:lnTo>
                <a:lnTo>
                  <a:pt x="3637940" y="557665"/>
                </a:lnTo>
                <a:lnTo>
                  <a:pt x="3687775" y="555638"/>
                </a:lnTo>
                <a:lnTo>
                  <a:pt x="3737610" y="553693"/>
                </a:lnTo>
                <a:lnTo>
                  <a:pt x="3787445" y="551825"/>
                </a:lnTo>
                <a:lnTo>
                  <a:pt x="3837280" y="550027"/>
                </a:lnTo>
                <a:lnTo>
                  <a:pt x="3887114" y="548295"/>
                </a:lnTo>
                <a:lnTo>
                  <a:pt x="3936949" y="546623"/>
                </a:lnTo>
                <a:lnTo>
                  <a:pt x="3986784" y="545008"/>
                </a:lnTo>
                <a:lnTo>
                  <a:pt x="4036619" y="543446"/>
                </a:lnTo>
                <a:lnTo>
                  <a:pt x="4086454" y="541934"/>
                </a:lnTo>
                <a:lnTo>
                  <a:pt x="4136288" y="540468"/>
                </a:lnTo>
                <a:lnTo>
                  <a:pt x="4186123" y="539047"/>
                </a:lnTo>
                <a:lnTo>
                  <a:pt x="4235958" y="537666"/>
                </a:lnTo>
                <a:lnTo>
                  <a:pt x="4285793" y="536324"/>
                </a:lnTo>
                <a:lnTo>
                  <a:pt x="4335628" y="535019"/>
                </a:lnTo>
                <a:lnTo>
                  <a:pt x="4385462" y="533749"/>
                </a:lnTo>
                <a:lnTo>
                  <a:pt x="4435297" y="532512"/>
                </a:lnTo>
                <a:lnTo>
                  <a:pt x="4485132" y="531306"/>
                </a:lnTo>
                <a:lnTo>
                  <a:pt x="4534967" y="530130"/>
                </a:lnTo>
                <a:lnTo>
                  <a:pt x="4584802" y="528983"/>
                </a:lnTo>
                <a:lnTo>
                  <a:pt x="4634636" y="527862"/>
                </a:lnTo>
                <a:lnTo>
                  <a:pt x="4684471" y="526768"/>
                </a:lnTo>
                <a:lnTo>
                  <a:pt x="4734306" y="525698"/>
                </a:lnTo>
                <a:lnTo>
                  <a:pt x="4784141" y="524651"/>
                </a:lnTo>
                <a:lnTo>
                  <a:pt x="4833976" y="523627"/>
                </a:lnTo>
                <a:lnTo>
                  <a:pt x="4883810" y="522625"/>
                </a:lnTo>
                <a:lnTo>
                  <a:pt x="4933645" y="521643"/>
                </a:lnTo>
                <a:lnTo>
                  <a:pt x="4983480" y="520681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172200" y="406908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6537960" y="373989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Weak acid – weak base: NEITHER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6537960" y="5696712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6190488" y="56052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537960" y="5477256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6190488" y="538581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537960" y="5257800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6190488" y="51663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6537960" y="5038344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6190488" y="494690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6537960" y="4818888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6190488" y="472744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537960" y="4599432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6190488" y="45079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6537960" y="4379976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6190488" y="428853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6537960" y="4160520"/>
            <a:ext cx="49834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6190488" y="406908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119" name="Text 117"/>
          <p:cNvSpPr txBox="1"/>
          <p:nvPr/>
        </p:nvSpPr>
        <p:spPr>
          <a:xfrm>
            <a:off x="6355080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120" name="Text 118"/>
          <p:cNvSpPr txBox="1"/>
          <p:nvPr/>
        </p:nvSpPr>
        <p:spPr>
          <a:xfrm>
            <a:off x="7351776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121" name="Text 119"/>
          <p:cNvSpPr txBox="1"/>
          <p:nvPr/>
        </p:nvSpPr>
        <p:spPr>
          <a:xfrm>
            <a:off x="8348472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122" name="Text 120"/>
          <p:cNvSpPr txBox="1"/>
          <p:nvPr/>
        </p:nvSpPr>
        <p:spPr>
          <a:xfrm>
            <a:off x="9345168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123" name="Text 121"/>
          <p:cNvSpPr txBox="1"/>
          <p:nvPr/>
        </p:nvSpPr>
        <p:spPr>
          <a:xfrm>
            <a:off x="10341864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124" name="Text 122"/>
          <p:cNvSpPr txBox="1"/>
          <p:nvPr/>
        </p:nvSpPr>
        <p:spPr>
          <a:xfrm>
            <a:off x="11338560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125" name="Text 123"/>
          <p:cNvSpPr txBox="1"/>
          <p:nvPr/>
        </p:nvSpPr>
        <p:spPr>
          <a:xfrm>
            <a:off x="6537960" y="587959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base added / cm³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6537960" y="5213909"/>
            <a:ext cx="4983480" cy="142646"/>
          </a:xfrm>
          <a:prstGeom prst="rect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10058400" y="5204765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chemeClr val="tx1"/>
                </a:solidFill>
              </a:rPr>
              <a:t>methyl orange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537960" y="4599432"/>
            <a:ext cx="4983480" cy="186538"/>
          </a:xfrm>
          <a:prstGeom prst="rect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10058400" y="45902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chemeClr val="tx1"/>
                </a:solidFill>
              </a:rPr>
              <a:t>phenolphthalein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6537960" y="4928616"/>
            <a:ext cx="49834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>
            <a:off x="9029700" y="4160520"/>
            <a:ext cx="0" cy="1536192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537960" y="4160520"/>
            <a:ext cx="4983480" cy="1536192"/>
          </a:xfrm>
          <a:custGeom>
            <a:avLst/>
            <a:gdLst/>
            <a:ahLst/>
            <a:cxnLst/>
            <a:rect l="l" t="t" r="r" b="b"/>
            <a:pathLst>
              <a:path w="4983480" h="1536192">
                <a:moveTo>
                  <a:pt x="0" y="1220162"/>
                </a:moveTo>
                <a:lnTo>
                  <a:pt x="49835" y="1186086"/>
                </a:lnTo>
                <a:lnTo>
                  <a:pt x="99670" y="1161222"/>
                </a:lnTo>
                <a:lnTo>
                  <a:pt x="149504" y="1143311"/>
                </a:lnTo>
                <a:lnTo>
                  <a:pt x="199339" y="1129521"/>
                </a:lnTo>
                <a:lnTo>
                  <a:pt x="249174" y="1118300"/>
                </a:lnTo>
                <a:lnTo>
                  <a:pt x="299009" y="1108799"/>
                </a:lnTo>
                <a:lnTo>
                  <a:pt x="348844" y="1100517"/>
                </a:lnTo>
                <a:lnTo>
                  <a:pt x="398678" y="1093138"/>
                </a:lnTo>
                <a:lnTo>
                  <a:pt x="448513" y="1086450"/>
                </a:lnTo>
                <a:lnTo>
                  <a:pt x="498348" y="1080305"/>
                </a:lnTo>
                <a:lnTo>
                  <a:pt x="548183" y="1074596"/>
                </a:lnTo>
                <a:lnTo>
                  <a:pt x="598018" y="1069243"/>
                </a:lnTo>
                <a:lnTo>
                  <a:pt x="647852" y="1064181"/>
                </a:lnTo>
                <a:lnTo>
                  <a:pt x="697687" y="1059364"/>
                </a:lnTo>
                <a:lnTo>
                  <a:pt x="747522" y="1054749"/>
                </a:lnTo>
                <a:lnTo>
                  <a:pt x="797357" y="1050305"/>
                </a:lnTo>
                <a:lnTo>
                  <a:pt x="847192" y="1046005"/>
                </a:lnTo>
                <a:lnTo>
                  <a:pt x="897026" y="1041824"/>
                </a:lnTo>
                <a:lnTo>
                  <a:pt x="946861" y="1037742"/>
                </a:lnTo>
                <a:lnTo>
                  <a:pt x="996696" y="1033742"/>
                </a:lnTo>
                <a:lnTo>
                  <a:pt x="1046531" y="1029808"/>
                </a:lnTo>
                <a:lnTo>
                  <a:pt x="1096366" y="1025924"/>
                </a:lnTo>
                <a:lnTo>
                  <a:pt x="1146200" y="1022077"/>
                </a:lnTo>
                <a:lnTo>
                  <a:pt x="1196035" y="1018255"/>
                </a:lnTo>
                <a:lnTo>
                  <a:pt x="1245870" y="1014444"/>
                </a:lnTo>
                <a:lnTo>
                  <a:pt x="1295705" y="1010634"/>
                </a:lnTo>
                <a:lnTo>
                  <a:pt x="1345540" y="1006810"/>
                </a:lnTo>
                <a:lnTo>
                  <a:pt x="1395374" y="1002962"/>
                </a:lnTo>
                <a:lnTo>
                  <a:pt x="1445209" y="999076"/>
                </a:lnTo>
                <a:lnTo>
                  <a:pt x="1495044" y="995138"/>
                </a:lnTo>
                <a:lnTo>
                  <a:pt x="1544879" y="991134"/>
                </a:lnTo>
                <a:lnTo>
                  <a:pt x="1594714" y="987047"/>
                </a:lnTo>
                <a:lnTo>
                  <a:pt x="1644548" y="982859"/>
                </a:lnTo>
                <a:lnTo>
                  <a:pt x="1694383" y="978551"/>
                </a:lnTo>
                <a:lnTo>
                  <a:pt x="1744218" y="974097"/>
                </a:lnTo>
                <a:lnTo>
                  <a:pt x="1794053" y="969470"/>
                </a:lnTo>
                <a:lnTo>
                  <a:pt x="1843888" y="964637"/>
                </a:lnTo>
                <a:lnTo>
                  <a:pt x="1893722" y="959556"/>
                </a:lnTo>
                <a:lnTo>
                  <a:pt x="1943557" y="954177"/>
                </a:lnTo>
                <a:lnTo>
                  <a:pt x="1993392" y="948435"/>
                </a:lnTo>
                <a:lnTo>
                  <a:pt x="2043227" y="942247"/>
                </a:lnTo>
                <a:lnTo>
                  <a:pt x="2093062" y="935497"/>
                </a:lnTo>
                <a:lnTo>
                  <a:pt x="2142896" y="928030"/>
                </a:lnTo>
                <a:lnTo>
                  <a:pt x="2192731" y="919615"/>
                </a:lnTo>
                <a:lnTo>
                  <a:pt x="2242566" y="909900"/>
                </a:lnTo>
                <a:lnTo>
                  <a:pt x="2292401" y="898299"/>
                </a:lnTo>
                <a:lnTo>
                  <a:pt x="2342236" y="883739"/>
                </a:lnTo>
                <a:lnTo>
                  <a:pt x="2347219" y="882050"/>
                </a:lnTo>
                <a:lnTo>
                  <a:pt x="2352203" y="880308"/>
                </a:lnTo>
                <a:lnTo>
                  <a:pt x="2357186" y="878508"/>
                </a:lnTo>
                <a:lnTo>
                  <a:pt x="2362170" y="876647"/>
                </a:lnTo>
                <a:lnTo>
                  <a:pt x="2367153" y="874720"/>
                </a:lnTo>
                <a:lnTo>
                  <a:pt x="2372136" y="872723"/>
                </a:lnTo>
                <a:lnTo>
                  <a:pt x="2377120" y="870649"/>
                </a:lnTo>
                <a:lnTo>
                  <a:pt x="2382103" y="868493"/>
                </a:lnTo>
                <a:lnTo>
                  <a:pt x="2387087" y="866248"/>
                </a:lnTo>
                <a:lnTo>
                  <a:pt x="2392070" y="863905"/>
                </a:lnTo>
                <a:lnTo>
                  <a:pt x="2397054" y="861455"/>
                </a:lnTo>
                <a:lnTo>
                  <a:pt x="2402037" y="858889"/>
                </a:lnTo>
                <a:lnTo>
                  <a:pt x="2407021" y="856195"/>
                </a:lnTo>
                <a:lnTo>
                  <a:pt x="2412004" y="853360"/>
                </a:lnTo>
                <a:lnTo>
                  <a:pt x="2416988" y="850368"/>
                </a:lnTo>
                <a:lnTo>
                  <a:pt x="2421971" y="847203"/>
                </a:lnTo>
                <a:lnTo>
                  <a:pt x="2426955" y="843842"/>
                </a:lnTo>
                <a:lnTo>
                  <a:pt x="2431938" y="840263"/>
                </a:lnTo>
                <a:lnTo>
                  <a:pt x="2436922" y="836438"/>
                </a:lnTo>
                <a:lnTo>
                  <a:pt x="2441905" y="832334"/>
                </a:lnTo>
                <a:lnTo>
                  <a:pt x="2446889" y="827914"/>
                </a:lnTo>
                <a:lnTo>
                  <a:pt x="2451872" y="823134"/>
                </a:lnTo>
                <a:lnTo>
                  <a:pt x="2456856" y="817946"/>
                </a:lnTo>
                <a:lnTo>
                  <a:pt x="2461839" y="812298"/>
                </a:lnTo>
                <a:lnTo>
                  <a:pt x="2466823" y="806137"/>
                </a:lnTo>
                <a:lnTo>
                  <a:pt x="2471806" y="799421"/>
                </a:lnTo>
                <a:lnTo>
                  <a:pt x="2476790" y="792133"/>
                </a:lnTo>
                <a:lnTo>
                  <a:pt x="2481773" y="784307"/>
                </a:lnTo>
                <a:lnTo>
                  <a:pt x="2486757" y="776052"/>
                </a:lnTo>
                <a:lnTo>
                  <a:pt x="2491740" y="767561"/>
                </a:lnTo>
                <a:lnTo>
                  <a:pt x="2496723" y="759087"/>
                </a:lnTo>
                <a:lnTo>
                  <a:pt x="2501707" y="750879"/>
                </a:lnTo>
                <a:lnTo>
                  <a:pt x="2506690" y="743124"/>
                </a:lnTo>
                <a:lnTo>
                  <a:pt x="2511674" y="735923"/>
                </a:lnTo>
                <a:lnTo>
                  <a:pt x="2516657" y="729304"/>
                </a:lnTo>
                <a:lnTo>
                  <a:pt x="2521641" y="723244"/>
                </a:lnTo>
                <a:lnTo>
                  <a:pt x="2526624" y="717700"/>
                </a:lnTo>
                <a:lnTo>
                  <a:pt x="2531608" y="712618"/>
                </a:lnTo>
                <a:lnTo>
                  <a:pt x="2536591" y="707943"/>
                </a:lnTo>
                <a:lnTo>
                  <a:pt x="2541575" y="703628"/>
                </a:lnTo>
                <a:lnTo>
                  <a:pt x="2546558" y="699629"/>
                </a:lnTo>
                <a:lnTo>
                  <a:pt x="2551542" y="695908"/>
                </a:lnTo>
                <a:lnTo>
                  <a:pt x="2556525" y="692433"/>
                </a:lnTo>
                <a:lnTo>
                  <a:pt x="2561509" y="689176"/>
                </a:lnTo>
                <a:lnTo>
                  <a:pt x="2566492" y="686114"/>
                </a:lnTo>
                <a:lnTo>
                  <a:pt x="2571476" y="683225"/>
                </a:lnTo>
                <a:lnTo>
                  <a:pt x="2576459" y="680493"/>
                </a:lnTo>
                <a:lnTo>
                  <a:pt x="2581443" y="677901"/>
                </a:lnTo>
                <a:lnTo>
                  <a:pt x="2586426" y="675438"/>
                </a:lnTo>
                <a:lnTo>
                  <a:pt x="2591410" y="673091"/>
                </a:lnTo>
                <a:lnTo>
                  <a:pt x="2596393" y="670851"/>
                </a:lnTo>
                <a:lnTo>
                  <a:pt x="2601377" y="668707"/>
                </a:lnTo>
                <a:lnTo>
                  <a:pt x="2606360" y="666653"/>
                </a:lnTo>
                <a:lnTo>
                  <a:pt x="2611344" y="664682"/>
                </a:lnTo>
                <a:lnTo>
                  <a:pt x="2616327" y="662787"/>
                </a:lnTo>
                <a:lnTo>
                  <a:pt x="2621310" y="660963"/>
                </a:lnTo>
                <a:lnTo>
                  <a:pt x="2626294" y="659205"/>
                </a:lnTo>
                <a:lnTo>
                  <a:pt x="2631277" y="657508"/>
                </a:lnTo>
                <a:lnTo>
                  <a:pt x="2636261" y="655868"/>
                </a:lnTo>
                <a:lnTo>
                  <a:pt x="2641244" y="654282"/>
                </a:lnTo>
                <a:lnTo>
                  <a:pt x="2646228" y="652746"/>
                </a:lnTo>
                <a:lnTo>
                  <a:pt x="2651211" y="651257"/>
                </a:lnTo>
                <a:lnTo>
                  <a:pt x="2656195" y="649813"/>
                </a:lnTo>
                <a:lnTo>
                  <a:pt x="2661178" y="648411"/>
                </a:lnTo>
                <a:lnTo>
                  <a:pt x="2666162" y="647048"/>
                </a:lnTo>
                <a:lnTo>
                  <a:pt x="2671145" y="645723"/>
                </a:lnTo>
                <a:lnTo>
                  <a:pt x="2676129" y="644433"/>
                </a:lnTo>
                <a:lnTo>
                  <a:pt x="2681112" y="643177"/>
                </a:lnTo>
                <a:lnTo>
                  <a:pt x="2686096" y="641952"/>
                </a:lnTo>
                <a:lnTo>
                  <a:pt x="2691079" y="640758"/>
                </a:lnTo>
                <a:lnTo>
                  <a:pt x="2740914" y="630213"/>
                </a:lnTo>
                <a:lnTo>
                  <a:pt x="2790749" y="621573"/>
                </a:lnTo>
                <a:lnTo>
                  <a:pt x="2840584" y="614257"/>
                </a:lnTo>
                <a:lnTo>
                  <a:pt x="2890418" y="607913"/>
                </a:lnTo>
                <a:lnTo>
                  <a:pt x="2940253" y="602314"/>
                </a:lnTo>
                <a:lnTo>
                  <a:pt x="2990088" y="597304"/>
                </a:lnTo>
                <a:lnTo>
                  <a:pt x="3039923" y="592769"/>
                </a:lnTo>
                <a:lnTo>
                  <a:pt x="3089758" y="588629"/>
                </a:lnTo>
                <a:lnTo>
                  <a:pt x="3139592" y="584820"/>
                </a:lnTo>
                <a:lnTo>
                  <a:pt x="3189427" y="581292"/>
                </a:lnTo>
                <a:lnTo>
                  <a:pt x="3239262" y="578008"/>
                </a:lnTo>
                <a:lnTo>
                  <a:pt x="3289097" y="574935"/>
                </a:lnTo>
                <a:lnTo>
                  <a:pt x="3338932" y="572049"/>
                </a:lnTo>
                <a:lnTo>
                  <a:pt x="3388766" y="569327"/>
                </a:lnTo>
                <a:lnTo>
                  <a:pt x="3438601" y="566753"/>
                </a:lnTo>
                <a:lnTo>
                  <a:pt x="3488436" y="564310"/>
                </a:lnTo>
                <a:lnTo>
                  <a:pt x="3538271" y="561987"/>
                </a:lnTo>
                <a:lnTo>
                  <a:pt x="3588106" y="559772"/>
                </a:lnTo>
                <a:lnTo>
                  <a:pt x="3637940" y="557655"/>
                </a:lnTo>
                <a:lnTo>
                  <a:pt x="3687775" y="555628"/>
                </a:lnTo>
                <a:lnTo>
                  <a:pt x="3737610" y="553684"/>
                </a:lnTo>
                <a:lnTo>
                  <a:pt x="3787445" y="551816"/>
                </a:lnTo>
                <a:lnTo>
                  <a:pt x="3837280" y="550019"/>
                </a:lnTo>
                <a:lnTo>
                  <a:pt x="3887114" y="548287"/>
                </a:lnTo>
                <a:lnTo>
                  <a:pt x="3936949" y="546616"/>
                </a:lnTo>
                <a:lnTo>
                  <a:pt x="3986784" y="545001"/>
                </a:lnTo>
                <a:lnTo>
                  <a:pt x="4036619" y="543440"/>
                </a:lnTo>
                <a:lnTo>
                  <a:pt x="4086454" y="541928"/>
                </a:lnTo>
                <a:lnTo>
                  <a:pt x="4136288" y="540463"/>
                </a:lnTo>
                <a:lnTo>
                  <a:pt x="4186123" y="539041"/>
                </a:lnTo>
                <a:lnTo>
                  <a:pt x="4235958" y="537661"/>
                </a:lnTo>
                <a:lnTo>
                  <a:pt x="4285793" y="536319"/>
                </a:lnTo>
                <a:lnTo>
                  <a:pt x="4335628" y="535014"/>
                </a:lnTo>
                <a:lnTo>
                  <a:pt x="4385462" y="533745"/>
                </a:lnTo>
                <a:lnTo>
                  <a:pt x="4435297" y="532508"/>
                </a:lnTo>
                <a:lnTo>
                  <a:pt x="4485132" y="531302"/>
                </a:lnTo>
                <a:lnTo>
                  <a:pt x="4534967" y="530126"/>
                </a:lnTo>
                <a:lnTo>
                  <a:pt x="4584802" y="528979"/>
                </a:lnTo>
                <a:lnTo>
                  <a:pt x="4634636" y="527859"/>
                </a:lnTo>
                <a:lnTo>
                  <a:pt x="4684471" y="526764"/>
                </a:lnTo>
                <a:lnTo>
                  <a:pt x="4734306" y="525694"/>
                </a:lnTo>
                <a:lnTo>
                  <a:pt x="4784141" y="524648"/>
                </a:lnTo>
                <a:lnTo>
                  <a:pt x="4833976" y="523624"/>
                </a:lnTo>
                <a:lnTo>
                  <a:pt x="4883810" y="522621"/>
                </a:lnTo>
                <a:lnTo>
                  <a:pt x="4933645" y="521640"/>
                </a:lnTo>
                <a:lnTo>
                  <a:pt x="4983480" y="520678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C · TRY FIRST, ANSWERS ON THE NEXT SLIDE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92808"/>
            <a:ext cx="52120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Choose: either / phenolphthalein only / methyl orange only / neither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HCl + NaOH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CH₃COOH + NaOH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HCl + NH₃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CH₃COOH + NH₃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0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469880" y="152704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[2 marks]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892808"/>
            <a:ext cx="52120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Explain why methyl orange is not a suitable indicator for titrating ethanoic acid with sodium hydroxide.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C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C: answers and why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521208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 Answers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HCl + NaOH: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either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CH₃COOH + NaOH: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phenolphthalein only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HCl + NH₃: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methyl orange only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CH₃COOH + NH₃: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neither (no vertical section)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527048"/>
            <a:ext cx="521208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 Model answer (2 marks)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Methyl orange changes colour at about pH 3–4.5.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vertical section for weak acid + strong base is at about pH 7–11, so methyl orange would change before the equivalence point: it isn't on the vertical section.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11109960" cy="1280160"/>
          </a:xfrm>
          <a:prstGeom prst="roundRect">
            <a:avLst>
              <a:gd name="adj" fmla="val 857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434840"/>
            <a:ext cx="1083564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MEMORY HOOK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STRONG partner decides where the steep part is. Strong base → steep part high → phenolphthalein. Strong acid → steep part low → methyl orange.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6355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Section D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D · FROM THE CLASS NOTES · TRY IT FIRST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Titration calculations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26060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 · Balanced equation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172968" y="1737360"/>
            <a:ext cx="173736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64992" y="1371600"/>
            <a:ext cx="260604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64992" y="1371600"/>
            <a:ext cx="26060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 · n = c × V (known)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89320" y="1737360"/>
            <a:ext cx="173736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81344" y="1371600"/>
            <a:ext cx="260604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81344" y="1371600"/>
            <a:ext cx="26060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 · Use the ratio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05672" y="1737360"/>
            <a:ext cx="173736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97696" y="1371600"/>
            <a:ext cx="260604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97696" y="1371600"/>
            <a:ext cx="26060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4 · c = n ÷ V (unknown)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60350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514600"/>
            <a:ext cx="1252728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51460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FROM THE NOTES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2852928"/>
            <a:ext cx="57607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30 cm³ of NaOH solution of concentration 0.23 mol dm⁻³ was titrated against HNO₃ of unknown concentration. The equivalence point on the titration curve is at 25.0 cm³. Calculate the concentration of the HNO₃.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6035040" cy="13716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800600"/>
            <a:ext cx="576072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HINT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NaOH + HNO₃ is 1 : 1. Moles of NaOH first, then divide by the HNO₃ volume in dm³.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0" y="2697480"/>
            <a:ext cx="4800600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236829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HNO₃ added to 30 cm³ NaOH (redrawn)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5696712"/>
            <a:ext cx="4343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76288" y="56052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5281313"/>
            <a:ext cx="4343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76288" y="5189873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23760" y="4865914"/>
            <a:ext cx="4343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76288" y="477447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23760" y="4450515"/>
            <a:ext cx="4343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76288" y="435907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4035117"/>
            <a:ext cx="4343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76288" y="394367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23760" y="3619718"/>
            <a:ext cx="4343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76288" y="352827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23760" y="3204319"/>
            <a:ext cx="4343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76288" y="3112879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23760" y="2788920"/>
            <a:ext cx="4343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76288" y="269748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040880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909560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778240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9646920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515600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384280" y="5724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7223760" y="587959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acid added / cm³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23760" y="4242816"/>
            <a:ext cx="43434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9395460" y="2788920"/>
            <a:ext cx="0" cy="2907792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23760" y="2788920"/>
            <a:ext cx="4343400" cy="2907792"/>
          </a:xfrm>
          <a:custGeom>
            <a:avLst/>
            <a:gdLst/>
            <a:ahLst/>
            <a:cxnLst/>
            <a:rect l="l" t="t" r="r" b="b"/>
            <a:pathLst>
              <a:path w="4343400" h="2907792">
                <a:moveTo>
                  <a:pt x="0" y="132569"/>
                </a:moveTo>
                <a:lnTo>
                  <a:pt x="43434" y="135882"/>
                </a:lnTo>
                <a:lnTo>
                  <a:pt x="86868" y="139209"/>
                </a:lnTo>
                <a:lnTo>
                  <a:pt x="130302" y="142551"/>
                </a:lnTo>
                <a:lnTo>
                  <a:pt x="173736" y="145912"/>
                </a:lnTo>
                <a:lnTo>
                  <a:pt x="217170" y="149293"/>
                </a:lnTo>
                <a:lnTo>
                  <a:pt x="260604" y="152697"/>
                </a:lnTo>
                <a:lnTo>
                  <a:pt x="304038" y="156127"/>
                </a:lnTo>
                <a:lnTo>
                  <a:pt x="347472" y="159586"/>
                </a:lnTo>
                <a:lnTo>
                  <a:pt x="390906" y="163076"/>
                </a:lnTo>
                <a:lnTo>
                  <a:pt x="434340" y="166602"/>
                </a:lnTo>
                <a:lnTo>
                  <a:pt x="477774" y="170165"/>
                </a:lnTo>
                <a:lnTo>
                  <a:pt x="521208" y="173770"/>
                </a:lnTo>
                <a:lnTo>
                  <a:pt x="564642" y="177419"/>
                </a:lnTo>
                <a:lnTo>
                  <a:pt x="608076" y="181118"/>
                </a:lnTo>
                <a:lnTo>
                  <a:pt x="651510" y="184870"/>
                </a:lnTo>
                <a:lnTo>
                  <a:pt x="694944" y="188679"/>
                </a:lnTo>
                <a:lnTo>
                  <a:pt x="738378" y="192551"/>
                </a:lnTo>
                <a:lnTo>
                  <a:pt x="781812" y="196491"/>
                </a:lnTo>
                <a:lnTo>
                  <a:pt x="825246" y="200504"/>
                </a:lnTo>
                <a:lnTo>
                  <a:pt x="868680" y="204596"/>
                </a:lnTo>
                <a:lnTo>
                  <a:pt x="912114" y="208775"/>
                </a:lnTo>
                <a:lnTo>
                  <a:pt x="955548" y="213047"/>
                </a:lnTo>
                <a:lnTo>
                  <a:pt x="998982" y="217421"/>
                </a:lnTo>
                <a:lnTo>
                  <a:pt x="1042416" y="221905"/>
                </a:lnTo>
                <a:lnTo>
                  <a:pt x="1085850" y="226511"/>
                </a:lnTo>
                <a:lnTo>
                  <a:pt x="1129284" y="231248"/>
                </a:lnTo>
                <a:lnTo>
                  <a:pt x="1172718" y="236130"/>
                </a:lnTo>
                <a:lnTo>
                  <a:pt x="1216152" y="241170"/>
                </a:lnTo>
                <a:lnTo>
                  <a:pt x="1259586" y="246386"/>
                </a:lnTo>
                <a:lnTo>
                  <a:pt x="1303020" y="251795"/>
                </a:lnTo>
                <a:lnTo>
                  <a:pt x="1346454" y="257418"/>
                </a:lnTo>
                <a:lnTo>
                  <a:pt x="1389888" y="263281"/>
                </a:lnTo>
                <a:lnTo>
                  <a:pt x="1433322" y="269412"/>
                </a:lnTo>
                <a:lnTo>
                  <a:pt x="1476756" y="275845"/>
                </a:lnTo>
                <a:lnTo>
                  <a:pt x="1520190" y="282621"/>
                </a:lnTo>
                <a:lnTo>
                  <a:pt x="1563624" y="289789"/>
                </a:lnTo>
                <a:lnTo>
                  <a:pt x="1607058" y="297409"/>
                </a:lnTo>
                <a:lnTo>
                  <a:pt x="1650492" y="305554"/>
                </a:lnTo>
                <a:lnTo>
                  <a:pt x="1693926" y="314318"/>
                </a:lnTo>
                <a:lnTo>
                  <a:pt x="1737360" y="323822"/>
                </a:lnTo>
                <a:lnTo>
                  <a:pt x="1780794" y="334224"/>
                </a:lnTo>
                <a:lnTo>
                  <a:pt x="1824228" y="345737"/>
                </a:lnTo>
                <a:lnTo>
                  <a:pt x="1867662" y="358662"/>
                </a:lnTo>
                <a:lnTo>
                  <a:pt x="1911096" y="373438"/>
                </a:lnTo>
                <a:lnTo>
                  <a:pt x="1954530" y="390747"/>
                </a:lnTo>
                <a:lnTo>
                  <a:pt x="1997964" y="411730"/>
                </a:lnTo>
                <a:lnTo>
                  <a:pt x="2041398" y="438527"/>
                </a:lnTo>
                <a:lnTo>
                  <a:pt x="2045741" y="441669"/>
                </a:lnTo>
                <a:lnTo>
                  <a:pt x="2050085" y="444919"/>
                </a:lnTo>
                <a:lnTo>
                  <a:pt x="2054428" y="448283"/>
                </a:lnTo>
                <a:lnTo>
                  <a:pt x="2058772" y="451772"/>
                </a:lnTo>
                <a:lnTo>
                  <a:pt x="2063115" y="455393"/>
                </a:lnTo>
                <a:lnTo>
                  <a:pt x="2067458" y="459159"/>
                </a:lnTo>
                <a:lnTo>
                  <a:pt x="2071802" y="463082"/>
                </a:lnTo>
                <a:lnTo>
                  <a:pt x="2076145" y="467176"/>
                </a:lnTo>
                <a:lnTo>
                  <a:pt x="2080489" y="471455"/>
                </a:lnTo>
                <a:lnTo>
                  <a:pt x="2084832" y="475940"/>
                </a:lnTo>
                <a:lnTo>
                  <a:pt x="2089175" y="480650"/>
                </a:lnTo>
                <a:lnTo>
                  <a:pt x="2093519" y="485611"/>
                </a:lnTo>
                <a:lnTo>
                  <a:pt x="2097862" y="490850"/>
                </a:lnTo>
                <a:lnTo>
                  <a:pt x="2102206" y="496402"/>
                </a:lnTo>
                <a:lnTo>
                  <a:pt x="2106549" y="502306"/>
                </a:lnTo>
                <a:lnTo>
                  <a:pt x="2110892" y="508613"/>
                </a:lnTo>
                <a:lnTo>
                  <a:pt x="2115236" y="515381"/>
                </a:lnTo>
                <a:lnTo>
                  <a:pt x="2119579" y="522684"/>
                </a:lnTo>
                <a:lnTo>
                  <a:pt x="2123923" y="530615"/>
                </a:lnTo>
                <a:lnTo>
                  <a:pt x="2128266" y="539295"/>
                </a:lnTo>
                <a:lnTo>
                  <a:pt x="2132609" y="548882"/>
                </a:lnTo>
                <a:lnTo>
                  <a:pt x="2136953" y="559589"/>
                </a:lnTo>
                <a:lnTo>
                  <a:pt x="2141296" y="571716"/>
                </a:lnTo>
                <a:lnTo>
                  <a:pt x="2145640" y="585703"/>
                </a:lnTo>
                <a:lnTo>
                  <a:pt x="2149983" y="602232"/>
                </a:lnTo>
                <a:lnTo>
                  <a:pt x="2154326" y="622442"/>
                </a:lnTo>
                <a:lnTo>
                  <a:pt x="2158670" y="648474"/>
                </a:lnTo>
                <a:lnTo>
                  <a:pt x="2163013" y="685130"/>
                </a:lnTo>
                <a:lnTo>
                  <a:pt x="2167357" y="747736"/>
                </a:lnTo>
                <a:lnTo>
                  <a:pt x="2171700" y="1453896"/>
                </a:lnTo>
                <a:lnTo>
                  <a:pt x="2176043" y="2159892"/>
                </a:lnTo>
                <a:lnTo>
                  <a:pt x="2180387" y="2222334"/>
                </a:lnTo>
                <a:lnTo>
                  <a:pt x="2184730" y="2258826"/>
                </a:lnTo>
                <a:lnTo>
                  <a:pt x="2189074" y="2284694"/>
                </a:lnTo>
                <a:lnTo>
                  <a:pt x="2193417" y="2304740"/>
                </a:lnTo>
                <a:lnTo>
                  <a:pt x="2197760" y="2321105"/>
                </a:lnTo>
                <a:lnTo>
                  <a:pt x="2202104" y="2334928"/>
                </a:lnTo>
                <a:lnTo>
                  <a:pt x="2206447" y="2346891"/>
                </a:lnTo>
                <a:lnTo>
                  <a:pt x="2210791" y="2357434"/>
                </a:lnTo>
                <a:lnTo>
                  <a:pt x="2215134" y="2366857"/>
                </a:lnTo>
                <a:lnTo>
                  <a:pt x="2219477" y="2375373"/>
                </a:lnTo>
                <a:lnTo>
                  <a:pt x="2223821" y="2383140"/>
                </a:lnTo>
                <a:lnTo>
                  <a:pt x="2228164" y="2390279"/>
                </a:lnTo>
                <a:lnTo>
                  <a:pt x="2232508" y="2396883"/>
                </a:lnTo>
                <a:lnTo>
                  <a:pt x="2236851" y="2403025"/>
                </a:lnTo>
                <a:lnTo>
                  <a:pt x="2241194" y="2408766"/>
                </a:lnTo>
                <a:lnTo>
                  <a:pt x="2245538" y="2414154"/>
                </a:lnTo>
                <a:lnTo>
                  <a:pt x="2249881" y="2419229"/>
                </a:lnTo>
                <a:lnTo>
                  <a:pt x="2254225" y="2424025"/>
                </a:lnTo>
                <a:lnTo>
                  <a:pt x="2258568" y="2428571"/>
                </a:lnTo>
                <a:lnTo>
                  <a:pt x="2262911" y="2432892"/>
                </a:lnTo>
                <a:lnTo>
                  <a:pt x="2267255" y="2437008"/>
                </a:lnTo>
                <a:lnTo>
                  <a:pt x="2271598" y="2440937"/>
                </a:lnTo>
                <a:lnTo>
                  <a:pt x="2275942" y="2444696"/>
                </a:lnTo>
                <a:lnTo>
                  <a:pt x="2280285" y="2448298"/>
                </a:lnTo>
                <a:lnTo>
                  <a:pt x="2284628" y="2451756"/>
                </a:lnTo>
                <a:lnTo>
                  <a:pt x="2288972" y="2455080"/>
                </a:lnTo>
                <a:lnTo>
                  <a:pt x="2293315" y="2458280"/>
                </a:lnTo>
                <a:lnTo>
                  <a:pt x="2297659" y="2461366"/>
                </a:lnTo>
                <a:lnTo>
                  <a:pt x="2302002" y="2464344"/>
                </a:lnTo>
                <a:lnTo>
                  <a:pt x="2306345" y="2467222"/>
                </a:lnTo>
                <a:lnTo>
                  <a:pt x="2310689" y="2470006"/>
                </a:lnTo>
                <a:lnTo>
                  <a:pt x="2315032" y="2472702"/>
                </a:lnTo>
                <a:lnTo>
                  <a:pt x="2319376" y="2475315"/>
                </a:lnTo>
                <a:lnTo>
                  <a:pt x="2323719" y="2477850"/>
                </a:lnTo>
                <a:lnTo>
                  <a:pt x="2328062" y="2480312"/>
                </a:lnTo>
                <a:lnTo>
                  <a:pt x="2332406" y="2482704"/>
                </a:lnTo>
                <a:lnTo>
                  <a:pt x="2336749" y="2485030"/>
                </a:lnTo>
                <a:lnTo>
                  <a:pt x="2341093" y="2487294"/>
                </a:lnTo>
                <a:lnTo>
                  <a:pt x="2345436" y="2489499"/>
                </a:lnTo>
                <a:lnTo>
                  <a:pt x="2388870" y="2508839"/>
                </a:lnTo>
                <a:lnTo>
                  <a:pt x="2432304" y="2524504"/>
                </a:lnTo>
                <a:lnTo>
                  <a:pt x="2475738" y="2537634"/>
                </a:lnTo>
                <a:lnTo>
                  <a:pt x="2519172" y="2548912"/>
                </a:lnTo>
                <a:lnTo>
                  <a:pt x="2562606" y="2558775"/>
                </a:lnTo>
                <a:lnTo>
                  <a:pt x="2606040" y="2567524"/>
                </a:lnTo>
                <a:lnTo>
                  <a:pt x="2649474" y="2575372"/>
                </a:lnTo>
                <a:lnTo>
                  <a:pt x="2692908" y="2582479"/>
                </a:lnTo>
                <a:lnTo>
                  <a:pt x="2736342" y="2588962"/>
                </a:lnTo>
                <a:lnTo>
                  <a:pt x="2779776" y="2594917"/>
                </a:lnTo>
                <a:lnTo>
                  <a:pt x="2823210" y="2600416"/>
                </a:lnTo>
                <a:lnTo>
                  <a:pt x="2866644" y="2605518"/>
                </a:lnTo>
                <a:lnTo>
                  <a:pt x="2910078" y="2610274"/>
                </a:lnTo>
                <a:lnTo>
                  <a:pt x="2953512" y="2614722"/>
                </a:lnTo>
                <a:lnTo>
                  <a:pt x="2996946" y="2618897"/>
                </a:lnTo>
                <a:lnTo>
                  <a:pt x="3040380" y="2622827"/>
                </a:lnTo>
                <a:lnTo>
                  <a:pt x="3083814" y="2626537"/>
                </a:lnTo>
                <a:lnTo>
                  <a:pt x="3127248" y="2630048"/>
                </a:lnTo>
                <a:lnTo>
                  <a:pt x="3170682" y="2633376"/>
                </a:lnTo>
                <a:lnTo>
                  <a:pt x="3214116" y="2636540"/>
                </a:lnTo>
                <a:lnTo>
                  <a:pt x="3257550" y="2639551"/>
                </a:lnTo>
                <a:lnTo>
                  <a:pt x="3300984" y="2642423"/>
                </a:lnTo>
                <a:lnTo>
                  <a:pt x="3344418" y="2645167"/>
                </a:lnTo>
                <a:lnTo>
                  <a:pt x="3387852" y="2647791"/>
                </a:lnTo>
                <a:lnTo>
                  <a:pt x="3431286" y="2650305"/>
                </a:lnTo>
                <a:lnTo>
                  <a:pt x="3474720" y="2652717"/>
                </a:lnTo>
                <a:lnTo>
                  <a:pt x="3518154" y="2655033"/>
                </a:lnTo>
                <a:lnTo>
                  <a:pt x="3561588" y="2657259"/>
                </a:lnTo>
                <a:lnTo>
                  <a:pt x="3605022" y="2659402"/>
                </a:lnTo>
                <a:lnTo>
                  <a:pt x="3648456" y="2661466"/>
                </a:lnTo>
                <a:lnTo>
                  <a:pt x="3691890" y="2663456"/>
                </a:lnTo>
                <a:lnTo>
                  <a:pt x="3735324" y="2665377"/>
                </a:lnTo>
                <a:lnTo>
                  <a:pt x="3778758" y="2667233"/>
                </a:lnTo>
                <a:lnTo>
                  <a:pt x="3822192" y="2669027"/>
                </a:lnTo>
                <a:lnTo>
                  <a:pt x="3865626" y="2670763"/>
                </a:lnTo>
                <a:lnTo>
                  <a:pt x="3909060" y="2672443"/>
                </a:lnTo>
                <a:lnTo>
                  <a:pt x="3952494" y="2674071"/>
                </a:lnTo>
                <a:lnTo>
                  <a:pt x="3995928" y="2675649"/>
                </a:lnTo>
                <a:lnTo>
                  <a:pt x="4039362" y="2677180"/>
                </a:lnTo>
                <a:lnTo>
                  <a:pt x="4082796" y="2678667"/>
                </a:lnTo>
                <a:lnTo>
                  <a:pt x="4126230" y="2680110"/>
                </a:lnTo>
                <a:lnTo>
                  <a:pt x="4169664" y="2681512"/>
                </a:lnTo>
                <a:lnTo>
                  <a:pt x="4213098" y="2682876"/>
                </a:lnTo>
                <a:lnTo>
                  <a:pt x="4256532" y="2684202"/>
                </a:lnTo>
                <a:lnTo>
                  <a:pt x="4299966" y="2685493"/>
                </a:lnTo>
                <a:lnTo>
                  <a:pt x="4343400" y="2686750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D · WORKED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HNO₃ example, step by step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1371600"/>
            <a:ext cx="69494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371600"/>
            <a:ext cx="672084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Equation: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NaOH(aq) + HNO₃(aq) → NaNO₃(aq) + H₂O(l)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1560" y="2240280"/>
            <a:ext cx="69494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2240280"/>
            <a:ext cx="672084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Moles of NaOH: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0.23 × (30 ÷ 1000) = 0.0069 mol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644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51560" y="3108960"/>
            <a:ext cx="69494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3108960"/>
            <a:ext cx="672084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Ratio: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: 1, so 0.0069 mol HNO₃ reacted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1330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51560" y="3977640"/>
            <a:ext cx="69494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88720" y="3977640"/>
            <a:ext cx="672084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Concentration: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0.0069 ÷ (25.00 ÷ 1000) = 0.276 mol dm⁻³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1371600"/>
            <a:ext cx="3429000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0" y="1371600"/>
            <a:ext cx="342900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0.276 mol dm⁻³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0" y="3383280"/>
            <a:ext cx="3429000" cy="2697480"/>
          </a:xfrm>
          <a:prstGeom prst="roundRect">
            <a:avLst>
              <a:gd name="adj" fmla="val 406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66760" y="3474720"/>
            <a:ext cx="315468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ABOUT THE NOTES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text says the titre was 24.0 cm³, but the graph (circled 25) and the division use 25.00 cm³. 25.0 is intended. Water is H₂O(l), not (s).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745236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074920"/>
            <a:ext cx="71780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WHY THE CURVE FALLS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HNO₃ is added to NaOH here, so the pH starts high and falls. The notes' own sketch shows a rising, weak-acid-shaped curve.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D · EXAM PRACTICE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 questions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08760"/>
            <a:ext cx="941832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QUESTION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8132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[4 marks]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47088"/>
            <a:ext cx="521208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25.0 cm³ of 0.100 mol dm⁻³ NaOH is exactly neutralised by 20.0 cm³ of sulfuric acid. Calculate [H₂SO₄].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H₂SO₄ + 2NaOH → Na₂SO₄ + 2H₂O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8640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508760"/>
            <a:ext cx="941832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50876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QUESTION 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469880" y="148132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[5 marks]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847088"/>
            <a:ext cx="521208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HCl was titrated against 25.0 cm³ portions of 0.0950 mol dm⁻³ NaOH. Titres: rough 22.65, then 22.30, 22.40, 22.35 cm³. Find (a) the average titre, (b) [HCl], (c) the pH of the HCl.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10996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886200"/>
            <a:ext cx="941832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88620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QUESTION 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469880" y="385876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[6 marks]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224528"/>
            <a:ext cx="10835640" cy="1783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25.0 cm³ sample of ethanoic acid needed 18.60 cm³ of 0.120 mol dm⁻³ NaOH to reach the end point, using phenolphthalein. (a) Calculate [CH₃COOH]. (b) Calculate its pH (Ka = 1.76 × 10⁻⁵ mol dm⁻³). (c) Explain why phenolphthalein was used.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D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1 and 2: worked answers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521208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Q1  ·  0.0625 mol dm⁻³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 n(NaOH)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0.100 × 0.0250 = 2.50 × 10⁻³ mol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2. Ratio 1 : 2: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n(H₂SO₄) = 2.50 × 10⁻³ ÷ 2 = 1.25 × 10⁻³ mol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 c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1.25 × 10⁻³ ÷ 0.0200 = 0.0625 mol dm⁻³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Classic slip: forgetting the 1 : 2 and getting 0.125.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86400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481328"/>
            <a:ext cx="521208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Q2  ·  22.35 cm³, 0.106 mol dm⁻³, pH 0.97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(a)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All three non-rough titres are within 0.10 cm³: (22.30 + 22.40 + 22.35) ÷ 3 = 22.35 cm³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(b)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n(NaOH) = 0.0950 × 0.0250 = 2.375 × 10⁻³ mol = n(HCl)
[HCl] = 2.375 × 10⁻³ ÷ 0.02235 = 0.106 mol dm⁻³
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(c)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Strong acid: [H⁺] = 0.106, pH = −log(0.106) = 0.97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D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3: titration, then weak-acid pH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109960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71600"/>
            <a:ext cx="237744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n(NaOH)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371600"/>
            <a:ext cx="841248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0.120 × 0.01860 = 2.232 × 10⁻³ mol = n(CH₃COOH) (1 : 1)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11109960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267712"/>
            <a:ext cx="237744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[CH₃COOH]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267712"/>
            <a:ext cx="841248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2.232 × 10⁻³ ÷ 0.0250 = 0.0893 mol dm⁻³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63824"/>
            <a:ext cx="11109960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63824"/>
            <a:ext cx="237744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[H⁺]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3163824"/>
            <a:ext cx="841248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√(1.76 × 10⁻⁵ × 0.0893) = 1.25 × 10⁻³ mol dm⁻³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59936"/>
            <a:ext cx="11109960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059936"/>
            <a:ext cx="237744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pH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4059936"/>
            <a:ext cx="841248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−log(1.25 × 10⁻³) = 2.90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956048"/>
            <a:ext cx="11109960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956048"/>
            <a:ext cx="237744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(c) Why phenolphthalein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4956048"/>
            <a:ext cx="841248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Weak acid + strong base: vertical section ~pH 7–11; phenolphthalein changes at 8.3–10, inside it.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6355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Section E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E · ORIGINAL EXAM QUESTIONS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questions: Q8 and glycolic acid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3624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Q8 graph (redrawn)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685032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35935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3413325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32188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3141617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05017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869910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77847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2598202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50676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2326495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23505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2054787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196334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1783080"/>
            <a:ext cx="3200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169164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291840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38679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acid added / cm³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" y="2734056"/>
            <a:ext cx="32004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14400" y="1783080"/>
            <a:ext cx="3200400" cy="1901952"/>
          </a:xfrm>
          <a:custGeom>
            <a:avLst/>
            <a:gdLst/>
            <a:ahLst/>
            <a:cxnLst/>
            <a:rect l="l" t="t" r="r" b="b"/>
            <a:pathLst>
              <a:path w="3200400" h="1901952">
                <a:moveTo>
                  <a:pt x="0" y="390617"/>
                </a:moveTo>
                <a:lnTo>
                  <a:pt x="32004" y="432408"/>
                </a:lnTo>
                <a:lnTo>
                  <a:pt x="64008" y="463038"/>
                </a:lnTo>
                <a:lnTo>
                  <a:pt x="96012" y="485159"/>
                </a:lnTo>
                <a:lnTo>
                  <a:pt x="128016" y="502209"/>
                </a:lnTo>
                <a:lnTo>
                  <a:pt x="160020" y="516089"/>
                </a:lnTo>
                <a:lnTo>
                  <a:pt x="192024" y="527845"/>
                </a:lnTo>
                <a:lnTo>
                  <a:pt x="224028" y="538095"/>
                </a:lnTo>
                <a:lnTo>
                  <a:pt x="256032" y="547229"/>
                </a:lnTo>
                <a:lnTo>
                  <a:pt x="288036" y="555507"/>
                </a:lnTo>
                <a:lnTo>
                  <a:pt x="320040" y="563113"/>
                </a:lnTo>
                <a:lnTo>
                  <a:pt x="352044" y="570180"/>
                </a:lnTo>
                <a:lnTo>
                  <a:pt x="384048" y="576808"/>
                </a:lnTo>
                <a:lnTo>
                  <a:pt x="416052" y="583073"/>
                </a:lnTo>
                <a:lnTo>
                  <a:pt x="448056" y="589038"/>
                </a:lnTo>
                <a:lnTo>
                  <a:pt x="480060" y="594751"/>
                </a:lnTo>
                <a:lnTo>
                  <a:pt x="512064" y="600252"/>
                </a:lnTo>
                <a:lnTo>
                  <a:pt x="544068" y="605577"/>
                </a:lnTo>
                <a:lnTo>
                  <a:pt x="576072" y="610753"/>
                </a:lnTo>
                <a:lnTo>
                  <a:pt x="608076" y="615807"/>
                </a:lnTo>
                <a:lnTo>
                  <a:pt x="640080" y="620759"/>
                </a:lnTo>
                <a:lnTo>
                  <a:pt x="672084" y="625630"/>
                </a:lnTo>
                <a:lnTo>
                  <a:pt x="704088" y="630439"/>
                </a:lnTo>
                <a:lnTo>
                  <a:pt x="736092" y="635202"/>
                </a:lnTo>
                <a:lnTo>
                  <a:pt x="768096" y="639934"/>
                </a:lnTo>
                <a:lnTo>
                  <a:pt x="800100" y="644653"/>
                </a:lnTo>
                <a:lnTo>
                  <a:pt x="832104" y="649371"/>
                </a:lnTo>
                <a:lnTo>
                  <a:pt x="864108" y="654105"/>
                </a:lnTo>
                <a:lnTo>
                  <a:pt x="896112" y="658870"/>
                </a:lnTo>
                <a:lnTo>
                  <a:pt x="928116" y="663682"/>
                </a:lnTo>
                <a:lnTo>
                  <a:pt x="960120" y="668559"/>
                </a:lnTo>
                <a:lnTo>
                  <a:pt x="992124" y="673517"/>
                </a:lnTo>
                <a:lnTo>
                  <a:pt x="1024128" y="678578"/>
                </a:lnTo>
                <a:lnTo>
                  <a:pt x="1056132" y="683764"/>
                </a:lnTo>
                <a:lnTo>
                  <a:pt x="1088136" y="689100"/>
                </a:lnTo>
                <a:lnTo>
                  <a:pt x="1120140" y="694617"/>
                </a:lnTo>
                <a:lnTo>
                  <a:pt x="1152144" y="700348"/>
                </a:lnTo>
                <a:lnTo>
                  <a:pt x="1184148" y="706335"/>
                </a:lnTo>
                <a:lnTo>
                  <a:pt x="1216152" y="712630"/>
                </a:lnTo>
                <a:lnTo>
                  <a:pt x="1248156" y="719295"/>
                </a:lnTo>
                <a:lnTo>
                  <a:pt x="1280160" y="726411"/>
                </a:lnTo>
                <a:lnTo>
                  <a:pt x="1312164" y="734083"/>
                </a:lnTo>
                <a:lnTo>
                  <a:pt x="1344168" y="742453"/>
                </a:lnTo>
                <a:lnTo>
                  <a:pt x="1376172" y="751719"/>
                </a:lnTo>
                <a:lnTo>
                  <a:pt x="1408176" y="762169"/>
                </a:lnTo>
                <a:lnTo>
                  <a:pt x="1440180" y="774251"/>
                </a:lnTo>
                <a:lnTo>
                  <a:pt x="1472184" y="788713"/>
                </a:lnTo>
                <a:lnTo>
                  <a:pt x="1504188" y="806954"/>
                </a:lnTo>
                <a:lnTo>
                  <a:pt x="1507388" y="809080"/>
                </a:lnTo>
                <a:lnTo>
                  <a:pt x="1510589" y="811275"/>
                </a:lnTo>
                <a:lnTo>
                  <a:pt x="1513789" y="813545"/>
                </a:lnTo>
                <a:lnTo>
                  <a:pt x="1516990" y="815897"/>
                </a:lnTo>
                <a:lnTo>
                  <a:pt x="1520190" y="818335"/>
                </a:lnTo>
                <a:lnTo>
                  <a:pt x="1523390" y="820867"/>
                </a:lnTo>
                <a:lnTo>
                  <a:pt x="1526591" y="823502"/>
                </a:lnTo>
                <a:lnTo>
                  <a:pt x="1529791" y="826248"/>
                </a:lnTo>
                <a:lnTo>
                  <a:pt x="1532992" y="829116"/>
                </a:lnTo>
                <a:lnTo>
                  <a:pt x="1536192" y="832118"/>
                </a:lnTo>
                <a:lnTo>
                  <a:pt x="1539392" y="835267"/>
                </a:lnTo>
                <a:lnTo>
                  <a:pt x="1542593" y="838579"/>
                </a:lnTo>
                <a:lnTo>
                  <a:pt x="1545793" y="842074"/>
                </a:lnTo>
                <a:lnTo>
                  <a:pt x="1548994" y="845773"/>
                </a:lnTo>
                <a:lnTo>
                  <a:pt x="1552194" y="849702"/>
                </a:lnTo>
                <a:lnTo>
                  <a:pt x="1555394" y="853894"/>
                </a:lnTo>
                <a:lnTo>
                  <a:pt x="1558595" y="858387"/>
                </a:lnTo>
                <a:lnTo>
                  <a:pt x="1561795" y="863231"/>
                </a:lnTo>
                <a:lnTo>
                  <a:pt x="1564996" y="868485"/>
                </a:lnTo>
                <a:lnTo>
                  <a:pt x="1568196" y="874229"/>
                </a:lnTo>
                <a:lnTo>
                  <a:pt x="1571396" y="880565"/>
                </a:lnTo>
                <a:lnTo>
                  <a:pt x="1574597" y="887633"/>
                </a:lnTo>
                <a:lnTo>
                  <a:pt x="1577797" y="895631"/>
                </a:lnTo>
                <a:lnTo>
                  <a:pt x="1580998" y="904844"/>
                </a:lnTo>
                <a:lnTo>
                  <a:pt x="1584198" y="915718"/>
                </a:lnTo>
                <a:lnTo>
                  <a:pt x="1587398" y="928999"/>
                </a:lnTo>
                <a:lnTo>
                  <a:pt x="1590599" y="946083"/>
                </a:lnTo>
                <a:lnTo>
                  <a:pt x="1593799" y="970102"/>
                </a:lnTo>
                <a:lnTo>
                  <a:pt x="1597000" y="1010994"/>
                </a:lnTo>
                <a:lnTo>
                  <a:pt x="1600200" y="1184903"/>
                </a:lnTo>
                <a:lnTo>
                  <a:pt x="1603400" y="1358642"/>
                </a:lnTo>
                <a:lnTo>
                  <a:pt x="1606601" y="1399356"/>
                </a:lnTo>
                <a:lnTo>
                  <a:pt x="1609801" y="1423197"/>
                </a:lnTo>
                <a:lnTo>
                  <a:pt x="1613002" y="1440104"/>
                </a:lnTo>
                <a:lnTo>
                  <a:pt x="1616202" y="1453207"/>
                </a:lnTo>
                <a:lnTo>
                  <a:pt x="1619402" y="1463904"/>
                </a:lnTo>
                <a:lnTo>
                  <a:pt x="1622603" y="1472939"/>
                </a:lnTo>
                <a:lnTo>
                  <a:pt x="1625803" y="1480758"/>
                </a:lnTo>
                <a:lnTo>
                  <a:pt x="1629004" y="1487648"/>
                </a:lnTo>
                <a:lnTo>
                  <a:pt x="1632204" y="1493805"/>
                </a:lnTo>
                <a:lnTo>
                  <a:pt x="1635404" y="1499370"/>
                </a:lnTo>
                <a:lnTo>
                  <a:pt x="1638605" y="1504445"/>
                </a:lnTo>
                <a:lnTo>
                  <a:pt x="1641805" y="1509109"/>
                </a:lnTo>
                <a:lnTo>
                  <a:pt x="1645006" y="1513423"/>
                </a:lnTo>
                <a:lnTo>
                  <a:pt x="1648206" y="1517436"/>
                </a:lnTo>
                <a:lnTo>
                  <a:pt x="1651406" y="1521185"/>
                </a:lnTo>
                <a:lnTo>
                  <a:pt x="1654607" y="1524704"/>
                </a:lnTo>
                <a:lnTo>
                  <a:pt x="1657807" y="1528019"/>
                </a:lnTo>
                <a:lnTo>
                  <a:pt x="1661008" y="1531151"/>
                </a:lnTo>
                <a:lnTo>
                  <a:pt x="1664208" y="1534119"/>
                </a:lnTo>
                <a:lnTo>
                  <a:pt x="1667408" y="1536940"/>
                </a:lnTo>
                <a:lnTo>
                  <a:pt x="1670609" y="1539627"/>
                </a:lnTo>
                <a:lnTo>
                  <a:pt x="1673809" y="1542192"/>
                </a:lnTo>
                <a:lnTo>
                  <a:pt x="1677010" y="1544645"/>
                </a:lnTo>
                <a:lnTo>
                  <a:pt x="1680210" y="1546996"/>
                </a:lnTo>
                <a:lnTo>
                  <a:pt x="1683410" y="1549252"/>
                </a:lnTo>
                <a:lnTo>
                  <a:pt x="1686611" y="1551422"/>
                </a:lnTo>
                <a:lnTo>
                  <a:pt x="1689811" y="1553510"/>
                </a:lnTo>
                <a:lnTo>
                  <a:pt x="1693012" y="1555523"/>
                </a:lnTo>
                <a:lnTo>
                  <a:pt x="1696212" y="1557466"/>
                </a:lnTo>
                <a:lnTo>
                  <a:pt x="1699412" y="1559343"/>
                </a:lnTo>
                <a:lnTo>
                  <a:pt x="1702613" y="1561159"/>
                </a:lnTo>
                <a:lnTo>
                  <a:pt x="1705813" y="1562917"/>
                </a:lnTo>
                <a:lnTo>
                  <a:pt x="1709014" y="1564622"/>
                </a:lnTo>
                <a:lnTo>
                  <a:pt x="1712214" y="1566275"/>
                </a:lnTo>
                <a:lnTo>
                  <a:pt x="1715414" y="1567880"/>
                </a:lnTo>
                <a:lnTo>
                  <a:pt x="1718615" y="1569440"/>
                </a:lnTo>
                <a:lnTo>
                  <a:pt x="1721815" y="1570956"/>
                </a:lnTo>
                <a:lnTo>
                  <a:pt x="1725016" y="1572432"/>
                </a:lnTo>
                <a:lnTo>
                  <a:pt x="1728216" y="1573869"/>
                </a:lnTo>
                <a:lnTo>
                  <a:pt x="1760220" y="1586470"/>
                </a:lnTo>
                <a:lnTo>
                  <a:pt x="1792224" y="1596668"/>
                </a:lnTo>
                <a:lnTo>
                  <a:pt x="1824228" y="1605209"/>
                </a:lnTo>
                <a:lnTo>
                  <a:pt x="1856232" y="1612538"/>
                </a:lnTo>
                <a:lnTo>
                  <a:pt x="1888236" y="1618944"/>
                </a:lnTo>
                <a:lnTo>
                  <a:pt x="1920240" y="1624621"/>
                </a:lnTo>
                <a:lnTo>
                  <a:pt x="1952244" y="1629711"/>
                </a:lnTo>
                <a:lnTo>
                  <a:pt x="1984248" y="1634315"/>
                </a:lnTo>
                <a:lnTo>
                  <a:pt x="2016252" y="1638513"/>
                </a:lnTo>
                <a:lnTo>
                  <a:pt x="2048256" y="1642366"/>
                </a:lnTo>
                <a:lnTo>
                  <a:pt x="2080260" y="1645921"/>
                </a:lnTo>
                <a:lnTo>
                  <a:pt x="2112264" y="1649218"/>
                </a:lnTo>
                <a:lnTo>
                  <a:pt x="2144268" y="1652289"/>
                </a:lnTo>
                <a:lnTo>
                  <a:pt x="2176272" y="1655159"/>
                </a:lnTo>
                <a:lnTo>
                  <a:pt x="2208276" y="1657851"/>
                </a:lnTo>
                <a:lnTo>
                  <a:pt x="2240280" y="1660384"/>
                </a:lnTo>
                <a:lnTo>
                  <a:pt x="2272284" y="1662773"/>
                </a:lnTo>
                <a:lnTo>
                  <a:pt x="2304288" y="1665032"/>
                </a:lnTo>
                <a:lnTo>
                  <a:pt x="2336292" y="1667173"/>
                </a:lnTo>
                <a:lnTo>
                  <a:pt x="2368296" y="1669206"/>
                </a:lnTo>
                <a:lnTo>
                  <a:pt x="2400300" y="1671141"/>
                </a:lnTo>
                <a:lnTo>
                  <a:pt x="2432304" y="1672985"/>
                </a:lnTo>
                <a:lnTo>
                  <a:pt x="2464308" y="1674745"/>
                </a:lnTo>
                <a:lnTo>
                  <a:pt x="2496312" y="1676428"/>
                </a:lnTo>
                <a:lnTo>
                  <a:pt x="2528316" y="1678039"/>
                </a:lnTo>
                <a:lnTo>
                  <a:pt x="2560320" y="1679584"/>
                </a:lnTo>
                <a:lnTo>
                  <a:pt x="2592324" y="1681066"/>
                </a:lnTo>
                <a:lnTo>
                  <a:pt x="2624328" y="1682491"/>
                </a:lnTo>
                <a:lnTo>
                  <a:pt x="2656332" y="1683861"/>
                </a:lnTo>
                <a:lnTo>
                  <a:pt x="2688336" y="1685180"/>
                </a:lnTo>
                <a:lnTo>
                  <a:pt x="2720340" y="1686452"/>
                </a:lnTo>
                <a:lnTo>
                  <a:pt x="2752344" y="1687679"/>
                </a:lnTo>
                <a:lnTo>
                  <a:pt x="2784348" y="1688863"/>
                </a:lnTo>
                <a:lnTo>
                  <a:pt x="2816352" y="1690007"/>
                </a:lnTo>
                <a:lnTo>
                  <a:pt x="2848356" y="1691114"/>
                </a:lnTo>
                <a:lnTo>
                  <a:pt x="2880360" y="1692185"/>
                </a:lnTo>
                <a:lnTo>
                  <a:pt x="2912364" y="1693222"/>
                </a:lnTo>
                <a:lnTo>
                  <a:pt x="2944368" y="1694226"/>
                </a:lnTo>
                <a:lnTo>
                  <a:pt x="2976372" y="1695201"/>
                </a:lnTo>
                <a:lnTo>
                  <a:pt x="3008376" y="1696146"/>
                </a:lnTo>
                <a:lnTo>
                  <a:pt x="3040380" y="1697063"/>
                </a:lnTo>
                <a:lnTo>
                  <a:pt x="3072384" y="1697955"/>
                </a:lnTo>
                <a:lnTo>
                  <a:pt x="3104388" y="1698821"/>
                </a:lnTo>
                <a:lnTo>
                  <a:pt x="3136392" y="1699663"/>
                </a:lnTo>
                <a:lnTo>
                  <a:pt x="3168396" y="1700482"/>
                </a:lnTo>
                <a:lnTo>
                  <a:pt x="3200400" y="1701280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206240"/>
            <a:ext cx="3657600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343400"/>
            <a:ext cx="630936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43434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Q8 (A)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017520" y="431596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(2)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4681728"/>
            <a:ext cx="338328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graph was obtained when an acid was reacted with an alkali. Suggest possible formulae for an acid and an alkali that could produce this curve.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434840" y="1691640"/>
            <a:ext cx="356616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00600" y="13624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Glycolic acid curve (redrawn)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00600" y="3685032"/>
            <a:ext cx="3108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53128" y="35935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3413325"/>
            <a:ext cx="3108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453128" y="332188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00600" y="3141617"/>
            <a:ext cx="3108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53128" y="305017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2869910"/>
            <a:ext cx="3108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453128" y="277847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00600" y="2598202"/>
            <a:ext cx="3108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453128" y="250676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00600" y="2326495"/>
            <a:ext cx="3108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453128" y="223505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00600" y="2054787"/>
            <a:ext cx="3108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453128" y="196334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00600" y="1783080"/>
            <a:ext cx="3108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453128" y="169164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4617720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5239512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5861304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6483096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104888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7726680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8679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base added / cm³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00600" y="2734056"/>
            <a:ext cx="310896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4800600" y="1783080"/>
            <a:ext cx="3108960" cy="1901952"/>
          </a:xfrm>
          <a:custGeom>
            <a:avLst/>
            <a:gdLst/>
            <a:ahLst/>
            <a:cxnLst/>
            <a:rect l="l" t="t" r="r" b="b"/>
            <a:pathLst>
              <a:path w="3108960" h="1901952">
                <a:moveTo>
                  <a:pt x="0" y="1579451"/>
                </a:moveTo>
                <a:lnTo>
                  <a:pt x="31090" y="1559051"/>
                </a:lnTo>
                <a:lnTo>
                  <a:pt x="62179" y="1540369"/>
                </a:lnTo>
                <a:lnTo>
                  <a:pt x="93269" y="1524043"/>
                </a:lnTo>
                <a:lnTo>
                  <a:pt x="124358" y="1509927"/>
                </a:lnTo>
                <a:lnTo>
                  <a:pt x="155448" y="1497621"/>
                </a:lnTo>
                <a:lnTo>
                  <a:pt x="186538" y="1486743"/>
                </a:lnTo>
                <a:lnTo>
                  <a:pt x="217627" y="1476982"/>
                </a:lnTo>
                <a:lnTo>
                  <a:pt x="248717" y="1468104"/>
                </a:lnTo>
                <a:lnTo>
                  <a:pt x="279806" y="1459930"/>
                </a:lnTo>
                <a:lnTo>
                  <a:pt x="310896" y="1452326"/>
                </a:lnTo>
                <a:lnTo>
                  <a:pt x="341986" y="1445185"/>
                </a:lnTo>
                <a:lnTo>
                  <a:pt x="373075" y="1438425"/>
                </a:lnTo>
                <a:lnTo>
                  <a:pt x="404165" y="1431979"/>
                </a:lnTo>
                <a:lnTo>
                  <a:pt x="435254" y="1425794"/>
                </a:lnTo>
                <a:lnTo>
                  <a:pt x="466344" y="1419822"/>
                </a:lnTo>
                <a:lnTo>
                  <a:pt x="497434" y="1414027"/>
                </a:lnTo>
                <a:lnTo>
                  <a:pt x="528523" y="1408373"/>
                </a:lnTo>
                <a:lnTo>
                  <a:pt x="559613" y="1402834"/>
                </a:lnTo>
                <a:lnTo>
                  <a:pt x="590702" y="1397380"/>
                </a:lnTo>
                <a:lnTo>
                  <a:pt x="621792" y="1391990"/>
                </a:lnTo>
                <a:lnTo>
                  <a:pt x="652882" y="1386639"/>
                </a:lnTo>
                <a:lnTo>
                  <a:pt x="683971" y="1381306"/>
                </a:lnTo>
                <a:lnTo>
                  <a:pt x="715061" y="1375969"/>
                </a:lnTo>
                <a:lnTo>
                  <a:pt x="746150" y="1370607"/>
                </a:lnTo>
                <a:lnTo>
                  <a:pt x="777240" y="1365196"/>
                </a:lnTo>
                <a:lnTo>
                  <a:pt x="808330" y="1359715"/>
                </a:lnTo>
                <a:lnTo>
                  <a:pt x="839419" y="1354137"/>
                </a:lnTo>
                <a:lnTo>
                  <a:pt x="870509" y="1348434"/>
                </a:lnTo>
                <a:lnTo>
                  <a:pt x="901598" y="1342574"/>
                </a:lnTo>
                <a:lnTo>
                  <a:pt x="932688" y="1336521"/>
                </a:lnTo>
                <a:lnTo>
                  <a:pt x="963778" y="1330231"/>
                </a:lnTo>
                <a:lnTo>
                  <a:pt x="994867" y="1323651"/>
                </a:lnTo>
                <a:lnTo>
                  <a:pt x="1025957" y="1316719"/>
                </a:lnTo>
                <a:lnTo>
                  <a:pt x="1057046" y="1309351"/>
                </a:lnTo>
                <a:lnTo>
                  <a:pt x="1088136" y="1301443"/>
                </a:lnTo>
                <a:lnTo>
                  <a:pt x="1119226" y="1292851"/>
                </a:lnTo>
                <a:lnTo>
                  <a:pt x="1150315" y="1283378"/>
                </a:lnTo>
                <a:lnTo>
                  <a:pt x="1181405" y="1272737"/>
                </a:lnTo>
                <a:lnTo>
                  <a:pt x="1212494" y="1260481"/>
                </a:lnTo>
                <a:lnTo>
                  <a:pt x="1243584" y="1245869"/>
                </a:lnTo>
                <a:lnTo>
                  <a:pt x="1274674" y="1227514"/>
                </a:lnTo>
                <a:lnTo>
                  <a:pt x="1277783" y="1225380"/>
                </a:lnTo>
                <a:lnTo>
                  <a:pt x="1280892" y="1223177"/>
                </a:lnTo>
                <a:lnTo>
                  <a:pt x="1284000" y="1220900"/>
                </a:lnTo>
                <a:lnTo>
                  <a:pt x="1287109" y="1218543"/>
                </a:lnTo>
                <a:lnTo>
                  <a:pt x="1290218" y="1216099"/>
                </a:lnTo>
                <a:lnTo>
                  <a:pt x="1293327" y="1213563"/>
                </a:lnTo>
                <a:lnTo>
                  <a:pt x="1296436" y="1210926"/>
                </a:lnTo>
                <a:lnTo>
                  <a:pt x="1299545" y="1208179"/>
                </a:lnTo>
                <a:lnTo>
                  <a:pt x="1302654" y="1205312"/>
                </a:lnTo>
                <a:lnTo>
                  <a:pt x="1305763" y="1202313"/>
                </a:lnTo>
                <a:lnTo>
                  <a:pt x="1308872" y="1199168"/>
                </a:lnTo>
                <a:lnTo>
                  <a:pt x="1311981" y="1195863"/>
                </a:lnTo>
                <a:lnTo>
                  <a:pt x="1315090" y="1192378"/>
                </a:lnTo>
                <a:lnTo>
                  <a:pt x="1318199" y="1188693"/>
                </a:lnTo>
                <a:lnTo>
                  <a:pt x="1321308" y="1184781"/>
                </a:lnTo>
                <a:lnTo>
                  <a:pt x="1324417" y="1180611"/>
                </a:lnTo>
                <a:lnTo>
                  <a:pt x="1327526" y="1176146"/>
                </a:lnTo>
                <a:lnTo>
                  <a:pt x="1330635" y="1171339"/>
                </a:lnTo>
                <a:lnTo>
                  <a:pt x="1333744" y="1166130"/>
                </a:lnTo>
                <a:lnTo>
                  <a:pt x="1336853" y="1160444"/>
                </a:lnTo>
                <a:lnTo>
                  <a:pt x="1339962" y="1154183"/>
                </a:lnTo>
                <a:lnTo>
                  <a:pt x="1343071" y="1147211"/>
                </a:lnTo>
                <a:lnTo>
                  <a:pt x="1346180" y="1139342"/>
                </a:lnTo>
                <a:lnTo>
                  <a:pt x="1349289" y="1130305"/>
                </a:lnTo>
                <a:lnTo>
                  <a:pt x="1352398" y="1119683"/>
                </a:lnTo>
                <a:lnTo>
                  <a:pt x="1355507" y="1106785"/>
                </a:lnTo>
                <a:lnTo>
                  <a:pt x="1358616" y="1090343"/>
                </a:lnTo>
                <a:lnTo>
                  <a:pt x="1361724" y="1067595"/>
                </a:lnTo>
                <a:lnTo>
                  <a:pt x="1364833" y="1030331"/>
                </a:lnTo>
                <a:lnTo>
                  <a:pt x="1367942" y="907345"/>
                </a:lnTo>
                <a:lnTo>
                  <a:pt x="1371051" y="528079"/>
                </a:lnTo>
                <a:lnTo>
                  <a:pt x="1374160" y="482610"/>
                </a:lnTo>
                <a:lnTo>
                  <a:pt x="1377269" y="457280"/>
                </a:lnTo>
                <a:lnTo>
                  <a:pt x="1380378" y="439648"/>
                </a:lnTo>
                <a:lnTo>
                  <a:pt x="1383487" y="426116"/>
                </a:lnTo>
                <a:lnTo>
                  <a:pt x="1386596" y="415137"/>
                </a:lnTo>
                <a:lnTo>
                  <a:pt x="1389705" y="405902"/>
                </a:lnTo>
                <a:lnTo>
                  <a:pt x="1392814" y="397935"/>
                </a:lnTo>
                <a:lnTo>
                  <a:pt x="1395923" y="390931"/>
                </a:lnTo>
                <a:lnTo>
                  <a:pt x="1399032" y="384683"/>
                </a:lnTo>
                <a:lnTo>
                  <a:pt x="1402141" y="379045"/>
                </a:lnTo>
                <a:lnTo>
                  <a:pt x="1405250" y="373909"/>
                </a:lnTo>
                <a:lnTo>
                  <a:pt x="1408359" y="369195"/>
                </a:lnTo>
                <a:lnTo>
                  <a:pt x="1411468" y="364838"/>
                </a:lnTo>
                <a:lnTo>
                  <a:pt x="1414577" y="360789"/>
                </a:lnTo>
                <a:lnTo>
                  <a:pt x="1417686" y="357009"/>
                </a:lnTo>
                <a:lnTo>
                  <a:pt x="1420795" y="353462"/>
                </a:lnTo>
                <a:lnTo>
                  <a:pt x="1423904" y="350124"/>
                </a:lnTo>
                <a:lnTo>
                  <a:pt x="1427013" y="346971"/>
                </a:lnTo>
                <a:lnTo>
                  <a:pt x="1430122" y="343985"/>
                </a:lnTo>
                <a:lnTo>
                  <a:pt x="1433231" y="341147"/>
                </a:lnTo>
                <a:lnTo>
                  <a:pt x="1436340" y="338446"/>
                </a:lnTo>
                <a:lnTo>
                  <a:pt x="1439448" y="335868"/>
                </a:lnTo>
                <a:lnTo>
                  <a:pt x="1442557" y="333403"/>
                </a:lnTo>
                <a:lnTo>
                  <a:pt x="1445666" y="331042"/>
                </a:lnTo>
                <a:lnTo>
                  <a:pt x="1448775" y="328776"/>
                </a:lnTo>
                <a:lnTo>
                  <a:pt x="1451884" y="326599"/>
                </a:lnTo>
                <a:lnTo>
                  <a:pt x="1454993" y="324503"/>
                </a:lnTo>
                <a:lnTo>
                  <a:pt x="1458102" y="322483"/>
                </a:lnTo>
                <a:lnTo>
                  <a:pt x="1461211" y="320534"/>
                </a:lnTo>
                <a:lnTo>
                  <a:pt x="1464320" y="318651"/>
                </a:lnTo>
                <a:lnTo>
                  <a:pt x="1467429" y="316830"/>
                </a:lnTo>
                <a:lnTo>
                  <a:pt x="1470538" y="315068"/>
                </a:lnTo>
                <a:lnTo>
                  <a:pt x="1473647" y="313359"/>
                </a:lnTo>
                <a:lnTo>
                  <a:pt x="1476756" y="311703"/>
                </a:lnTo>
                <a:lnTo>
                  <a:pt x="1479865" y="310094"/>
                </a:lnTo>
                <a:lnTo>
                  <a:pt x="1482974" y="308532"/>
                </a:lnTo>
                <a:lnTo>
                  <a:pt x="1486083" y="307013"/>
                </a:lnTo>
                <a:lnTo>
                  <a:pt x="1489192" y="305535"/>
                </a:lnTo>
                <a:lnTo>
                  <a:pt x="1492301" y="304096"/>
                </a:lnTo>
                <a:lnTo>
                  <a:pt x="1495410" y="302694"/>
                </a:lnTo>
                <a:lnTo>
                  <a:pt x="1526499" y="290376"/>
                </a:lnTo>
                <a:lnTo>
                  <a:pt x="1557589" y="280378"/>
                </a:lnTo>
                <a:lnTo>
                  <a:pt x="1588679" y="271988"/>
                </a:lnTo>
                <a:lnTo>
                  <a:pt x="1619768" y="264780"/>
                </a:lnTo>
                <a:lnTo>
                  <a:pt x="1650858" y="258475"/>
                </a:lnTo>
                <a:lnTo>
                  <a:pt x="1681947" y="252884"/>
                </a:lnTo>
                <a:lnTo>
                  <a:pt x="1713037" y="247871"/>
                </a:lnTo>
                <a:lnTo>
                  <a:pt x="1744127" y="243334"/>
                </a:lnTo>
                <a:lnTo>
                  <a:pt x="1775216" y="239197"/>
                </a:lnTo>
                <a:lnTo>
                  <a:pt x="1806306" y="235401"/>
                </a:lnTo>
                <a:lnTo>
                  <a:pt x="1837395" y="231897"/>
                </a:lnTo>
                <a:lnTo>
                  <a:pt x="1868485" y="228649"/>
                </a:lnTo>
                <a:lnTo>
                  <a:pt x="1899575" y="225624"/>
                </a:lnTo>
                <a:lnTo>
                  <a:pt x="1930664" y="222797"/>
                </a:lnTo>
                <a:lnTo>
                  <a:pt x="1961754" y="220146"/>
                </a:lnTo>
                <a:lnTo>
                  <a:pt x="1992843" y="217652"/>
                </a:lnTo>
                <a:lnTo>
                  <a:pt x="2023933" y="215300"/>
                </a:lnTo>
                <a:lnTo>
                  <a:pt x="2055023" y="213077"/>
                </a:lnTo>
                <a:lnTo>
                  <a:pt x="2086112" y="210970"/>
                </a:lnTo>
                <a:lnTo>
                  <a:pt x="2117202" y="208970"/>
                </a:lnTo>
                <a:lnTo>
                  <a:pt x="2148291" y="207067"/>
                </a:lnTo>
                <a:lnTo>
                  <a:pt x="2179381" y="205254"/>
                </a:lnTo>
                <a:lnTo>
                  <a:pt x="2210471" y="203524"/>
                </a:lnTo>
                <a:lnTo>
                  <a:pt x="2241560" y="201870"/>
                </a:lnTo>
                <a:lnTo>
                  <a:pt x="2272650" y="200287"/>
                </a:lnTo>
                <a:lnTo>
                  <a:pt x="2303739" y="198770"/>
                </a:lnTo>
                <a:lnTo>
                  <a:pt x="2334829" y="197315"/>
                </a:lnTo>
                <a:lnTo>
                  <a:pt x="2365919" y="195916"/>
                </a:lnTo>
                <a:lnTo>
                  <a:pt x="2397008" y="194572"/>
                </a:lnTo>
                <a:lnTo>
                  <a:pt x="2428098" y="193277"/>
                </a:lnTo>
                <a:lnTo>
                  <a:pt x="2459187" y="192030"/>
                </a:lnTo>
                <a:lnTo>
                  <a:pt x="2490277" y="190827"/>
                </a:lnTo>
                <a:lnTo>
                  <a:pt x="2521367" y="189666"/>
                </a:lnTo>
                <a:lnTo>
                  <a:pt x="2552456" y="188545"/>
                </a:lnTo>
                <a:lnTo>
                  <a:pt x="2583546" y="187460"/>
                </a:lnTo>
                <a:lnTo>
                  <a:pt x="2614635" y="186411"/>
                </a:lnTo>
                <a:lnTo>
                  <a:pt x="2645725" y="185396"/>
                </a:lnTo>
                <a:lnTo>
                  <a:pt x="2676815" y="184412"/>
                </a:lnTo>
                <a:lnTo>
                  <a:pt x="2707904" y="183459"/>
                </a:lnTo>
                <a:lnTo>
                  <a:pt x="2738994" y="182534"/>
                </a:lnTo>
                <a:lnTo>
                  <a:pt x="2770083" y="181636"/>
                </a:lnTo>
                <a:lnTo>
                  <a:pt x="2801173" y="180764"/>
                </a:lnTo>
                <a:lnTo>
                  <a:pt x="2832263" y="179918"/>
                </a:lnTo>
                <a:lnTo>
                  <a:pt x="2863352" y="179094"/>
                </a:lnTo>
                <a:lnTo>
                  <a:pt x="2894442" y="178294"/>
                </a:lnTo>
                <a:lnTo>
                  <a:pt x="2925531" y="177515"/>
                </a:lnTo>
                <a:lnTo>
                  <a:pt x="2956621" y="176756"/>
                </a:lnTo>
                <a:lnTo>
                  <a:pt x="2987711" y="176018"/>
                </a:lnTo>
                <a:lnTo>
                  <a:pt x="3018800" y="175298"/>
                </a:lnTo>
                <a:lnTo>
                  <a:pt x="3049890" y="174597"/>
                </a:lnTo>
                <a:lnTo>
                  <a:pt x="3080979" y="173913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83880" y="1371600"/>
            <a:ext cx="3474720" cy="47091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21040" y="1508760"/>
            <a:ext cx="786384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321040" y="15087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OCR 2011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8321040" y="1847088"/>
            <a:ext cx="320040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student pipetted 25.0 cm³ of 0.125 mol dm⁻³ glycolic acid, HOCH₂COOH, into a conical flask and added NaOH(aq) from a burette, with a pH meter and data logger. 1 mol of glycolic acid reacts with 1 mol of NaOH.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(i) Write the equation for the reaction. [1]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(ii) Determine the concentration, in mol dm⁻³, of the NaOH. [2]</a:t>
            </a:r>
            <a:endParaRPr lang="en-US" sz="1500" dirty="0"/>
          </a:p>
        </p:txBody>
      </p:sp>
      <p:sp>
        <p:nvSpPr>
          <p:cNvPr id="68" name="Text 66"/>
          <p:cNvSpPr txBox="1"/>
          <p:nvPr/>
        </p:nvSpPr>
        <p:spPr>
          <a:xfrm>
            <a:off x="443484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Read the equivalence volume from the graph.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E · ORIGINAL EXAM QUESTION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question: Q4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Titration curves A, B, C and D for combinations of different acids and bases. All solutions are 0.1 mol dm⁻³.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6367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685032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5935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3452513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3361073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3219994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12855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987475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89603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754957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66351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2522438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243099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0" y="2289919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2198479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2057400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1965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09344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048256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487168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2926080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38679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base added / cm³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4400" y="2871216"/>
            <a:ext cx="219456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914400" y="2057400"/>
            <a:ext cx="2194560" cy="1627632"/>
          </a:xfrm>
          <a:custGeom>
            <a:avLst/>
            <a:gdLst/>
            <a:ahLst/>
            <a:cxnLst/>
            <a:rect l="l" t="t" r="r" b="b"/>
            <a:pathLst>
              <a:path w="2194560" h="1627632">
                <a:moveTo>
                  <a:pt x="0" y="1511373"/>
                </a:moveTo>
                <a:lnTo>
                  <a:pt x="21946" y="1509353"/>
                </a:lnTo>
                <a:lnTo>
                  <a:pt x="43891" y="1507331"/>
                </a:lnTo>
                <a:lnTo>
                  <a:pt x="65837" y="1505306"/>
                </a:lnTo>
                <a:lnTo>
                  <a:pt x="87782" y="1503277"/>
                </a:lnTo>
                <a:lnTo>
                  <a:pt x="109728" y="1501241"/>
                </a:lnTo>
                <a:lnTo>
                  <a:pt x="131674" y="1499196"/>
                </a:lnTo>
                <a:lnTo>
                  <a:pt x="153619" y="1497142"/>
                </a:lnTo>
                <a:lnTo>
                  <a:pt x="175565" y="1495075"/>
                </a:lnTo>
                <a:lnTo>
                  <a:pt x="197510" y="1492996"/>
                </a:lnTo>
                <a:lnTo>
                  <a:pt x="219456" y="1490900"/>
                </a:lnTo>
                <a:lnTo>
                  <a:pt x="241402" y="1488787"/>
                </a:lnTo>
                <a:lnTo>
                  <a:pt x="263347" y="1486655"/>
                </a:lnTo>
                <a:lnTo>
                  <a:pt x="285293" y="1484501"/>
                </a:lnTo>
                <a:lnTo>
                  <a:pt x="307238" y="1482322"/>
                </a:lnTo>
                <a:lnTo>
                  <a:pt x="329184" y="1480117"/>
                </a:lnTo>
                <a:lnTo>
                  <a:pt x="351130" y="1477882"/>
                </a:lnTo>
                <a:lnTo>
                  <a:pt x="373075" y="1475616"/>
                </a:lnTo>
                <a:lnTo>
                  <a:pt x="395021" y="1473314"/>
                </a:lnTo>
                <a:lnTo>
                  <a:pt x="416966" y="1470974"/>
                </a:lnTo>
                <a:lnTo>
                  <a:pt x="438912" y="1468592"/>
                </a:lnTo>
                <a:lnTo>
                  <a:pt x="460858" y="1466164"/>
                </a:lnTo>
                <a:lnTo>
                  <a:pt x="482803" y="1463686"/>
                </a:lnTo>
                <a:lnTo>
                  <a:pt x="504749" y="1461153"/>
                </a:lnTo>
                <a:lnTo>
                  <a:pt x="526694" y="1458561"/>
                </a:lnTo>
                <a:lnTo>
                  <a:pt x="548640" y="1455903"/>
                </a:lnTo>
                <a:lnTo>
                  <a:pt x="570586" y="1453173"/>
                </a:lnTo>
                <a:lnTo>
                  <a:pt x="592531" y="1450364"/>
                </a:lnTo>
                <a:lnTo>
                  <a:pt x="614477" y="1447468"/>
                </a:lnTo>
                <a:lnTo>
                  <a:pt x="636422" y="1444476"/>
                </a:lnTo>
                <a:lnTo>
                  <a:pt x="658368" y="1441377"/>
                </a:lnTo>
                <a:lnTo>
                  <a:pt x="680314" y="1438160"/>
                </a:lnTo>
                <a:lnTo>
                  <a:pt x="702259" y="1434811"/>
                </a:lnTo>
                <a:lnTo>
                  <a:pt x="724205" y="1431313"/>
                </a:lnTo>
                <a:lnTo>
                  <a:pt x="746150" y="1427647"/>
                </a:lnTo>
                <a:lnTo>
                  <a:pt x="768096" y="1423791"/>
                </a:lnTo>
                <a:lnTo>
                  <a:pt x="790042" y="1419717"/>
                </a:lnTo>
                <a:lnTo>
                  <a:pt x="811987" y="1415392"/>
                </a:lnTo>
                <a:lnTo>
                  <a:pt x="833933" y="1410773"/>
                </a:lnTo>
                <a:lnTo>
                  <a:pt x="855878" y="1405809"/>
                </a:lnTo>
                <a:lnTo>
                  <a:pt x="877824" y="1400433"/>
                </a:lnTo>
                <a:lnTo>
                  <a:pt x="899770" y="1394555"/>
                </a:lnTo>
                <a:lnTo>
                  <a:pt x="921715" y="1388056"/>
                </a:lnTo>
                <a:lnTo>
                  <a:pt x="943661" y="1380768"/>
                </a:lnTo>
                <a:lnTo>
                  <a:pt x="965606" y="1372445"/>
                </a:lnTo>
                <a:lnTo>
                  <a:pt x="987552" y="1362705"/>
                </a:lnTo>
                <a:lnTo>
                  <a:pt x="1009498" y="1350910"/>
                </a:lnTo>
                <a:lnTo>
                  <a:pt x="1031443" y="1335861"/>
                </a:lnTo>
                <a:lnTo>
                  <a:pt x="1033638" y="1334098"/>
                </a:lnTo>
                <a:lnTo>
                  <a:pt x="1035832" y="1332274"/>
                </a:lnTo>
                <a:lnTo>
                  <a:pt x="1038027" y="1330386"/>
                </a:lnTo>
                <a:lnTo>
                  <a:pt x="1040221" y="1328428"/>
                </a:lnTo>
                <a:lnTo>
                  <a:pt x="1042416" y="1326396"/>
                </a:lnTo>
                <a:lnTo>
                  <a:pt x="1044611" y="1324283"/>
                </a:lnTo>
                <a:lnTo>
                  <a:pt x="1046805" y="1322083"/>
                </a:lnTo>
                <a:lnTo>
                  <a:pt x="1049000" y="1319787"/>
                </a:lnTo>
                <a:lnTo>
                  <a:pt x="1051194" y="1317386"/>
                </a:lnTo>
                <a:lnTo>
                  <a:pt x="1053389" y="1314871"/>
                </a:lnTo>
                <a:lnTo>
                  <a:pt x="1055583" y="1312230"/>
                </a:lnTo>
                <a:lnTo>
                  <a:pt x="1057778" y="1309449"/>
                </a:lnTo>
                <a:lnTo>
                  <a:pt x="1059972" y="1306511"/>
                </a:lnTo>
                <a:lnTo>
                  <a:pt x="1062167" y="1303399"/>
                </a:lnTo>
                <a:lnTo>
                  <a:pt x="1064362" y="1300089"/>
                </a:lnTo>
                <a:lnTo>
                  <a:pt x="1066556" y="1296554"/>
                </a:lnTo>
                <a:lnTo>
                  <a:pt x="1068751" y="1292761"/>
                </a:lnTo>
                <a:lnTo>
                  <a:pt x="1070945" y="1288669"/>
                </a:lnTo>
                <a:lnTo>
                  <a:pt x="1073140" y="1284224"/>
                </a:lnTo>
                <a:lnTo>
                  <a:pt x="1075334" y="1279361"/>
                </a:lnTo>
                <a:lnTo>
                  <a:pt x="1077529" y="1273990"/>
                </a:lnTo>
                <a:lnTo>
                  <a:pt x="1079724" y="1267993"/>
                </a:lnTo>
                <a:lnTo>
                  <a:pt x="1081918" y="1261200"/>
                </a:lnTo>
                <a:lnTo>
                  <a:pt x="1084113" y="1253366"/>
                </a:lnTo>
                <a:lnTo>
                  <a:pt x="1086307" y="1244109"/>
                </a:lnTo>
                <a:lnTo>
                  <a:pt x="1088502" y="1232792"/>
                </a:lnTo>
                <a:lnTo>
                  <a:pt x="1090696" y="1218216"/>
                </a:lnTo>
                <a:lnTo>
                  <a:pt x="1092891" y="1197693"/>
                </a:lnTo>
                <a:lnTo>
                  <a:pt x="1095085" y="1162645"/>
                </a:lnTo>
                <a:lnTo>
                  <a:pt x="1097280" y="813816"/>
                </a:lnTo>
                <a:lnTo>
                  <a:pt x="1099475" y="465088"/>
                </a:lnTo>
                <a:lnTo>
                  <a:pt x="1101669" y="430141"/>
                </a:lnTo>
                <a:lnTo>
                  <a:pt x="1103864" y="409719"/>
                </a:lnTo>
                <a:lnTo>
                  <a:pt x="1106058" y="395244"/>
                </a:lnTo>
                <a:lnTo>
                  <a:pt x="1108253" y="384028"/>
                </a:lnTo>
                <a:lnTo>
                  <a:pt x="1110447" y="374872"/>
                </a:lnTo>
                <a:lnTo>
                  <a:pt x="1112642" y="367139"/>
                </a:lnTo>
                <a:lnTo>
                  <a:pt x="1114836" y="360447"/>
                </a:lnTo>
                <a:lnTo>
                  <a:pt x="1117031" y="354550"/>
                </a:lnTo>
                <a:lnTo>
                  <a:pt x="1119226" y="349281"/>
                </a:lnTo>
                <a:lnTo>
                  <a:pt x="1121420" y="344518"/>
                </a:lnTo>
                <a:lnTo>
                  <a:pt x="1123615" y="340175"/>
                </a:lnTo>
                <a:lnTo>
                  <a:pt x="1125809" y="336183"/>
                </a:lnTo>
                <a:lnTo>
                  <a:pt x="1128004" y="332491"/>
                </a:lnTo>
                <a:lnTo>
                  <a:pt x="1130198" y="329058"/>
                </a:lnTo>
                <a:lnTo>
                  <a:pt x="1132393" y="325849"/>
                </a:lnTo>
                <a:lnTo>
                  <a:pt x="1134588" y="322838"/>
                </a:lnTo>
                <a:lnTo>
                  <a:pt x="1136782" y="320001"/>
                </a:lnTo>
                <a:lnTo>
                  <a:pt x="1138977" y="317321"/>
                </a:lnTo>
                <a:lnTo>
                  <a:pt x="1141171" y="314781"/>
                </a:lnTo>
                <a:lnTo>
                  <a:pt x="1143366" y="312367"/>
                </a:lnTo>
                <a:lnTo>
                  <a:pt x="1145560" y="310067"/>
                </a:lnTo>
                <a:lnTo>
                  <a:pt x="1147755" y="307872"/>
                </a:lnTo>
                <a:lnTo>
                  <a:pt x="1149949" y="305773"/>
                </a:lnTo>
                <a:lnTo>
                  <a:pt x="1152144" y="303761"/>
                </a:lnTo>
                <a:lnTo>
                  <a:pt x="1154339" y="301830"/>
                </a:lnTo>
                <a:lnTo>
                  <a:pt x="1156533" y="299973"/>
                </a:lnTo>
                <a:lnTo>
                  <a:pt x="1158728" y="298186"/>
                </a:lnTo>
                <a:lnTo>
                  <a:pt x="1160922" y="296464"/>
                </a:lnTo>
                <a:lnTo>
                  <a:pt x="1163117" y="294801"/>
                </a:lnTo>
                <a:lnTo>
                  <a:pt x="1165311" y="293194"/>
                </a:lnTo>
                <a:lnTo>
                  <a:pt x="1167506" y="291640"/>
                </a:lnTo>
                <a:lnTo>
                  <a:pt x="1169700" y="290135"/>
                </a:lnTo>
                <a:lnTo>
                  <a:pt x="1171895" y="288677"/>
                </a:lnTo>
                <a:lnTo>
                  <a:pt x="1174090" y="287262"/>
                </a:lnTo>
                <a:lnTo>
                  <a:pt x="1176284" y="285889"/>
                </a:lnTo>
                <a:lnTo>
                  <a:pt x="1178479" y="284554"/>
                </a:lnTo>
                <a:lnTo>
                  <a:pt x="1180673" y="283256"/>
                </a:lnTo>
                <a:lnTo>
                  <a:pt x="1182868" y="281993"/>
                </a:lnTo>
                <a:lnTo>
                  <a:pt x="1185062" y="280763"/>
                </a:lnTo>
                <a:lnTo>
                  <a:pt x="1207008" y="269980"/>
                </a:lnTo>
                <a:lnTo>
                  <a:pt x="1228954" y="261253"/>
                </a:lnTo>
                <a:lnTo>
                  <a:pt x="1250899" y="253944"/>
                </a:lnTo>
                <a:lnTo>
                  <a:pt x="1272845" y="247671"/>
                </a:lnTo>
                <a:lnTo>
                  <a:pt x="1294790" y="242190"/>
                </a:lnTo>
                <a:lnTo>
                  <a:pt x="1316736" y="237331"/>
                </a:lnTo>
                <a:lnTo>
                  <a:pt x="1338682" y="232976"/>
                </a:lnTo>
                <a:lnTo>
                  <a:pt x="1360627" y="229035"/>
                </a:lnTo>
                <a:lnTo>
                  <a:pt x="1382573" y="225443"/>
                </a:lnTo>
                <a:lnTo>
                  <a:pt x="1404518" y="222146"/>
                </a:lnTo>
                <a:lnTo>
                  <a:pt x="1426464" y="219103"/>
                </a:lnTo>
                <a:lnTo>
                  <a:pt x="1448410" y="216282"/>
                </a:lnTo>
                <a:lnTo>
                  <a:pt x="1470355" y="213654"/>
                </a:lnTo>
                <a:lnTo>
                  <a:pt x="1492301" y="211198"/>
                </a:lnTo>
                <a:lnTo>
                  <a:pt x="1514246" y="208894"/>
                </a:lnTo>
                <a:lnTo>
                  <a:pt x="1536192" y="206727"/>
                </a:lnTo>
                <a:lnTo>
                  <a:pt x="1558138" y="204682"/>
                </a:lnTo>
                <a:lnTo>
                  <a:pt x="1580083" y="202749"/>
                </a:lnTo>
                <a:lnTo>
                  <a:pt x="1602029" y="200917"/>
                </a:lnTo>
                <a:lnTo>
                  <a:pt x="1623974" y="199177"/>
                </a:lnTo>
                <a:lnTo>
                  <a:pt x="1645920" y="197521"/>
                </a:lnTo>
                <a:lnTo>
                  <a:pt x="1667866" y="195943"/>
                </a:lnTo>
                <a:lnTo>
                  <a:pt x="1689811" y="194437"/>
                </a:lnTo>
                <a:lnTo>
                  <a:pt x="1711757" y="192997"/>
                </a:lnTo>
                <a:lnTo>
                  <a:pt x="1733702" y="191618"/>
                </a:lnTo>
                <a:lnTo>
                  <a:pt x="1755648" y="190296"/>
                </a:lnTo>
                <a:lnTo>
                  <a:pt x="1777594" y="189027"/>
                </a:lnTo>
                <a:lnTo>
                  <a:pt x="1799539" y="187808"/>
                </a:lnTo>
                <a:lnTo>
                  <a:pt x="1821485" y="186636"/>
                </a:lnTo>
                <a:lnTo>
                  <a:pt x="1843430" y="185507"/>
                </a:lnTo>
                <a:lnTo>
                  <a:pt x="1865376" y="184418"/>
                </a:lnTo>
                <a:lnTo>
                  <a:pt x="1887322" y="183369"/>
                </a:lnTo>
                <a:lnTo>
                  <a:pt x="1909267" y="182355"/>
                </a:lnTo>
                <a:lnTo>
                  <a:pt x="1931213" y="181376"/>
                </a:lnTo>
                <a:lnTo>
                  <a:pt x="1953158" y="180429"/>
                </a:lnTo>
                <a:lnTo>
                  <a:pt x="1975104" y="179512"/>
                </a:lnTo>
                <a:lnTo>
                  <a:pt x="1997050" y="178625"/>
                </a:lnTo>
                <a:lnTo>
                  <a:pt x="2018995" y="177765"/>
                </a:lnTo>
                <a:lnTo>
                  <a:pt x="2040941" y="176931"/>
                </a:lnTo>
                <a:lnTo>
                  <a:pt x="2062886" y="176123"/>
                </a:lnTo>
                <a:lnTo>
                  <a:pt x="2084832" y="175337"/>
                </a:lnTo>
                <a:lnTo>
                  <a:pt x="2106778" y="174575"/>
                </a:lnTo>
                <a:lnTo>
                  <a:pt x="2128723" y="173833"/>
                </a:lnTo>
                <a:lnTo>
                  <a:pt x="2150669" y="173113"/>
                </a:lnTo>
                <a:lnTo>
                  <a:pt x="2172614" y="172412"/>
                </a:lnTo>
                <a:lnTo>
                  <a:pt x="2194560" y="171729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64992" y="196596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730752" y="16367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B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730752" y="3685032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83280" y="35935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30752" y="3452513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383280" y="3361073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30752" y="3219994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83280" y="312855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30752" y="2987475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383280" y="289603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30752" y="2754957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383280" y="266351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30752" y="2522438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383280" y="243099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30752" y="2289919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383280" y="2198479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730752" y="2057400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383280" y="1965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3547872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3986784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4425696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4864608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5303520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5742432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3730752" y="38679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base added / cm³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730752" y="2871216"/>
            <a:ext cx="219456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3730752" y="2057400"/>
            <a:ext cx="2194560" cy="1627632"/>
          </a:xfrm>
          <a:custGeom>
            <a:avLst/>
            <a:gdLst/>
            <a:ahLst/>
            <a:cxnLst/>
            <a:rect l="l" t="t" r="r" b="b"/>
            <a:pathLst>
              <a:path w="2194560" h="1627632">
                <a:moveTo>
                  <a:pt x="0" y="1511373"/>
                </a:moveTo>
                <a:lnTo>
                  <a:pt x="21946" y="1509353"/>
                </a:lnTo>
                <a:lnTo>
                  <a:pt x="43891" y="1507331"/>
                </a:lnTo>
                <a:lnTo>
                  <a:pt x="65837" y="1505306"/>
                </a:lnTo>
                <a:lnTo>
                  <a:pt x="87782" y="1503277"/>
                </a:lnTo>
                <a:lnTo>
                  <a:pt x="109728" y="1501241"/>
                </a:lnTo>
                <a:lnTo>
                  <a:pt x="131674" y="1499196"/>
                </a:lnTo>
                <a:lnTo>
                  <a:pt x="153619" y="1497142"/>
                </a:lnTo>
                <a:lnTo>
                  <a:pt x="175565" y="1495075"/>
                </a:lnTo>
                <a:lnTo>
                  <a:pt x="197510" y="1492996"/>
                </a:lnTo>
                <a:lnTo>
                  <a:pt x="219456" y="1490900"/>
                </a:lnTo>
                <a:lnTo>
                  <a:pt x="241402" y="1488787"/>
                </a:lnTo>
                <a:lnTo>
                  <a:pt x="263347" y="1486655"/>
                </a:lnTo>
                <a:lnTo>
                  <a:pt x="285293" y="1484501"/>
                </a:lnTo>
                <a:lnTo>
                  <a:pt x="307238" y="1482322"/>
                </a:lnTo>
                <a:lnTo>
                  <a:pt x="329184" y="1480117"/>
                </a:lnTo>
                <a:lnTo>
                  <a:pt x="351130" y="1477882"/>
                </a:lnTo>
                <a:lnTo>
                  <a:pt x="373075" y="1475616"/>
                </a:lnTo>
                <a:lnTo>
                  <a:pt x="395021" y="1473314"/>
                </a:lnTo>
                <a:lnTo>
                  <a:pt x="416966" y="1470974"/>
                </a:lnTo>
                <a:lnTo>
                  <a:pt x="438912" y="1468592"/>
                </a:lnTo>
                <a:lnTo>
                  <a:pt x="460858" y="1466164"/>
                </a:lnTo>
                <a:lnTo>
                  <a:pt x="482803" y="1463686"/>
                </a:lnTo>
                <a:lnTo>
                  <a:pt x="504749" y="1461153"/>
                </a:lnTo>
                <a:lnTo>
                  <a:pt x="526694" y="1458561"/>
                </a:lnTo>
                <a:lnTo>
                  <a:pt x="548640" y="1455903"/>
                </a:lnTo>
                <a:lnTo>
                  <a:pt x="570586" y="1453173"/>
                </a:lnTo>
                <a:lnTo>
                  <a:pt x="592531" y="1450364"/>
                </a:lnTo>
                <a:lnTo>
                  <a:pt x="614477" y="1447468"/>
                </a:lnTo>
                <a:lnTo>
                  <a:pt x="636422" y="1444476"/>
                </a:lnTo>
                <a:lnTo>
                  <a:pt x="658368" y="1441377"/>
                </a:lnTo>
                <a:lnTo>
                  <a:pt x="680314" y="1438160"/>
                </a:lnTo>
                <a:lnTo>
                  <a:pt x="702259" y="1434811"/>
                </a:lnTo>
                <a:lnTo>
                  <a:pt x="724205" y="1431313"/>
                </a:lnTo>
                <a:lnTo>
                  <a:pt x="746150" y="1427647"/>
                </a:lnTo>
                <a:lnTo>
                  <a:pt x="768096" y="1423791"/>
                </a:lnTo>
                <a:lnTo>
                  <a:pt x="790042" y="1419717"/>
                </a:lnTo>
                <a:lnTo>
                  <a:pt x="811987" y="1415392"/>
                </a:lnTo>
                <a:lnTo>
                  <a:pt x="833933" y="1410773"/>
                </a:lnTo>
                <a:lnTo>
                  <a:pt x="855878" y="1405809"/>
                </a:lnTo>
                <a:lnTo>
                  <a:pt x="877824" y="1400433"/>
                </a:lnTo>
                <a:lnTo>
                  <a:pt x="899770" y="1394555"/>
                </a:lnTo>
                <a:lnTo>
                  <a:pt x="921715" y="1388056"/>
                </a:lnTo>
                <a:lnTo>
                  <a:pt x="943661" y="1380769"/>
                </a:lnTo>
                <a:lnTo>
                  <a:pt x="965606" y="1372445"/>
                </a:lnTo>
                <a:lnTo>
                  <a:pt x="987552" y="1362705"/>
                </a:lnTo>
                <a:lnTo>
                  <a:pt x="1009498" y="1350910"/>
                </a:lnTo>
                <a:lnTo>
                  <a:pt x="1031443" y="1335862"/>
                </a:lnTo>
                <a:lnTo>
                  <a:pt x="1033638" y="1334098"/>
                </a:lnTo>
                <a:lnTo>
                  <a:pt x="1035832" y="1332274"/>
                </a:lnTo>
                <a:lnTo>
                  <a:pt x="1038027" y="1330386"/>
                </a:lnTo>
                <a:lnTo>
                  <a:pt x="1040221" y="1328429"/>
                </a:lnTo>
                <a:lnTo>
                  <a:pt x="1042416" y="1326397"/>
                </a:lnTo>
                <a:lnTo>
                  <a:pt x="1044611" y="1324284"/>
                </a:lnTo>
                <a:lnTo>
                  <a:pt x="1046805" y="1322083"/>
                </a:lnTo>
                <a:lnTo>
                  <a:pt x="1049000" y="1319787"/>
                </a:lnTo>
                <a:lnTo>
                  <a:pt x="1051194" y="1317387"/>
                </a:lnTo>
                <a:lnTo>
                  <a:pt x="1053389" y="1314872"/>
                </a:lnTo>
                <a:lnTo>
                  <a:pt x="1055583" y="1312230"/>
                </a:lnTo>
                <a:lnTo>
                  <a:pt x="1057778" y="1309449"/>
                </a:lnTo>
                <a:lnTo>
                  <a:pt x="1059972" y="1306512"/>
                </a:lnTo>
                <a:lnTo>
                  <a:pt x="1062167" y="1303399"/>
                </a:lnTo>
                <a:lnTo>
                  <a:pt x="1064362" y="1300090"/>
                </a:lnTo>
                <a:lnTo>
                  <a:pt x="1066556" y="1296555"/>
                </a:lnTo>
                <a:lnTo>
                  <a:pt x="1068751" y="1292762"/>
                </a:lnTo>
                <a:lnTo>
                  <a:pt x="1070945" y="1288670"/>
                </a:lnTo>
                <a:lnTo>
                  <a:pt x="1073140" y="1284226"/>
                </a:lnTo>
                <a:lnTo>
                  <a:pt x="1075334" y="1279363"/>
                </a:lnTo>
                <a:lnTo>
                  <a:pt x="1077529" y="1273992"/>
                </a:lnTo>
                <a:lnTo>
                  <a:pt x="1079724" y="1267995"/>
                </a:lnTo>
                <a:lnTo>
                  <a:pt x="1081918" y="1261202"/>
                </a:lnTo>
                <a:lnTo>
                  <a:pt x="1084113" y="1253369"/>
                </a:lnTo>
                <a:lnTo>
                  <a:pt x="1086307" y="1244115"/>
                </a:lnTo>
                <a:lnTo>
                  <a:pt x="1088502" y="1232800"/>
                </a:lnTo>
                <a:lnTo>
                  <a:pt x="1090696" y="1218231"/>
                </a:lnTo>
                <a:lnTo>
                  <a:pt x="1092891" y="1197728"/>
                </a:lnTo>
                <a:lnTo>
                  <a:pt x="1095085" y="1162784"/>
                </a:lnTo>
                <a:lnTo>
                  <a:pt x="1097280" y="1014004"/>
                </a:lnTo>
                <a:lnTo>
                  <a:pt x="1099475" y="865278"/>
                </a:lnTo>
                <a:lnTo>
                  <a:pt x="1101669" y="830385"/>
                </a:lnTo>
                <a:lnTo>
                  <a:pt x="1103864" y="809933"/>
                </a:lnTo>
                <a:lnTo>
                  <a:pt x="1106058" y="795414"/>
                </a:lnTo>
                <a:lnTo>
                  <a:pt x="1108253" y="784151"/>
                </a:lnTo>
                <a:lnTo>
                  <a:pt x="1110447" y="774947"/>
                </a:lnTo>
                <a:lnTo>
                  <a:pt x="1112642" y="767165"/>
                </a:lnTo>
                <a:lnTo>
                  <a:pt x="1114836" y="760424"/>
                </a:lnTo>
                <a:lnTo>
                  <a:pt x="1117031" y="754477"/>
                </a:lnTo>
                <a:lnTo>
                  <a:pt x="1119226" y="749158"/>
                </a:lnTo>
                <a:lnTo>
                  <a:pt x="1121420" y="744346"/>
                </a:lnTo>
                <a:lnTo>
                  <a:pt x="1123615" y="739953"/>
                </a:lnTo>
                <a:lnTo>
                  <a:pt x="1125809" y="735912"/>
                </a:lnTo>
                <a:lnTo>
                  <a:pt x="1128004" y="732170"/>
                </a:lnTo>
                <a:lnTo>
                  <a:pt x="1130198" y="728687"/>
                </a:lnTo>
                <a:lnTo>
                  <a:pt x="1132393" y="725428"/>
                </a:lnTo>
                <a:lnTo>
                  <a:pt x="1134588" y="722367"/>
                </a:lnTo>
                <a:lnTo>
                  <a:pt x="1136782" y="719481"/>
                </a:lnTo>
                <a:lnTo>
                  <a:pt x="1138977" y="716752"/>
                </a:lnTo>
                <a:lnTo>
                  <a:pt x="1141171" y="714162"/>
                </a:lnTo>
                <a:lnTo>
                  <a:pt x="1143366" y="711699"/>
                </a:lnTo>
                <a:lnTo>
                  <a:pt x="1145560" y="709350"/>
                </a:lnTo>
                <a:lnTo>
                  <a:pt x="1147755" y="707105"/>
                </a:lnTo>
                <a:lnTo>
                  <a:pt x="1149949" y="704957"/>
                </a:lnTo>
                <a:lnTo>
                  <a:pt x="1152144" y="702896"/>
                </a:lnTo>
                <a:lnTo>
                  <a:pt x="1154339" y="700915"/>
                </a:lnTo>
                <a:lnTo>
                  <a:pt x="1156533" y="699010"/>
                </a:lnTo>
                <a:lnTo>
                  <a:pt x="1158728" y="697174"/>
                </a:lnTo>
                <a:lnTo>
                  <a:pt x="1160922" y="695402"/>
                </a:lnTo>
                <a:lnTo>
                  <a:pt x="1163117" y="693690"/>
                </a:lnTo>
                <a:lnTo>
                  <a:pt x="1165311" y="692035"/>
                </a:lnTo>
                <a:lnTo>
                  <a:pt x="1167506" y="690432"/>
                </a:lnTo>
                <a:lnTo>
                  <a:pt x="1169700" y="688878"/>
                </a:lnTo>
                <a:lnTo>
                  <a:pt x="1171895" y="687371"/>
                </a:lnTo>
                <a:lnTo>
                  <a:pt x="1174090" y="685908"/>
                </a:lnTo>
                <a:lnTo>
                  <a:pt x="1176284" y="684485"/>
                </a:lnTo>
                <a:lnTo>
                  <a:pt x="1178479" y="683102"/>
                </a:lnTo>
                <a:lnTo>
                  <a:pt x="1180673" y="681755"/>
                </a:lnTo>
                <a:lnTo>
                  <a:pt x="1182868" y="680444"/>
                </a:lnTo>
                <a:lnTo>
                  <a:pt x="1185062" y="679166"/>
                </a:lnTo>
                <a:lnTo>
                  <a:pt x="1207008" y="667900"/>
                </a:lnTo>
                <a:lnTo>
                  <a:pt x="1228954" y="658695"/>
                </a:lnTo>
                <a:lnTo>
                  <a:pt x="1250899" y="650912"/>
                </a:lnTo>
                <a:lnTo>
                  <a:pt x="1272845" y="644171"/>
                </a:lnTo>
                <a:lnTo>
                  <a:pt x="1294790" y="638224"/>
                </a:lnTo>
                <a:lnTo>
                  <a:pt x="1316736" y="632905"/>
                </a:lnTo>
                <a:lnTo>
                  <a:pt x="1338682" y="628093"/>
                </a:lnTo>
                <a:lnTo>
                  <a:pt x="1360627" y="623701"/>
                </a:lnTo>
                <a:lnTo>
                  <a:pt x="1382573" y="619660"/>
                </a:lnTo>
                <a:lnTo>
                  <a:pt x="1404518" y="615919"/>
                </a:lnTo>
                <a:lnTo>
                  <a:pt x="1426464" y="612436"/>
                </a:lnTo>
                <a:lnTo>
                  <a:pt x="1448410" y="609178"/>
                </a:lnTo>
                <a:lnTo>
                  <a:pt x="1470355" y="606118"/>
                </a:lnTo>
                <a:lnTo>
                  <a:pt x="1492301" y="603232"/>
                </a:lnTo>
                <a:lnTo>
                  <a:pt x="1514246" y="600503"/>
                </a:lnTo>
                <a:lnTo>
                  <a:pt x="1536192" y="597914"/>
                </a:lnTo>
                <a:lnTo>
                  <a:pt x="1558138" y="595451"/>
                </a:lnTo>
                <a:lnTo>
                  <a:pt x="1580083" y="593103"/>
                </a:lnTo>
                <a:lnTo>
                  <a:pt x="1602029" y="590860"/>
                </a:lnTo>
                <a:lnTo>
                  <a:pt x="1623974" y="588711"/>
                </a:lnTo>
                <a:lnTo>
                  <a:pt x="1645920" y="586651"/>
                </a:lnTo>
                <a:lnTo>
                  <a:pt x="1667866" y="584671"/>
                </a:lnTo>
                <a:lnTo>
                  <a:pt x="1689811" y="582767"/>
                </a:lnTo>
                <a:lnTo>
                  <a:pt x="1711757" y="580931"/>
                </a:lnTo>
                <a:lnTo>
                  <a:pt x="1733702" y="579160"/>
                </a:lnTo>
                <a:lnTo>
                  <a:pt x="1755648" y="577449"/>
                </a:lnTo>
                <a:lnTo>
                  <a:pt x="1777594" y="575794"/>
                </a:lnTo>
                <a:lnTo>
                  <a:pt x="1799539" y="574192"/>
                </a:lnTo>
                <a:lnTo>
                  <a:pt x="1821485" y="572639"/>
                </a:lnTo>
                <a:lnTo>
                  <a:pt x="1843430" y="571133"/>
                </a:lnTo>
                <a:lnTo>
                  <a:pt x="1865376" y="569670"/>
                </a:lnTo>
                <a:lnTo>
                  <a:pt x="1887322" y="568248"/>
                </a:lnTo>
                <a:lnTo>
                  <a:pt x="1909267" y="566866"/>
                </a:lnTo>
                <a:lnTo>
                  <a:pt x="1931213" y="565520"/>
                </a:lnTo>
                <a:lnTo>
                  <a:pt x="1953158" y="564209"/>
                </a:lnTo>
                <a:lnTo>
                  <a:pt x="1975104" y="562932"/>
                </a:lnTo>
                <a:lnTo>
                  <a:pt x="1997050" y="561686"/>
                </a:lnTo>
                <a:lnTo>
                  <a:pt x="2018995" y="560470"/>
                </a:lnTo>
                <a:lnTo>
                  <a:pt x="2040941" y="559283"/>
                </a:lnTo>
                <a:lnTo>
                  <a:pt x="2062886" y="558123"/>
                </a:lnTo>
                <a:lnTo>
                  <a:pt x="2084832" y="556989"/>
                </a:lnTo>
                <a:lnTo>
                  <a:pt x="2106778" y="555880"/>
                </a:lnTo>
                <a:lnTo>
                  <a:pt x="2128723" y="554795"/>
                </a:lnTo>
                <a:lnTo>
                  <a:pt x="2150669" y="553733"/>
                </a:lnTo>
                <a:lnTo>
                  <a:pt x="2172614" y="552693"/>
                </a:lnTo>
                <a:lnTo>
                  <a:pt x="2194560" y="551674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81344" y="196596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547104" y="16367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C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547104" y="3685032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199632" y="35935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547104" y="3452513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199632" y="3361073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547104" y="3219994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199632" y="312855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547104" y="2987475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199632" y="289603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547104" y="2754957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199632" y="266351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547104" y="2522438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199632" y="243099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547104" y="2289919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199632" y="2198479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547104" y="2057400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199632" y="1965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6364224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6803136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7242048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7680960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8119872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8558784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6547104" y="38679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acid added / cm³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547104" y="2871216"/>
            <a:ext cx="219456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6547104" y="2057400"/>
            <a:ext cx="2194560" cy="1627632"/>
          </a:xfrm>
          <a:custGeom>
            <a:avLst/>
            <a:gdLst/>
            <a:ahLst/>
            <a:cxnLst/>
            <a:rect l="l" t="t" r="r" b="b"/>
            <a:pathLst>
              <a:path w="2194560" h="1627632">
                <a:moveTo>
                  <a:pt x="0" y="116259"/>
                </a:moveTo>
                <a:lnTo>
                  <a:pt x="21946" y="118279"/>
                </a:lnTo>
                <a:lnTo>
                  <a:pt x="43891" y="120301"/>
                </a:lnTo>
                <a:lnTo>
                  <a:pt x="65837" y="122326"/>
                </a:lnTo>
                <a:lnTo>
                  <a:pt x="87782" y="124355"/>
                </a:lnTo>
                <a:lnTo>
                  <a:pt x="109728" y="126391"/>
                </a:lnTo>
                <a:lnTo>
                  <a:pt x="131674" y="128436"/>
                </a:lnTo>
                <a:lnTo>
                  <a:pt x="153619" y="130490"/>
                </a:lnTo>
                <a:lnTo>
                  <a:pt x="175565" y="132557"/>
                </a:lnTo>
                <a:lnTo>
                  <a:pt x="197510" y="134636"/>
                </a:lnTo>
                <a:lnTo>
                  <a:pt x="219456" y="136732"/>
                </a:lnTo>
                <a:lnTo>
                  <a:pt x="241402" y="138845"/>
                </a:lnTo>
                <a:lnTo>
                  <a:pt x="263347" y="140977"/>
                </a:lnTo>
                <a:lnTo>
                  <a:pt x="285293" y="143131"/>
                </a:lnTo>
                <a:lnTo>
                  <a:pt x="307238" y="145310"/>
                </a:lnTo>
                <a:lnTo>
                  <a:pt x="329184" y="147515"/>
                </a:lnTo>
                <a:lnTo>
                  <a:pt x="351130" y="149750"/>
                </a:lnTo>
                <a:lnTo>
                  <a:pt x="373075" y="152016"/>
                </a:lnTo>
                <a:lnTo>
                  <a:pt x="395021" y="154318"/>
                </a:lnTo>
                <a:lnTo>
                  <a:pt x="416966" y="156658"/>
                </a:lnTo>
                <a:lnTo>
                  <a:pt x="438912" y="159040"/>
                </a:lnTo>
                <a:lnTo>
                  <a:pt x="460858" y="161468"/>
                </a:lnTo>
                <a:lnTo>
                  <a:pt x="482803" y="163946"/>
                </a:lnTo>
                <a:lnTo>
                  <a:pt x="504749" y="166479"/>
                </a:lnTo>
                <a:lnTo>
                  <a:pt x="526694" y="169071"/>
                </a:lnTo>
                <a:lnTo>
                  <a:pt x="548640" y="171729"/>
                </a:lnTo>
                <a:lnTo>
                  <a:pt x="570586" y="174459"/>
                </a:lnTo>
                <a:lnTo>
                  <a:pt x="592531" y="177268"/>
                </a:lnTo>
                <a:lnTo>
                  <a:pt x="614477" y="180164"/>
                </a:lnTo>
                <a:lnTo>
                  <a:pt x="636422" y="183156"/>
                </a:lnTo>
                <a:lnTo>
                  <a:pt x="658368" y="186255"/>
                </a:lnTo>
                <a:lnTo>
                  <a:pt x="680314" y="189472"/>
                </a:lnTo>
                <a:lnTo>
                  <a:pt x="702259" y="192821"/>
                </a:lnTo>
                <a:lnTo>
                  <a:pt x="724205" y="196319"/>
                </a:lnTo>
                <a:lnTo>
                  <a:pt x="746150" y="199985"/>
                </a:lnTo>
                <a:lnTo>
                  <a:pt x="768096" y="203841"/>
                </a:lnTo>
                <a:lnTo>
                  <a:pt x="790042" y="207915"/>
                </a:lnTo>
                <a:lnTo>
                  <a:pt x="811987" y="212240"/>
                </a:lnTo>
                <a:lnTo>
                  <a:pt x="833933" y="216859"/>
                </a:lnTo>
                <a:lnTo>
                  <a:pt x="855878" y="221823"/>
                </a:lnTo>
                <a:lnTo>
                  <a:pt x="877824" y="227199"/>
                </a:lnTo>
                <a:lnTo>
                  <a:pt x="899770" y="233077"/>
                </a:lnTo>
                <a:lnTo>
                  <a:pt x="921715" y="239576"/>
                </a:lnTo>
                <a:lnTo>
                  <a:pt x="943661" y="246863"/>
                </a:lnTo>
                <a:lnTo>
                  <a:pt x="965606" y="255187"/>
                </a:lnTo>
                <a:lnTo>
                  <a:pt x="987552" y="264927"/>
                </a:lnTo>
                <a:lnTo>
                  <a:pt x="1009498" y="276722"/>
                </a:lnTo>
                <a:lnTo>
                  <a:pt x="1031443" y="291770"/>
                </a:lnTo>
                <a:lnTo>
                  <a:pt x="1033638" y="293534"/>
                </a:lnTo>
                <a:lnTo>
                  <a:pt x="1035832" y="295358"/>
                </a:lnTo>
                <a:lnTo>
                  <a:pt x="1038027" y="297246"/>
                </a:lnTo>
                <a:lnTo>
                  <a:pt x="1040221" y="299203"/>
                </a:lnTo>
                <a:lnTo>
                  <a:pt x="1042416" y="301235"/>
                </a:lnTo>
                <a:lnTo>
                  <a:pt x="1044611" y="303348"/>
                </a:lnTo>
                <a:lnTo>
                  <a:pt x="1046805" y="305549"/>
                </a:lnTo>
                <a:lnTo>
                  <a:pt x="1049000" y="307845"/>
                </a:lnTo>
                <a:lnTo>
                  <a:pt x="1051194" y="310245"/>
                </a:lnTo>
                <a:lnTo>
                  <a:pt x="1053389" y="312760"/>
                </a:lnTo>
                <a:lnTo>
                  <a:pt x="1055583" y="315402"/>
                </a:lnTo>
                <a:lnTo>
                  <a:pt x="1057778" y="318183"/>
                </a:lnTo>
                <a:lnTo>
                  <a:pt x="1059972" y="321120"/>
                </a:lnTo>
                <a:lnTo>
                  <a:pt x="1062167" y="324232"/>
                </a:lnTo>
                <a:lnTo>
                  <a:pt x="1064362" y="327542"/>
                </a:lnTo>
                <a:lnTo>
                  <a:pt x="1066556" y="331077"/>
                </a:lnTo>
                <a:lnTo>
                  <a:pt x="1068751" y="334870"/>
                </a:lnTo>
                <a:lnTo>
                  <a:pt x="1070945" y="338962"/>
                </a:lnTo>
                <a:lnTo>
                  <a:pt x="1073140" y="343406"/>
                </a:lnTo>
                <a:lnTo>
                  <a:pt x="1075334" y="348269"/>
                </a:lnTo>
                <a:lnTo>
                  <a:pt x="1077529" y="353640"/>
                </a:lnTo>
                <a:lnTo>
                  <a:pt x="1079724" y="359637"/>
                </a:lnTo>
                <a:lnTo>
                  <a:pt x="1081918" y="366430"/>
                </a:lnTo>
                <a:lnTo>
                  <a:pt x="1084113" y="374263"/>
                </a:lnTo>
                <a:lnTo>
                  <a:pt x="1086307" y="383517"/>
                </a:lnTo>
                <a:lnTo>
                  <a:pt x="1088502" y="394831"/>
                </a:lnTo>
                <a:lnTo>
                  <a:pt x="1090696" y="409400"/>
                </a:lnTo>
                <a:lnTo>
                  <a:pt x="1092891" y="429903"/>
                </a:lnTo>
                <a:lnTo>
                  <a:pt x="1095085" y="464845"/>
                </a:lnTo>
                <a:lnTo>
                  <a:pt x="1097280" y="613061"/>
                </a:lnTo>
                <a:lnTo>
                  <a:pt x="1099475" y="761223"/>
                </a:lnTo>
                <a:lnTo>
                  <a:pt x="1101669" y="796113"/>
                </a:lnTo>
                <a:lnTo>
                  <a:pt x="1103864" y="816565"/>
                </a:lnTo>
                <a:lnTo>
                  <a:pt x="1106058" y="831084"/>
                </a:lnTo>
                <a:lnTo>
                  <a:pt x="1108253" y="842347"/>
                </a:lnTo>
                <a:lnTo>
                  <a:pt x="1110447" y="851551"/>
                </a:lnTo>
                <a:lnTo>
                  <a:pt x="1112642" y="859333"/>
                </a:lnTo>
                <a:lnTo>
                  <a:pt x="1114836" y="866074"/>
                </a:lnTo>
                <a:lnTo>
                  <a:pt x="1117031" y="872021"/>
                </a:lnTo>
                <a:lnTo>
                  <a:pt x="1119226" y="877340"/>
                </a:lnTo>
                <a:lnTo>
                  <a:pt x="1121420" y="882152"/>
                </a:lnTo>
                <a:lnTo>
                  <a:pt x="1123615" y="886545"/>
                </a:lnTo>
                <a:lnTo>
                  <a:pt x="1125809" y="890586"/>
                </a:lnTo>
                <a:lnTo>
                  <a:pt x="1128004" y="894328"/>
                </a:lnTo>
                <a:lnTo>
                  <a:pt x="1130198" y="897811"/>
                </a:lnTo>
                <a:lnTo>
                  <a:pt x="1132393" y="901070"/>
                </a:lnTo>
                <a:lnTo>
                  <a:pt x="1134588" y="904130"/>
                </a:lnTo>
                <a:lnTo>
                  <a:pt x="1136782" y="907016"/>
                </a:lnTo>
                <a:lnTo>
                  <a:pt x="1138977" y="909746"/>
                </a:lnTo>
                <a:lnTo>
                  <a:pt x="1141171" y="912336"/>
                </a:lnTo>
                <a:lnTo>
                  <a:pt x="1143366" y="914799"/>
                </a:lnTo>
                <a:lnTo>
                  <a:pt x="1145560" y="917148"/>
                </a:lnTo>
                <a:lnTo>
                  <a:pt x="1147755" y="919392"/>
                </a:lnTo>
                <a:lnTo>
                  <a:pt x="1149949" y="921541"/>
                </a:lnTo>
                <a:lnTo>
                  <a:pt x="1152144" y="923602"/>
                </a:lnTo>
                <a:lnTo>
                  <a:pt x="1154339" y="925582"/>
                </a:lnTo>
                <a:lnTo>
                  <a:pt x="1156533" y="927488"/>
                </a:lnTo>
                <a:lnTo>
                  <a:pt x="1158728" y="929324"/>
                </a:lnTo>
                <a:lnTo>
                  <a:pt x="1160922" y="931096"/>
                </a:lnTo>
                <a:lnTo>
                  <a:pt x="1163117" y="932807"/>
                </a:lnTo>
                <a:lnTo>
                  <a:pt x="1165311" y="934463"/>
                </a:lnTo>
                <a:lnTo>
                  <a:pt x="1167506" y="936066"/>
                </a:lnTo>
                <a:lnTo>
                  <a:pt x="1169700" y="937619"/>
                </a:lnTo>
                <a:lnTo>
                  <a:pt x="1171895" y="939127"/>
                </a:lnTo>
                <a:lnTo>
                  <a:pt x="1174090" y="940590"/>
                </a:lnTo>
                <a:lnTo>
                  <a:pt x="1176284" y="942013"/>
                </a:lnTo>
                <a:lnTo>
                  <a:pt x="1178479" y="943396"/>
                </a:lnTo>
                <a:lnTo>
                  <a:pt x="1180673" y="944742"/>
                </a:lnTo>
                <a:lnTo>
                  <a:pt x="1182868" y="946054"/>
                </a:lnTo>
                <a:lnTo>
                  <a:pt x="1185062" y="947332"/>
                </a:lnTo>
                <a:lnTo>
                  <a:pt x="1207008" y="958598"/>
                </a:lnTo>
                <a:lnTo>
                  <a:pt x="1228954" y="967803"/>
                </a:lnTo>
                <a:lnTo>
                  <a:pt x="1250899" y="975586"/>
                </a:lnTo>
                <a:lnTo>
                  <a:pt x="1272845" y="982327"/>
                </a:lnTo>
                <a:lnTo>
                  <a:pt x="1294790" y="988274"/>
                </a:lnTo>
                <a:lnTo>
                  <a:pt x="1316736" y="993593"/>
                </a:lnTo>
                <a:lnTo>
                  <a:pt x="1338682" y="998404"/>
                </a:lnTo>
                <a:lnTo>
                  <a:pt x="1360627" y="1002797"/>
                </a:lnTo>
                <a:lnTo>
                  <a:pt x="1382573" y="1006838"/>
                </a:lnTo>
                <a:lnTo>
                  <a:pt x="1404518" y="1010579"/>
                </a:lnTo>
                <a:lnTo>
                  <a:pt x="1426464" y="1014062"/>
                </a:lnTo>
                <a:lnTo>
                  <a:pt x="1448410" y="1017320"/>
                </a:lnTo>
                <a:lnTo>
                  <a:pt x="1470355" y="1020380"/>
                </a:lnTo>
                <a:lnTo>
                  <a:pt x="1492301" y="1023265"/>
                </a:lnTo>
                <a:lnTo>
                  <a:pt x="1514246" y="1025995"/>
                </a:lnTo>
                <a:lnTo>
                  <a:pt x="1536192" y="1028584"/>
                </a:lnTo>
                <a:lnTo>
                  <a:pt x="1558138" y="1031047"/>
                </a:lnTo>
                <a:lnTo>
                  <a:pt x="1580083" y="1033395"/>
                </a:lnTo>
                <a:lnTo>
                  <a:pt x="1602029" y="1035639"/>
                </a:lnTo>
                <a:lnTo>
                  <a:pt x="1623974" y="1037787"/>
                </a:lnTo>
                <a:lnTo>
                  <a:pt x="1645920" y="1039847"/>
                </a:lnTo>
                <a:lnTo>
                  <a:pt x="1667866" y="1041827"/>
                </a:lnTo>
                <a:lnTo>
                  <a:pt x="1689811" y="1043732"/>
                </a:lnTo>
                <a:lnTo>
                  <a:pt x="1711757" y="1045567"/>
                </a:lnTo>
                <a:lnTo>
                  <a:pt x="1733702" y="1047338"/>
                </a:lnTo>
                <a:lnTo>
                  <a:pt x="1755648" y="1049049"/>
                </a:lnTo>
                <a:lnTo>
                  <a:pt x="1777594" y="1050704"/>
                </a:lnTo>
                <a:lnTo>
                  <a:pt x="1799539" y="1052306"/>
                </a:lnTo>
                <a:lnTo>
                  <a:pt x="1821485" y="1053859"/>
                </a:lnTo>
                <a:lnTo>
                  <a:pt x="1843430" y="1055366"/>
                </a:lnTo>
                <a:lnTo>
                  <a:pt x="1865376" y="1056828"/>
                </a:lnTo>
                <a:lnTo>
                  <a:pt x="1887322" y="1058250"/>
                </a:lnTo>
                <a:lnTo>
                  <a:pt x="1909267" y="1059633"/>
                </a:lnTo>
                <a:lnTo>
                  <a:pt x="1931213" y="1060978"/>
                </a:lnTo>
                <a:lnTo>
                  <a:pt x="1953158" y="1062289"/>
                </a:lnTo>
                <a:lnTo>
                  <a:pt x="1975104" y="1063567"/>
                </a:lnTo>
                <a:lnTo>
                  <a:pt x="1997050" y="1064813"/>
                </a:lnTo>
                <a:lnTo>
                  <a:pt x="2018995" y="1066028"/>
                </a:lnTo>
                <a:lnTo>
                  <a:pt x="2040941" y="1067216"/>
                </a:lnTo>
                <a:lnTo>
                  <a:pt x="2062886" y="1068376"/>
                </a:lnTo>
                <a:lnTo>
                  <a:pt x="2084832" y="1069509"/>
                </a:lnTo>
                <a:lnTo>
                  <a:pt x="2106778" y="1070618"/>
                </a:lnTo>
                <a:lnTo>
                  <a:pt x="2128723" y="1071703"/>
                </a:lnTo>
                <a:lnTo>
                  <a:pt x="2150669" y="1072765"/>
                </a:lnTo>
                <a:lnTo>
                  <a:pt x="2172614" y="1073806"/>
                </a:lnTo>
                <a:lnTo>
                  <a:pt x="2194560" y="1074825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997696" y="196596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363456" y="16367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D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9363456" y="3685032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9015984" y="35935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363456" y="3452513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9015984" y="3361073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9363456" y="3219994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9015984" y="312855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363456" y="2987475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9015984" y="289603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9363456" y="2754957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9015984" y="266351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9363456" y="2522438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9015984" y="243099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9363456" y="2289919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9015984" y="2198479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12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9363456" y="2057400"/>
            <a:ext cx="21945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9015984" y="1965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14</a:t>
            </a:r>
            <a:endParaRPr lang="en-US" sz="900" dirty="0"/>
          </a:p>
        </p:txBody>
      </p:sp>
      <p:sp>
        <p:nvSpPr>
          <p:cNvPr id="105" name="Text 103"/>
          <p:cNvSpPr txBox="1"/>
          <p:nvPr/>
        </p:nvSpPr>
        <p:spPr>
          <a:xfrm>
            <a:off x="9180576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0</a:t>
            </a:r>
            <a:endParaRPr lang="en-US" sz="900" dirty="0"/>
          </a:p>
        </p:txBody>
      </p:sp>
      <p:sp>
        <p:nvSpPr>
          <p:cNvPr id="106" name="Text 104"/>
          <p:cNvSpPr txBox="1"/>
          <p:nvPr/>
        </p:nvSpPr>
        <p:spPr>
          <a:xfrm>
            <a:off x="9619488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sp>
        <p:nvSpPr>
          <p:cNvPr id="107" name="Text 105"/>
          <p:cNvSpPr txBox="1"/>
          <p:nvPr/>
        </p:nvSpPr>
        <p:spPr>
          <a:xfrm>
            <a:off x="10058400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20</a:t>
            </a:r>
            <a:endParaRPr lang="en-US" sz="900" dirty="0"/>
          </a:p>
        </p:txBody>
      </p:sp>
      <p:sp>
        <p:nvSpPr>
          <p:cNvPr id="108" name="Text 106"/>
          <p:cNvSpPr txBox="1"/>
          <p:nvPr/>
        </p:nvSpPr>
        <p:spPr>
          <a:xfrm>
            <a:off x="10497312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30</a:t>
            </a:r>
            <a:endParaRPr lang="en-US" sz="900" dirty="0"/>
          </a:p>
        </p:txBody>
      </p:sp>
      <p:sp>
        <p:nvSpPr>
          <p:cNvPr id="109" name="Text 107"/>
          <p:cNvSpPr txBox="1"/>
          <p:nvPr/>
        </p:nvSpPr>
        <p:spPr>
          <a:xfrm>
            <a:off x="10936224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/>
          </a:p>
        </p:txBody>
      </p:sp>
      <p:sp>
        <p:nvSpPr>
          <p:cNvPr id="110" name="Text 108"/>
          <p:cNvSpPr txBox="1"/>
          <p:nvPr/>
        </p:nvSpPr>
        <p:spPr>
          <a:xfrm>
            <a:off x="11375136" y="37124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50</a:t>
            </a:r>
            <a:endParaRPr lang="en-US" sz="900" dirty="0"/>
          </a:p>
        </p:txBody>
      </p:sp>
      <p:sp>
        <p:nvSpPr>
          <p:cNvPr id="111" name="Text 109"/>
          <p:cNvSpPr txBox="1"/>
          <p:nvPr/>
        </p:nvSpPr>
        <p:spPr>
          <a:xfrm>
            <a:off x="9363456" y="38679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</a:rPr>
              <a:t>acid added / cm³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9363456" y="2871216"/>
            <a:ext cx="219456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>
            <a:off x="9363456" y="2057400"/>
            <a:ext cx="2194560" cy="1627632"/>
          </a:xfrm>
          <a:custGeom>
            <a:avLst/>
            <a:gdLst/>
            <a:ahLst/>
            <a:cxnLst/>
            <a:rect l="l" t="t" r="r" b="b"/>
            <a:pathLst>
              <a:path w="2194560" h="1627632">
                <a:moveTo>
                  <a:pt x="0" y="116259"/>
                </a:moveTo>
                <a:lnTo>
                  <a:pt x="21946" y="118279"/>
                </a:lnTo>
                <a:lnTo>
                  <a:pt x="43891" y="120301"/>
                </a:lnTo>
                <a:lnTo>
                  <a:pt x="65837" y="122326"/>
                </a:lnTo>
                <a:lnTo>
                  <a:pt x="87782" y="124355"/>
                </a:lnTo>
                <a:lnTo>
                  <a:pt x="109728" y="126391"/>
                </a:lnTo>
                <a:lnTo>
                  <a:pt x="131674" y="128436"/>
                </a:lnTo>
                <a:lnTo>
                  <a:pt x="153619" y="130490"/>
                </a:lnTo>
                <a:lnTo>
                  <a:pt x="175565" y="132557"/>
                </a:lnTo>
                <a:lnTo>
                  <a:pt x="197510" y="134636"/>
                </a:lnTo>
                <a:lnTo>
                  <a:pt x="219456" y="136732"/>
                </a:lnTo>
                <a:lnTo>
                  <a:pt x="241402" y="138845"/>
                </a:lnTo>
                <a:lnTo>
                  <a:pt x="263347" y="140977"/>
                </a:lnTo>
                <a:lnTo>
                  <a:pt x="285293" y="143131"/>
                </a:lnTo>
                <a:lnTo>
                  <a:pt x="307238" y="145310"/>
                </a:lnTo>
                <a:lnTo>
                  <a:pt x="329184" y="147515"/>
                </a:lnTo>
                <a:lnTo>
                  <a:pt x="351130" y="149750"/>
                </a:lnTo>
                <a:lnTo>
                  <a:pt x="373075" y="152016"/>
                </a:lnTo>
                <a:lnTo>
                  <a:pt x="395021" y="154318"/>
                </a:lnTo>
                <a:lnTo>
                  <a:pt x="416966" y="156658"/>
                </a:lnTo>
                <a:lnTo>
                  <a:pt x="438912" y="159040"/>
                </a:lnTo>
                <a:lnTo>
                  <a:pt x="460858" y="161468"/>
                </a:lnTo>
                <a:lnTo>
                  <a:pt x="482803" y="163946"/>
                </a:lnTo>
                <a:lnTo>
                  <a:pt x="504749" y="166479"/>
                </a:lnTo>
                <a:lnTo>
                  <a:pt x="526694" y="169071"/>
                </a:lnTo>
                <a:lnTo>
                  <a:pt x="548640" y="171729"/>
                </a:lnTo>
                <a:lnTo>
                  <a:pt x="570586" y="174459"/>
                </a:lnTo>
                <a:lnTo>
                  <a:pt x="592531" y="177268"/>
                </a:lnTo>
                <a:lnTo>
                  <a:pt x="614477" y="180164"/>
                </a:lnTo>
                <a:lnTo>
                  <a:pt x="636422" y="183156"/>
                </a:lnTo>
                <a:lnTo>
                  <a:pt x="658368" y="186255"/>
                </a:lnTo>
                <a:lnTo>
                  <a:pt x="680314" y="189472"/>
                </a:lnTo>
                <a:lnTo>
                  <a:pt x="702259" y="192821"/>
                </a:lnTo>
                <a:lnTo>
                  <a:pt x="724205" y="196319"/>
                </a:lnTo>
                <a:lnTo>
                  <a:pt x="746150" y="199985"/>
                </a:lnTo>
                <a:lnTo>
                  <a:pt x="768096" y="203841"/>
                </a:lnTo>
                <a:lnTo>
                  <a:pt x="790042" y="207915"/>
                </a:lnTo>
                <a:lnTo>
                  <a:pt x="811987" y="212240"/>
                </a:lnTo>
                <a:lnTo>
                  <a:pt x="833933" y="216859"/>
                </a:lnTo>
                <a:lnTo>
                  <a:pt x="855878" y="221823"/>
                </a:lnTo>
                <a:lnTo>
                  <a:pt x="877824" y="227199"/>
                </a:lnTo>
                <a:lnTo>
                  <a:pt x="899770" y="233077"/>
                </a:lnTo>
                <a:lnTo>
                  <a:pt x="921715" y="239576"/>
                </a:lnTo>
                <a:lnTo>
                  <a:pt x="943661" y="246864"/>
                </a:lnTo>
                <a:lnTo>
                  <a:pt x="965606" y="255187"/>
                </a:lnTo>
                <a:lnTo>
                  <a:pt x="987552" y="264927"/>
                </a:lnTo>
                <a:lnTo>
                  <a:pt x="1009498" y="276722"/>
                </a:lnTo>
                <a:lnTo>
                  <a:pt x="1031443" y="291771"/>
                </a:lnTo>
                <a:lnTo>
                  <a:pt x="1033638" y="293534"/>
                </a:lnTo>
                <a:lnTo>
                  <a:pt x="1035832" y="295358"/>
                </a:lnTo>
                <a:lnTo>
                  <a:pt x="1038027" y="297246"/>
                </a:lnTo>
                <a:lnTo>
                  <a:pt x="1040221" y="299204"/>
                </a:lnTo>
                <a:lnTo>
                  <a:pt x="1042416" y="301236"/>
                </a:lnTo>
                <a:lnTo>
                  <a:pt x="1044611" y="303349"/>
                </a:lnTo>
                <a:lnTo>
                  <a:pt x="1046805" y="305549"/>
                </a:lnTo>
                <a:lnTo>
                  <a:pt x="1049000" y="307845"/>
                </a:lnTo>
                <a:lnTo>
                  <a:pt x="1051194" y="310246"/>
                </a:lnTo>
                <a:lnTo>
                  <a:pt x="1053389" y="312761"/>
                </a:lnTo>
                <a:lnTo>
                  <a:pt x="1055583" y="315402"/>
                </a:lnTo>
                <a:lnTo>
                  <a:pt x="1057778" y="318183"/>
                </a:lnTo>
                <a:lnTo>
                  <a:pt x="1059972" y="321121"/>
                </a:lnTo>
                <a:lnTo>
                  <a:pt x="1062167" y="324233"/>
                </a:lnTo>
                <a:lnTo>
                  <a:pt x="1064362" y="327543"/>
                </a:lnTo>
                <a:lnTo>
                  <a:pt x="1066556" y="331078"/>
                </a:lnTo>
                <a:lnTo>
                  <a:pt x="1068751" y="334871"/>
                </a:lnTo>
                <a:lnTo>
                  <a:pt x="1070945" y="338963"/>
                </a:lnTo>
                <a:lnTo>
                  <a:pt x="1073140" y="343408"/>
                </a:lnTo>
                <a:lnTo>
                  <a:pt x="1075334" y="348271"/>
                </a:lnTo>
                <a:lnTo>
                  <a:pt x="1077529" y="353642"/>
                </a:lnTo>
                <a:lnTo>
                  <a:pt x="1079724" y="359639"/>
                </a:lnTo>
                <a:lnTo>
                  <a:pt x="1081918" y="366432"/>
                </a:lnTo>
                <a:lnTo>
                  <a:pt x="1084113" y="374266"/>
                </a:lnTo>
                <a:lnTo>
                  <a:pt x="1086307" y="383523"/>
                </a:lnTo>
                <a:lnTo>
                  <a:pt x="1088502" y="394840"/>
                </a:lnTo>
                <a:lnTo>
                  <a:pt x="1090696" y="409416"/>
                </a:lnTo>
                <a:lnTo>
                  <a:pt x="1092891" y="429939"/>
                </a:lnTo>
                <a:lnTo>
                  <a:pt x="1095085" y="464987"/>
                </a:lnTo>
                <a:lnTo>
                  <a:pt x="1097280" y="813816"/>
                </a:lnTo>
                <a:lnTo>
                  <a:pt x="1099475" y="1162544"/>
                </a:lnTo>
                <a:lnTo>
                  <a:pt x="1101669" y="1197491"/>
                </a:lnTo>
                <a:lnTo>
                  <a:pt x="1103864" y="1217913"/>
                </a:lnTo>
                <a:lnTo>
                  <a:pt x="1106058" y="1232388"/>
                </a:lnTo>
                <a:lnTo>
                  <a:pt x="1108253" y="1243604"/>
                </a:lnTo>
                <a:lnTo>
                  <a:pt x="1110447" y="1252760"/>
                </a:lnTo>
                <a:lnTo>
                  <a:pt x="1112642" y="1260493"/>
                </a:lnTo>
                <a:lnTo>
                  <a:pt x="1114836" y="1267185"/>
                </a:lnTo>
                <a:lnTo>
                  <a:pt x="1117031" y="1273082"/>
                </a:lnTo>
                <a:lnTo>
                  <a:pt x="1119226" y="1278351"/>
                </a:lnTo>
                <a:lnTo>
                  <a:pt x="1121420" y="1283114"/>
                </a:lnTo>
                <a:lnTo>
                  <a:pt x="1123615" y="1287457"/>
                </a:lnTo>
                <a:lnTo>
                  <a:pt x="1125809" y="1291449"/>
                </a:lnTo>
                <a:lnTo>
                  <a:pt x="1128004" y="1295141"/>
                </a:lnTo>
                <a:lnTo>
                  <a:pt x="1130198" y="1298574"/>
                </a:lnTo>
                <a:lnTo>
                  <a:pt x="1132393" y="1301783"/>
                </a:lnTo>
                <a:lnTo>
                  <a:pt x="1134588" y="1304794"/>
                </a:lnTo>
                <a:lnTo>
                  <a:pt x="1136782" y="1307631"/>
                </a:lnTo>
                <a:lnTo>
                  <a:pt x="1138977" y="1310311"/>
                </a:lnTo>
                <a:lnTo>
                  <a:pt x="1141171" y="1312851"/>
                </a:lnTo>
                <a:lnTo>
                  <a:pt x="1143366" y="1315265"/>
                </a:lnTo>
                <a:lnTo>
                  <a:pt x="1145560" y="1317565"/>
                </a:lnTo>
                <a:lnTo>
                  <a:pt x="1147755" y="1319760"/>
                </a:lnTo>
                <a:lnTo>
                  <a:pt x="1149949" y="1321859"/>
                </a:lnTo>
                <a:lnTo>
                  <a:pt x="1152144" y="1323871"/>
                </a:lnTo>
                <a:lnTo>
                  <a:pt x="1154339" y="1325802"/>
                </a:lnTo>
                <a:lnTo>
                  <a:pt x="1156533" y="1327659"/>
                </a:lnTo>
                <a:lnTo>
                  <a:pt x="1158728" y="1329446"/>
                </a:lnTo>
                <a:lnTo>
                  <a:pt x="1160922" y="1331168"/>
                </a:lnTo>
                <a:lnTo>
                  <a:pt x="1163117" y="1332831"/>
                </a:lnTo>
                <a:lnTo>
                  <a:pt x="1165311" y="1334438"/>
                </a:lnTo>
                <a:lnTo>
                  <a:pt x="1167506" y="1335992"/>
                </a:lnTo>
                <a:lnTo>
                  <a:pt x="1169700" y="1337497"/>
                </a:lnTo>
                <a:lnTo>
                  <a:pt x="1171895" y="1338955"/>
                </a:lnTo>
                <a:lnTo>
                  <a:pt x="1174090" y="1340370"/>
                </a:lnTo>
                <a:lnTo>
                  <a:pt x="1176284" y="1341743"/>
                </a:lnTo>
                <a:lnTo>
                  <a:pt x="1178479" y="1343078"/>
                </a:lnTo>
                <a:lnTo>
                  <a:pt x="1180673" y="1344376"/>
                </a:lnTo>
                <a:lnTo>
                  <a:pt x="1182868" y="1345639"/>
                </a:lnTo>
                <a:lnTo>
                  <a:pt x="1185062" y="1346869"/>
                </a:lnTo>
                <a:lnTo>
                  <a:pt x="1207008" y="1357652"/>
                </a:lnTo>
                <a:lnTo>
                  <a:pt x="1228954" y="1366379"/>
                </a:lnTo>
                <a:lnTo>
                  <a:pt x="1250899" y="1373688"/>
                </a:lnTo>
                <a:lnTo>
                  <a:pt x="1272845" y="1379961"/>
                </a:lnTo>
                <a:lnTo>
                  <a:pt x="1294790" y="1385442"/>
                </a:lnTo>
                <a:lnTo>
                  <a:pt x="1316736" y="1390301"/>
                </a:lnTo>
                <a:lnTo>
                  <a:pt x="1338682" y="1394656"/>
                </a:lnTo>
                <a:lnTo>
                  <a:pt x="1360627" y="1398597"/>
                </a:lnTo>
                <a:lnTo>
                  <a:pt x="1382573" y="1402189"/>
                </a:lnTo>
                <a:lnTo>
                  <a:pt x="1404518" y="1405486"/>
                </a:lnTo>
                <a:lnTo>
                  <a:pt x="1426464" y="1408529"/>
                </a:lnTo>
                <a:lnTo>
                  <a:pt x="1448410" y="1411350"/>
                </a:lnTo>
                <a:lnTo>
                  <a:pt x="1470355" y="1413978"/>
                </a:lnTo>
                <a:lnTo>
                  <a:pt x="1492301" y="1416434"/>
                </a:lnTo>
                <a:lnTo>
                  <a:pt x="1514246" y="1418738"/>
                </a:lnTo>
                <a:lnTo>
                  <a:pt x="1536192" y="1420905"/>
                </a:lnTo>
                <a:lnTo>
                  <a:pt x="1558138" y="1422950"/>
                </a:lnTo>
                <a:lnTo>
                  <a:pt x="1580083" y="1424883"/>
                </a:lnTo>
                <a:lnTo>
                  <a:pt x="1602029" y="1426715"/>
                </a:lnTo>
                <a:lnTo>
                  <a:pt x="1623974" y="1428455"/>
                </a:lnTo>
                <a:lnTo>
                  <a:pt x="1645920" y="1430111"/>
                </a:lnTo>
                <a:lnTo>
                  <a:pt x="1667866" y="1431689"/>
                </a:lnTo>
                <a:lnTo>
                  <a:pt x="1689811" y="1433195"/>
                </a:lnTo>
                <a:lnTo>
                  <a:pt x="1711757" y="1434635"/>
                </a:lnTo>
                <a:lnTo>
                  <a:pt x="1733702" y="1436014"/>
                </a:lnTo>
                <a:lnTo>
                  <a:pt x="1755648" y="1437336"/>
                </a:lnTo>
                <a:lnTo>
                  <a:pt x="1777594" y="1438605"/>
                </a:lnTo>
                <a:lnTo>
                  <a:pt x="1799539" y="1439824"/>
                </a:lnTo>
                <a:lnTo>
                  <a:pt x="1821485" y="1440996"/>
                </a:lnTo>
                <a:lnTo>
                  <a:pt x="1843430" y="1442125"/>
                </a:lnTo>
                <a:lnTo>
                  <a:pt x="1865376" y="1443214"/>
                </a:lnTo>
                <a:lnTo>
                  <a:pt x="1887322" y="1444263"/>
                </a:lnTo>
                <a:lnTo>
                  <a:pt x="1909267" y="1445277"/>
                </a:lnTo>
                <a:lnTo>
                  <a:pt x="1931213" y="1446256"/>
                </a:lnTo>
                <a:lnTo>
                  <a:pt x="1953158" y="1447203"/>
                </a:lnTo>
                <a:lnTo>
                  <a:pt x="1975104" y="1448120"/>
                </a:lnTo>
                <a:lnTo>
                  <a:pt x="1997050" y="1449007"/>
                </a:lnTo>
                <a:lnTo>
                  <a:pt x="2018995" y="1449867"/>
                </a:lnTo>
                <a:lnTo>
                  <a:pt x="2040941" y="1450701"/>
                </a:lnTo>
                <a:lnTo>
                  <a:pt x="2062886" y="1451509"/>
                </a:lnTo>
                <a:lnTo>
                  <a:pt x="2084832" y="1452295"/>
                </a:lnTo>
                <a:lnTo>
                  <a:pt x="2106778" y="1453057"/>
                </a:lnTo>
                <a:lnTo>
                  <a:pt x="2128723" y="1453799"/>
                </a:lnTo>
                <a:lnTo>
                  <a:pt x="2150669" y="1454519"/>
                </a:lnTo>
                <a:lnTo>
                  <a:pt x="2172614" y="1455220"/>
                </a:lnTo>
                <a:lnTo>
                  <a:pt x="2194560" y="1455903"/>
                </a:lnTo>
              </a:path>
            </a:pathLst>
          </a:cu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48640" y="4343400"/>
            <a:ext cx="111099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85800" y="4480560"/>
            <a:ext cx="864108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685800" y="4480560"/>
            <a:ext cx="86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Q4 (A)(I)</a:t>
            </a:r>
            <a:endParaRPr lang="en-US" sz="1000" dirty="0"/>
          </a:p>
        </p:txBody>
      </p:sp>
      <p:sp>
        <p:nvSpPr>
          <p:cNvPr id="117" name="Text 115"/>
          <p:cNvSpPr txBox="1"/>
          <p:nvPr/>
        </p:nvSpPr>
        <p:spPr>
          <a:xfrm>
            <a:off x="10469880" y="445312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(3)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685800" y="4818888"/>
            <a:ext cx="1083564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Select from A, B, C and D the curve produced by the addition of:   ammonia to 25 cm³ of hydrochloric acid  ·  ethanoic acid to 25 cm³ of sodium hydroxide  ·  sodium hydroxide to 25 cm³ of hydrochloric acid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E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 and glycolic acid: worked answers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521208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Q8(a)  ·  Acid HNO₃ (or HCl); alkali NH₃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 Which way round?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pH falls, so acid is added to alkali.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2. Start ≈ 11, flat ≈ 9: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strong alkali would start ~13, so it's a weak alkali: ammonia.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 End ≈ 1–2: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only a strong acid gets that low: HNO₃ or HCl.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notes' answer (HNO₃, NH₃) is correct.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86400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481328"/>
            <a:ext cx="521208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Glycolic acid  ·  0.142 mol dm⁻³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(i)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HOCH₂COOH + NaOH → HOCH₂COONa + H₂O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(ii) Read the graph: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mid-point of the vertical section ≈ 22.0 cm³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n(acid)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0.125 × 0.0250 = 3.125 × 10⁻³ mol = n(NaOH)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c(NaOH)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3.125 × 10⁻³ ÷ 0.0220 = 0.142 mol dm⁻³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OCR, not AQA, but the same skills. A reading of 22.0–22.5 cm³ gives 0.139–0.142.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E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Q4: worked answer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71600"/>
            <a:ext cx="40233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Ammonia to HCl  →  B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71600"/>
            <a:ext cx="6766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Starts ~1 (strong acid in the flask), ends only ~9 (weak base in excess).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1099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423160"/>
            <a:ext cx="40233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Ethanoic acid to NaOH  →  C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423160"/>
            <a:ext cx="6766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Starts ~13 (strong base in the flask), ends only ~5 (weak acid in excess).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111099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474720"/>
            <a:ext cx="40233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NaOH to HCl  →  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474720"/>
            <a:ext cx="6766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Starts ~1 and ends ~12–13: strong + strong, with a long vertical section.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1099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526280"/>
            <a:ext cx="40233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 is…)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4526280"/>
            <a:ext cx="6766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strong acid added to strong base: starts ~13, ends ~1.5.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109960" cy="502920"/>
          </a:xfrm>
          <a:prstGeom prst="roundRect">
            <a:avLst>
              <a:gd name="adj" fmla="val 218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715000"/>
            <a:ext cx="10835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METHOD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Start of the curve → what's in the flask. End of the curve → what's being added.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6355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Summary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on one slide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286000" cy="585216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Titration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325880"/>
            <a:ext cx="8641080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Finds an unknown concentration using a standard solution (exact concentration known).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286000" cy="585216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116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011680"/>
            <a:ext cx="8641080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Pipette 25 cm³, add indicator, add from the burette while swirling, stop at the colour change. Repeat to concordant titres (within 0.1 cm³).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286000" cy="585216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974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 meter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697480"/>
            <a:ext cx="8641080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Small steps, stir, record pH; smaller steps near the end point. Calibrate with a solution of known pH.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2286000" cy="585216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3832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3383280"/>
            <a:ext cx="8641080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Start = acid strength (~1 / ~3). End = base strength (~13 / ~9).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2286000" cy="585216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0690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points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069080"/>
            <a:ext cx="8641080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Equivalence = mid-point of the vertical section. End point = indicator changes colour.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2286000" cy="585216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7548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Indicator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4754880"/>
            <a:ext cx="8641080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Must change on the vertical section: phenolphthalein (strong base), methyl orange (strong acid), either (both strong), neither (both weak).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2286000" cy="585216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4406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5440680"/>
            <a:ext cx="8641080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Equation → n = cV → ratio → c = n ÷ V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FINAL QUIZ · NEW QUESTIONS · ANSWERS ON THE NEXT SLIDE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quiz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72184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1. Which accurately measures 25.0 cm³ of the standard solution?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pipette     B  burette     C  beaker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72184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2. Base added to acid; curve ends ~pH 9. The base is…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strong     B  weak     C  can't tell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044952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3. The equivalence point is…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when the indicator changes colour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  always at pH 7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  the mid-point of the vertical section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990088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81928" y="3044952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4. Best indicator for HCl + NH₃?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methyl orange   B  phenolphthalein   C  neither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62856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4617720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5. 0.0040 mol NaOH reacts with H₂SO₄. Moles of H₂SO₄?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0.0040     B  0.0020     C  0.0080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4562856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81928" y="4617720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6. A curve starts at 13 and falls to 1.5. What's happening?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strong base added to strong acid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  weak acid added to strong base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  strong acid added to strong base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FINAL QUIZ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quiz: answers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A: pipette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burette measures the titre.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52704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B: weak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strong base ends near pH 13.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5292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C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is the end point; pH 7 is only for strong + strong.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274320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85292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 A: methyl orange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Strong acid + weak base: the steep part is low.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17880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5. B: 0.0020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H₂SO₄ : 2 NaOH, so halve it.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406908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417880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6. C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Starts 13 (strong base in the flask), ends 1.5 (strong acid in excess).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the lesson map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1"/>
                </a:solidFill>
              </a:rPr>
              <a:t>  ·  Well done for finishing.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rations">
  <a:themeElements>
    <a:clrScheme name="Titrations">
      <a:dk1>
        <a:srgbClr val="16241D"/>
      </a:dk1>
      <a:lt1>
        <a:srgbClr val="FFFFFF"/>
      </a:lt1>
      <a:dk2>
        <a:srgbClr val="4D5E55"/>
      </a:dk2>
      <a:lt2>
        <a:srgbClr val="F5F8F5"/>
      </a:lt2>
      <a:accent1>
        <a:srgbClr val="1E5F86"/>
      </a:accent1>
      <a:accent2>
        <a:srgbClr val="F6C453"/>
      </a:accent2>
      <a:accent3>
        <a:srgbClr val="A93A22"/>
      </a:accent3>
      <a:accent4>
        <a:srgbClr val="E1EDF5"/>
      </a:accent4>
      <a:accent5>
        <a:srgbClr val="FDF2D9"/>
      </a:accent5>
      <a:accent6>
        <a:srgbClr val="FBE7E1"/>
      </a:accent6>
      <a:hlink>
        <a:srgbClr val="1E5F86"/>
      </a:hlink>
      <a:folHlink>
        <a:srgbClr val="4D5E55"/>
      </a:folHlink>
    </a:clrScheme>
    <a:fontScheme name="Titration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Titrations, pH curves and indicators</dc:title>
  <dc:subject>AQA A-level Biology: energy and ecosystems</dc:subject>
  <dc:creator>Lesson pack</dc:creator>
  <cp:lastModifiedBy>Lesson pack</cp:lastModifiedBy>
  <cp:revision>1</cp:revision>
  <dcterms:created xsi:type="dcterms:W3CDTF">2026-10-15T17:10:18Z</dcterms:created>
  <dcterms:modified xsi:type="dcterms:W3CDTF">2026-10-15T17:10:18Z</dcterms:modified>
</cp:coreProperties>
</file>