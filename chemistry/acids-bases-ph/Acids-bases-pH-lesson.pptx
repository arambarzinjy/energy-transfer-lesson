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99afefcf-570f-5c15-ed7b-cb101c54a8b4}">
          <p14:sldIdLst>
            <p14:sldId id="256"/>
            <p14:sldId id="257"/>
          </p14:sldIdLst>
        </p14:section>
        <p14:section name="A · Weak acids &amp; Ka" id="{98f45442-ec6d-70ec-c886-fe0ddf004404}">
          <p14:sldIdLst>
            <p14:sldId id="258"/>
            <p14:sldId id="259"/>
            <p14:sldId id="260"/>
            <p14:sldId id="261"/>
            <p14:sldId id="262"/>
          </p14:sldIdLst>
        </p14:section>
        <p14:section name="B · Weak acid pH" id="{47b8a32a-74d8-9d6d-27e1-d1d8f3eca14e}">
          <p14:sldIdLst>
            <p14:sldId id="263"/>
            <p14:sldId id="264"/>
            <p14:sldId id="265"/>
            <p14:sldId id="266"/>
          </p14:sldIdLst>
        </p14:section>
        <p14:section name="C · Water &amp; Kw" id="{02e8d731-c815-21f5-2b39-e2dec0908970}">
          <p14:sldIdLst>
            <p14:sldId id="267"/>
            <p14:sldId id="268"/>
            <p14:sldId id="269"/>
            <p14:sldId id="270"/>
          </p14:sldIdLst>
        </p14:section>
        <p14:section name="D · Strong bases" id="{6051ae68-3048-0e00-3f02-c26ac5c53ca2}">
          <p14:sldIdLst>
            <p14:sldId id="271"/>
            <p14:sldId id="272"/>
            <p14:sldId id="273"/>
            <p14:sldId id="274"/>
          </p14:sldIdLst>
        </p14:section>
        <p14:section name="E · Which equation?" id="{e6754c4c-7903-698f-6114-ff7a3700f86c}">
          <p14:sldIdLst>
            <p14:sldId id="275"/>
            <p14:sldId id="276"/>
            <p14:sldId id="277"/>
            <p14:sldId id="278"/>
          </p14:sldIdLst>
        </p14:section>
        <p14:section name="F · Exam practice" id="{034a6e64-cb87-0a44-d1cf-73b3ef6e50af}">
          <p14:sldIdLst>
            <p14:sldId id="279"/>
            <p14:sldId id="280"/>
            <p14:sldId id="281"/>
            <p14:sldId id="282"/>
            <p14:sldId id="283"/>
            <p14:sldId id="284"/>
            <p14:sldId id="285"/>
          </p14:sldIdLst>
        </p14:section>
        <p14:section name="Summary &amp; quiz" id="{27762f8d-6de0-4d0f-cef3-10a7614d40f9}">
          <p14:sldIdLst>
            <p14:sldId id="286"/>
            <p14:sldId id="287"/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8961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5097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ECK">
    <p:bg>
      <p:bgPr>
        <a:solidFill>
          <a:schemeClr val="accent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8961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5097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NSWER">
    <p:bg>
      <p:bgPr>
        <a:solidFill>
          <a:schemeClr val="accent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8961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5097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3.xml"/><Relationship Id="rId3" Type="http://schemas.openxmlformats.org/officeDocument/2006/relationships/slide" Target="slide8.xml"/><Relationship Id="rId4" Type="http://schemas.openxmlformats.org/officeDocument/2006/relationships/slide" Target="slide12.xml"/><Relationship Id="rId5" Type="http://schemas.openxmlformats.org/officeDocument/2006/relationships/slide" Target="slide16.xml"/><Relationship Id="rId6" Type="http://schemas.openxmlformats.org/officeDocument/2006/relationships/slide" Target="slide20.xml"/><Relationship Id="rId7" Type="http://schemas.openxmlformats.org/officeDocument/2006/relationships/slide" Target="slide24.xml"/><Relationship Id="rId8" Type="http://schemas.openxmlformats.org/officeDocument/2006/relationships/slide" Target="slide31.xml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8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12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16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0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4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31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spc="200" kern="0" dirty="0">
                <a:solidFill>
                  <a:schemeClr val="bg1"/>
                </a:solidFill>
              </a:rPr>
              <a:t>AQA A-LEVEL CHEMISTRY · 3.1.12 ACIDS AND BASES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34440"/>
            <a:ext cx="7498080" cy="1463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 of weak acids, water and strong bases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834640"/>
            <a:ext cx="676656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bg1"/>
                </a:solidFill>
              </a:rPr>
              <a:t>A self-paced lesson in 6 short sections. Learn one idea, try the check, then take a break whenever you need to. You will need a calculator with a log button.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4069080"/>
            <a:ext cx="676656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4160520"/>
            <a:ext cx="64008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How to use this deck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526280"/>
            <a:ext cx="6400800" cy="1600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Yellow slides are questions. Try them before moving on.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Blue-tint slides are the answers, with each step explained.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"Lesson map" (top right) jumps to any section.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Section E maps where every equation belongs.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0" y="1188720"/>
            <a:ext cx="3291840" cy="448056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0" y="1325880"/>
            <a:ext cx="329184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 = −log[H⁺]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458200" y="2011680"/>
            <a:ext cx="2834640" cy="731520"/>
          </a:xfrm>
          <a:prstGeom prst="roundRect">
            <a:avLst>
              <a:gd name="adj" fmla="val 15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49640" y="2011680"/>
            <a:ext cx="265176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acid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[H⁺] = [acid]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458200" y="2880360"/>
            <a:ext cx="2834640" cy="731520"/>
          </a:xfrm>
          <a:prstGeom prst="roundRect">
            <a:avLst>
              <a:gd name="adj" fmla="val 15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49640" y="2880360"/>
            <a:ext cx="265176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 acid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[H⁺] = √(Ka[HA])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458200" y="3749040"/>
            <a:ext cx="2834640" cy="731520"/>
          </a:xfrm>
          <a:prstGeom prst="roundRect">
            <a:avLst>
              <a:gd name="adj" fmla="val 15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549640" y="3749040"/>
            <a:ext cx="265176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Pure water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[H⁺] = √Kw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458200" y="4617720"/>
            <a:ext cx="2834640" cy="731520"/>
          </a:xfrm>
          <a:prstGeom prst="roundRect">
            <a:avLst>
              <a:gd name="adj" fmla="val 15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549640" y="4617720"/>
            <a:ext cx="265176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base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[H⁺] = Kw ÷ [OH⁻]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LESSON MAP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short sections, then a summary</a:t>
            </a:r>
            <a:endParaRPr lang="en-US" sz="3200" dirty="0"/>
          </a:p>
        </p:txBody>
      </p:sp>
      <p:sp>
        <p:nvSpPr>
          <p:cNvPr id="4" name="nav-map"/>
          <p:cNvSpPr txBox="1"/>
          <p:nvPr/>
        </p:nvSpPr>
        <p:spPr>
          <a:xfrm>
            <a:off x="10469880" y="274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1" action="ppaction://hlinksldjump" tooltip="Back to less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Lesson map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737360" cy="292608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54480"/>
            <a:ext cx="91440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240280"/>
            <a:ext cx="150876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Weak acids &amp; Ka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880360"/>
            <a:ext cx="150876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Partial dissociation, Ka, pKa.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886200"/>
            <a:ext cx="146304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u="sng" dirty="0">
                <a:solidFill>
                  <a:schemeClr val="accent1"/>
                </a:solidFill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 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404872" y="1463040"/>
            <a:ext cx="1737360" cy="292608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542032" y="1554480"/>
            <a:ext cx="91440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2542032" y="2240280"/>
            <a:ext cx="150876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Weak acid pH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542032" y="2880360"/>
            <a:ext cx="150876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5-step method; notes example corrected.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542032" y="3886200"/>
            <a:ext cx="146304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u="sng" dirty="0">
                <a:solidFill>
                  <a:schemeClr val="accent1"/>
                </a:solidFill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 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261104" y="1463040"/>
            <a:ext cx="1737360" cy="292608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398264" y="1554480"/>
            <a:ext cx="91440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4398264" y="2240280"/>
            <a:ext cx="150876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Water &amp; Kw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398264" y="2880360"/>
            <a:ext cx="150876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Kw, pure water, temperature.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398264" y="3886200"/>
            <a:ext cx="146304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u="sng" dirty="0">
                <a:solidFill>
                  <a:schemeClr val="accent1"/>
                </a:solidFill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 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17336" y="1463040"/>
            <a:ext cx="1737360" cy="292608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54496" y="1554480"/>
            <a:ext cx="91440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3600" dirty="0"/>
          </a:p>
        </p:txBody>
      </p:sp>
      <p:sp>
        <p:nvSpPr>
          <p:cNvPr id="22" name="Text 20"/>
          <p:cNvSpPr txBox="1"/>
          <p:nvPr/>
        </p:nvSpPr>
        <p:spPr>
          <a:xfrm>
            <a:off x="6254496" y="2240280"/>
            <a:ext cx="150876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Strong bases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254496" y="2880360"/>
            <a:ext cx="150876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[OH⁻] first, then Kw.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254496" y="3886200"/>
            <a:ext cx="146304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u="sng" dirty="0">
                <a:solidFill>
                  <a:schemeClr val="accent1"/>
                </a:solidFill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 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973568" y="1463040"/>
            <a:ext cx="1737360" cy="292608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110728" y="1554480"/>
            <a:ext cx="91440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3600" dirty="0"/>
          </a:p>
        </p:txBody>
      </p:sp>
      <p:sp>
        <p:nvSpPr>
          <p:cNvPr id="27" name="Text 25"/>
          <p:cNvSpPr txBox="1"/>
          <p:nvPr/>
        </p:nvSpPr>
        <p:spPr>
          <a:xfrm>
            <a:off x="8110728" y="2240280"/>
            <a:ext cx="150876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Which equation?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110728" y="2880360"/>
            <a:ext cx="150876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One map of every route to pH.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110728" y="3886200"/>
            <a:ext cx="146304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u="sng" dirty="0">
                <a:solidFill>
                  <a:schemeClr val="accent1"/>
                </a:solidFill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 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9829800" y="1463040"/>
            <a:ext cx="1737360" cy="292608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966960" y="1554480"/>
            <a:ext cx="91440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3600" dirty="0"/>
          </a:p>
        </p:txBody>
      </p:sp>
      <p:sp>
        <p:nvSpPr>
          <p:cNvPr id="32" name="Text 30"/>
          <p:cNvSpPr txBox="1"/>
          <p:nvPr/>
        </p:nvSpPr>
        <p:spPr>
          <a:xfrm>
            <a:off x="9966960" y="2240280"/>
            <a:ext cx="150876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Exam practice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9966960" y="2880360"/>
            <a:ext cx="150876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n = cV and ICE boxes with pH.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9966960" y="3886200"/>
            <a:ext cx="146304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u="sng" dirty="0">
                <a:solidFill>
                  <a:schemeClr val="accent1"/>
                </a:solidFill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 →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48640" y="4572000"/>
            <a:ext cx="11064240" cy="640080"/>
          </a:xfrm>
          <a:prstGeom prst="roundRect">
            <a:avLst>
              <a:gd name="adj" fmla="val 1714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77240" y="4645152"/>
            <a:ext cx="1060704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Then: </a:t>
            </a:r>
            <a:pPr indent="0" marL="0">
              <a:spcAft>
                <a:spcPts val="400"/>
              </a:spcAft>
              <a:buNone/>
            </a:pPr>
            <a:r>
              <a:rPr lang="en-US" sz="1500" u="sng" dirty="0">
                <a:solidFill>
                  <a:schemeClr val="tx1"/>
                </a:solidFill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Equation sheet and final quiz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  ·   About 4–5 minutes per section, with breaks whenever you like.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548640" y="5349240"/>
            <a:ext cx="11064240" cy="777240"/>
          </a:xfrm>
          <a:prstGeom prst="roundRect">
            <a:avLst>
              <a:gd name="adj" fmla="val 14118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31520" y="5394960"/>
            <a:ext cx="1069848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Spotted in the notes: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 methanoic acid example (page 15) skips the square root and gives pH 4.46. The correct answer is pH 2.23. See Section B.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SECTION A · FROM THE CLASS NOTES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weak acid only partially dissociates</a:t>
            </a:r>
            <a:endParaRPr lang="en-US" sz="3200" dirty="0"/>
          </a:p>
        </p:txBody>
      </p:sp>
      <p:sp>
        <p:nvSpPr>
          <p:cNvPr id="4" name="nav-map"/>
          <p:cNvSpPr txBox="1"/>
          <p:nvPr/>
        </p:nvSpPr>
        <p:spPr>
          <a:xfrm>
            <a:off x="10469880" y="274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1" action="ppaction://hlinksldjump" tooltip="Back to less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Lesson map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6400800" cy="731520"/>
          </a:xfrm>
          <a:prstGeom prst="roundRect">
            <a:avLst>
              <a:gd name="adj" fmla="val 15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3716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CH₃COOH(aq)  ⇌  CH₃COO⁻(aq)  +  H⁺(aq)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86000"/>
            <a:ext cx="640080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Because it only partially dissociates, the position of equilibrium is </a:t>
            </a:r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way over to the left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. Most of the acid stays as whole HA molecules, so we </a:t>
            </a:r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don't know [H⁺]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 straight away.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474720"/>
            <a:ext cx="6400800" cy="1188720"/>
          </a:xfrm>
          <a:prstGeom prst="roundRect">
            <a:avLst>
              <a:gd name="adj" fmla="val 923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3566160"/>
            <a:ext cx="612648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spc="100" kern="0" dirty="0">
                <a:solidFill>
                  <a:schemeClr val="tx1"/>
                </a:solidFill>
              </a:rPr>
              <a:t>REMEMBER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All carboxylic acids are weak acids. Most exam questions will tell you if an acid is weak.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846320"/>
            <a:ext cx="6400800" cy="1188720"/>
          </a:xfrm>
          <a:prstGeom prst="roundRect">
            <a:avLst>
              <a:gd name="adj" fmla="val 9231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4937760"/>
            <a:ext cx="612648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spc="100" kern="0" dirty="0">
                <a:solidFill>
                  <a:schemeClr val="tx1"/>
                </a:solidFill>
              </a:rPr>
              <a:t>EXTRA HELP · PICTURE IT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The beaker exaggerates: in a real weak acid far fewer than 1 in 4 molecules split.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0" y="1371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4HA added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498080" y="1828800"/>
            <a:ext cx="0" cy="2377440"/>
          </a:xfrm>
          <a:prstGeom prst="line">
            <a:avLst/>
          </a:prstGeom>
          <a:noFill/>
          <a:ln w="31750">
            <a:solidFill>
              <a:schemeClr val="tx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0" y="4206240"/>
            <a:ext cx="2926080" cy="0"/>
          </a:xfrm>
          <a:prstGeom prst="line">
            <a:avLst/>
          </a:prstGeom>
          <a:noFill/>
          <a:ln w="31750">
            <a:solidFill>
              <a:schemeClr val="tx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424160" y="1828800"/>
            <a:ext cx="0" cy="2377440"/>
          </a:xfrm>
          <a:prstGeom prst="line">
            <a:avLst/>
          </a:prstGeom>
          <a:noFill/>
          <a:ln w="31750">
            <a:solidFill>
              <a:schemeClr val="tx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0" y="2148840"/>
            <a:ext cx="292608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26680" y="2468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HA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32004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HA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869680" y="36576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HA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9509760" y="2468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H⁺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9692640" y="30175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A⁻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0" y="4389120"/>
            <a:ext cx="4114800" cy="1280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4HA ⇌ 3HA + H⁺ + A⁻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[HA] ≠ [H⁺]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[H⁺] = [A⁻]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SECTION A · FROM THE CLASS NOTES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acid dissociation constant, Ka</a:t>
            </a:r>
            <a:endParaRPr lang="en-US" sz="3200" dirty="0"/>
          </a:p>
        </p:txBody>
      </p:sp>
      <p:sp>
        <p:nvSpPr>
          <p:cNvPr id="4" name="nav-map"/>
          <p:cNvSpPr txBox="1"/>
          <p:nvPr/>
        </p:nvSpPr>
        <p:spPr>
          <a:xfrm>
            <a:off x="10469880" y="274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1" action="ppaction://hlinksldjump" tooltip="Back to less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Lesson map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548640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For any weak acid </a:t>
            </a:r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HA ⇌ H⁺ + A⁻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, the equilibrium constant for an </a:t>
            </a:r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acid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 dissociating is called </a:t>
            </a:r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Ka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 rather than Kc.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5486400" cy="146304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286000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 =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2514600"/>
            <a:ext cx="2743200" cy="40513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[H⁺][A⁻]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011680" y="2947162"/>
            <a:ext cx="256032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920240" y="2974594"/>
            <a:ext cx="2743200" cy="405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[HA]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886200"/>
            <a:ext cx="548640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 bigger Ka means more dissociation, so a stronger acid.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63640" y="1371600"/>
            <a:ext cx="5394960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1463040"/>
            <a:ext cx="5120640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Two shortcuts (handwritten notes)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1.  [H⁺] = [A⁻]: one H⁺ forms for every A⁻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2.  [HA] ≈ initial [HA]: so little dissociates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260604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 =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7406640" y="2651760"/>
            <a:ext cx="1463040" cy="3314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[H⁺]²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498080" y="3010662"/>
            <a:ext cx="128016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06640" y="3038094"/>
            <a:ext cx="1463040" cy="331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[HA]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778240" y="260604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 [H⁺] = √(Ka[HA])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434840"/>
            <a:ext cx="54864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Extra help · the ICE box behind shortcut 2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800600"/>
          <a:ext cx="54864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conc.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HA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H⁺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A⁻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Initial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Change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−x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+x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+x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Equilibrium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 − x ≈ c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6263640" y="4434840"/>
            <a:ext cx="5394960" cy="1691640"/>
          </a:xfrm>
          <a:prstGeom prst="roundRect">
            <a:avLst>
              <a:gd name="adj" fmla="val 648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00800" y="4526280"/>
            <a:ext cx="5120640" cy="1508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spc="100" kern="0" dirty="0">
                <a:solidFill>
                  <a:schemeClr val="tx1"/>
                </a:solidFill>
              </a:rPr>
              <a:t>WHY C − X ≈ C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x is tiny compared with c, so the equilibrium [HA] is almost exactly the starting concentration.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SECTION A · FROM THE CLASS NOTES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 and pKa values</a:t>
            </a:r>
            <a:endParaRPr lang="en-US" sz="3200" dirty="0"/>
          </a:p>
        </p:txBody>
      </p:sp>
      <p:sp>
        <p:nvSpPr>
          <p:cNvPr id="4" name="nav-map"/>
          <p:cNvSpPr txBox="1"/>
          <p:nvPr/>
        </p:nvSpPr>
        <p:spPr>
          <a:xfrm>
            <a:off x="10469880" y="274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1" action="ppaction://hlinksldjump" tooltip="Back to less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Lesson map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58521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19456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Acid</a:t>
                      </a:r>
                      <a:endParaRPr lang="en-US" sz="15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Ka (mol dm⁻³)</a:t>
                      </a:r>
                      <a:endParaRPr lang="en-US" sz="15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pKa (worked out)</a:t>
                      </a:r>
                      <a:endParaRPr lang="en-US" sz="15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CH₃COOH</a:t>
                      </a:r>
                      <a:endParaRPr lang="en-US" sz="15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1.76 × 10⁻⁵</a:t>
                      </a:r>
                      <a:endParaRPr lang="en-US" sz="15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4.75</a:t>
                      </a:r>
                      <a:endParaRPr lang="en-US" sz="15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C₆H₅COOH</a:t>
                      </a:r>
                      <a:endParaRPr lang="en-US" sz="15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6.46 × 10⁻⁵</a:t>
                      </a:r>
                      <a:endParaRPr lang="en-US" sz="15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4.19</a:t>
                      </a:r>
                      <a:endParaRPr lang="en-US" sz="15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HCOOH</a:t>
                      </a:r>
                      <a:endParaRPr lang="en-US" sz="15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1.77 × 10⁻⁴</a:t>
                      </a:r>
                      <a:endParaRPr lang="en-US" sz="15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3.75</a:t>
                      </a:r>
                      <a:endParaRPr lang="en-US" sz="15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675120" y="1417320"/>
            <a:ext cx="2377440" cy="914400"/>
          </a:xfrm>
          <a:prstGeom prst="roundRect">
            <a:avLst>
              <a:gd name="adj" fmla="val 12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675120" y="14173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pKa = −log Ka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9052560" y="1417320"/>
            <a:ext cx="45720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↔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9509760" y="1417320"/>
            <a:ext cx="2148840" cy="914400"/>
          </a:xfrm>
          <a:prstGeom prst="roundRect">
            <a:avLst>
              <a:gd name="adj" fmla="val 12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509760" y="14173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 = 10^−pKa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675120" y="2560320"/>
            <a:ext cx="498348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pKa mirrors the pH scale. </a:t>
            </a:r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The stronger the acid, the lower the pH and the lower the pKa.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675120" y="3657600"/>
            <a:ext cx="4983480" cy="109728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12280" y="3749040"/>
            <a:ext cx="470916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spc="100" kern="0" dirty="0">
                <a:solidFill>
                  <a:schemeClr val="tx1"/>
                </a:solidFill>
              </a:rPr>
              <a:t>EXAM TIP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You will be given any value of Ka needed in an exam question.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3566160"/>
            <a:ext cx="58521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Stronger acid →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3977640"/>
            <a:ext cx="1828800" cy="1005840"/>
          </a:xfrm>
          <a:prstGeom prst="roundRect">
            <a:avLst>
              <a:gd name="adj" fmla="val 10909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3977640"/>
            <a:ext cx="182880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CH₃COOH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pKa 4.75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2395728" y="4480560"/>
            <a:ext cx="100584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2514600" y="3977640"/>
            <a:ext cx="1828800" cy="1005840"/>
          </a:xfrm>
          <a:prstGeom prst="roundRect">
            <a:avLst>
              <a:gd name="adj" fmla="val 10909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514600" y="3977640"/>
            <a:ext cx="182880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C₆H₅COOH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pKa 4.19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361688" y="4480560"/>
            <a:ext cx="100584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4480560" y="3977640"/>
            <a:ext cx="1828800" cy="1005840"/>
          </a:xfrm>
          <a:prstGeom prst="roundRect">
            <a:avLst>
              <a:gd name="adj" fmla="val 1090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480560" y="3977640"/>
            <a:ext cx="182880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HCOOH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pKa 3.75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CHECK A · TRY FIRST, ANSWERS ON THE NEXT SLIDE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3200" dirty="0"/>
          </a:p>
        </p:txBody>
      </p:sp>
      <p:sp>
        <p:nvSpPr>
          <p:cNvPr id="4" name="nav-map"/>
          <p:cNvSpPr txBox="1"/>
          <p:nvPr/>
        </p:nvSpPr>
        <p:spPr>
          <a:xfrm>
            <a:off x="10469880" y="274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1" action="ppaction://hlinksldjump" tooltip="Back to less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Lesson map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8640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554480"/>
            <a:ext cx="1097280" cy="274320"/>
          </a:xfrm>
          <a:prstGeom prst="roundRect">
            <a:avLst>
              <a:gd name="adj" fmla="val 4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554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spc="100" kern="0" dirty="0">
                <a:solidFill>
                  <a:schemeClr val="tx1"/>
                </a:solidFill>
              </a:rPr>
              <a:t>NEW QUESTION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92808"/>
            <a:ext cx="5212080" cy="1645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1. Which is the Ka expression for methanoic acid, HCOOH?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  [HCOOH] ÷ ([H⁺][HCOO⁻])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B  [H⁺][HCOO⁻] ÷ [HCOOH]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  ([H⁺] + [HCOO⁻]) ÷ [HCOOH]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72200" y="1417320"/>
            <a:ext cx="548640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554480"/>
            <a:ext cx="1097280" cy="274320"/>
          </a:xfrm>
          <a:prstGeom prst="roundRect">
            <a:avLst>
              <a:gd name="adj" fmla="val 4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9360" y="1554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spc="100" kern="0" dirty="0">
                <a:solidFill>
                  <a:schemeClr val="tx1"/>
                </a:solidFill>
              </a:rPr>
              <a:t>NEW QUESTION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1892808"/>
            <a:ext cx="5212080" cy="1645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2. Calculate the pKa of benzoic acid, Ka = 6.46 × 10⁻⁵ mol dm⁻³. Give 2 decimal places.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5486400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886200"/>
            <a:ext cx="1097280" cy="274320"/>
          </a:xfrm>
          <a:prstGeom prst="roundRect">
            <a:avLst>
              <a:gd name="adj" fmla="val 4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886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spc="100" kern="0" dirty="0">
                <a:solidFill>
                  <a:schemeClr val="tx1"/>
                </a:solidFill>
              </a:rPr>
              <a:t>NEW QUESTION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4224528"/>
            <a:ext cx="5212080" cy="1783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3. A weak acid has pKa = 4.20. Calculate Ka.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72200" y="3749040"/>
            <a:ext cx="5486400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3886200"/>
            <a:ext cx="1097280" cy="274320"/>
          </a:xfrm>
          <a:prstGeom prst="roundRect">
            <a:avLst>
              <a:gd name="adj" fmla="val 4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09360" y="3886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spc="100" kern="0" dirty="0">
                <a:solidFill>
                  <a:schemeClr val="tx1"/>
                </a:solidFill>
              </a:rPr>
              <a:t>NEW QUESTION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4224528"/>
            <a:ext cx="5212080" cy="1783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4. Using the table, which acid is the strongest: CH₃COOH, C₆H₅COOH or HCOOH?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CHECK A · ANSWERS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A: answers and why</a:t>
            </a:r>
            <a:endParaRPr lang="en-US" sz="3200" dirty="0"/>
          </a:p>
        </p:txBody>
      </p:sp>
      <p:sp>
        <p:nvSpPr>
          <p:cNvPr id="4" name="nav-map"/>
          <p:cNvSpPr txBox="1"/>
          <p:nvPr/>
        </p:nvSpPr>
        <p:spPr>
          <a:xfrm>
            <a:off x="10469880" y="274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1" action="ppaction://hlinksldjump" tooltip="Back to less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Lesson map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8640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27048"/>
            <a:ext cx="5212080" cy="2011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1.  B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Products on top, undissociated acid underneath. A is upside down; C adds where it should multiply.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72200" y="1417320"/>
            <a:ext cx="548640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09360" y="1527048"/>
            <a:ext cx="5212080" cy="2011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2.  pKa = 4.19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Step 1: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pKa = −log Ka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Step 2: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−log(6.46 × 10⁻⁵) = 4.19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749040"/>
            <a:ext cx="5486400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858768"/>
            <a:ext cx="5212080" cy="2148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3.  Ka = 6.31 × 10⁻⁵ mol dm⁻³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Step 1: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Ka = 10^−pKa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Step 2: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10^−4.20 (shift + log on most calculators) = 6.31 × 10⁻⁵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72200" y="3749040"/>
            <a:ext cx="5486400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09360" y="3858768"/>
            <a:ext cx="5212080" cy="2148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4.  HCOOH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Largest Ka and lowest pKa (3.75), so it dissociates the most.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0" y="6355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Next: Section B →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SECTION B · FROM THE CLASS NOTES · TRY IT FIRST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Calculating the pH of a weak acid</a:t>
            </a:r>
            <a:endParaRPr lang="en-US" sz="3200" dirty="0"/>
          </a:p>
        </p:txBody>
      </p:sp>
      <p:sp>
        <p:nvSpPr>
          <p:cNvPr id="4" name="nav-map"/>
          <p:cNvSpPr txBox="1"/>
          <p:nvPr/>
        </p:nvSpPr>
        <p:spPr>
          <a:xfrm>
            <a:off x="10469880" y="274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1" action="ppaction://hlinksldjump" tooltip="Back to less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Lesson map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120640" cy="365760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463040"/>
            <a:ext cx="475488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The 5-step method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874520"/>
            <a:ext cx="4754880" cy="3017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Write out the dissociation of the weak acid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Construct a Ka expression for the acid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Simplify the Ka expression using [H⁺]²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Rearrange to get [H⁺] on its own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Substitute [H⁺] into the pH equation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897880" y="1371600"/>
            <a:ext cx="5760720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35040" y="1508760"/>
            <a:ext cx="1252728" cy="27432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508760"/>
            <a:ext cx="1252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spc="100" kern="0" dirty="0">
                <a:solidFill>
                  <a:schemeClr val="tx1"/>
                </a:solidFill>
              </a:rPr>
              <a:t>FROM THE NOTES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847088"/>
            <a:ext cx="5486400" cy="1828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Calculate the pH of a solution of HCOOH of concentration 0.195 mol dm⁻³. The value of Ka for methanoic acid is 1.77 × 10⁻⁴.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897880" y="3886200"/>
            <a:ext cx="5760720" cy="1143000"/>
          </a:xfrm>
          <a:prstGeom prst="roundRect">
            <a:avLst>
              <a:gd name="adj" fmla="val 96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35040" y="3977640"/>
            <a:ext cx="5486400" cy="960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spc="100" kern="0" dirty="0">
                <a:solidFill>
                  <a:schemeClr val="tx1"/>
                </a:solidFill>
              </a:rPr>
              <a:t>HINT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[H⁺] = √(Ka × [HA]). Don't forget the square root.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5212080"/>
            <a:ext cx="11109960" cy="868680"/>
          </a:xfrm>
          <a:prstGeom prst="roundRect">
            <a:avLst>
              <a:gd name="adj" fmla="val 1263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5212080"/>
            <a:ext cx="11109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[H⁺]² = Ka[HA]   →   [H⁺] = √(Ka[HA])   →   pH = −log₁₀[H⁺]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SECTION B · WORKED SOLUTION (CORRECTED)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Methanoic acid, step by step</a:t>
            </a:r>
            <a:endParaRPr lang="en-US" sz="3200" dirty="0"/>
          </a:p>
        </p:txBody>
      </p:sp>
      <p:sp>
        <p:nvSpPr>
          <p:cNvPr id="4" name="nav-map"/>
          <p:cNvSpPr txBox="1"/>
          <p:nvPr/>
        </p:nvSpPr>
        <p:spPr>
          <a:xfrm>
            <a:off x="10469880" y="274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1" action="ppaction://hlinksldjump" tooltip="Back to less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Lesson map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51560" y="1371600"/>
            <a:ext cx="6949440" cy="621792"/>
          </a:xfrm>
          <a:prstGeom prst="roundRect">
            <a:avLst>
              <a:gd name="adj" fmla="val 1764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88720" y="1371600"/>
            <a:ext cx="6720840" cy="6217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Dissociation: 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HCOOH ⇌ HCOO⁻ + H⁺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2128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051560" y="2103120"/>
            <a:ext cx="6949440" cy="621792"/>
          </a:xfrm>
          <a:prstGeom prst="roundRect">
            <a:avLst>
              <a:gd name="adj" fmla="val 1764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88720" y="2103120"/>
            <a:ext cx="6720840" cy="6217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Ka expression: 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Ka = [H⁺][HCOO⁻] ÷ [HCOOH]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294436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944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051560" y="2834640"/>
            <a:ext cx="6949440" cy="621792"/>
          </a:xfrm>
          <a:prstGeom prst="roundRect">
            <a:avLst>
              <a:gd name="adj" fmla="val 1764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188720" y="2834640"/>
            <a:ext cx="6720840" cy="6217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Simplify: 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[H⁺] = [HCOO⁻], so Ka = [H⁺]² ÷ [HCOOH]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67588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3675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051560" y="3566160"/>
            <a:ext cx="6949440" cy="621792"/>
          </a:xfrm>
          <a:prstGeom prst="roundRect">
            <a:avLst>
              <a:gd name="adj" fmla="val 1764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188720" y="3566160"/>
            <a:ext cx="6720840" cy="6217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Rearrange: 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[H⁺]² = 1.77 × 10⁻⁴ × 0.195 = 3.45 × 10⁻⁵, so [H⁺] = √(3.45 × 10⁻⁵) = 5.87 × 10⁻³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440740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051560" y="4297680"/>
            <a:ext cx="6949440" cy="621792"/>
          </a:xfrm>
          <a:prstGeom prst="roundRect">
            <a:avLst>
              <a:gd name="adj" fmla="val 1764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188720" y="4297680"/>
            <a:ext cx="6720840" cy="6217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pH: 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pH = −log(5.87 × 10⁻³) = 2.23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229600" y="1371600"/>
            <a:ext cx="3429000" cy="2377440"/>
          </a:xfrm>
          <a:prstGeom prst="roundRect">
            <a:avLst>
              <a:gd name="adj" fmla="val 461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29600" y="1371600"/>
            <a:ext cx="3429000" cy="2377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</a:t>
            </a:r>
            <a:endParaRPr lang="en-US" sz="16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 = 2.23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229600" y="3886200"/>
            <a:ext cx="3429000" cy="2194560"/>
          </a:xfrm>
          <a:prstGeom prst="roundRect">
            <a:avLst>
              <a:gd name="adj" fmla="val 5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366760" y="3977640"/>
            <a:ext cx="3154680" cy="2011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spc="100" kern="0" dirty="0">
                <a:solidFill>
                  <a:schemeClr val="tx1"/>
                </a:solidFill>
              </a:rPr>
              <a:t>CORRECTION TO THE NOTES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The notes call 3.45 × 10⁻⁵ "[H⁺]" and get pH 4.46. That number is [H⁺]²: the square root was skipped.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48640" y="5120640"/>
            <a:ext cx="745236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5800" y="5212080"/>
            <a:ext cx="717804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spc="100" kern="0" dirty="0">
                <a:solidFill>
                  <a:schemeClr val="tx1"/>
                </a:solidFill>
              </a:rPr>
              <a:t>SENSE CHECK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 0.195 mol dm⁻³ acid at pH 4.46 would barely be acidic. pH 2.23 makes sense for a weak acid at this concentration.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CHECK B · TRY FIRST, ANSWERS ON THE NEXT SLIDE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3200" dirty="0"/>
          </a:p>
        </p:txBody>
      </p:sp>
      <p:sp>
        <p:nvSpPr>
          <p:cNvPr id="4" name="nav-map"/>
          <p:cNvSpPr txBox="1"/>
          <p:nvPr/>
        </p:nvSpPr>
        <p:spPr>
          <a:xfrm>
            <a:off x="10469880" y="274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1" action="ppaction://hlinksldjump" tooltip="Back to less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Lesson map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8640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554480"/>
            <a:ext cx="1097280" cy="274320"/>
          </a:xfrm>
          <a:prstGeom prst="roundRect">
            <a:avLst>
              <a:gd name="adj" fmla="val 4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554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spc="100" kern="0" dirty="0">
                <a:solidFill>
                  <a:schemeClr val="tx1"/>
                </a:solidFill>
              </a:rPr>
              <a:t>NEW QUESTION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527048"/>
            <a:ext cx="105156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[3 marks]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92808"/>
            <a:ext cx="5212080" cy="1645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1. Calculate the pH of 0.100 mol dm⁻³ ethanoic acid. Ka = 1.76 × 10⁻⁵ mol dm⁻³.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72200" y="1417320"/>
            <a:ext cx="548640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1554480"/>
            <a:ext cx="1097280" cy="274320"/>
          </a:xfrm>
          <a:prstGeom prst="roundRect">
            <a:avLst>
              <a:gd name="adj" fmla="val 4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09360" y="1554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spc="100" kern="0" dirty="0">
                <a:solidFill>
                  <a:schemeClr val="tx1"/>
                </a:solidFill>
              </a:rPr>
              <a:t>NEW QUESTION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0469880" y="1527048"/>
            <a:ext cx="105156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[3 marks]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1892808"/>
            <a:ext cx="5212080" cy="1645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2. Calculate the pH of 0.0200 mol dm⁻³ benzoic acid, C₆H₅COOH (Ka = 6.46 × 10⁻⁵).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749040"/>
            <a:ext cx="11109960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3886200"/>
            <a:ext cx="1097280" cy="274320"/>
          </a:xfrm>
          <a:prstGeom prst="roundRect">
            <a:avLst>
              <a:gd name="adj" fmla="val 4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3886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spc="100" kern="0" dirty="0">
                <a:solidFill>
                  <a:schemeClr val="tx1"/>
                </a:solidFill>
              </a:rPr>
              <a:t>NEW QUESTION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4224528"/>
            <a:ext cx="10835640" cy="1783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3. Why can we use the starting concentration of the acid for [HA] in the Ka expression?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  The acid only partially dissociates, so hardly any HA is used up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B  The acid fully dissociates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  Because [H⁺] = [A⁻]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CHECK B · ANSWERS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B: answers and why</a:t>
            </a:r>
            <a:endParaRPr lang="en-US" sz="3200" dirty="0"/>
          </a:p>
        </p:txBody>
      </p:sp>
      <p:sp>
        <p:nvSpPr>
          <p:cNvPr id="4" name="nav-map"/>
          <p:cNvSpPr txBox="1"/>
          <p:nvPr/>
        </p:nvSpPr>
        <p:spPr>
          <a:xfrm>
            <a:off x="10469880" y="274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1" action="ppaction://hlinksldjump" tooltip="Back to less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Lesson map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86400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27048"/>
            <a:ext cx="5212080" cy="2148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1.  pH = 2.88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[H⁺]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= √(1.76 × 10⁻⁵ × 0.100) = √(1.76 × 10⁻⁶) = 1.33 × 10⁻³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pH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= −log(1.33 × 10⁻³) = 2.88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Trap: 5.76 means the square root was missed.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72200" y="1417320"/>
            <a:ext cx="5486400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09360" y="1527048"/>
            <a:ext cx="5212080" cy="2148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2.  pH = 2.94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[H⁺]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= √(6.46 × 10⁻⁵ × 0.0200) = 1.14 × 10⁻³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pH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= −log(1.14 × 10⁻³) = 2.94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1110996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995928"/>
            <a:ext cx="10835640" cy="2011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3.  A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Very little dissociates, so equilibrium [HA] is almost the same as at the start. B describes a strong acid. C is the other shortcut, the one that gives [H⁺]².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412480" y="6355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Next: Section C →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SECTION C · FROM THE CLASS NOTES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ionisation of water</a:t>
            </a:r>
            <a:endParaRPr lang="en-US" sz="3200" dirty="0"/>
          </a:p>
        </p:txBody>
      </p:sp>
      <p:sp>
        <p:nvSpPr>
          <p:cNvPr id="4" name="nav-map"/>
          <p:cNvSpPr txBox="1"/>
          <p:nvPr/>
        </p:nvSpPr>
        <p:spPr>
          <a:xfrm>
            <a:off x="10469880" y="274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1" action="ppaction://hlinksldjump" tooltip="Back to less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Lesson map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9047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490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51560" y="1371600"/>
            <a:ext cx="5852160" cy="640080"/>
          </a:xfrm>
          <a:prstGeom prst="roundRect">
            <a:avLst>
              <a:gd name="adj" fmla="val 17143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88720" y="1371600"/>
            <a:ext cx="562356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Equilibrium: 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H₂O(l) ⇌ H⁺(aq) + OH⁻(aq)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2402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051560" y="2121408"/>
            <a:ext cx="5852160" cy="640080"/>
          </a:xfrm>
          <a:prstGeom prst="roundRect">
            <a:avLst>
              <a:gd name="adj" fmla="val 17143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88720" y="2121408"/>
            <a:ext cx="562356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Kc expression: 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Kc = [H⁺][OH⁻] ÷ [H₂O]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299008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990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051560" y="2871216"/>
            <a:ext cx="5852160" cy="640080"/>
          </a:xfrm>
          <a:prstGeom prst="roundRect">
            <a:avLst>
              <a:gd name="adj" fmla="val 17143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188720" y="2871216"/>
            <a:ext cx="562356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[H₂O] is effectively constant: 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(equilibrium far to the left)   Kc[H₂O] = [H⁺][OH⁻]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73989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3739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051560" y="3621024"/>
            <a:ext cx="5852160" cy="640080"/>
          </a:xfrm>
          <a:prstGeom prst="roundRect">
            <a:avLst>
              <a:gd name="adj" fmla="val 1714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188720" y="3621024"/>
            <a:ext cx="562356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Two constants make one: 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Kw = [H⁺][OH⁻]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4480560"/>
            <a:ext cx="6355080" cy="1600200"/>
          </a:xfrm>
          <a:prstGeom prst="roundRect">
            <a:avLst>
              <a:gd name="adj" fmla="val 685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" y="4572000"/>
            <a:ext cx="6035040" cy="1417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Kw = 1 × 10⁻¹⁴ mol² dm⁻⁶ at 298 K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Kw is the ionic product of water. 298 K is the only value you need to recall.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132320" y="1371600"/>
            <a:ext cx="4526280" cy="4709160"/>
          </a:xfrm>
          <a:prstGeom prst="roundRect">
            <a:avLst>
              <a:gd name="adj" fmla="val 2424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0" y="1463040"/>
            <a:ext cx="420624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Pure water is always neutral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0" y="1920240"/>
            <a:ext cx="420624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1000H₂O ⇌ 999H₂O + H⁺ + OH⁻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[H₂O] ≠ [H⁺]      [H⁺] = [OH⁻]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0" y="2788920"/>
            <a:ext cx="420624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In pure water [H⁺] = [OH⁻] at all times. So (handwritten notes):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315200" y="3520440"/>
            <a:ext cx="4160520" cy="1371600"/>
          </a:xfrm>
          <a:prstGeom prst="roundRect">
            <a:avLst>
              <a:gd name="adj" fmla="val 8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15200" y="3520440"/>
            <a:ext cx="4160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Kw = [H⁺]²</a:t>
            </a:r>
            <a:endParaRPr lang="en-US" sz="17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[H⁺] = √Kw</a:t>
            </a:r>
            <a:endParaRPr lang="en-US" sz="17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 = −log[H⁺]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7315200" y="5029200"/>
            <a:ext cx="420624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Notes p18 write "Ka[H₂O]"; it should be Kc[H₂O].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SECTION C · FROM THE CLASS NOTES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pH changes with temperature</a:t>
            </a:r>
            <a:endParaRPr lang="en-US" sz="3200" dirty="0"/>
          </a:p>
        </p:txBody>
      </p:sp>
      <p:sp>
        <p:nvSpPr>
          <p:cNvPr id="4" name="nav-map"/>
          <p:cNvSpPr txBox="1"/>
          <p:nvPr/>
        </p:nvSpPr>
        <p:spPr>
          <a:xfrm>
            <a:off x="10469880" y="274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1" action="ppaction://hlinksldjump" tooltip="Back to less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Lesson map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6035040" cy="685800"/>
          </a:xfrm>
          <a:prstGeom prst="roundRect">
            <a:avLst>
              <a:gd name="adj" fmla="val 16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37160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H₂O(l) ⇌ H⁺(aq) + OH⁻(aq)    ΔH = +57.3 kJ mol⁻¹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141732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240280"/>
            <a:ext cx="1325880" cy="1325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Endothermic forwards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bonds are broken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975104" y="2898648"/>
            <a:ext cx="100584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084832" y="2240280"/>
            <a:ext cx="141732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130552" y="2240280"/>
            <a:ext cx="1325880" cy="1325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Temperature rises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equilibrium shifts right to oppose it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511296" y="2898648"/>
            <a:ext cx="100584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621024" y="2240280"/>
            <a:ext cx="141732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66744" y="2240280"/>
            <a:ext cx="1325880" cy="1325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[H⁺] and [OH⁻] rise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so Kw rises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47488" y="2898648"/>
            <a:ext cx="100584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157216" y="2240280"/>
            <a:ext cx="1417320" cy="1325880"/>
          </a:xfrm>
          <a:prstGeom prst="roundRect">
            <a:avLst>
              <a:gd name="adj" fmla="val 8276"/>
            </a:avLst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202936" y="2240280"/>
            <a:ext cx="1325880" cy="1325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pH falls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but water stays neutral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49040"/>
          <a:ext cx="60350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468880"/>
                <a:gridCol w="21031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Temp (K)</a:t>
                      </a:r>
                      <a:endParaRPr lang="en-US" sz="14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Kw (mol² dm⁻⁶)</a:t>
                      </a:r>
                      <a:endParaRPr lang="en-US" sz="14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pH of pure water</a:t>
                      </a:r>
                      <a:endParaRPr lang="en-US" sz="14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273</a:t>
                      </a:r>
                      <a:endParaRPr lang="en-US" sz="14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0.114 × 10⁻¹⁴</a:t>
                      </a:r>
                      <a:endParaRPr lang="en-US" sz="14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7.47*</a:t>
                      </a:r>
                      <a:endParaRPr lang="en-US" sz="14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298</a:t>
                      </a:r>
                      <a:endParaRPr lang="en-US" sz="14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 × 10⁻¹⁴</a:t>
                      </a:r>
                      <a:endParaRPr lang="en-US" sz="14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7.00</a:t>
                      </a:r>
                      <a:endParaRPr lang="en-US" sz="14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323</a:t>
                      </a:r>
                      <a:endParaRPr lang="en-US" sz="14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5.476 × 10⁻¹⁴</a:t>
                      </a:r>
                      <a:endParaRPr lang="en-US" sz="14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6.63*</a:t>
                      </a:r>
                      <a:endParaRPr lang="en-US" sz="14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373</a:t>
                      </a:r>
                      <a:endParaRPr lang="en-US" sz="14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51.300 × 10⁻¹⁴</a:t>
                      </a:r>
                      <a:endParaRPr lang="en-US" sz="14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6.14</a:t>
                      </a:r>
                      <a:endParaRPr lang="en-US" sz="14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 txBox="1"/>
          <p:nvPr/>
        </p:nvSpPr>
        <p:spPr>
          <a:xfrm>
            <a:off x="548640" y="5806440"/>
            <a:ext cx="603504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* worked out from the notes' Kw values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812280" y="1371600"/>
            <a:ext cx="484632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949440" y="1463040"/>
            <a:ext cx="4572000" cy="2011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At 373 K: 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[H⁺] = 7.16 × 10⁻⁷ mol dm⁻³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pH = −log(7.16 × 10⁻⁷) = 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6.14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812280" y="3749040"/>
            <a:ext cx="4846320" cy="2331720"/>
          </a:xfrm>
          <a:prstGeom prst="roundRect">
            <a:avLst>
              <a:gd name="adj" fmla="val 470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949440" y="3840480"/>
            <a:ext cx="4572000" cy="2148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spc="100" kern="0" dirty="0">
                <a:solidFill>
                  <a:schemeClr val="tx1"/>
                </a:solidFill>
              </a:rPr>
              <a:t>THE KEY SENTENCE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This does NOT mean water becomes acidic at 373 K. It means that at 373 K the neutral point of water is pH 6.14, not pH 7. Be ready to use a different Kw if a question gives one.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CHECK C · TRY FIRST, ANSWERS ON THE NEXT SLIDE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3200" dirty="0"/>
          </a:p>
        </p:txBody>
      </p:sp>
      <p:sp>
        <p:nvSpPr>
          <p:cNvPr id="4" name="nav-map"/>
          <p:cNvSpPr txBox="1"/>
          <p:nvPr/>
        </p:nvSpPr>
        <p:spPr>
          <a:xfrm>
            <a:off x="10469880" y="274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1" action="ppaction://hlinksldjump" tooltip="Back to less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Lesson map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8640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554480"/>
            <a:ext cx="1097280" cy="274320"/>
          </a:xfrm>
          <a:prstGeom prst="roundRect">
            <a:avLst>
              <a:gd name="adj" fmla="val 4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554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spc="100" kern="0" dirty="0">
                <a:solidFill>
                  <a:schemeClr val="tx1"/>
                </a:solidFill>
              </a:rPr>
              <a:t>NEW QUESTION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92808"/>
            <a:ext cx="5212080" cy="1645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1. Pure water at 373 K has pH 6.14. This water is…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  acidic, because its pH is below 7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B  neutral, because [H⁺] = [OH⁻]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  alkaline, because [OH⁻] increased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72200" y="1417320"/>
            <a:ext cx="548640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554480"/>
            <a:ext cx="1097280" cy="274320"/>
          </a:xfrm>
          <a:prstGeom prst="roundRect">
            <a:avLst>
              <a:gd name="adj" fmla="val 4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9360" y="1554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spc="100" kern="0" dirty="0">
                <a:solidFill>
                  <a:schemeClr val="tx1"/>
                </a:solidFill>
              </a:rPr>
              <a:t>NEW QUESTION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0469880" y="1527048"/>
            <a:ext cx="105156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[2 marks]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1892808"/>
            <a:ext cx="5212080" cy="1645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2. At 323 K, Kw = 5.476 × 10⁻¹⁴ mol² dm⁻⁶. Calculate the pH of pure water at 323 K.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11109960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3886200"/>
            <a:ext cx="1097280" cy="274320"/>
          </a:xfrm>
          <a:prstGeom prst="roundRect">
            <a:avLst>
              <a:gd name="adj" fmla="val 4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3886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spc="100" kern="0" dirty="0">
                <a:solidFill>
                  <a:schemeClr val="tx1"/>
                </a:solidFill>
              </a:rPr>
              <a:t>NEW QUESTION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0469880" y="3858768"/>
            <a:ext cx="105156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[3 marks]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4224528"/>
            <a:ext cx="10835640" cy="1783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3. Explain why the pH of pure water decreases as the temperature increases.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CHECK C · ANSWERS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C: answers and why</a:t>
            </a:r>
            <a:endParaRPr lang="en-US" sz="3200" dirty="0"/>
          </a:p>
        </p:txBody>
      </p:sp>
      <p:sp>
        <p:nvSpPr>
          <p:cNvPr id="4" name="nav-map"/>
          <p:cNvSpPr txBox="1"/>
          <p:nvPr/>
        </p:nvSpPr>
        <p:spPr>
          <a:xfrm>
            <a:off x="10469880" y="274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1" action="ppaction://hlinksldjump" tooltip="Back to less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Lesson map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8640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27048"/>
            <a:ext cx="5212080" cy="2011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1.  B: neutral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[H⁺] and [OH⁻] both rose by the same amount, so they are still equal. The neutral point has moved to 6.14.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72200" y="1417320"/>
            <a:ext cx="548640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09360" y="1527048"/>
            <a:ext cx="5212080" cy="2011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2.  pH = 6.63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[H⁺]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= √Kw = √(5.476 × 10⁻¹⁴) = 2.34 × 10⁻⁷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pH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= −log(2.34 × 10⁻⁷) = 6.63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749040"/>
            <a:ext cx="11109960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858768"/>
            <a:ext cx="10835640" cy="2148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3.  Model answer (3 marks)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✓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The dissociation of water is endothermic (ΔH = +57.3 kJ mol⁻¹).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✓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As temperature rises the equilibrium shifts right to oppose the increase, so [H⁺] increases.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✓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pH = −log[H⁺], so a higher [H⁺] gives a lower pH. The water is still neutral, because [H⁺] = [OH⁻].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412480" y="6355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Next: Section D →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SECTION D · FROM THE CLASS NOTES · TRY IT FIRST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pH of strong bases</a:t>
            </a:r>
            <a:endParaRPr lang="en-US" sz="3200" dirty="0"/>
          </a:p>
        </p:txBody>
      </p:sp>
      <p:sp>
        <p:nvSpPr>
          <p:cNvPr id="4" name="nav-map"/>
          <p:cNvSpPr txBox="1"/>
          <p:nvPr/>
        </p:nvSpPr>
        <p:spPr>
          <a:xfrm>
            <a:off x="10469880" y="274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1" action="ppaction://hlinksldjump" tooltip="Back to less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Lesson map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760720" cy="3108960"/>
          </a:xfrm>
          <a:prstGeom prst="roundRect">
            <a:avLst>
              <a:gd name="adj" fmla="val 35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63040"/>
            <a:ext cx="5486400" cy="2011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Strong bases are </a:t>
            </a:r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metal hydroxides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(handwritten). Their solutions contain OH⁻ ions, which let bases act as </a:t>
            </a:r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proton acceptors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: H⁺ + OH⁻ → H₂O.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Strong bases fully dissociate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to release OH⁻. For NaOH the equilibrium lies </a:t>
            </a:r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entirely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to the right.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3566160"/>
            <a:ext cx="548640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356616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MOH → M⁺ + OH⁻    so    [MOH] = [OH⁻]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537960" y="1371600"/>
            <a:ext cx="512064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0" y="1508760"/>
            <a:ext cx="1252728" cy="27432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75120" y="1508760"/>
            <a:ext cx="1252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spc="100" kern="0" dirty="0">
                <a:solidFill>
                  <a:schemeClr val="tx1"/>
                </a:solidFill>
              </a:rPr>
              <a:t>FROM THE NOTES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1847088"/>
            <a:ext cx="4846320" cy="1645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Calculate the pH of a solution of NaOH of concentration 0.195 mol dm⁻³ (298 K).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537960" y="3703320"/>
            <a:ext cx="5120640" cy="777240"/>
          </a:xfrm>
          <a:prstGeom prst="roundRect">
            <a:avLst>
              <a:gd name="adj" fmla="val 14118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75120" y="3794760"/>
            <a:ext cx="4846320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spc="100" kern="0" dirty="0">
                <a:solidFill>
                  <a:schemeClr val="tx1"/>
                </a:solidFill>
              </a:rPr>
              <a:t>HINT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pH needs [H⁺]. Use Kw = [H⁺][OH⁻].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663440"/>
            <a:ext cx="54864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Method 1 · using Kw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5074920"/>
            <a:ext cx="2606040" cy="868680"/>
          </a:xfrm>
          <a:prstGeom prst="roundRect">
            <a:avLst>
              <a:gd name="adj" fmla="val 1263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5074920"/>
            <a:ext cx="242316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1.  [base] → [OH⁻]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172968" y="5504688"/>
            <a:ext cx="173736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364992" y="5074920"/>
            <a:ext cx="2606040" cy="868680"/>
          </a:xfrm>
          <a:prstGeom prst="roundRect">
            <a:avLst>
              <a:gd name="adj" fmla="val 1263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56432" y="5074920"/>
            <a:ext cx="242316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2.  Substitute into Kw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989320" y="5504688"/>
            <a:ext cx="173736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181344" y="5074920"/>
            <a:ext cx="2606040" cy="868680"/>
          </a:xfrm>
          <a:prstGeom prst="roundRect">
            <a:avLst>
              <a:gd name="adj" fmla="val 1263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72784" y="5074920"/>
            <a:ext cx="242316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3.  Rearrange for [H⁺]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805672" y="5504688"/>
            <a:ext cx="173736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997696" y="5074920"/>
            <a:ext cx="2606040" cy="868680"/>
          </a:xfrm>
          <a:prstGeom prst="roundRect">
            <a:avLst>
              <a:gd name="adj" fmla="val 1263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089136" y="5074920"/>
            <a:ext cx="242316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4.  pH = −log[H⁺]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SECTION D · WORKED SOLUTION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NaOH, step by step</a:t>
            </a:r>
            <a:endParaRPr lang="en-US" sz="3200" dirty="0"/>
          </a:p>
        </p:txBody>
      </p:sp>
      <p:sp>
        <p:nvSpPr>
          <p:cNvPr id="4" name="nav-map"/>
          <p:cNvSpPr txBox="1"/>
          <p:nvPr/>
        </p:nvSpPr>
        <p:spPr>
          <a:xfrm>
            <a:off x="10469880" y="274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1" action="ppaction://hlinksldjump" tooltip="Back to less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Lesson map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7406640" cy="6858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371600"/>
            <a:ext cx="717804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(1) [OH⁻]: 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NaOH fully dissociates, so [OH⁻] = 0.195 mol dm⁻³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7406640" cy="6858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194560"/>
            <a:ext cx="717804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(2) Substitute: 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 × 10⁻¹⁴ = [H⁺] × 0.195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7406640" cy="6858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017520"/>
            <a:ext cx="717804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(3) Rearrange: 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[H⁺] = 1 × 10⁻¹⁴ ÷ 0.195 = 5.128 × 10⁻¹⁴ mol dm⁻³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7406640" cy="6858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3840480"/>
            <a:ext cx="717804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(4) pH: 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pH = −log(5.128 × 10⁻¹⁴) = 13.29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0" y="1371600"/>
            <a:ext cx="3429000" cy="1828800"/>
          </a:xfrm>
          <a:prstGeom prst="roundRect">
            <a:avLst>
              <a:gd name="adj" fmla="val 6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0" y="1371600"/>
            <a:ext cx="3429000" cy="1828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</a:t>
            </a:r>
            <a:endParaRPr lang="en-US" sz="16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 = 13.29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29600" y="3383280"/>
            <a:ext cx="3429000" cy="1280160"/>
          </a:xfrm>
          <a:prstGeom prst="roundRect">
            <a:avLst>
              <a:gd name="adj" fmla="val 8571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338328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[H⁺] =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9509760" y="3520440"/>
            <a:ext cx="2011680" cy="3314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Kw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601200" y="3879342"/>
            <a:ext cx="18288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509760" y="3906774"/>
            <a:ext cx="2011680" cy="331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[OH⁻]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48640" y="4846320"/>
            <a:ext cx="1110996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4937760"/>
            <a:ext cx="1083564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spc="100" kern="0" dirty="0">
                <a:solidFill>
                  <a:schemeClr val="tx1"/>
                </a:solidFill>
              </a:rPr>
              <a:t>NOTE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The notes say there are TWO methods. Method 2 is on a page that hasn't been added yet. Method 1 (using Kw) always works.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CHECK D · TRY FIRST, ANSWERS ON THE NEXT SLIDE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3200" dirty="0"/>
          </a:p>
        </p:txBody>
      </p:sp>
      <p:sp>
        <p:nvSpPr>
          <p:cNvPr id="4" name="nav-map"/>
          <p:cNvSpPr txBox="1"/>
          <p:nvPr/>
        </p:nvSpPr>
        <p:spPr>
          <a:xfrm>
            <a:off x="10469880" y="274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1" action="ppaction://hlinksldjump" tooltip="Back to less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Lesson map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86400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554480"/>
            <a:ext cx="1097280" cy="274320"/>
          </a:xfrm>
          <a:prstGeom prst="roundRect">
            <a:avLst>
              <a:gd name="adj" fmla="val 4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554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spc="100" kern="0" dirty="0">
                <a:solidFill>
                  <a:schemeClr val="tx1"/>
                </a:solidFill>
              </a:rPr>
              <a:t>NEW QUESTION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527048"/>
            <a:ext cx="105156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[2 marks]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92808"/>
            <a:ext cx="5212080" cy="1828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1. Calculate the pH of 0.0500 mol dm⁻³ potassium hydroxide, KOH, at 298 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72200" y="1417320"/>
            <a:ext cx="5486400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1554480"/>
            <a:ext cx="1097280" cy="274320"/>
          </a:xfrm>
          <a:prstGeom prst="roundRect">
            <a:avLst>
              <a:gd name="adj" fmla="val 4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09360" y="1554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spc="100" kern="0" dirty="0">
                <a:solidFill>
                  <a:schemeClr val="tx1"/>
                </a:solidFill>
              </a:rPr>
              <a:t>NEW QUESTION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1892808"/>
            <a:ext cx="5212080" cy="1828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2. Why do we need Kw to find the pH of a strong base?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  Strong bases only partially dissociate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B  Ka is unknown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  pH needs [H⁺], but we only know [OH⁻]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CHECK D · ANSWERS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D: answers and why</a:t>
            </a:r>
            <a:endParaRPr lang="en-US" sz="3200" dirty="0"/>
          </a:p>
        </p:txBody>
      </p:sp>
      <p:sp>
        <p:nvSpPr>
          <p:cNvPr id="4" name="nav-map"/>
          <p:cNvSpPr txBox="1"/>
          <p:nvPr/>
        </p:nvSpPr>
        <p:spPr>
          <a:xfrm>
            <a:off x="10469880" y="274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1" action="ppaction://hlinksldjump" tooltip="Back to less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Lesson map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86400" cy="256032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27048"/>
            <a:ext cx="5212080" cy="2377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1.  pH = 12.70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[OH⁻]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= 0.0500 (KOH is a metal hydroxide)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[H⁺]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= 1 × 10⁻¹⁴ ÷ 0.0500 = 2.00 × 10⁻¹³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pH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= −log(2.00 × 10⁻¹³) = 12.70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Trap: 1.30 is −log[OH⁻], not pH.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72200" y="1417320"/>
            <a:ext cx="5486400" cy="256032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09360" y="1527048"/>
            <a:ext cx="5212080" cy="2377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2.  C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pH = −log[H⁺], and we only know [OH⁻]. Kw = [H⁺][OH⁻] links them. (A is wrong: strong bases fully dissociate.)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412480" y="6355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Next: Section E →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SECTION E · WHERE EACH EQUATION BELONGS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in the beaker? Pick your route to pH</a:t>
            </a:r>
            <a:endParaRPr lang="en-US" sz="3200" dirty="0"/>
          </a:p>
        </p:txBody>
      </p:sp>
      <p:sp>
        <p:nvSpPr>
          <p:cNvPr id="4" name="nav-map"/>
          <p:cNvSpPr txBox="1"/>
          <p:nvPr/>
        </p:nvSpPr>
        <p:spPr>
          <a:xfrm>
            <a:off x="10469880" y="274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1" action="ppaction://hlinksldjump" tooltip="Back to less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Lesson map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240280" cy="804672"/>
          </a:xfrm>
          <a:prstGeom prst="roundRect">
            <a:avLst>
              <a:gd name="adj" fmla="val 1363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371600"/>
            <a:ext cx="2148840" cy="8046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Strong acid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fully dissociates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816352" y="1773936"/>
            <a:ext cx="137160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971800" y="1444752"/>
            <a:ext cx="1965960" cy="658368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71800" y="1444752"/>
            <a:ext cx="196596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[H⁺] = [acid]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937760" y="1773936"/>
            <a:ext cx="4370832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48640" y="2313432"/>
            <a:ext cx="2240280" cy="804672"/>
          </a:xfrm>
          <a:prstGeom prst="roundRect">
            <a:avLst>
              <a:gd name="adj" fmla="val 1363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2313432"/>
            <a:ext cx="2148840" cy="8046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Weak acid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partially dissociates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816352" y="2715768"/>
            <a:ext cx="137160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971800" y="2386584"/>
            <a:ext cx="1965960" cy="658368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71800" y="2386584"/>
            <a:ext cx="196596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 = [H⁺]² ÷ [HA]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937760" y="2715768"/>
            <a:ext cx="137160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093208" y="2386584"/>
            <a:ext cx="1965960" cy="658368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93208" y="2386584"/>
            <a:ext cx="196596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[H⁺] = √(Ka[HA])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059168" y="2715768"/>
            <a:ext cx="2249424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48640" y="3255264"/>
            <a:ext cx="2240280" cy="804672"/>
          </a:xfrm>
          <a:prstGeom prst="roundRect">
            <a:avLst>
              <a:gd name="adj" fmla="val 1363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3255264"/>
            <a:ext cx="2148840" cy="8046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Pure water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[H⁺] = [OH⁻]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816352" y="3657600"/>
            <a:ext cx="137160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971800" y="3328416"/>
            <a:ext cx="1965960" cy="658368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971800" y="3328416"/>
            <a:ext cx="196596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Kw = [H⁺]²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937760" y="3657600"/>
            <a:ext cx="137160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093208" y="3328416"/>
            <a:ext cx="1965960" cy="658368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093208" y="3328416"/>
            <a:ext cx="196596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[H⁺] = √Kw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059168" y="3657600"/>
            <a:ext cx="2249424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48640" y="4197096"/>
            <a:ext cx="2240280" cy="804672"/>
          </a:xfrm>
          <a:prstGeom prst="roundRect">
            <a:avLst>
              <a:gd name="adj" fmla="val 1363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94360" y="4197096"/>
            <a:ext cx="2148840" cy="8046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Strong base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metal hydroxide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2816352" y="4599432"/>
            <a:ext cx="137160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2971800" y="4270248"/>
            <a:ext cx="1965960" cy="658368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971800" y="4270248"/>
            <a:ext cx="196596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[OH⁻] = [base]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937760" y="4599432"/>
            <a:ext cx="137160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5093208" y="4270248"/>
            <a:ext cx="1965960" cy="658368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093208" y="4270248"/>
            <a:ext cx="196596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[H⁺] = Kw ÷ [OH⁻]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059168" y="4599432"/>
            <a:ext cx="2249424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548640" y="5138928"/>
            <a:ext cx="2240280" cy="804672"/>
          </a:xfrm>
          <a:prstGeom prst="roundRect">
            <a:avLst>
              <a:gd name="adj" fmla="val 1363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94360" y="5138928"/>
            <a:ext cx="2148840" cy="8046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Acid + base mixed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volumes given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2816352" y="5541264"/>
            <a:ext cx="137160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2971800" y="5212080"/>
            <a:ext cx="1965960" cy="658368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2971800" y="5212080"/>
            <a:ext cx="196596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 = cV, ICE box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937760" y="5541264"/>
            <a:ext cx="137160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5093208" y="5212080"/>
            <a:ext cx="1965960" cy="658368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093208" y="5212080"/>
            <a:ext cx="196596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leftover ÷ total V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7059168" y="5541264"/>
            <a:ext cx="137160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7214616" y="5212080"/>
            <a:ext cx="1965960" cy="658368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214616" y="5212080"/>
            <a:ext cx="196596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acid or base route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9180576" y="5541264"/>
            <a:ext cx="128016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9326880" y="1371600"/>
            <a:ext cx="2331720" cy="4572000"/>
          </a:xfrm>
          <a:prstGeom prst="roundRect">
            <a:avLst>
              <a:gd name="adj" fmla="val 470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9326880" y="1371600"/>
            <a:ext cx="2331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 =</a:t>
            </a:r>
            <a:endParaRPr lang="en-US" sz="2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−log[H⁺]</a:t>
            </a:r>
            <a:endParaRPr lang="en-US" sz="2400" dirty="0"/>
          </a:p>
        </p:txBody>
      </p:sp>
      <p:sp>
        <p:nvSpPr>
          <p:cNvPr id="52" name="Text 50"/>
          <p:cNvSpPr txBox="1"/>
          <p:nvPr/>
        </p:nvSpPr>
        <p:spPr>
          <a:xfrm>
            <a:off x="548640" y="6080760"/>
            <a:ext cx="86868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Backwards: [H⁺] = 10^−pH  ·  Ka = 10^−pKa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SECTION E · EVERYTHING ON ONE PAGE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notes' examples land</a:t>
            </a:r>
            <a:endParaRPr lang="en-US" sz="3200" dirty="0"/>
          </a:p>
        </p:txBody>
      </p:sp>
      <p:sp>
        <p:nvSpPr>
          <p:cNvPr id="4" name="nav-map"/>
          <p:cNvSpPr txBox="1"/>
          <p:nvPr/>
        </p:nvSpPr>
        <p:spPr>
          <a:xfrm>
            <a:off x="10469880" y="274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1" action="ppaction://hlinksldjump" tooltip="Back to less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Lesson map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2331720"/>
            <a:ext cx="10515600" cy="292608"/>
          </a:xfrm>
          <a:prstGeom prst="roundRect">
            <a:avLst>
              <a:gd name="adj" fmla="val 37500"/>
            </a:avLst>
          </a:prstGeom>
          <a:solidFill>
            <a:schemeClr val="accent4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6700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0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050869" y="26700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553097" y="26700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4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055326" y="26700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6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557554" y="26700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8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059783" y="26700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10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562011" y="26700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12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064240" y="26700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14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497945" y="1874520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674985" y="1325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HCOOH 0.195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pH 2.23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34802" y="1874520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11842" y="1325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water 373 K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pH 6.14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80760" y="2926080"/>
            <a:ext cx="0" cy="27432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257800" y="32004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water 298 K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pH 7.00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805269" y="1874520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982309" y="1325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NaOH 0.195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pH 13.29</a:t>
            </a:r>
            <a:endParaRPr lang="en-US" sz="1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49040"/>
          <a:ext cx="11109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474720"/>
                <a:gridCol w="5257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In the beaker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Get [H⁺] with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Strong acid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[H⁺] = [acid]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Fully dissociates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Weak acid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[H⁺] = √(Ka[HA])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Partially dissociates; [H⁺] = [A⁻]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Pure water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[H⁺] = √Kw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[H⁺] = [OH⁻]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Strong base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[H⁺] = Kw ÷ [OH⁻]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Fully dissociates; [OH⁻] = [base]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CHECK E · TRY FIRST, ANSWERS ON THE NEXT SLIDE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equation first?</a:t>
            </a:r>
            <a:endParaRPr lang="en-US" sz="3200" dirty="0"/>
          </a:p>
        </p:txBody>
      </p:sp>
      <p:sp>
        <p:nvSpPr>
          <p:cNvPr id="4" name="nav-map"/>
          <p:cNvSpPr txBox="1"/>
          <p:nvPr/>
        </p:nvSpPr>
        <p:spPr>
          <a:xfrm>
            <a:off x="10469880" y="274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1" action="ppaction://hlinksldjump" tooltip="Back to less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Lesson map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109960" cy="4663440"/>
          </a:xfrm>
          <a:prstGeom prst="roundRect">
            <a:avLst>
              <a:gd name="adj" fmla="val 235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554480"/>
            <a:ext cx="1097280" cy="274320"/>
          </a:xfrm>
          <a:prstGeom prst="roundRect">
            <a:avLst>
              <a:gd name="adj" fmla="val 4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554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spc="100" kern="0" dirty="0">
                <a:solidFill>
                  <a:schemeClr val="tx1"/>
                </a:solidFill>
              </a:rPr>
              <a:t>NEW QUESTION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92808"/>
            <a:ext cx="10835640" cy="4114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For each solution, write the first equation you would use to find [H⁺]: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1.  0.10 mol dm⁻³ HCl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2.  0.10 mol dm⁻³ CH₃COOH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3.  Pure water at 323 K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4.  0.10 mol dm⁻³ KOH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5.  25 cm³ HCl mixed with 20 cm³ NaOH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Choose from:  [H⁺] = [acid]   ·   [H⁺] = √(Ka[HA])   ·   [H⁺] = √Kw   ·   [H⁺] = Kw ÷ [OH⁻]   ·   n = cV first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CHECK E · ANSWERS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equation first: answers</a:t>
            </a:r>
            <a:endParaRPr lang="en-US" sz="3200" dirty="0"/>
          </a:p>
        </p:txBody>
      </p:sp>
      <p:sp>
        <p:nvSpPr>
          <p:cNvPr id="4" name="nav-map"/>
          <p:cNvSpPr txBox="1"/>
          <p:nvPr/>
        </p:nvSpPr>
        <p:spPr>
          <a:xfrm>
            <a:off x="10469880" y="274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1" action="ppaction://hlinksldjump" tooltip="Back to less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Lesson map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109960" cy="777240"/>
          </a:xfrm>
          <a:prstGeom prst="roundRect">
            <a:avLst>
              <a:gd name="adj" fmla="val 1411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17320"/>
            <a:ext cx="237744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1. HCl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108960" y="1417320"/>
            <a:ext cx="329184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[H⁺] = [acid]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1417320"/>
            <a:ext cx="502920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strong acid, fully dissociates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109960" cy="777240"/>
          </a:xfrm>
          <a:prstGeom prst="roundRect">
            <a:avLst>
              <a:gd name="adj" fmla="val 1411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331720"/>
            <a:ext cx="237744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2. CH₃COOH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108960" y="2331720"/>
            <a:ext cx="329184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[H⁺] = √(Ka[HA])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331720"/>
            <a:ext cx="502920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carboxylic acid, so weak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11109960" cy="777240"/>
          </a:xfrm>
          <a:prstGeom prst="roundRect">
            <a:avLst>
              <a:gd name="adj" fmla="val 1411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246120"/>
            <a:ext cx="237744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3. Pure water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108960" y="3246120"/>
            <a:ext cx="329184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[H⁺] = √Kw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3246120"/>
            <a:ext cx="502920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[H⁺] = [OH⁻] at any temperature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160520"/>
            <a:ext cx="11109960" cy="777240"/>
          </a:xfrm>
          <a:prstGeom prst="roundRect">
            <a:avLst>
              <a:gd name="adj" fmla="val 1411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4160520"/>
            <a:ext cx="237744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4. KOH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3108960" y="4160520"/>
            <a:ext cx="329184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[H⁺] = Kw ÷ [OH⁻]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4160520"/>
            <a:ext cx="502920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metal hydroxide, strong base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5074920"/>
            <a:ext cx="11109960" cy="777240"/>
          </a:xfrm>
          <a:prstGeom prst="roundRect">
            <a:avLst>
              <a:gd name="adj" fmla="val 1411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5074920"/>
            <a:ext cx="237744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5. Mixture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108960" y="5074920"/>
            <a:ext cx="329184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 = cV first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492240" y="5074920"/>
            <a:ext cx="502920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find moles and leftover before anything else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412480" y="6355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Next: Section F →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SECTION F · THE TOOLS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 = cV and ICE boxes</a:t>
            </a:r>
            <a:endParaRPr lang="en-US" sz="3200" dirty="0"/>
          </a:p>
        </p:txBody>
      </p:sp>
      <p:sp>
        <p:nvSpPr>
          <p:cNvPr id="4" name="nav-map"/>
          <p:cNvSpPr txBox="1"/>
          <p:nvPr/>
        </p:nvSpPr>
        <p:spPr>
          <a:xfrm>
            <a:off x="10469880" y="274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1" action="ppaction://hlinksldjump" tooltip="Back to less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Lesson map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486400" cy="1188720"/>
          </a:xfrm>
          <a:prstGeom prst="roundRect">
            <a:avLst>
              <a:gd name="adj" fmla="val 9231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37160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 = c × V        c = n ÷ V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03120"/>
            <a:ext cx="54864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V in dm³  (cm³ ÷ 1000)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743200"/>
            <a:ext cx="5486400" cy="1280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ICE box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= </a:t>
            </a:r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I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nitial, </a:t>
            </a:r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C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hange, </a:t>
            </a:r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E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nd. When acid and base are mixed, </a:t>
            </a:r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H⁺ + OH⁻ → H₂O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reacts 1 : 1. The smaller amount is used up; what's left over decides the pH.</a:t>
            </a:r>
            <a:endParaRPr lang="en-US" sz="15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14800"/>
          <a:ext cx="54864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moles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H⁺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OH⁻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Initial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 = cV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 = cV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Change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− smaller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− smaller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End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leftover?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leftover?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263640" y="1371600"/>
            <a:ext cx="5394960" cy="2194560"/>
          </a:xfrm>
          <a:prstGeom prst="roundRect">
            <a:avLst>
              <a:gd name="adj" fmla="val 5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0" y="1463040"/>
            <a:ext cx="5120640" cy="2011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spc="100" kern="0" dirty="0">
                <a:solidFill>
                  <a:schemeClr val="tx1"/>
                </a:solidFill>
              </a:rPr>
              <a:t>TWO CLASSIC SLIPS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1. Forgetting to convert cm³ to dm³.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2. Dividing leftover moles by only one volume. After mixing, use the TOTAL volume.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263640" y="3749040"/>
            <a:ext cx="5394960" cy="2331720"/>
          </a:xfrm>
          <a:prstGeom prst="roundRect">
            <a:avLst>
              <a:gd name="adj" fmla="val 470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0" y="3840480"/>
            <a:ext cx="5120640" cy="2148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spc="100" kern="0" dirty="0">
                <a:solidFill>
                  <a:schemeClr val="tx1"/>
                </a:solidFill>
              </a:rPr>
              <a:t>WHICH ROUTE AFTER THE ICE BOX?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H⁺ left over → strong-acid route: [H⁺] = leftover ÷ total V.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OH⁻ left over → strong-base route: [OH⁻] = leftover ÷ total V, then [H⁺] = Kw ÷ [OH⁻].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SECTION F · QUESTIONS 1 AND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 practice</a:t>
            </a:r>
            <a:endParaRPr lang="en-US" sz="3200" dirty="0"/>
          </a:p>
        </p:txBody>
      </p:sp>
      <p:sp>
        <p:nvSpPr>
          <p:cNvPr id="4" name="nav-map"/>
          <p:cNvSpPr txBox="1"/>
          <p:nvPr/>
        </p:nvSpPr>
        <p:spPr>
          <a:xfrm>
            <a:off x="10469880" y="274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1" action="ppaction://hlinksldjump" tooltip="Back to less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Lesson map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486400" cy="1920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508760"/>
            <a:ext cx="941832" cy="274320"/>
          </a:xfrm>
          <a:prstGeom prst="roundRect">
            <a:avLst>
              <a:gd name="adj" fmla="val 4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508760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spc="100" kern="0" dirty="0">
                <a:solidFill>
                  <a:schemeClr val="tx1"/>
                </a:solidFill>
              </a:rPr>
              <a:t>QUESTION 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481328"/>
            <a:ext cx="105156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[4 marks]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47088"/>
            <a:ext cx="521208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25.0 cm³ of 0.400 mol dm⁻³ ethanoic acid is diluted with water to 250 cm³. Ka = 1.76 × 10⁻⁵ mol dm⁻³. Calculate the pH of the diluted solution.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429000"/>
            <a:ext cx="54864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Fill in:  moles  →  new [HA]  →  [H⁺]  →  pH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72200" y="1371600"/>
            <a:ext cx="5486400" cy="1920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1508760"/>
            <a:ext cx="941832" cy="274320"/>
          </a:xfrm>
          <a:prstGeom prst="roundRect">
            <a:avLst>
              <a:gd name="adj" fmla="val 4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09360" y="1508760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spc="100" kern="0" dirty="0">
                <a:solidFill>
                  <a:schemeClr val="tx1"/>
                </a:solidFill>
              </a:rPr>
              <a:t>QUESTION 2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0469880" y="1481328"/>
            <a:ext cx="105156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[4 marks]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1847088"/>
            <a:ext cx="521208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25.0 cm³ of 0.150 mol dm⁻³ HCl is mixed with 20.0 cm³ of 0.100 mol dm⁻³ NaOH. Calculate the pH of the resulting solution.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172200" y="3429000"/>
            <a:ext cx="54864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Fill in the ICE box (moles):</a:t>
            </a:r>
            <a:endParaRPr lang="en-US" sz="14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3840480"/>
          <a:ext cx="54864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moles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H⁺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OH⁻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Initial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Change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End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 txBox="1"/>
          <p:nvPr/>
        </p:nvSpPr>
        <p:spPr>
          <a:xfrm>
            <a:off x="6172200" y="5394960"/>
            <a:ext cx="54864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then  [H⁺] = leftover ÷ total volume  →  pH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SECTION F · ANSWERS 1 AND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1 and 2: worked answers</a:t>
            </a:r>
            <a:endParaRPr lang="en-US" sz="3200" dirty="0"/>
          </a:p>
        </p:txBody>
      </p:sp>
      <p:sp>
        <p:nvSpPr>
          <p:cNvPr id="4" name="nav-map"/>
          <p:cNvSpPr txBox="1"/>
          <p:nvPr/>
        </p:nvSpPr>
        <p:spPr>
          <a:xfrm>
            <a:off x="10469880" y="274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1" action="ppaction://hlinksldjump" tooltip="Back to less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Lesson map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486400" cy="4709160"/>
          </a:xfrm>
          <a:prstGeom prst="roundRect">
            <a:avLst>
              <a:gd name="adj" fmla="val 233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81328"/>
            <a:ext cx="5212080" cy="4526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Q1  ·  pH = 3.08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1. Moles: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n = 0.400 × 0.0250 = 0.0100 mol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2. New conc: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 = 0.0100 ÷ 0.250 = 0.0400 mol dm⁻³ (same moles, more water)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3. [H⁺]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= √(1.76 × 10⁻⁵ × 0.0400) = √(7.04 × 10⁻⁷) = 8.39 × 10⁻⁴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4. pH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= −log(8.39 × 10⁻⁴) = 3.08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72200" y="1371600"/>
            <a:ext cx="5486400" cy="4709160"/>
          </a:xfrm>
          <a:prstGeom prst="roundRect">
            <a:avLst>
              <a:gd name="adj" fmla="val 233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09360" y="1463040"/>
            <a:ext cx="521208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Q2  ·  pH = 1.41</a:t>
            </a:r>
            <a:endParaRPr lang="en-US" sz="15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874520"/>
          <a:ext cx="52120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737360"/>
                <a:gridCol w="173736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moles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H⁺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OH⁻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Initial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3.75 × 10⁻³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2.00 × 10⁻³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Change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−2.00 × 10⁻³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−2.00 × 10⁻³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End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1.75 × 10⁻³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6309360" y="3337560"/>
            <a:ext cx="5212080" cy="2651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Initial: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0.150 × 0.0250 and 0.100 × 0.0200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Excess H⁺: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1.75 × 10⁻³ mol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Total V: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45.0 cm³ = 0.0450 dm³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[H⁺]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= 1.75 × 10⁻³ ÷ 0.0450 = 0.0389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pH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= −log(0.0389) = 1.41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SECTION F · QUESTIONS 3 AND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 practice</a:t>
            </a:r>
            <a:endParaRPr lang="en-US" sz="3200" dirty="0"/>
          </a:p>
        </p:txBody>
      </p:sp>
      <p:sp>
        <p:nvSpPr>
          <p:cNvPr id="4" name="nav-map"/>
          <p:cNvSpPr txBox="1"/>
          <p:nvPr/>
        </p:nvSpPr>
        <p:spPr>
          <a:xfrm>
            <a:off x="10469880" y="274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1" action="ppaction://hlinksldjump" tooltip="Back to less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Lesson map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486400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508760"/>
            <a:ext cx="941832" cy="274320"/>
          </a:xfrm>
          <a:prstGeom prst="roundRect">
            <a:avLst>
              <a:gd name="adj" fmla="val 4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508760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spc="100" kern="0" dirty="0">
                <a:solidFill>
                  <a:schemeClr val="tx1"/>
                </a:solidFill>
              </a:rPr>
              <a:t>QUESTION 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481328"/>
            <a:ext cx="105156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[5 marks]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47088"/>
            <a:ext cx="5212080" cy="1600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15.0 cm³ of 0.200 mol dm⁻³ HCl is added to 25.0 cm³ of 0.180 mol dm⁻³ NaOH at 298 K. Calculate the pH of the resulting solution. Kw = 1.00 × 10⁻¹⁴ mol² dm⁻⁶.</a:t>
            </a:r>
            <a:endParaRPr lang="en-US" sz="15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57600"/>
          <a:ext cx="54864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moles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H⁺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OH⁻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Initial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Change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End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548640" y="5212080"/>
            <a:ext cx="54864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then [OH⁻] → [H⁺] = Kw ÷ [OH⁻] → pH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172200" y="1371600"/>
            <a:ext cx="5486400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09360" y="1508760"/>
            <a:ext cx="941832" cy="274320"/>
          </a:xfrm>
          <a:prstGeom prst="roundRect">
            <a:avLst>
              <a:gd name="adj" fmla="val 4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09360" y="1508760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spc="100" kern="0" dirty="0">
                <a:solidFill>
                  <a:schemeClr val="tx1"/>
                </a:solidFill>
              </a:rPr>
              <a:t>QUESTION 4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0469880" y="1481328"/>
            <a:ext cx="105156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[4 marks]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309360" y="1847088"/>
            <a:ext cx="5212080" cy="1600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0.900 g of methanoic acid (HCOOH, Mr = 46.0) is dissolved in water and made up to 250 cm³. Ka = 1.77 × 10⁻⁴ mol dm⁻³. Calculate the pH.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172200" y="3657600"/>
            <a:ext cx="54864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Fill in:  moles  →  [HCOOH]  →  [H⁺]  →  pH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SECTION F · ANSWERS 3 AND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3 and 4: worked answers</a:t>
            </a:r>
            <a:endParaRPr lang="en-US" sz="3200" dirty="0"/>
          </a:p>
        </p:txBody>
      </p:sp>
      <p:sp>
        <p:nvSpPr>
          <p:cNvPr id="4" name="nav-map"/>
          <p:cNvSpPr txBox="1"/>
          <p:nvPr/>
        </p:nvSpPr>
        <p:spPr>
          <a:xfrm>
            <a:off x="10469880" y="274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1" action="ppaction://hlinksldjump" tooltip="Back to less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Lesson map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486400" cy="4709160"/>
          </a:xfrm>
          <a:prstGeom prst="roundRect">
            <a:avLst>
              <a:gd name="adj" fmla="val 233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63040"/>
            <a:ext cx="521208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Q3  ·  pH = 12.57</a:t>
            </a:r>
            <a:endParaRPr lang="en-US" sz="15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74520"/>
          <a:ext cx="52120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737360"/>
                <a:gridCol w="173736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moles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H⁺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OH⁻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Initial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3.00 × 10⁻³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4.50 × 10⁻³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Change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−3.00 × 10⁻³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−3.00 × 10⁻³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End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1.50 × 10⁻³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685800" y="3337560"/>
            <a:ext cx="5212080" cy="2651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Base in excess. Total V: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40.0 cm³ = 0.0400 dm³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[OH⁻]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= 1.50 × 10⁻³ ÷ 0.0400 = 0.0375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[H⁺]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= 1.00 × 10⁻¹⁴ ÷ 0.0375 = 2.67 × 10⁻¹³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pH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= −log(2.67 × 10⁻¹³) = 12.57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72200" y="1371600"/>
            <a:ext cx="5486400" cy="4709160"/>
          </a:xfrm>
          <a:prstGeom prst="roundRect">
            <a:avLst>
              <a:gd name="adj" fmla="val 233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309360" y="1481328"/>
            <a:ext cx="5212080" cy="4526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Q4  ·  pH = 2.43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1. Moles: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n = 0.900 ÷ 46.0 = 0.0196 mol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2. Conc: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 = 0.01957 ÷ 0.250 = 0.0783 mol dm⁻³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3. [H⁺]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= √(1.77 × 10⁻⁴ × 0.0783) = 3.72 × 10⁻³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4. pH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= −log(3.72 × 10⁻³) = 2.43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Tip: keep unrounded values in your calculator until the end.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SECTION F · QUESTIONS 5 AND 6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 practice</a:t>
            </a:r>
            <a:endParaRPr lang="en-US" sz="3200" dirty="0"/>
          </a:p>
        </p:txBody>
      </p:sp>
      <p:sp>
        <p:nvSpPr>
          <p:cNvPr id="4" name="nav-map"/>
          <p:cNvSpPr txBox="1"/>
          <p:nvPr/>
        </p:nvSpPr>
        <p:spPr>
          <a:xfrm>
            <a:off x="10469880" y="274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1" action="ppaction://hlinksldjump" tooltip="Back to less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Lesson map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486400" cy="1920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508760"/>
            <a:ext cx="941832" cy="274320"/>
          </a:xfrm>
          <a:prstGeom prst="roundRect">
            <a:avLst>
              <a:gd name="adj" fmla="val 4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508760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spc="100" kern="0" dirty="0">
                <a:solidFill>
                  <a:schemeClr val="tx1"/>
                </a:solidFill>
              </a:rPr>
              <a:t>QUESTION 5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481328"/>
            <a:ext cx="105156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[4 marks]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47088"/>
            <a:ext cx="521208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 0.0500 mol dm⁻³ solution of a weak acid HA has a pH of 3.02. Calculate Ka and pKa for the acid.</a:t>
            </a:r>
            <a:endParaRPr lang="en-US" sz="15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29000"/>
          <a:ext cx="54864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conc.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HA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H⁺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A⁻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Initial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0.0500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Change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Equilibrium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548640" y="4937760"/>
            <a:ext cx="54864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Start with [H⁺] = 10^−pH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172200" y="1371600"/>
            <a:ext cx="5486400" cy="2926080"/>
          </a:xfrm>
          <a:prstGeom prst="roundRect">
            <a:avLst>
              <a:gd name="adj" fmla="val 375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09360" y="1508760"/>
            <a:ext cx="941832" cy="274320"/>
          </a:xfrm>
          <a:prstGeom prst="roundRect">
            <a:avLst>
              <a:gd name="adj" fmla="val 4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09360" y="1508760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spc="100" kern="0" dirty="0">
                <a:solidFill>
                  <a:schemeClr val="tx1"/>
                </a:solidFill>
              </a:rPr>
              <a:t>QUESTION 6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0469880" y="1481328"/>
            <a:ext cx="105156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[5 marks]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309360" y="1847088"/>
            <a:ext cx="5212080" cy="2377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(a) 50.0 cm³ of 0.0800 mol dm⁻³ NaOH is diluted to 200 cm³ at 323 K. At 323 K, Kw = 5.476 × 10⁻¹⁴ mol² dm⁻⁶. Calculate the pH of the diluted solution. [4]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(b) Explain why this pH is lower than it would be at 298 K. [1]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SECTION F · ANSWERS 5 AND 6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5 and 6: worked answers</a:t>
            </a:r>
            <a:endParaRPr lang="en-US" sz="3200" dirty="0"/>
          </a:p>
        </p:txBody>
      </p:sp>
      <p:sp>
        <p:nvSpPr>
          <p:cNvPr id="4" name="nav-map"/>
          <p:cNvSpPr txBox="1"/>
          <p:nvPr/>
        </p:nvSpPr>
        <p:spPr>
          <a:xfrm>
            <a:off x="10469880" y="274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1" action="ppaction://hlinksldjump" tooltip="Back to less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Lesson map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486400" cy="4709160"/>
          </a:xfrm>
          <a:prstGeom prst="roundRect">
            <a:avLst>
              <a:gd name="adj" fmla="val 233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63040"/>
            <a:ext cx="521208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Q5  ·  Ka = 1.82 × 10⁻⁵,  pKa = 4.74</a:t>
            </a:r>
            <a:endParaRPr lang="en-US" sz="15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74520"/>
          <a:ext cx="5212080" cy="914400"/>
        </p:xfrm>
        <a:graphic>
          <a:graphicData uri="http://schemas.openxmlformats.org/drawingml/2006/table">
            <a:tbl>
              <a:tblPr/>
              <a:tblGrid>
                <a:gridCol w="1303020"/>
                <a:gridCol w="1303020"/>
                <a:gridCol w="1303020"/>
                <a:gridCol w="13030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conc.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HA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H⁺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A⁻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Initial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0.0500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Change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−9.55 × 10⁻⁴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+9.55 × 10⁻⁴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+9.55 × 10⁻⁴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Equilibrium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≈ 0.0500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9.55 × 10⁻⁴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9.55 × 10⁻⁴</a:t>
                      </a:r>
                      <a:endParaRPr lang="en-US" sz="130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685800" y="3337560"/>
            <a:ext cx="5212080" cy="2651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[H⁺]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= 10^−3.02 = 9.55 × 10⁻⁴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Ka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= (9.55 × 10⁻⁴)² ÷ 0.0500 = 1.82 × 10⁻⁵ mol dm⁻³ (1.86 × 10⁻⁵ if you use 0.0490; both accepted)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pKa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= −log(1.82 × 10⁻⁵) = 4.74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72200" y="1371600"/>
            <a:ext cx="5486400" cy="4709160"/>
          </a:xfrm>
          <a:prstGeom prst="roundRect">
            <a:avLst>
              <a:gd name="adj" fmla="val 233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309360" y="1481328"/>
            <a:ext cx="5212080" cy="4526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Q6  ·  pH = 11.56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1. Moles: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0.0800 × 0.0500 = 4.00 × 10⁻³ mol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2. [OH⁻]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= 4.00 × 10⁻³ ÷ 0.200 = 0.0200 mol dm⁻³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3. [H⁺]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= 5.476 × 10⁻¹⁴ ÷ 0.0200 = 2.74 × 10⁻¹²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4. pH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= −log(2.74 × 10⁻¹²) = 11.56 (it would be 12.30 at 298 K)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(b)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Kw is larger at 323 K (dissociation of water is endothermic), so [H⁺] = Kw ÷ [OH⁻] is larger and the pH is lower.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412480" y="6355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Next: Summary →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SUMMARY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Equation sheet</a:t>
            </a:r>
            <a:endParaRPr lang="en-US" sz="3200" dirty="0"/>
          </a:p>
        </p:txBody>
      </p:sp>
      <p:sp>
        <p:nvSpPr>
          <p:cNvPr id="4" name="nav-map"/>
          <p:cNvSpPr txBox="1"/>
          <p:nvPr/>
        </p:nvSpPr>
        <p:spPr>
          <a:xfrm>
            <a:off x="10469880" y="274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1" action="ppaction://hlinksldjump" tooltip="Back to less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Lesson map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377440" cy="585216"/>
          </a:xfrm>
          <a:prstGeom prst="roundRect">
            <a:avLst>
              <a:gd name="adj" fmla="val 187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371600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route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108960" y="1371600"/>
            <a:ext cx="8549640" cy="5852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pH = −log₁₀[H⁺]   ·   backwards: [H⁺] = 10^−pH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2377440" cy="585216"/>
          </a:xfrm>
          <a:prstGeom prst="roundRect">
            <a:avLst>
              <a:gd name="adj" fmla="val 1875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057400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 acid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108960" y="2057400"/>
            <a:ext cx="8549640" cy="5852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Ka = [H⁺][A⁻] ÷ [HA] = [H⁺]² ÷ [HA]   →   [H⁺] = √(Ka[HA])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743200"/>
            <a:ext cx="2377440" cy="585216"/>
          </a:xfrm>
          <a:prstGeom prst="roundRect">
            <a:avLst>
              <a:gd name="adj" fmla="val 187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743200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pKa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108960" y="2743200"/>
            <a:ext cx="8549640" cy="5852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pKa = −log Ka   ·   Ka = 10^−pKa   ·   stronger acid → lower pKa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2377440" cy="585216"/>
          </a:xfrm>
          <a:prstGeom prst="roundRect">
            <a:avLst>
              <a:gd name="adj" fmla="val 1875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429000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108960" y="3429000"/>
            <a:ext cx="8549640" cy="5852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Kw = [H⁺][OH⁻] = 1 × 10⁻¹⁴ mol² dm⁻⁶ at 298 K   ·   pure water: [H⁺] = √Kw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114800"/>
            <a:ext cx="2377440" cy="585216"/>
          </a:xfrm>
          <a:prstGeom prst="roundRect">
            <a:avLst>
              <a:gd name="adj" fmla="val 187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4114800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Hotter water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3108960" y="4114800"/>
            <a:ext cx="8549640" cy="5852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endothermic, so Kw rises and pH falls, but it stays neutral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4800600"/>
            <a:ext cx="2377440" cy="585216"/>
          </a:xfrm>
          <a:prstGeom prst="roundRect">
            <a:avLst>
              <a:gd name="adj" fmla="val 1875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4800600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base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3108960" y="4800600"/>
            <a:ext cx="8549640" cy="5852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[OH⁻] = [base]   →   [H⁺] = Kw ÷ [OH⁻]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48640" y="5486400"/>
            <a:ext cx="2377440" cy="585216"/>
          </a:xfrm>
          <a:prstGeom prst="roundRect">
            <a:avLst>
              <a:gd name="adj" fmla="val 187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5486400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Mixing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3108960" y="5486400"/>
            <a:ext cx="8549640" cy="5852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n = cV   →   ICE box   →   leftover ÷ TOTAL volume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FINAL QUIZ · NEW QUESTIONS · ANSWERS ON THE NEXT SLIDE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quiz</a:t>
            </a:r>
            <a:endParaRPr lang="en-US" sz="3200" dirty="0"/>
          </a:p>
        </p:txBody>
      </p:sp>
      <p:sp>
        <p:nvSpPr>
          <p:cNvPr id="4" name="nav-map"/>
          <p:cNvSpPr txBox="1"/>
          <p:nvPr/>
        </p:nvSpPr>
        <p:spPr>
          <a:xfrm>
            <a:off x="10469880" y="274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1" action="ppaction://hlinksldjump" tooltip="Back to less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Lesson map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4068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472184"/>
            <a:ext cx="521208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1. Which statement about a weak acid is correct?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A  low concentration   B  only partially dissociates   C  fully dissociates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417320"/>
            <a:ext cx="544068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81928" y="1472184"/>
            <a:ext cx="521208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2. Acid X has pKa 3.2 and acid Y has pKa 4.8. Which is stronger?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A  X     B  Y     C  can't tell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990088"/>
            <a:ext cx="544068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3044952"/>
            <a:ext cx="521208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3. For a weak acid, [H⁺] =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A  [HA]     B  Ka × [HA]     C  √(Ka × [HA])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2200" y="2990088"/>
            <a:ext cx="544068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81928" y="3044952"/>
            <a:ext cx="521208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4. The units of Kw are…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A  mol dm⁻³     B  mol² dm⁻⁶     C  no units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562856"/>
            <a:ext cx="544068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" y="4617720"/>
            <a:ext cx="521208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5. 0.010 mol dm⁻³ NaOH at 298 K has [H⁺] =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A  1 × 10⁻¹²     B  0.010     C  1 × 10⁻⁷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72200" y="4562856"/>
            <a:ext cx="544068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81928" y="4617720"/>
            <a:ext cx="521208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6. 20 cm³ acid + 30 cm³ alkali: divide leftover moles by…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A  0.020 dm³     B  0.030 dm³     C  0.050 dm³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FINAL QUIZ · ANSWERS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quiz: answers</a:t>
            </a:r>
            <a:endParaRPr lang="en-US" sz="3200" dirty="0"/>
          </a:p>
        </p:txBody>
      </p:sp>
      <p:sp>
        <p:nvSpPr>
          <p:cNvPr id="4" name="nav-map"/>
          <p:cNvSpPr txBox="1"/>
          <p:nvPr/>
        </p:nvSpPr>
        <p:spPr>
          <a:xfrm>
            <a:off x="10469880" y="274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1" action="ppaction://hlinksldjump" tooltip="Back to less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Lesson map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4068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27048"/>
            <a:ext cx="516636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1. B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Weak means partial dissociation, not low concentration.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72200" y="1417320"/>
            <a:ext cx="544068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09360" y="1527048"/>
            <a:ext cx="516636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2. A: X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Lower pKa means a stronger acid.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544068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852928"/>
            <a:ext cx="516636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3. C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Ka × [HA] is [H⁺]². Take the square root.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72200" y="2743200"/>
            <a:ext cx="544068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09360" y="2852928"/>
            <a:ext cx="516636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4. B: mol² dm⁻⁶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Two concentrations multiplied.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069080"/>
            <a:ext cx="544068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4178808"/>
            <a:ext cx="516636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5. A: 1 × 10⁻¹²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 × 10⁻¹⁴ ÷ 0.010, so pH = 12.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172200" y="4069080"/>
            <a:ext cx="544068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09360" y="4178808"/>
            <a:ext cx="516636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6. C: 0.050 dm³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Always the total volume after mixing.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u="sng" dirty="0">
                <a:solidFill>
                  <a:schemeClr val="accent1"/>
                </a:solidFill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the lesson map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accent1"/>
                </a:solidFill>
              </a:rPr>
              <a:t>  ·  Well done for finishing.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ids and pH">
  <a:themeElements>
    <a:clrScheme name="Acids and pH">
      <a:dk1>
        <a:srgbClr val="16241D"/>
      </a:dk1>
      <a:lt1>
        <a:srgbClr val="FFFFFF"/>
      </a:lt1>
      <a:dk2>
        <a:srgbClr val="4D5E55"/>
      </a:dk2>
      <a:lt2>
        <a:srgbClr val="F5F8F5"/>
      </a:lt2>
      <a:accent1>
        <a:srgbClr val="1E5F86"/>
      </a:accent1>
      <a:accent2>
        <a:srgbClr val="F6C453"/>
      </a:accent2>
      <a:accent3>
        <a:srgbClr val="A93A22"/>
      </a:accent3>
      <a:accent4>
        <a:srgbClr val="E1EDF5"/>
      </a:accent4>
      <a:accent5>
        <a:srgbClr val="FDF2D9"/>
      </a:accent5>
      <a:accent6>
        <a:srgbClr val="FBE7E1"/>
      </a:accent6>
      <a:hlink>
        <a:srgbClr val="1E5F86"/>
      </a:hlink>
      <a:folHlink>
        <a:srgbClr val="4D5E55"/>
      </a:folHlink>
    </a:clrScheme>
    <a:fontScheme name="Acids and pH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Acids and bases: pH, Ka and Kw</dc:title>
  <dc:subject>AQA A-level Biology: energy and ecosystems</dc:subject>
  <dc:creator>Lesson pack</dc:creator>
  <cp:lastModifiedBy>Lesson pack</cp:lastModifiedBy>
  <cp:revision>1</cp:revision>
  <dcterms:created xsi:type="dcterms:W3CDTF">2026-10-14T13:46:28Z</dcterms:created>
  <dcterms:modified xsi:type="dcterms:W3CDTF">2026-10-14T13:46:28Z</dcterms:modified>
</cp:coreProperties>
</file>